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9c8a69f500437b" /><Relationship Type="http://schemas.openxmlformats.org/officeDocument/2006/relationships/extended-properties" Target="/docProps/app.xml" Id="R8c439550edae4ca6" /><Relationship Type="http://schemas.openxmlformats.org/officeDocument/2006/relationships/officeDocument" Target="/ppt/presentation.xml" Id="R81d0e3f2d13d4248" /></Relationships>
</file>

<file path=ppt/presentation.xml><?xml version="1.0" encoding="utf-8"?>
<p:presentation xmlns:p="http://schemas.openxmlformats.org/presentationml/2006/main">
  <p:sldMasterIdLst>
    <p:sldMasterId xmlns:r="http://schemas.openxmlformats.org/officeDocument/2006/relationships" id="2147483648" r:id="R90ac1c0d08604513"/>
  </p:sldMasterIdLst>
  <p:notesMasterIdLst>
    <p:notesMasterId xmlns:r="http://schemas.openxmlformats.org/officeDocument/2006/relationships" r:id="R1df40233b54b4d93"/>
  </p:notesMasterIdLst>
  <p:sldIdLst>
    <p:sldId xmlns:r="http://schemas.openxmlformats.org/officeDocument/2006/relationships" id="256" r:id="R9f9fe0b5395743b7"/>
    <p:sldId xmlns:r="http://schemas.openxmlformats.org/officeDocument/2006/relationships" id="257" r:id="R333ddf493182403e"/>
    <p:sldId xmlns:r="http://schemas.openxmlformats.org/officeDocument/2006/relationships" id="258" r:id="R6752af6923984a70"/>
    <p:sldId xmlns:r="http://schemas.openxmlformats.org/officeDocument/2006/relationships" id="259" r:id="R473d934324334365"/>
    <p:sldId xmlns:r="http://schemas.openxmlformats.org/officeDocument/2006/relationships" id="260" r:id="Ra6f41b855d8e4234"/>
    <p:sldId xmlns:r="http://schemas.openxmlformats.org/officeDocument/2006/relationships" id="261" r:id="R0c19d42c68b34d90"/>
    <p:sldId xmlns:r="http://schemas.openxmlformats.org/officeDocument/2006/relationships" id="262" r:id="Rb149c665d5544016"/>
    <p:sldId xmlns:r="http://schemas.openxmlformats.org/officeDocument/2006/relationships" id="263" r:id="Raa0971cbe7054a17"/>
    <p:sldId xmlns:r="http://schemas.openxmlformats.org/officeDocument/2006/relationships" id="264" r:id="R766aef0ff1184dcd"/>
    <p:sldId xmlns:r="http://schemas.openxmlformats.org/officeDocument/2006/relationships" id="265" r:id="Rcec4ea22787047c7"/>
    <p:sldId xmlns:r="http://schemas.openxmlformats.org/officeDocument/2006/relationships" id="266" r:id="R0706c8e6f9e54cd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27acef8a64f419d" /><Relationship Type="http://schemas.openxmlformats.org/officeDocument/2006/relationships/slideMaster" Target="/ppt/slideMasters/slideMaster1.xml" Id="R90ac1c0d08604513" /><Relationship Type="http://schemas.openxmlformats.org/officeDocument/2006/relationships/notesMaster" Target="/ppt/notesMasters/notesMaster1.xml" Id="R1df40233b54b4d93" /><Relationship Type="http://schemas.openxmlformats.org/officeDocument/2006/relationships/presProps" Target="/ppt/presProps.xml" Id="Rb5d99ba56d9640e9" /><Relationship Type="http://schemas.openxmlformats.org/officeDocument/2006/relationships/viewProps" Target="/ppt/viewProps.xml" Id="R3a78ef5c949640bb" /><Relationship Type="http://schemas.openxmlformats.org/officeDocument/2006/relationships/tableStyles" Target="/ppt/tableStyles.xml" Id="R42719499f9874de5" /><Relationship Type="http://schemas.openxmlformats.org/officeDocument/2006/relationships/slide" Target="/ppt/slides/slide1.xml" Id="R9f9fe0b5395743b7" /><Relationship Type="http://schemas.openxmlformats.org/officeDocument/2006/relationships/slide" Target="/ppt/slides/slide2.xml" Id="R333ddf493182403e" /><Relationship Type="http://schemas.openxmlformats.org/officeDocument/2006/relationships/slide" Target="/ppt/slides/slide3.xml" Id="R6752af6923984a70" /><Relationship Type="http://schemas.openxmlformats.org/officeDocument/2006/relationships/slide" Target="/ppt/slides/slide4.xml" Id="R473d934324334365" /><Relationship Type="http://schemas.openxmlformats.org/officeDocument/2006/relationships/slide" Target="/ppt/slides/slide5.xml" Id="Ra6f41b855d8e4234" /><Relationship Type="http://schemas.openxmlformats.org/officeDocument/2006/relationships/slide" Target="/ppt/slides/slide6.xml" Id="R0c19d42c68b34d90" /><Relationship Type="http://schemas.openxmlformats.org/officeDocument/2006/relationships/slide" Target="/ppt/slides/slide7.xml" Id="Rb149c665d5544016" /><Relationship Type="http://schemas.openxmlformats.org/officeDocument/2006/relationships/slide" Target="/ppt/slides/slide8.xml" Id="Raa0971cbe7054a17" /><Relationship Type="http://schemas.openxmlformats.org/officeDocument/2006/relationships/slide" Target="/ppt/slides/slide9.xml" Id="R766aef0ff1184dcd" /><Relationship Type="http://schemas.openxmlformats.org/officeDocument/2006/relationships/slide" Target="/ppt/slides/slide10.xml" Id="Rcec4ea22787047c7" /><Relationship Type="http://schemas.openxmlformats.org/officeDocument/2006/relationships/slide" Target="/ppt/slides/slide11.xml" Id="R0706c8e6f9e54c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7aa2c9ab8846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f41f609db64faf" /><Relationship Type="http://schemas.openxmlformats.org/officeDocument/2006/relationships/notesMaster" Target="/ppt/notesMasters/notesMaster1.xml" Id="Rcf1ba6d5d8bc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8c3eb37411476a" /><Relationship Type="http://schemas.openxmlformats.org/officeDocument/2006/relationships/notesMaster" Target="/ppt/notesMasters/notesMaster1.xml" Id="R3ffd2f2760754c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598854e2e044a4" /><Relationship Type="http://schemas.openxmlformats.org/officeDocument/2006/relationships/notesMaster" Target="/ppt/notesMasters/notesMaster1.xml" Id="R19f8e8d4f29547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c484e8a77f4262" /><Relationship Type="http://schemas.openxmlformats.org/officeDocument/2006/relationships/notesMaster" Target="/ppt/notesMasters/notesMaster1.xml" Id="R1ca2c6d0699247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cbb7f100b240fb" /><Relationship Type="http://schemas.openxmlformats.org/officeDocument/2006/relationships/notesMaster" Target="/ppt/notesMasters/notesMaster1.xml" Id="Rfa77756b11374d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038d95c07f432e" /><Relationship Type="http://schemas.openxmlformats.org/officeDocument/2006/relationships/notesMaster" Target="/ppt/notesMasters/notesMaster1.xml" Id="R04858a1a8d6948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0d482f217e48ad" /><Relationship Type="http://schemas.openxmlformats.org/officeDocument/2006/relationships/notesMaster" Target="/ppt/notesMasters/notesMaster1.xml" Id="R3062e428972341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1c7dbff3cd784983" /><Relationship Type="http://schemas.openxmlformats.org/officeDocument/2006/relationships/notesMaster" Target="/ppt/notesMasters/notesMaster1.xml" Id="R473dd8247d5040fc"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568decdbf4409d" /><Relationship Type="http://schemas.openxmlformats.org/officeDocument/2006/relationships/notesMaster" Target="/ppt/notesMasters/notesMaster1.xml" Id="Rd4830bb0ebff43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3fa620d5894fc0" /><Relationship Type="http://schemas.openxmlformats.org/officeDocument/2006/relationships/notesMaster" Target="/ppt/notesMasters/notesMaster1.xml" Id="R9412ee98666e4c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0989f851804f69" /><Relationship Type="http://schemas.openxmlformats.org/officeDocument/2006/relationships/notesMaster" Target="/ppt/notesMasters/notesMaster1.xml" Id="R26c820c48a6e4b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Frame-level predictions must be stabilized before they trigger a reminder. Moving averages, exponential smoothing, or majority voting reduce jitter, while duration and entry-exit thresholds prevent brief or oscillating states from generating events. Phone confidence, head direction, and system events can be fused, and gestures require confirmation across multiple frames. Low-confidence decisions return unknown, reminders use cooldown periods, and all thresholds remain adjustable through user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validates the complete sensing-to-robot pipeline without training a task-specific model. Webcam frames and microphone signals are processed with OpenCV, timers, signal statistics, and hand-crafted thresholds, then converted into binary events. The supported functions include sitting duration, static posture, approximate screen distance, brightness, noise, simple gestures, and timer events. Phone classification, user identity, and complex dynamic gestures remain outside the baseline.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Basic Model is the main project deliverable and uses lightweight pre-trained models without custom training. MediaPipe provides pose, face, and hand landmarks; EfficientDet-Lite0 detects phones; and YuNet with SFace supports local user recognition. These models produce posture angles, motion variation, blink and head-pose features, gesture trajectories, detection confidence, and face similarity. Moving averages, multi-frame voting, duration thresholds, and reminder cooldowns stabilize the results on a standard CPU.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models produce landmarks, bounding boxes, confidence scores, face embeddings, gesture probabilities, noise measurements, and frame-level state probabilities. The deep learning module does not control the robot directly. Instead, it emits a standardized event containing the event name, model level, confidence, duration, supporting evidence, and a suggested action. The controller then maps that event to a robot expression, sound, or movement.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preprocessing converts OpenCV frames from BGR to RGB, samples the frame rate, crops relevant regions, normalizes model inputs, and preserves timestamps. Audio is converted to fixed-rate mono windows, with RMS or relative sound-pressure level used for volume detection and an optional Log-Mel spectrogram used for classification. Face samples are detected, aligned, normalized, and filtered for darkness, blur, or excessive angle. Baseline and Basic Model development require calibration and testing data, while Advanced Model training requires labeled landmark or multimodal sequences.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Frame-level predictions must be stabilized before they trigger a reminder. Moving averages, exponential smoothing, or majority voting reduce jitter, while duration and entry-exit thresholds prevent brief or oscillating states from generating events. Phone confidence, head direction, and system events can be fused, and gestures require confirmation across multiple frames. Low-confidence decisions return unknown, reminders use cooldown periods, and all thresholds remain adjustable through user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Advanced Model is optional and is introduced only when the Basic Model cannot classify continuous behaviour reliably. Candidate extensions include temporal posture classification, dynamic gesture recognition, phone-detector fine-tuning, multimodal off-task behaviour classification, noise-type recognition, and personalization. The recommended extension is a small TCN or GRU trained on normalized hand-landmark sequences with dimensions T by twenty-one by three. This input is compact, reduces background interference, and avoids training directly on raw video.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725ae821e644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7825b015e549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936249bfe1a46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1cdfa74c3524b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79427c977bf43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2d0f76e13f46e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617c7c1c8fe465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d4f55f39c124b0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95d51b4f63940b9"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1e4180aace03442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8895f43794d421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E0DE82-513F-443D-A0DF-1DC2B18E167B}"/>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6FC20650-A83D-42F4-A712-EF2141283665}"/>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98728B14-3B4E-4C4F-8852-92E7F6B74C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201E4939-AC11-4CE4-BCA6-38D7306D9DC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0DB3620-FB11-45E0-AE06-01D64CD572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8AB63E-9F84-479B-8533-3BF60AEFBD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B56C435-B27E-499B-B8A2-3A22612646A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A311EB8-4761-4A4C-9F73-345D7CEE9E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88687393-EC82-437C-8FF6-459ACC1DAD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3F29482-CA7D-46C1-8984-B1F7E5DF4D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6D0FB9-033D-4A62-9C0A-8D3ADC7C9CE6}"/>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BEB37C7E-FEA6-49C2-A16C-87D28A39D76A}"/>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40380D16-B4E3-42EC-B213-22557F3C97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2CFE33B6-1F28-4491-BD8E-A55C7E3440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12F55ED-3836-4DB4-B890-1E62E3F349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DDEAE9-8FAF-4941-8776-957775B5EAA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D1E8FDB-D4BE-4090-96AF-80FF185F719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E726F072-4880-4BC4-8A9C-F2AD9E51A998}"/>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3FFFCB14-F05D-46E4-AF61-F4A44C0536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6" name="Footer Placeholder 5">
            <a:extLst xmlns:a="http://schemas.openxmlformats.org/drawingml/2006/main">
              <a:ext uri="{FF2B5EF4-FFF2-40B4-BE49-F238E27FC236}">
                <a16:creationId xmlns:a16="http://schemas.microsoft.com/office/drawing/2014/main" id="{E8B569AA-D1A9-4CA4-9ADD-0E723D37617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3BFFB906-6592-4D66-BE05-6E2284E031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858D3E-ADB2-442A-88F9-EEE31F2FF0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D401DEDB-C5C4-44AA-96EE-602B65028E35}"/>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01E2484-FB24-479D-876B-571E5A688A1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32B3F4BC-9C93-4C50-B2AB-5D24D084163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F806611-2BAF-46F5-9B22-A5F620C98A3A}"/>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E1C805ED-79EE-408B-98BB-957078A451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8" name="Footer Placeholder 7">
            <a:extLst xmlns:a="http://schemas.openxmlformats.org/drawingml/2006/main">
              <a:ext uri="{FF2B5EF4-FFF2-40B4-BE49-F238E27FC236}">
                <a16:creationId xmlns:a16="http://schemas.microsoft.com/office/drawing/2014/main" id="{A5A6D328-4B1C-4D26-B8AE-4ACE779AB0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05DA1C7C-53A2-4939-896F-7232D79190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C93E2EC-893D-48F0-B41F-95A2B977BEF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2EB5DBA5-FB63-4928-BFE2-CC74CAD6E9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4" name="Footer Placeholder 3">
            <a:extLst xmlns:a="http://schemas.openxmlformats.org/drawingml/2006/main">
              <a:ext uri="{FF2B5EF4-FFF2-40B4-BE49-F238E27FC236}">
                <a16:creationId xmlns:a16="http://schemas.microsoft.com/office/drawing/2014/main" id="{AE1D9F22-6111-43EE-8E7C-1E61CE26DD2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B5F3748E-4F5A-4868-A8DF-2D5F1A7C6E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CB9B980C-C838-4DA6-98BB-7E32718DF0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3" name="Footer Placeholder 2">
            <a:extLst xmlns:a="http://schemas.openxmlformats.org/drawingml/2006/main">
              <a:ext uri="{FF2B5EF4-FFF2-40B4-BE49-F238E27FC236}">
                <a16:creationId xmlns:a16="http://schemas.microsoft.com/office/drawing/2014/main" id="{87018900-E96F-41BC-872D-AA3966A6D6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C3B43AA4-DBEC-44A8-AADB-5031E6F8A81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690CDEE-F74D-4A4B-97FC-051C8B585C0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AAF5D41-7CCB-41EE-A621-FA8DDE9676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1D1027DF-E0EB-41C5-864A-FCB4CFAEDC46}"/>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B48168C-ACD6-4D0E-93FD-E1C3ACB198F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6" name="Footer Placeholder 5">
            <a:extLst xmlns:a="http://schemas.openxmlformats.org/drawingml/2006/main">
              <a:ext uri="{FF2B5EF4-FFF2-40B4-BE49-F238E27FC236}">
                <a16:creationId xmlns:a16="http://schemas.microsoft.com/office/drawing/2014/main" id="{C95F17EB-7871-4CEB-9090-88C0320DAF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A9A01089-F010-48A6-8F76-6F6076D389C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582E842-B1B0-4662-8A14-E0F753E9A343}"/>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23AD05D-DDD9-4CD5-8BEE-8EC33D38B8AD}"/>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C0578832-A835-4190-AE25-F5D8152E47FE}"/>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93FC1B11-49C9-4382-AB79-6FEC193D780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6" name="Footer Placeholder 5">
            <a:extLst xmlns:a="http://schemas.openxmlformats.org/drawingml/2006/main">
              <a:ext uri="{FF2B5EF4-FFF2-40B4-BE49-F238E27FC236}">
                <a16:creationId xmlns:a16="http://schemas.microsoft.com/office/drawing/2014/main" id="{24FD9F48-2B68-400F-A3A2-C138101A78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4C4A4B3-7943-4B1D-AC71-E6A51C41893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A7FBAB-AE0E-48FD-89D1-B5E690098F8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7C9284A2-6246-46FE-9731-6352E13BC6E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024FD827-AC30-4945-A579-1C0B7656BD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58D21DFF-6E57-4E3A-98D2-AA334BE469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DA2EB58-427F-4EDB-B80E-D5D793BA14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3300D24F-1163-4FF4-B31C-28950027C5EE}"/>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4950279-CC5B-43D2-B3E5-BC6EF5381484}"/>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EAC1EDA1-7886-469E-8FDD-944B48FF6E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C82FC0F2-E842-475F-99E6-72378B47DA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0C64320A-6E20-4D4A-92FE-7B4E1DF3D43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6cd4314de04c12" /><Relationship Type="http://schemas.openxmlformats.org/officeDocument/2006/relationships/slideLayout" Target="/ppt/slideLayouts/slideLayout1.xml" Id="R15da3e4e42b7482b" /><Relationship Type="http://schemas.openxmlformats.org/officeDocument/2006/relationships/slideLayout" Target="/ppt/slideLayouts/slideLayout2.xml" Id="R6d8235099af94c67" /><Relationship Type="http://schemas.openxmlformats.org/officeDocument/2006/relationships/slideLayout" Target="/ppt/slideLayouts/slideLayout3.xml" Id="R47d8866cd89c4179" /><Relationship Type="http://schemas.openxmlformats.org/officeDocument/2006/relationships/slideLayout" Target="/ppt/slideLayouts/slideLayout4.xml" Id="R094e25fdf2ea46e2" /><Relationship Type="http://schemas.openxmlformats.org/officeDocument/2006/relationships/slideLayout" Target="/ppt/slideLayouts/slideLayout5.xml" Id="R802d88d2b1324c42" /><Relationship Type="http://schemas.openxmlformats.org/officeDocument/2006/relationships/slideLayout" Target="/ppt/slideLayouts/slideLayout6.xml" Id="Re364c03b91d04725" /><Relationship Type="http://schemas.openxmlformats.org/officeDocument/2006/relationships/slideLayout" Target="/ppt/slideLayouts/slideLayout7.xml" Id="R2715bfa9f500457a" /><Relationship Type="http://schemas.openxmlformats.org/officeDocument/2006/relationships/slideLayout" Target="/ppt/slideLayouts/slideLayout8.xml" Id="R6a8b0b9e6cfc43e1" /><Relationship Type="http://schemas.openxmlformats.org/officeDocument/2006/relationships/slideLayout" Target="/ppt/slideLayouts/slideLayout9.xml" Id="R84e6d11cd723468a" /><Relationship Type="http://schemas.openxmlformats.org/officeDocument/2006/relationships/slideLayout" Target="/ppt/slideLayouts/slideLayout10.xml" Id="R008d460cb9774b34" /><Relationship Type="http://schemas.openxmlformats.org/officeDocument/2006/relationships/slideLayout" Target="/ppt/slideLayouts/slideLayout11.xml" Id="Rf8adb1bafb494f1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9223A8-EDF3-476E-AAB7-9D5575BAE4B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CCEA2E1-C901-4CE4-A086-273213C5417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150CF0C-E603-487F-B6CB-9E09C59D9701}"/>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7/18/2026</a:t>
            </a:fld>
          </a:p>
        </p:txBody>
      </p:sp>
      <p:sp>
        <p:nvSpPr>
          <p:cNvPr id="5" name="Footer Placeholder 4">
            <a:extLst xmlns:a="http://schemas.openxmlformats.org/drawingml/2006/main">
              <a:ext uri="{FF2B5EF4-FFF2-40B4-BE49-F238E27FC236}">
                <a16:creationId xmlns:a16="http://schemas.microsoft.com/office/drawing/2014/main" id="{DEC4C030-EAE5-4150-AF02-E8375EC6E53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E759291-65DD-41EF-9D76-95F266B2BE1D}"/>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da3e4e42b7482b"/>
    <p:sldLayoutId xmlns:r="http://schemas.openxmlformats.org/officeDocument/2006/relationships" id="2147483650" r:id="R6d8235099af94c67"/>
    <p:sldLayoutId xmlns:r="http://schemas.openxmlformats.org/officeDocument/2006/relationships" id="2147483651" r:id="R47d8866cd89c4179"/>
    <p:sldLayoutId xmlns:r="http://schemas.openxmlformats.org/officeDocument/2006/relationships" id="2147483652" r:id="R094e25fdf2ea46e2"/>
    <p:sldLayoutId xmlns:r="http://schemas.openxmlformats.org/officeDocument/2006/relationships" id="2147483653" r:id="R802d88d2b1324c42"/>
    <p:sldLayoutId xmlns:r="http://schemas.openxmlformats.org/officeDocument/2006/relationships" id="2147483654" r:id="Re364c03b91d04725"/>
    <p:sldLayoutId xmlns:r="http://schemas.openxmlformats.org/officeDocument/2006/relationships" id="2147483655" r:id="R2715bfa9f500457a"/>
    <p:sldLayoutId xmlns:r="http://schemas.openxmlformats.org/officeDocument/2006/relationships" id="2147483656" r:id="R6a8b0b9e6cfc43e1"/>
    <p:sldLayoutId xmlns:r="http://schemas.openxmlformats.org/officeDocument/2006/relationships" id="2147483657" r:id="R84e6d11cd723468a"/>
    <p:sldLayoutId xmlns:r="http://schemas.openxmlformats.org/officeDocument/2006/relationships" id="2147483658" r:id="R008d460cb9774b34"/>
    <p:sldLayoutId xmlns:r="http://schemas.openxmlformats.org/officeDocument/2006/relationships" id="2147483659" r:id="Rf8adb1bafb494f14"/>
  </p:sldLayoutIdLst>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cce1f1830ae4364" /><Relationship Type="http://schemas.openxmlformats.org/officeDocument/2006/relationships/notesSlide" Target="/ppt/notesSlides/notesSlide1.xml" Id="Ra2686243897e4a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a6fefd6b4d4246" /><Relationship Type="http://schemas.openxmlformats.org/officeDocument/2006/relationships/notesSlide" Target="/ppt/notesSlides/notesSlide2.xml" Id="Ra1cffb5acea940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313a9a39d3445e0" /><Relationship Type="http://schemas.openxmlformats.org/officeDocument/2006/relationships/notesSlide" Target="/ppt/notesSlides/notesSlide3.xml" Id="Rdf2de17ad26842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e98703b5c6c4585" /><Relationship Type="http://schemas.openxmlformats.org/officeDocument/2006/relationships/notesSlide" Target="/ppt/notesSlides/notesSlide4.xml" Id="Rb2e3b16eb18c46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bd337e057b048f1" /><Relationship Type="http://schemas.openxmlformats.org/officeDocument/2006/relationships/notesSlide" Target="/ppt/notesSlides/notesSlide5.xml" Id="R4f15afe27c4b43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162fbebb9248b3" /><Relationship Type="http://schemas.openxmlformats.org/officeDocument/2006/relationships/notesSlide" Target="/ppt/notesSlides/notesSlide6.xml" Id="R00322e49406d471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c07f854de54522" /><Relationship Type="http://schemas.openxmlformats.org/officeDocument/2006/relationships/notesSlide" Target="/ppt/notesSlides/notesSlide7.xml" Id="R7ccecab4694141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433cb78c554813" /><Relationship Type="http://schemas.openxmlformats.org/officeDocument/2006/relationships/notesSlide" Target="/ppt/notesSlides/notesSlide8.xml" Id="R76dc7c7c0cf24fa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8a3374cba124c5f" /><Relationship Type="http://schemas.openxmlformats.org/officeDocument/2006/relationships/notesSlide" Target="/ppt/notesSlides/notesSlide9.xml" Id="Rd4a2248a4ed94f8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cbc69206e074ec8" /><Relationship Type="http://schemas.openxmlformats.org/officeDocument/2006/relationships/notesSlide" Target="/ppt/notesSlides/notesSlide10.xml" Id="R5a3fcf1121c340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4c41e941884494" /><Relationship Type="http://schemas.openxmlformats.org/officeDocument/2006/relationships/notesSlide" Target="/ppt/notesSlides/notesSlide11.xml" Id="R352a91e6b8854818"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cover-background">
            <a:extLst xmlns:a="http://schemas.openxmlformats.org/drawingml/2006/main">
              <a:ext uri="{FF2B5EF4-FFF2-40B4-BE49-F238E27FC236}">
                <a16:creationId xmlns:a16="http://schemas.microsoft.com/office/drawing/2014/main" id="{40F9A453-2288-479F-B01A-86881F679DD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2" name="cover-accent-blue">
            <a:extLst xmlns:a="http://schemas.openxmlformats.org/drawingml/2006/main">
              <a:ext uri="{FF2B5EF4-FFF2-40B4-BE49-F238E27FC236}">
                <a16:creationId xmlns:a16="http://schemas.microsoft.com/office/drawing/2014/main" id="{994BDE6F-1EC6-48BC-BD6F-B1567995DF5C}"/>
              </a:ext>
            </a:extLst>
          </p:cNvPr>
          <p:cNvSpPr>
            <a:spLocks xmlns:a="http://schemas.openxmlformats.org/drawingml/2006/main" noGrp="1"/>
          </p:cNvSpPr>
          <p:nvPr/>
        </p:nvSpPr>
        <p:spPr>
          <a:xfrm xmlns:a="http://schemas.openxmlformats.org/drawingml/2006/main">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w="0">
            <a:noFill/>
            <a:prstDash val="solid"/>
          </a:ln>
        </p:spPr>
      </p:sp>
      <p:sp>
        <p:nvSpPr>
          <p:cNvPr id="3" name="cover-course">
            <a:extLst xmlns:a="http://schemas.openxmlformats.org/drawingml/2006/main">
              <a:ext uri="{FF2B5EF4-FFF2-40B4-BE49-F238E27FC236}">
                <a16:creationId xmlns:a16="http://schemas.microsoft.com/office/drawing/2014/main" id="{8DFF9A25-B173-4F1A-8976-1C2577E4CF8B}"/>
              </a:ext>
            </a:extLst>
          </p:cNvPr>
          <p:cNvSpPr>
            <a:spLocks xmlns:a="http://schemas.openxmlformats.org/drawingml/2006/main" noGrp="1"/>
          </p:cNvSpPr>
          <p:nvPr/>
        </p:nvSpPr>
        <p:spPr>
          <a:xfrm xmlns:a="http://schemas.openxmlformats.org/drawingml/2006/main">
            <a:off x="4648200" y="1428750"/>
            <a:ext cx="2895600" cy="361950"/>
          </a:xfrm>
          <a:prstGeom xmlns:a="http://schemas.openxmlformats.org/drawingml/2006/main" prst="roundRect">
            <a:avLst>
              <a:gd name="adj" fmla="val 50000"/>
            </a:avLst>
          </a:prstGeom>
          <a:solidFill xmlns:a="http://schemas.openxmlformats.org/drawingml/2006/main">
            <a:srgbClr val="E8F1FC"/>
          </a:solidFill>
          <a:ln xmlns:a="http://schemas.openxmlformats.org/drawingml/2006/main" w="0">
            <a:noFill/>
            <a:prstDash val="solid"/>
          </a:ln>
        </p:spPr>
        <p:txBody>
          <a:bodyPr xmlns:a="http://schemas.openxmlformats.org/drawingml/2006/main" lIns="114300" tIns="0" rIns="114300" bIns="0" anchor="ctr">
            <a:normAutofit fontScale="100000"/>
          </a:bodyPr>
          <a:lstStyle xmlns:a="http://schemas.openxmlformats.org/drawingml/2006/main"/>
          <a:p xmlns:a="http://schemas.openxmlformats.org/drawingml/2006/main">
            <a:pPr algn="ctr">
              <a:defRPr sz="975" b="1">
                <a:solidFill>
                  <a:srgbClr val="2F80ED"/>
                </a:solidFill>
                <a:latin typeface="Arial"/>
                <a:ea typeface="Arial"/>
                <a:cs typeface="Arial"/>
              </a:defRPr>
            </a:pPr>
            <a:r>
              <a:rPr sz="975" b="1">
                <a:solidFill>
                  <a:srgbClr val="2F80ED"/>
                </a:solidFill>
                <a:latin typeface="Arial"/>
                <a:ea typeface="Arial"/>
                <a:cs typeface="Arial"/>
              </a:rPr>
              <a:t>SWS3009 · ADVANCE PROPOSAL</a:t>
            </a:r>
          </a:p>
        </p:txBody>
      </p:sp>
      <p:sp>
        <p:nvSpPr>
          <p:cNvPr id="4" name="cover-title">
            <a:extLst xmlns:a="http://schemas.openxmlformats.org/drawingml/2006/main">
              <a:ext uri="{FF2B5EF4-FFF2-40B4-BE49-F238E27FC236}">
                <a16:creationId xmlns:a16="http://schemas.microsoft.com/office/drawing/2014/main" id="{2CBAEC79-3DD1-4C37-9EFF-129973F3304C}"/>
              </a:ext>
            </a:extLst>
          </p:cNvPr>
          <p:cNvSpPr>
            <a:spLocks xmlns:a="http://schemas.openxmlformats.org/drawingml/2006/main" noGrp="1"/>
          </p:cNvSpPr>
          <p:nvPr/>
        </p:nvSpPr>
        <p:spPr>
          <a:xfrm xmlns:a="http://schemas.openxmlformats.org/drawingml/2006/main">
            <a:off x="2286000" y="2143125"/>
            <a:ext cx="7620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4500" b="1">
                <a:solidFill>
                  <a:srgbClr val="123B5D"/>
                </a:solidFill>
                <a:latin typeface="Arial"/>
                <a:ea typeface="Arial"/>
                <a:cs typeface="Arial"/>
              </a:defRPr>
            </a:pPr>
            <a:r>
              <a:rPr sz="4500" b="1">
                <a:solidFill>
                  <a:srgbClr val="123B5D"/>
                </a:solidFill>
                <a:latin typeface="Arial"/>
                <a:ea typeface="Arial"/>
                <a:cs typeface="Arial"/>
              </a:rPr>
              <a:t>DeskMate</a:t>
            </a:r>
          </a:p>
        </p:txBody>
      </p:sp>
      <p:sp>
        <p:nvSpPr>
          <p:cNvPr id="5" name="cover-team">
            <a:extLst xmlns:a="http://schemas.openxmlformats.org/drawingml/2006/main">
              <a:ext uri="{FF2B5EF4-FFF2-40B4-BE49-F238E27FC236}">
                <a16:creationId xmlns:a16="http://schemas.microsoft.com/office/drawing/2014/main" id="{D1EC55E5-F3B9-4F0A-B2D7-A3BACC286D2C}"/>
              </a:ext>
            </a:extLst>
          </p:cNvPr>
          <p:cNvSpPr>
            <a:spLocks xmlns:a="http://schemas.openxmlformats.org/drawingml/2006/main" noGrp="1"/>
          </p:cNvSpPr>
          <p:nvPr/>
        </p:nvSpPr>
        <p:spPr>
          <a:xfrm xmlns:a="http://schemas.openxmlformats.org/drawingml/2006/main">
            <a:off x="2762250" y="318135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123B5D"/>
                </a:solidFill>
                <a:latin typeface="Arial"/>
                <a:ea typeface="Arial"/>
                <a:cs typeface="Arial"/>
              </a:defRPr>
            </a:pPr>
            <a:r>
              <a:rPr sz="2100" b="1">
                <a:solidFill>
                  <a:srgbClr val="123B5D"/>
                </a:solidFill>
                <a:latin typeface="Arial"/>
                <a:ea typeface="Arial"/>
                <a:cs typeface="Arial"/>
              </a:rPr>
              <a:t>Team 11 — Loss Hunters</a:t>
            </a:r>
          </a:p>
        </p:txBody>
      </p:sp>
      <p:sp>
        <p:nvSpPr>
          <p:cNvPr id="6" name="cover-divider">
            <a:extLst xmlns:a="http://schemas.openxmlformats.org/drawingml/2006/main">
              <a:ext uri="{FF2B5EF4-FFF2-40B4-BE49-F238E27FC236}">
                <a16:creationId xmlns:a16="http://schemas.microsoft.com/office/drawing/2014/main" id="{5541547B-D091-4B99-87EC-88192C828272}"/>
              </a:ext>
            </a:extLst>
          </p:cNvPr>
          <p:cNvSpPr>
            <a:spLocks xmlns:a="http://schemas.openxmlformats.org/drawingml/2006/main" noGrp="1"/>
          </p:cNvSpPr>
          <p:nvPr/>
        </p:nvSpPr>
        <p:spPr>
          <a:xfrm xmlns:a="http://schemas.openxmlformats.org/drawingml/2006/main">
            <a:off x="4819650" y="3905250"/>
            <a:ext cx="2552700" cy="0"/>
          </a:xfrm>
          <a:prstGeom xmlns:a="http://schemas.openxmlformats.org/drawingml/2006/main" prst="line">
            <a:avLst/>
          </a:prstGeom>
          <a:noFill xmlns:a="http://schemas.openxmlformats.org/drawingml/2006/main"/>
          <a:ln xmlns:a="http://schemas.openxmlformats.org/drawingml/2006/main" w="28575">
            <a:solidFill>
              <a:srgbClr val="2BB7A9"/>
            </a:solidFill>
            <a:prstDash val="solid"/>
          </a:ln>
        </p:spPr>
      </p:sp>
      <p:sp>
        <p:nvSpPr>
          <p:cNvPr id="7" name="cover-members">
            <a:extLst xmlns:a="http://schemas.openxmlformats.org/drawingml/2006/main">
              <a:ext uri="{FF2B5EF4-FFF2-40B4-BE49-F238E27FC236}">
                <a16:creationId xmlns:a16="http://schemas.microsoft.com/office/drawing/2014/main" id="{1FD0467A-DE00-458B-A8FE-2DBB27F362DF}"/>
              </a:ext>
            </a:extLst>
          </p:cNvPr>
          <p:cNvSpPr>
            <a:spLocks xmlns:a="http://schemas.openxmlformats.org/drawingml/2006/main" noGrp="1"/>
          </p:cNvSpPr>
          <p:nvPr/>
        </p:nvSpPr>
        <p:spPr>
          <a:xfrm xmlns:a="http://schemas.openxmlformats.org/drawingml/2006/main">
            <a:off x="2000250" y="4191000"/>
            <a:ext cx="819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a:solidFill>
                  <a:srgbClr val="5B6B7A"/>
                </a:solidFill>
                <a:latin typeface="Arial"/>
                <a:ea typeface="Arial"/>
                <a:cs typeface="Arial"/>
              </a:defRPr>
            </a:pPr>
            <a:r>
              <a:rPr sz="1350">
                <a:solidFill>
                  <a:srgbClr val="5B6B7A"/>
                </a:solidFill>
                <a:latin typeface="Arial"/>
                <a:ea typeface="Arial"/>
                <a:cs typeface="Arial"/>
              </a:rPr>
              <a:t>Wang Tianqi · Chen Zengchun · Gu Songtao · Lin Ziqi</a:t>
            </a:r>
          </a:p>
        </p:txBody>
      </p:sp>
      <p:sp>
        <p:nvSpPr>
          <p:cNvPr id="8" name="cover-dot-blue">
            <a:extLst xmlns:a="http://schemas.openxmlformats.org/drawingml/2006/main">
              <a:ext uri="{FF2B5EF4-FFF2-40B4-BE49-F238E27FC236}">
                <a16:creationId xmlns:a16="http://schemas.microsoft.com/office/drawing/2014/main" id="{61109008-21F0-43C8-95E6-59488A6920DB}"/>
              </a:ext>
            </a:extLst>
          </p:cNvPr>
          <p:cNvSpPr>
            <a:spLocks xmlns:a="http://schemas.openxmlformats.org/drawingml/2006/main" noGrp="1"/>
          </p:cNvSpPr>
          <p:nvPr/>
        </p:nvSpPr>
        <p:spPr>
          <a:xfrm xmlns:a="http://schemas.openxmlformats.org/drawingml/2006/main">
            <a:off x="11144250" y="533400"/>
            <a:ext cx="114300" cy="114300"/>
          </a:xfrm>
          <a:prstGeom xmlns:a="http://schemas.openxmlformats.org/drawingml/2006/main" prst="ellipse">
            <a:avLst/>
          </a:prstGeom>
          <a:solidFill xmlns:a="http://schemas.openxmlformats.org/drawingml/2006/main">
            <a:srgbClr val="2F80ED"/>
          </a:solidFill>
          <a:ln xmlns:a="http://schemas.openxmlformats.org/drawingml/2006/main" w="0">
            <a:noFill/>
            <a:prstDash val="solid"/>
          </a:ln>
        </p:spPr>
      </p:sp>
      <p:sp>
        <p:nvSpPr>
          <p:cNvPr id="9" name="cover-dot-teal">
            <a:extLst xmlns:a="http://schemas.openxmlformats.org/drawingml/2006/main">
              <a:ext uri="{FF2B5EF4-FFF2-40B4-BE49-F238E27FC236}">
                <a16:creationId xmlns:a16="http://schemas.microsoft.com/office/drawing/2014/main" id="{1855B82E-90BA-429A-A297-B27B0C2D0132}"/>
              </a:ext>
            </a:extLst>
          </p:cNvPr>
          <p:cNvSpPr>
            <a:spLocks xmlns:a="http://schemas.openxmlformats.org/drawingml/2006/main" noGrp="1"/>
          </p:cNvSpPr>
          <p:nvPr/>
        </p:nvSpPr>
        <p:spPr>
          <a:xfrm xmlns:a="http://schemas.openxmlformats.org/drawingml/2006/main">
            <a:off x="11353800" y="533400"/>
            <a:ext cx="114300" cy="114300"/>
          </a:xfrm>
          <a:prstGeom xmlns:a="http://schemas.openxmlformats.org/drawingml/2006/main" prst="ellipse">
            <a:avLst/>
          </a:prstGeom>
          <a:solidFill xmlns:a="http://schemas.openxmlformats.org/drawingml/2006/main">
            <a:srgbClr val="2BB7A9"/>
          </a:solidFill>
          <a:ln xmlns:a="http://schemas.openxmlformats.org/drawingml/2006/main" w="0">
            <a:noFill/>
            <a:prstDash val="solid"/>
          </a:ln>
        </p:spPr>
      </p:sp>
    </p:spTree>
    <p:extLst>
      <p:ext uri="{BB962C8B-B14F-4D97-AF65-F5344CB8AC3E}">
        <p14:creationId xmlns:p14="http://schemas.microsoft.com/office/powerpoint/2010/main" val="188046667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C3425F86-49D7-4BD7-8FED-D26391C4EC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7D1C5216-1956-43C0-9C28-1EDF108AF947}"/>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49B95077-7567-409F-8AC0-107F7E500481}"/>
              </a:ext>
            </a:extLst>
          </p:cNvPr>
          <p:cNvSpPr>
            <a:spLocks xmlns:a="http://schemas.openxmlformats.org/drawingml/2006/main" noGrp="1"/>
          </p:cNvSpPr>
          <p:nvPr/>
        </p:nvSpPr>
        <p:spPr>
          <a:xfrm xmlns:a="http://schemas.openxmlformats.org/drawingml/2006/main" rot="0">
            <a:off x="659130" y="411480"/>
            <a:ext cx="236152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DESKMATE</a:t>
            </a:r>
          </a:p>
        </p:txBody>
      </p:sp>
      <p:sp>
        <p:nvSpPr>
          <p:cNvPr id="5" name="TextBox 5">
            <a:extLst xmlns:a="http://schemas.openxmlformats.org/drawingml/2006/main">
              <a:ext uri="{FF2B5EF4-FFF2-40B4-BE49-F238E27FC236}">
                <a16:creationId xmlns:a16="http://schemas.microsoft.com/office/drawing/2014/main" id="{824CEB9F-3A1A-4A5D-B95B-CE4C5A1B702B}"/>
              </a:ext>
            </a:extLst>
          </p:cNvPr>
          <p:cNvSpPr>
            <a:spLocks xmlns:a="http://schemas.openxmlformats.org/drawingml/2006/main" noGrp="1"/>
          </p:cNvSpPr>
          <p:nvPr/>
        </p:nvSpPr>
        <p:spPr>
          <a:xfrm xmlns:a="http://schemas.openxmlformats.org/drawingml/2006/main" rot="0">
            <a:off x="9729268" y="485299"/>
            <a:ext cx="20179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D95D5D"/>
                </a:solidFill>
                <a:latin typeface="Arial"/>
                <a:ea typeface="Arial"/>
                <a:cs typeface="Arial"/>
              </a:rPr>
              <a:t>GROUP 11 · LOSS HUNTERS</a:t>
            </a:r>
          </a:p>
        </p:txBody>
      </p:sp>
      <p:sp>
        <p:nvSpPr>
          <p:cNvPr id="6" name="Line 6">
            <a:extLst xmlns:a="http://schemas.openxmlformats.org/drawingml/2006/main">
              <a:ext uri="{FF2B5EF4-FFF2-40B4-BE49-F238E27FC236}">
                <a16:creationId xmlns:a16="http://schemas.microsoft.com/office/drawing/2014/main" id="{D1B91D8B-68CA-467D-B824-D5376805646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8" name="Rectangle 8">
            <a:extLst xmlns:a="http://schemas.openxmlformats.org/drawingml/2006/main">
              <a:ext uri="{FF2B5EF4-FFF2-40B4-BE49-F238E27FC236}">
                <a16:creationId xmlns:a16="http://schemas.microsoft.com/office/drawing/2014/main" id="{978654C1-A40B-459F-B167-70909D7A271E}"/>
              </a:ext>
            </a:extLst>
          </p:cNvPr>
          <p:cNvSpPr>
            <a:spLocks xmlns:a="http://schemas.openxmlformats.org/drawingml/2006/main" noGrp="1"/>
          </p:cNvSpPr>
          <p:nvPr/>
        </p:nvSpPr>
        <p:spPr>
          <a:xfrm xmlns:a="http://schemas.openxmlformats.org/drawingml/2006/main" rot="0">
            <a:off x="457200" y="1066800"/>
            <a:ext cx="11277600" cy="4953000"/>
          </a:xfrm>
          <a:prstGeom xmlns:a="http://schemas.openxmlformats.org/drawingml/2006/main" prst="roundRect">
            <a:avLst>
              <a:gd name="adj" fmla="val 2308"/>
            </a:avLst>
          </a:prstGeom>
          <a:solidFill xmlns:a="http://schemas.openxmlformats.org/drawingml/2006/main">
            <a:srgbClr val="F7F9FC"/>
          </a:solidFill>
          <a:ln xmlns:a="http://schemas.openxmlformats.org/drawingml/2006/main" w="14288">
            <a:solidFill>
              <a:srgbClr val="CED8E4"/>
            </a:solidFill>
            <a:prstDash val="lgDash"/>
          </a:ln>
        </p:spPr>
      </p:sp>
      <p:sp>
        <p:nvSpPr>
          <p:cNvPr id="9" name="TextBox 9">
            <a:extLst xmlns:a="http://schemas.openxmlformats.org/drawingml/2006/main">
              <a:ext uri="{FF2B5EF4-FFF2-40B4-BE49-F238E27FC236}">
                <a16:creationId xmlns:a16="http://schemas.microsoft.com/office/drawing/2014/main" id="{78A798BF-50C6-4335-AE08-4F18FB5CFFE1}"/>
              </a:ext>
            </a:extLst>
          </p:cNvPr>
          <p:cNvSpPr>
            <a:spLocks xmlns:a="http://schemas.openxmlformats.org/drawingml/2006/main" noGrp="1"/>
          </p:cNvSpPr>
          <p:nvPr/>
        </p:nvSpPr>
        <p:spPr>
          <a:xfrm xmlns:a="http://schemas.openxmlformats.org/drawingml/2006/main" rot="0">
            <a:off x="673418" y="1218724"/>
            <a:ext cx="472777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A MOVING DESKTOP COMPANION FOR FOCUS, WELL-BEING AND INTERACTION</a:t>
            </a:r>
          </a:p>
        </p:txBody>
      </p:sp>
      <p:sp>
        <p:nvSpPr>
          <p:cNvPr id="11" name="Rectangle 11">
            <a:extLst xmlns:a="http://schemas.openxmlformats.org/drawingml/2006/main">
              <a:ext uri="{FF2B5EF4-FFF2-40B4-BE49-F238E27FC236}">
                <a16:creationId xmlns:a16="http://schemas.microsoft.com/office/drawing/2014/main" id="{9CACC870-90B4-4477-93F0-02DB2067414D}"/>
              </a:ext>
            </a:extLst>
          </p:cNvPr>
          <p:cNvSpPr>
            <a:spLocks xmlns:a="http://schemas.openxmlformats.org/drawingml/2006/main" noGrp="1"/>
          </p:cNvSpPr>
          <p:nvPr/>
        </p:nvSpPr>
        <p:spPr>
          <a:xfrm xmlns:a="http://schemas.openxmlformats.org/drawingml/2006/main" rot="0">
            <a:off x="685800" y="1524000"/>
            <a:ext cx="3429000" cy="4210050"/>
          </a:xfrm>
          <a:prstGeom xmlns:a="http://schemas.openxmlformats.org/drawingml/2006/main" prst="roundRect">
            <a:avLst>
              <a:gd name="adj" fmla="val 3333"/>
            </a:avLst>
          </a:prstGeom>
          <a:solidFill xmlns:a="http://schemas.openxmlformats.org/drawingml/2006/main">
            <a:srgbClr val="123B5D"/>
          </a:solidFill>
          <a:ln xmlns:a="http://schemas.openxmlformats.org/drawingml/2006/main">
            <a:noFill/>
          </a:ln>
        </p:spPr>
      </p:sp>
      <p:sp>
        <p:nvSpPr>
          <p:cNvPr id="12" name="Freeform 12">
            <a:extLst xmlns:a="http://schemas.openxmlformats.org/drawingml/2006/main">
              <a:ext uri="{FF2B5EF4-FFF2-40B4-BE49-F238E27FC236}">
                <a16:creationId xmlns:a16="http://schemas.microsoft.com/office/drawing/2014/main" id="{310CC452-27C0-4F43-989B-74020D13D5AB}"/>
              </a:ext>
            </a:extLst>
          </p:cNvPr>
          <p:cNvSpPr>
            <a:spLocks xmlns:a="http://schemas.openxmlformats.org/drawingml/2006/main" noGrp="1"/>
          </p:cNvSpPr>
          <p:nvPr/>
        </p:nvSpPr>
        <p:spPr>
          <a:xfrm xmlns:a="http://schemas.openxmlformats.org/drawingml/2006/main" rot="0">
            <a:off x="940523" y="1833562"/>
            <a:ext cx="366793" cy="301228"/>
          </a:xfrm>
          <a:custGeom xmlns:a="http://schemas.openxmlformats.org/drawingml/2006/main">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xmlns:a="http://schemas.openxmlformats.org/drawingml/2006/main">
            <a:srgbClr val="F7F9FC">
              <a:alpha val="20000"/>
            </a:srgbClr>
          </a:solidFill>
          <a:ln xmlns:a="http://schemas.openxmlformats.org/drawingml/2006/main">
            <a:noFill/>
          </a:ln>
        </p:spPr>
      </p:sp>
      <p:sp>
        <p:nvSpPr>
          <p:cNvPr id="13" name="Freeform 13">
            <a:extLst xmlns:a="http://schemas.openxmlformats.org/drawingml/2006/main">
              <a:ext uri="{FF2B5EF4-FFF2-40B4-BE49-F238E27FC236}">
                <a16:creationId xmlns:a16="http://schemas.microsoft.com/office/drawing/2014/main" id="{E37C0FE7-ABA8-4A39-BAAE-817FBCBDFF73}"/>
              </a:ext>
            </a:extLst>
          </p:cNvPr>
          <p:cNvSpPr>
            <a:spLocks xmlns:a="http://schemas.openxmlformats.org/drawingml/2006/main" noGrp="1"/>
          </p:cNvSpPr>
          <p:nvPr/>
        </p:nvSpPr>
        <p:spPr>
          <a:xfrm xmlns:a="http://schemas.openxmlformats.org/drawingml/2006/main" rot="0">
            <a:off x="927485" y="1813884"/>
            <a:ext cx="392919" cy="340585"/>
          </a:xfrm>
          <a:custGeom xmlns:a="http://schemas.openxmlformats.org/drawingml/2006/main">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xmlns:a="http://schemas.openxmlformats.org/drawingml/2006/main">
            <a:srgbClr val="F7F9FC"/>
          </a:solidFill>
          <a:ln xmlns:a="http://schemas.openxmlformats.org/drawingml/2006/main">
            <a:noFill/>
          </a:ln>
        </p:spPr>
      </p:sp>
      <p:sp>
        <p:nvSpPr>
          <p:cNvPr id="15" name="Freeform 15">
            <a:extLst xmlns:a="http://schemas.openxmlformats.org/drawingml/2006/main">
              <a:ext uri="{FF2B5EF4-FFF2-40B4-BE49-F238E27FC236}">
                <a16:creationId xmlns:a16="http://schemas.microsoft.com/office/drawing/2014/main" id="{A328A959-4B39-418D-9B7D-C1B3B3A0B1C1}"/>
              </a:ext>
            </a:extLst>
          </p:cNvPr>
          <p:cNvSpPr>
            <a:spLocks xmlns:a="http://schemas.openxmlformats.org/drawingml/2006/main" noGrp="1"/>
          </p:cNvSpPr>
          <p:nvPr/>
        </p:nvSpPr>
        <p:spPr>
          <a:xfrm xmlns:a="http://schemas.openxmlformats.org/drawingml/2006/main" rot="0">
            <a:off x="1457579" y="1820466"/>
            <a:ext cx="292640" cy="340519"/>
          </a:xfrm>
          <a:custGeom xmlns:a="http://schemas.openxmlformats.org/drawingml/2006/main">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xmlns:a="http://schemas.openxmlformats.org/drawingml/2006/main">
            <a:srgbClr val="F7F9FC">
              <a:alpha val="20000"/>
            </a:srgbClr>
          </a:solidFill>
          <a:ln xmlns:a="http://schemas.openxmlformats.org/drawingml/2006/main">
            <a:noFill/>
          </a:ln>
        </p:spPr>
      </p:sp>
      <p:sp>
        <p:nvSpPr>
          <p:cNvPr id="16" name="Freeform 16">
            <a:extLst xmlns:a="http://schemas.openxmlformats.org/drawingml/2006/main">
              <a:ext uri="{FF2B5EF4-FFF2-40B4-BE49-F238E27FC236}">
                <a16:creationId xmlns:a16="http://schemas.microsoft.com/office/drawing/2014/main" id="{9B5F4042-B24F-41EB-B49A-6F62C92A7559}"/>
              </a:ext>
            </a:extLst>
          </p:cNvPr>
          <p:cNvSpPr>
            <a:spLocks xmlns:a="http://schemas.openxmlformats.org/drawingml/2006/main" noGrp="1"/>
          </p:cNvSpPr>
          <p:nvPr/>
        </p:nvSpPr>
        <p:spPr>
          <a:xfrm xmlns:a="http://schemas.openxmlformats.org/drawingml/2006/main" rot="0">
            <a:off x="1442437" y="1804400"/>
            <a:ext cx="320878" cy="369681"/>
          </a:xfrm>
          <a:custGeom xmlns:a="http://schemas.openxmlformats.org/drawingml/2006/main">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xmlns:a="http://schemas.openxmlformats.org/drawingml/2006/main">
            <a:srgbClr val="F7F9FC"/>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27C7C214-DC36-435E-9E1D-FECF0150D7FE}"/>
              </a:ext>
            </a:extLst>
          </p:cNvPr>
          <p:cNvSpPr>
            <a:spLocks xmlns:a="http://schemas.openxmlformats.org/drawingml/2006/main" noGrp="1"/>
          </p:cNvSpPr>
          <p:nvPr/>
        </p:nvSpPr>
        <p:spPr>
          <a:xfrm xmlns:a="http://schemas.openxmlformats.org/drawingml/2006/main" rot="0">
            <a:off x="902018" y="2437924"/>
            <a:ext cx="164249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ADVANCED PROJECT</a:t>
            </a:r>
          </a:p>
        </p:txBody>
      </p:sp>
      <p:sp>
        <p:nvSpPr>
          <p:cNvPr id="19" name="TextBox 19">
            <a:extLst xmlns:a="http://schemas.openxmlformats.org/drawingml/2006/main">
              <a:ext uri="{FF2B5EF4-FFF2-40B4-BE49-F238E27FC236}">
                <a16:creationId xmlns:a16="http://schemas.microsoft.com/office/drawing/2014/main" id="{FD266AF8-28E2-4C27-B861-B8E51FE2F1A1}"/>
              </a:ext>
            </a:extLst>
          </p:cNvPr>
          <p:cNvSpPr>
            <a:spLocks xmlns:a="http://schemas.openxmlformats.org/drawingml/2006/main" noGrp="1"/>
          </p:cNvSpPr>
          <p:nvPr/>
        </p:nvSpPr>
        <p:spPr>
          <a:xfrm xmlns:a="http://schemas.openxmlformats.org/drawingml/2006/main" rot="0">
            <a:off x="893445" y="2755582"/>
            <a:ext cx="187859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DESKMATE</a:t>
            </a:r>
          </a:p>
        </p:txBody>
      </p:sp>
      <p:sp>
        <p:nvSpPr>
          <p:cNvPr id="20" name="TextBox 20">
            <a:extLst xmlns:a="http://schemas.openxmlformats.org/drawingml/2006/main">
              <a:ext uri="{FF2B5EF4-FFF2-40B4-BE49-F238E27FC236}">
                <a16:creationId xmlns:a16="http://schemas.microsoft.com/office/drawing/2014/main" id="{C020D530-8E66-4D71-B028-7093FC011A1A}"/>
              </a:ext>
            </a:extLst>
          </p:cNvPr>
          <p:cNvSpPr>
            <a:spLocks xmlns:a="http://schemas.openxmlformats.org/drawingml/2006/main" noGrp="1"/>
          </p:cNvSpPr>
          <p:nvPr/>
        </p:nvSpPr>
        <p:spPr>
          <a:xfrm xmlns:a="http://schemas.openxmlformats.org/drawingml/2006/main" rot="0">
            <a:off x="893445" y="3031808"/>
            <a:ext cx="124326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DESKTOP COMPANION</a:t>
            </a:r>
          </a:p>
        </p:txBody>
      </p:sp>
      <p:sp>
        <p:nvSpPr>
          <p:cNvPr id="21" name="Rectangle 21">
            <a:extLst xmlns:a="http://schemas.openxmlformats.org/drawingml/2006/main">
              <a:ext uri="{FF2B5EF4-FFF2-40B4-BE49-F238E27FC236}">
                <a16:creationId xmlns:a16="http://schemas.microsoft.com/office/drawing/2014/main" id="{49687176-52F2-4113-9C7A-802EF0B6217A}"/>
              </a:ext>
            </a:extLst>
          </p:cNvPr>
          <p:cNvSpPr>
            <a:spLocks xmlns:a="http://schemas.openxmlformats.org/drawingml/2006/main" noGrp="1"/>
          </p:cNvSpPr>
          <p:nvPr/>
        </p:nvSpPr>
        <p:spPr>
          <a:xfrm xmlns:a="http://schemas.openxmlformats.org/drawingml/2006/main" rot="0">
            <a:off x="914400" y="3476625"/>
            <a:ext cx="2743200" cy="590550"/>
          </a:xfrm>
          <a:prstGeom xmlns:a="http://schemas.openxmlformats.org/drawingml/2006/main" prst="roundRect">
            <a:avLst>
              <a:gd name="adj" fmla="val 16129"/>
            </a:avLst>
          </a:prstGeom>
          <a:solidFill xmlns:a="http://schemas.openxmlformats.org/drawingml/2006/main">
            <a:srgbClr val="2F80ED"/>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9B044053-B3DA-4F29-B142-FDB831529433}"/>
              </a:ext>
            </a:extLst>
          </p:cNvPr>
          <p:cNvSpPr>
            <a:spLocks xmlns:a="http://schemas.openxmlformats.org/drawingml/2006/main" noGrp="1"/>
          </p:cNvSpPr>
          <p:nvPr/>
        </p:nvSpPr>
        <p:spPr>
          <a:xfrm xmlns:a="http://schemas.openxmlformats.org/drawingml/2006/main" rot="0">
            <a:off x="1913715" y="3594735"/>
            <a:ext cx="74456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b="1">
                <a:solidFill>
                  <a:srgbClr val="F7F9FC"/>
                </a:solidFill>
                <a:latin typeface="Consolas"/>
                <a:ea typeface="Consolas"/>
                <a:cs typeface="Consolas"/>
              </a:rPr>
              <a:t>10 DAYS</a:t>
            </a:r>
          </a:p>
        </p:txBody>
      </p:sp>
      <p:sp>
        <p:nvSpPr>
          <p:cNvPr id="23" name="TextBox 23">
            <a:extLst xmlns:a="http://schemas.openxmlformats.org/drawingml/2006/main">
              <a:ext uri="{FF2B5EF4-FFF2-40B4-BE49-F238E27FC236}">
                <a16:creationId xmlns:a16="http://schemas.microsoft.com/office/drawing/2014/main" id="{3B0D53B9-73EF-420A-8E79-3193161E12BA}"/>
              </a:ext>
            </a:extLst>
          </p:cNvPr>
          <p:cNvSpPr>
            <a:spLocks xmlns:a="http://schemas.openxmlformats.org/drawingml/2006/main" noGrp="1"/>
          </p:cNvSpPr>
          <p:nvPr/>
        </p:nvSpPr>
        <p:spPr>
          <a:xfrm xmlns:a="http://schemas.openxmlformats.org/drawingml/2006/main" rot="0">
            <a:off x="1148977" y="3838099"/>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a:solidFill>
                  <a:srgbClr val="F7F9FC"/>
                </a:solidFill>
                <a:latin typeface="Arial"/>
                <a:ea typeface="Arial"/>
                <a:cs typeface="Arial"/>
              </a:rPr>
              <a:t>Vision · deep learning · autonomous robotics</a:t>
            </a:r>
          </a:p>
        </p:txBody>
      </p:sp>
      <p:sp>
        <p:nvSpPr>
          <p:cNvPr id="24" name="Line 24">
            <a:extLst xmlns:a="http://schemas.openxmlformats.org/drawingml/2006/main">
              <a:ext uri="{FF2B5EF4-FFF2-40B4-BE49-F238E27FC236}">
                <a16:creationId xmlns:a16="http://schemas.microsoft.com/office/drawing/2014/main" id="{28F3E89C-BADF-4380-87C0-70D1FB0BEB08}"/>
              </a:ext>
            </a:extLst>
          </p:cNvPr>
          <p:cNvSpPr>
            <a:spLocks xmlns:a="http://schemas.openxmlformats.org/drawingml/2006/main" noGrp="1"/>
          </p:cNvSpPr>
          <p:nvPr/>
        </p:nvSpPr>
        <p:spPr>
          <a:xfrm xmlns:a="http://schemas.openxmlformats.org/drawingml/2006/main" rot="0">
            <a:off x="914400" y="4352925"/>
            <a:ext cx="2743200" cy="9525"/>
          </a:xfrm>
          <a:custGeom xmlns:a="http://schemas.openxmlformats.org/drawingml/2006/main">
            <a:rect l="l" t="t" r="r" b="b"/>
            <a:pathLst>
              <a:path w="2743200" h="9525">
                <a:moveTo>
                  <a:pt x="0" y="0"/>
                </a:moveTo>
                <a:lnTo>
                  <a:pt x="2743200" y="0"/>
                </a:lnTo>
              </a:path>
            </a:pathLst>
          </a:custGeom>
          <a:noFill xmlns:a="http://schemas.openxmlformats.org/drawingml/2006/main"/>
          <a:ln xmlns:a="http://schemas.openxmlformats.org/drawingml/2006/main" w="9525">
            <a:solidFill>
              <a:srgbClr val="F7F9FC">
                <a:alpha val="35000"/>
              </a:srgbClr>
            </a:solidFill>
          </a:ln>
        </p:spPr>
      </p:sp>
      <p:sp>
        <p:nvSpPr>
          <p:cNvPr id="25" name="Ellipse 25">
            <a:extLst xmlns:a="http://schemas.openxmlformats.org/drawingml/2006/main">
              <a:ext uri="{FF2B5EF4-FFF2-40B4-BE49-F238E27FC236}">
                <a16:creationId xmlns:a16="http://schemas.microsoft.com/office/drawing/2014/main" id="{BF2EA731-FE4E-47DD-B08D-6B8E7708BDDF}"/>
              </a:ext>
            </a:extLst>
          </p:cNvPr>
          <p:cNvSpPr>
            <a:spLocks xmlns:a="http://schemas.openxmlformats.org/drawingml/2006/main" noGrp="1"/>
          </p:cNvSpPr>
          <p:nvPr/>
        </p:nvSpPr>
        <p:spPr>
          <a:xfrm xmlns:a="http://schemas.openxmlformats.org/drawingml/2006/main" rot="0">
            <a:off x="952500" y="4619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6" name="TextBox 26">
            <a:extLst xmlns:a="http://schemas.openxmlformats.org/drawingml/2006/main">
              <a:ext uri="{FF2B5EF4-FFF2-40B4-BE49-F238E27FC236}">
                <a16:creationId xmlns:a16="http://schemas.microsoft.com/office/drawing/2014/main" id="{1D9DBB1F-FF1F-44DE-B030-31553C1CD0E6}"/>
              </a:ext>
            </a:extLst>
          </p:cNvPr>
          <p:cNvSpPr>
            <a:spLocks xmlns:a="http://schemas.openxmlformats.org/drawingml/2006/main" noGrp="1"/>
          </p:cNvSpPr>
          <p:nvPr/>
        </p:nvSpPr>
        <p:spPr>
          <a:xfrm xmlns:a="http://schemas.openxmlformats.org/drawingml/2006/main" rot="0">
            <a:off x="1128712" y="4583906"/>
            <a:ext cx="234636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Wang Tianqi · Chen Zengchun</a:t>
            </a:r>
          </a:p>
        </p:txBody>
      </p:sp>
      <p:sp>
        <p:nvSpPr>
          <p:cNvPr id="27" name="Ellipse 27">
            <a:extLst xmlns:a="http://schemas.openxmlformats.org/drawingml/2006/main">
              <a:ext uri="{FF2B5EF4-FFF2-40B4-BE49-F238E27FC236}">
                <a16:creationId xmlns:a16="http://schemas.microsoft.com/office/drawing/2014/main" id="{2A3714A5-682C-47B6-B308-8377E5C1D4C3}"/>
              </a:ext>
            </a:extLst>
          </p:cNvPr>
          <p:cNvSpPr>
            <a:spLocks xmlns:a="http://schemas.openxmlformats.org/drawingml/2006/main" noGrp="1"/>
          </p:cNvSpPr>
          <p:nvPr/>
        </p:nvSpPr>
        <p:spPr>
          <a:xfrm xmlns:a="http://schemas.openxmlformats.org/drawingml/2006/main" rot="0">
            <a:off x="952500" y="5000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82948DB1-AC7E-4F07-A302-5A1C2AA5A4EB}"/>
              </a:ext>
            </a:extLst>
          </p:cNvPr>
          <p:cNvSpPr>
            <a:spLocks xmlns:a="http://schemas.openxmlformats.org/drawingml/2006/main" noGrp="1"/>
          </p:cNvSpPr>
          <p:nvPr/>
        </p:nvSpPr>
        <p:spPr>
          <a:xfrm xmlns:a="http://schemas.openxmlformats.org/drawingml/2006/main" rot="0">
            <a:off x="1128712" y="4964906"/>
            <a:ext cx="226385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Gu Songtao · Lin Ziqi</a:t>
            </a:r>
          </a:p>
        </p:txBody>
      </p:sp>
      <p:sp>
        <p:nvSpPr>
          <p:cNvPr id="29" name="Ellipse 29">
            <a:extLst xmlns:a="http://schemas.openxmlformats.org/drawingml/2006/main">
              <a:ext uri="{FF2B5EF4-FFF2-40B4-BE49-F238E27FC236}">
                <a16:creationId xmlns:a16="http://schemas.microsoft.com/office/drawing/2014/main" id="{7CAF6720-646A-482E-A4B7-196D15F21ECC}"/>
              </a:ext>
            </a:extLst>
          </p:cNvPr>
          <p:cNvSpPr>
            <a:spLocks xmlns:a="http://schemas.openxmlformats.org/drawingml/2006/main" noGrp="1"/>
          </p:cNvSpPr>
          <p:nvPr/>
        </p:nvSpPr>
        <p:spPr>
          <a:xfrm xmlns:a="http://schemas.openxmlformats.org/drawingml/2006/main" rot="0">
            <a:off x="952500" y="5381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1D4CECDB-29C8-49B5-A837-50C483087771}"/>
              </a:ext>
            </a:extLst>
          </p:cNvPr>
          <p:cNvSpPr>
            <a:spLocks xmlns:a="http://schemas.openxmlformats.org/drawingml/2006/main" noGrp="1"/>
          </p:cNvSpPr>
          <p:nvPr/>
        </p:nvSpPr>
        <p:spPr>
          <a:xfrm xmlns:a="http://schemas.openxmlformats.org/drawingml/2006/main" rot="0">
            <a:off x="1128712" y="5345906"/>
            <a:ext cx="255639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Loss Hunters · Group 11</a:t>
            </a:r>
          </a:p>
        </p:txBody>
      </p:sp>
      <p:sp>
        <p:nvSpPr>
          <p:cNvPr id="32" name="Rectangle 32">
            <a:extLst xmlns:a="http://schemas.openxmlformats.org/drawingml/2006/main">
              <a:ext uri="{FF2B5EF4-FFF2-40B4-BE49-F238E27FC236}">
                <a16:creationId xmlns:a16="http://schemas.microsoft.com/office/drawing/2014/main" id="{E0F22EDB-B7D1-40FE-951B-D2B23EAD36E8}"/>
              </a:ext>
            </a:extLst>
          </p:cNvPr>
          <p:cNvSpPr>
            <a:spLocks xmlns:a="http://schemas.openxmlformats.org/drawingml/2006/main" noGrp="1"/>
          </p:cNvSpPr>
          <p:nvPr/>
        </p:nvSpPr>
        <p:spPr>
          <a:xfrm xmlns:a="http://schemas.openxmlformats.org/drawingml/2006/main" rot="0">
            <a:off x="4419600" y="15240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33" name="Freeform 33">
            <a:extLst xmlns:a="http://schemas.openxmlformats.org/drawingml/2006/main">
              <a:ext uri="{FF2B5EF4-FFF2-40B4-BE49-F238E27FC236}">
                <a16:creationId xmlns:a16="http://schemas.microsoft.com/office/drawing/2014/main" id="{0C209F29-B222-4AA1-ABE4-D8AACF1A0EC5}"/>
              </a:ext>
            </a:extLst>
          </p:cNvPr>
          <p:cNvSpPr>
            <a:spLocks xmlns:a="http://schemas.openxmlformats.org/drawingml/2006/main" noGrp="1"/>
          </p:cNvSpPr>
          <p:nvPr/>
        </p:nvSpPr>
        <p:spPr>
          <a:xfrm xmlns:a="http://schemas.openxmlformats.org/drawingml/2006/main" rot="0">
            <a:off x="4681142" y="1754981"/>
            <a:ext cx="238943" cy="291321"/>
          </a:xfrm>
          <a:custGeom xmlns:a="http://schemas.openxmlformats.org/drawingml/2006/main">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xmlns:a="http://schemas.openxmlformats.org/drawingml/2006/main">
            <a:srgbClr val="2F80ED">
              <a:alpha val="20000"/>
            </a:srgbClr>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15066CE6-D046-4868-B930-8BD343EB51D9}"/>
              </a:ext>
            </a:extLst>
          </p:cNvPr>
          <p:cNvSpPr>
            <a:spLocks xmlns:a="http://schemas.openxmlformats.org/drawingml/2006/main" noGrp="1"/>
          </p:cNvSpPr>
          <p:nvPr/>
        </p:nvSpPr>
        <p:spPr>
          <a:xfrm xmlns:a="http://schemas.openxmlformats.org/drawingml/2006/main" rot="0">
            <a:off x="4669371" y="1744266"/>
            <a:ext cx="262458" cy="315209"/>
          </a:xfrm>
          <a:custGeom xmlns:a="http://schemas.openxmlformats.org/drawingml/2006/main">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xmlns:a="http://schemas.openxmlformats.org/drawingml/2006/main">
            <a:srgbClr val="2F80ED"/>
          </a:solidFill>
          <a:ln xmlns:a="http://schemas.openxmlformats.org/drawingml/2006/main">
            <a:noFill/>
          </a:ln>
        </p:spPr>
      </p:sp>
      <p:sp>
        <p:nvSpPr>
          <p:cNvPr id="36" name="TextBox 36">
            <a:extLst xmlns:a="http://schemas.openxmlformats.org/drawingml/2006/main">
              <a:ext uri="{FF2B5EF4-FFF2-40B4-BE49-F238E27FC236}">
                <a16:creationId xmlns:a16="http://schemas.microsoft.com/office/drawing/2014/main" id="{57BB40E5-D49C-4613-B70D-26ADA4CF9DAD}"/>
              </a:ext>
            </a:extLst>
          </p:cNvPr>
          <p:cNvSpPr>
            <a:spLocks xmlns:a="http://schemas.openxmlformats.org/drawingml/2006/main" noGrp="1"/>
          </p:cNvSpPr>
          <p:nvPr/>
        </p:nvSpPr>
        <p:spPr>
          <a:xfrm xmlns:a="http://schemas.openxmlformats.org/drawingml/2006/main" rot="0">
            <a:off x="5088255" y="1797368"/>
            <a:ext cx="192452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PRODUCT VISION</a:t>
            </a:r>
          </a:p>
        </p:txBody>
      </p:sp>
      <p:sp>
        <p:nvSpPr>
          <p:cNvPr id="37" name="TextBox 37">
            <a:extLst xmlns:a="http://schemas.openxmlformats.org/drawingml/2006/main">
              <a:ext uri="{FF2B5EF4-FFF2-40B4-BE49-F238E27FC236}">
                <a16:creationId xmlns:a16="http://schemas.microsoft.com/office/drawing/2014/main" id="{CA86B929-0E43-4EE9-A65E-D741D9978797}"/>
              </a:ext>
            </a:extLst>
          </p:cNvPr>
          <p:cNvSpPr>
            <a:spLocks xmlns:a="http://schemas.openxmlformats.org/drawingml/2006/main" noGrp="1"/>
          </p:cNvSpPr>
          <p:nvPr/>
        </p:nvSpPr>
        <p:spPr>
          <a:xfrm xmlns:a="http://schemas.openxmlformats.org/drawingml/2006/main" rot="0">
            <a:off x="4614862" y="2202656"/>
            <a:ext cx="18888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A desktop companion that sees context</a:t>
            </a:r>
          </a:p>
        </p:txBody>
      </p:sp>
      <p:sp>
        <p:nvSpPr>
          <p:cNvPr id="38" name="TextBox 38">
            <a:extLst xmlns:a="http://schemas.openxmlformats.org/drawingml/2006/main">
              <a:ext uri="{FF2B5EF4-FFF2-40B4-BE49-F238E27FC236}">
                <a16:creationId xmlns:a16="http://schemas.microsoft.com/office/drawing/2014/main" id="{64D5380B-B3A5-4354-B5BD-4E251061823A}"/>
              </a:ext>
            </a:extLst>
          </p:cNvPr>
          <p:cNvSpPr>
            <a:spLocks xmlns:a="http://schemas.openxmlformats.org/drawingml/2006/main" noGrp="1"/>
          </p:cNvSpPr>
          <p:nvPr/>
        </p:nvSpPr>
        <p:spPr>
          <a:xfrm xmlns:a="http://schemas.openxmlformats.org/drawingml/2006/main" rot="0">
            <a:off x="4616768" y="2437924"/>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and responds through motion and expression</a:t>
            </a:r>
          </a:p>
        </p:txBody>
      </p:sp>
      <p:sp>
        <p:nvSpPr>
          <p:cNvPr id="40" name="Rectangle 40">
            <a:extLst xmlns:a="http://schemas.openxmlformats.org/drawingml/2006/main">
              <a:ext uri="{FF2B5EF4-FFF2-40B4-BE49-F238E27FC236}">
                <a16:creationId xmlns:a16="http://schemas.microsoft.com/office/drawing/2014/main" id="{6F3E840A-54EF-4683-A456-498D6D7A0967}"/>
              </a:ext>
            </a:extLst>
          </p:cNvPr>
          <p:cNvSpPr>
            <a:spLocks xmlns:a="http://schemas.openxmlformats.org/drawingml/2006/main" noGrp="1"/>
          </p:cNvSpPr>
          <p:nvPr/>
        </p:nvSpPr>
        <p:spPr>
          <a:xfrm xmlns:a="http://schemas.openxmlformats.org/drawingml/2006/main" rot="0">
            <a:off x="8039100" y="15240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1" name="Freeform 41">
            <a:extLst xmlns:a="http://schemas.openxmlformats.org/drawingml/2006/main">
              <a:ext uri="{FF2B5EF4-FFF2-40B4-BE49-F238E27FC236}">
                <a16:creationId xmlns:a16="http://schemas.microsoft.com/office/drawing/2014/main" id="{4B25AF25-8F27-4134-9C72-11F798074D8C}"/>
              </a:ext>
            </a:extLst>
          </p:cNvPr>
          <p:cNvSpPr>
            <a:spLocks xmlns:a="http://schemas.openxmlformats.org/drawingml/2006/main" noGrp="1"/>
          </p:cNvSpPr>
          <p:nvPr/>
        </p:nvSpPr>
        <p:spPr>
          <a:xfrm xmlns:a="http://schemas.openxmlformats.org/drawingml/2006/main" rot="0">
            <a:off x="8302203" y="1775932"/>
            <a:ext cx="246965" cy="246965"/>
          </a:xfrm>
          <a:custGeom xmlns:a="http://schemas.openxmlformats.org/drawingml/2006/main">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xmlns:a="http://schemas.openxmlformats.org/drawingml/2006/main">
            <a:srgbClr val="2F80ED">
              <a:alpha val="20000"/>
            </a:srgbClr>
          </a:solidFill>
          <a:ln xmlns:a="http://schemas.openxmlformats.org/drawingml/2006/main">
            <a:noFill/>
          </a:ln>
        </p:spPr>
      </p:sp>
      <p:sp>
        <p:nvSpPr>
          <p:cNvPr id="42" name="Freeform 42">
            <a:extLst xmlns:a="http://schemas.openxmlformats.org/drawingml/2006/main">
              <a:ext uri="{FF2B5EF4-FFF2-40B4-BE49-F238E27FC236}">
                <a16:creationId xmlns:a16="http://schemas.microsoft.com/office/drawing/2014/main" id="{DA1694BD-A2FD-455F-B824-A590C30BB0DA}"/>
              </a:ext>
            </a:extLst>
          </p:cNvPr>
          <p:cNvSpPr>
            <a:spLocks xmlns:a="http://schemas.openxmlformats.org/drawingml/2006/main" noGrp="1"/>
          </p:cNvSpPr>
          <p:nvPr/>
        </p:nvSpPr>
        <p:spPr>
          <a:xfrm xmlns:a="http://schemas.openxmlformats.org/drawingml/2006/main" rot="0">
            <a:off x="8291445" y="1764707"/>
            <a:ext cx="268951" cy="268949"/>
          </a:xfrm>
          <a:custGeom xmlns:a="http://schemas.openxmlformats.org/drawingml/2006/main">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xmlns:a="http://schemas.openxmlformats.org/drawingml/2006/main">
            <a:srgbClr val="2F80ED"/>
          </a:solidFill>
          <a:ln xmlns:a="http://schemas.openxmlformats.org/drawingml/2006/main">
            <a:noFill/>
          </a:ln>
        </p:spPr>
      </p:sp>
      <p:sp>
        <p:nvSpPr>
          <p:cNvPr id="44" name="TextBox 44">
            <a:extLst xmlns:a="http://schemas.openxmlformats.org/drawingml/2006/main">
              <a:ext uri="{FF2B5EF4-FFF2-40B4-BE49-F238E27FC236}">
                <a16:creationId xmlns:a16="http://schemas.microsoft.com/office/drawing/2014/main" id="{D0A143B4-20B6-4315-97DB-31F81E2C0FD6}"/>
              </a:ext>
            </a:extLst>
          </p:cNvPr>
          <p:cNvSpPr>
            <a:spLocks xmlns:a="http://schemas.openxmlformats.org/drawingml/2006/main" noGrp="1"/>
          </p:cNvSpPr>
          <p:nvPr/>
        </p:nvSpPr>
        <p:spPr>
          <a:xfrm xmlns:a="http://schemas.openxmlformats.org/drawingml/2006/main" rot="0">
            <a:off x="8707755" y="1797368"/>
            <a:ext cx="151812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TARGET USERS</a:t>
            </a:r>
          </a:p>
        </p:txBody>
      </p:sp>
      <p:sp>
        <p:nvSpPr>
          <p:cNvPr id="45" name="TextBox 45">
            <a:extLst xmlns:a="http://schemas.openxmlformats.org/drawingml/2006/main">
              <a:ext uri="{FF2B5EF4-FFF2-40B4-BE49-F238E27FC236}">
                <a16:creationId xmlns:a16="http://schemas.microsoft.com/office/drawing/2014/main" id="{B519663C-D02A-4FCB-ADCC-F074E29BB119}"/>
              </a:ext>
            </a:extLst>
          </p:cNvPr>
          <p:cNvSpPr>
            <a:spLocks xmlns:a="http://schemas.openxmlformats.org/drawingml/2006/main" noGrp="1"/>
          </p:cNvSpPr>
          <p:nvPr/>
        </p:nvSpPr>
        <p:spPr>
          <a:xfrm xmlns:a="http://schemas.openxmlformats.org/drawingml/2006/main" rot="0">
            <a:off x="8234362" y="2202656"/>
            <a:ext cx="243637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Students and office workers</a:t>
            </a:r>
          </a:p>
        </p:txBody>
      </p:sp>
      <p:sp>
        <p:nvSpPr>
          <p:cNvPr id="46" name="TextBox 46">
            <a:extLst xmlns:a="http://schemas.openxmlformats.org/drawingml/2006/main">
              <a:ext uri="{FF2B5EF4-FFF2-40B4-BE49-F238E27FC236}">
                <a16:creationId xmlns:a16="http://schemas.microsoft.com/office/drawing/2014/main" id="{587D43E9-3531-4174-AD08-8DF1011D1E44}"/>
              </a:ext>
            </a:extLst>
          </p:cNvPr>
          <p:cNvSpPr>
            <a:spLocks xmlns:a="http://schemas.openxmlformats.org/drawingml/2006/main" noGrp="1"/>
          </p:cNvSpPr>
          <p:nvPr/>
        </p:nvSpPr>
        <p:spPr>
          <a:xfrm xmlns:a="http://schemas.openxmlformats.org/drawingml/2006/main" rot="0">
            <a:off x="8236268" y="2437924"/>
            <a:ext cx="222854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who stay at a desk for long periods</a:t>
            </a:r>
          </a:p>
        </p:txBody>
      </p:sp>
      <p:sp>
        <p:nvSpPr>
          <p:cNvPr id="48" name="Rectangle 48">
            <a:extLst xmlns:a="http://schemas.openxmlformats.org/drawingml/2006/main">
              <a:ext uri="{FF2B5EF4-FFF2-40B4-BE49-F238E27FC236}">
                <a16:creationId xmlns:a16="http://schemas.microsoft.com/office/drawing/2014/main" id="{19A79CEE-8F6C-4138-A3AB-415D27E55C68}"/>
              </a:ext>
            </a:extLst>
          </p:cNvPr>
          <p:cNvSpPr>
            <a:spLocks xmlns:a="http://schemas.openxmlformats.org/drawingml/2006/main" noGrp="1"/>
          </p:cNvSpPr>
          <p:nvPr/>
        </p:nvSpPr>
        <p:spPr>
          <a:xfrm xmlns:a="http://schemas.openxmlformats.org/drawingml/2006/main" rot="0">
            <a:off x="4419600" y="29718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9" name="Freeform 49">
            <a:extLst xmlns:a="http://schemas.openxmlformats.org/drawingml/2006/main">
              <a:ext uri="{FF2B5EF4-FFF2-40B4-BE49-F238E27FC236}">
                <a16:creationId xmlns:a16="http://schemas.microsoft.com/office/drawing/2014/main" id="{89CA6C9E-A62A-4B66-8B20-85953290C510}"/>
              </a:ext>
            </a:extLst>
          </p:cNvPr>
          <p:cNvSpPr>
            <a:spLocks xmlns:a="http://schemas.openxmlformats.org/drawingml/2006/main" noGrp="1"/>
          </p:cNvSpPr>
          <p:nvPr/>
        </p:nvSpPr>
        <p:spPr>
          <a:xfrm xmlns:a="http://schemas.openxmlformats.org/drawingml/2006/main" rot="0">
            <a:off x="4682728" y="322421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2AB7A9">
              <a:alpha val="20000"/>
            </a:srgbClr>
          </a:solidFill>
          <a:ln xmlns:a="http://schemas.openxmlformats.org/drawingml/2006/main">
            <a:noFill/>
          </a:ln>
        </p:spPr>
      </p:sp>
      <p:sp>
        <p:nvSpPr>
          <p:cNvPr id="50" name="Freeform 50">
            <a:extLst xmlns:a="http://schemas.openxmlformats.org/drawingml/2006/main">
              <a:ext uri="{FF2B5EF4-FFF2-40B4-BE49-F238E27FC236}">
                <a16:creationId xmlns:a16="http://schemas.microsoft.com/office/drawing/2014/main" id="{770C3BD1-52B8-424C-BA21-575415130AA1}"/>
              </a:ext>
            </a:extLst>
          </p:cNvPr>
          <p:cNvSpPr>
            <a:spLocks xmlns:a="http://schemas.openxmlformats.org/drawingml/2006/main" noGrp="1"/>
          </p:cNvSpPr>
          <p:nvPr/>
        </p:nvSpPr>
        <p:spPr>
          <a:xfrm xmlns:a="http://schemas.openxmlformats.org/drawingml/2006/main" rot="0">
            <a:off x="4672012" y="321349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2AB7A9"/>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53ECE2EE-0543-4890-B44C-C07F8C4BFD19}"/>
              </a:ext>
            </a:extLst>
          </p:cNvPr>
          <p:cNvSpPr>
            <a:spLocks xmlns:a="http://schemas.openxmlformats.org/drawingml/2006/main" noGrp="1"/>
          </p:cNvSpPr>
          <p:nvPr/>
        </p:nvSpPr>
        <p:spPr>
          <a:xfrm xmlns:a="http://schemas.openxmlformats.org/drawingml/2006/main" rot="0">
            <a:off x="5088255" y="3245168"/>
            <a:ext cx="188672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CORE PROBLEM</a:t>
            </a:r>
          </a:p>
        </p:txBody>
      </p:sp>
      <p:sp>
        <p:nvSpPr>
          <p:cNvPr id="53" name="TextBox 53">
            <a:extLst xmlns:a="http://schemas.openxmlformats.org/drawingml/2006/main">
              <a:ext uri="{FF2B5EF4-FFF2-40B4-BE49-F238E27FC236}">
                <a16:creationId xmlns:a16="http://schemas.microsoft.com/office/drawing/2014/main" id="{CCDA1289-3EC8-476C-AB5A-D2D22D8C67C0}"/>
              </a:ext>
            </a:extLst>
          </p:cNvPr>
          <p:cNvSpPr>
            <a:spLocks xmlns:a="http://schemas.openxmlformats.org/drawingml/2006/main" noGrp="1"/>
          </p:cNvSpPr>
          <p:nvPr/>
        </p:nvSpPr>
        <p:spPr>
          <a:xfrm xmlns:a="http://schemas.openxmlformats.org/drawingml/2006/main" rot="0">
            <a:off x="4614862" y="3650456"/>
            <a:ext cx="19563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Important habits are easy to miss</a:t>
            </a:r>
          </a:p>
        </p:txBody>
      </p:sp>
      <p:sp>
        <p:nvSpPr>
          <p:cNvPr id="54" name="TextBox 54">
            <a:extLst xmlns:a="http://schemas.openxmlformats.org/drawingml/2006/main">
              <a:ext uri="{FF2B5EF4-FFF2-40B4-BE49-F238E27FC236}">
                <a16:creationId xmlns:a16="http://schemas.microsoft.com/office/drawing/2014/main" id="{3D317E0B-2860-4550-A64E-1070262DE719}"/>
              </a:ext>
            </a:extLst>
          </p:cNvPr>
          <p:cNvSpPr>
            <a:spLocks xmlns:a="http://schemas.openxmlformats.org/drawingml/2006/main" noGrp="1"/>
          </p:cNvSpPr>
          <p:nvPr/>
        </p:nvSpPr>
        <p:spPr>
          <a:xfrm xmlns:a="http://schemas.openxmlformats.org/drawingml/2006/main" rot="0">
            <a:off x="4616768" y="3885724"/>
            <a:ext cx="25860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when reminders are passive or easy to dismiss</a:t>
            </a:r>
          </a:p>
        </p:txBody>
      </p:sp>
      <p:sp>
        <p:nvSpPr>
          <p:cNvPr id="56" name="Rectangle 56">
            <a:extLst xmlns:a="http://schemas.openxmlformats.org/drawingml/2006/main">
              <a:ext uri="{FF2B5EF4-FFF2-40B4-BE49-F238E27FC236}">
                <a16:creationId xmlns:a16="http://schemas.microsoft.com/office/drawing/2014/main" id="{BDBA905D-2D57-4DE4-847F-C524DD79C0CD}"/>
              </a:ext>
            </a:extLst>
          </p:cNvPr>
          <p:cNvSpPr>
            <a:spLocks xmlns:a="http://schemas.openxmlformats.org/drawingml/2006/main" noGrp="1"/>
          </p:cNvSpPr>
          <p:nvPr/>
        </p:nvSpPr>
        <p:spPr>
          <a:xfrm xmlns:a="http://schemas.openxmlformats.org/drawingml/2006/main" rot="0">
            <a:off x="8039100" y="29718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57" name="Freeform 57">
            <a:extLst xmlns:a="http://schemas.openxmlformats.org/drawingml/2006/main">
              <a:ext uri="{FF2B5EF4-FFF2-40B4-BE49-F238E27FC236}">
                <a16:creationId xmlns:a16="http://schemas.microsoft.com/office/drawing/2014/main" id="{42149DC5-2636-4637-9633-F7007D2C7CB4}"/>
              </a:ext>
            </a:extLst>
          </p:cNvPr>
          <p:cNvSpPr>
            <a:spLocks xmlns:a="http://schemas.openxmlformats.org/drawingml/2006/main" noGrp="1"/>
          </p:cNvSpPr>
          <p:nvPr/>
        </p:nvSpPr>
        <p:spPr>
          <a:xfrm xmlns:a="http://schemas.openxmlformats.org/drawingml/2006/main" rot="0">
            <a:off x="8312944" y="3309938"/>
            <a:ext cx="214312" cy="85725"/>
          </a:xfrm>
          <a:custGeom xmlns:a="http://schemas.openxmlformats.org/drawingml/2006/main">
            <a:rect l="l" t="t" r="r" b="b"/>
            <a:pathLst>
              <a:path w="214312" h="85725">
                <a:moveTo>
                  <a:pt x="214312" y="0"/>
                </a:moveTo>
                <a:lnTo>
                  <a:pt x="214312" y="85725"/>
                </a:lnTo>
                <a:lnTo>
                  <a:pt x="0" y="85725"/>
                </a:lnTo>
                <a:lnTo>
                  <a:pt x="0" y="0"/>
                </a:lnTo>
                <a:close/>
              </a:path>
            </a:pathLst>
          </a:custGeom>
          <a:solidFill xmlns:a="http://schemas.openxmlformats.org/drawingml/2006/main">
            <a:srgbClr val="2AB7A9">
              <a:alpha val="20000"/>
            </a:srgbClr>
          </a:solidFill>
          <a:ln xmlns:a="http://schemas.openxmlformats.org/drawingml/2006/main">
            <a:noFill/>
          </a:ln>
        </p:spPr>
      </p:sp>
      <p:sp>
        <p:nvSpPr>
          <p:cNvPr id="58" name="Freeform 58">
            <a:extLst xmlns:a="http://schemas.openxmlformats.org/drawingml/2006/main">
              <a:ext uri="{FF2B5EF4-FFF2-40B4-BE49-F238E27FC236}">
                <a16:creationId xmlns:a16="http://schemas.microsoft.com/office/drawing/2014/main" id="{1E636CFF-F244-4C4F-BEA8-A51E8E7F1C67}"/>
              </a:ext>
            </a:extLst>
          </p:cNvPr>
          <p:cNvSpPr>
            <a:spLocks xmlns:a="http://schemas.openxmlformats.org/drawingml/2006/main" noGrp="1"/>
          </p:cNvSpPr>
          <p:nvPr/>
        </p:nvSpPr>
        <p:spPr>
          <a:xfrm xmlns:a="http://schemas.openxmlformats.org/drawingml/2006/main" rot="0">
            <a:off x="8302228" y="3213497"/>
            <a:ext cx="235744" cy="278606"/>
          </a:xfrm>
          <a:custGeom xmlns:a="http://schemas.openxmlformats.org/drawingml/2006/main">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xmlns:a="http://schemas.openxmlformats.org/drawingml/2006/main">
            <a:srgbClr val="2AB7A9"/>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9E40A0CB-B69D-477F-9449-4C664EB1180B}"/>
              </a:ext>
            </a:extLst>
          </p:cNvPr>
          <p:cNvSpPr>
            <a:spLocks xmlns:a="http://schemas.openxmlformats.org/drawingml/2006/main" noGrp="1"/>
          </p:cNvSpPr>
          <p:nvPr/>
        </p:nvSpPr>
        <p:spPr>
          <a:xfrm xmlns:a="http://schemas.openxmlformats.org/drawingml/2006/main" rot="0">
            <a:off x="8707755" y="3245168"/>
            <a:ext cx="101721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DESIGN PRINCIPLE</a:t>
            </a:r>
          </a:p>
        </p:txBody>
      </p:sp>
      <p:sp>
        <p:nvSpPr>
          <p:cNvPr id="61" name="TextBox 61">
            <a:extLst xmlns:a="http://schemas.openxmlformats.org/drawingml/2006/main">
              <a:ext uri="{FF2B5EF4-FFF2-40B4-BE49-F238E27FC236}">
                <a16:creationId xmlns:a16="http://schemas.microsoft.com/office/drawing/2014/main" id="{FB8E575C-93CA-4737-A0A7-CA4E734F5DF6}"/>
              </a:ext>
            </a:extLst>
          </p:cNvPr>
          <p:cNvSpPr>
            <a:spLocks xmlns:a="http://schemas.openxmlformats.org/drawingml/2006/main" noGrp="1"/>
          </p:cNvSpPr>
          <p:nvPr/>
        </p:nvSpPr>
        <p:spPr>
          <a:xfrm xmlns:a="http://schemas.openxmlformats.org/drawingml/2006/main" rot="0">
            <a:off x="8234362" y="3650456"/>
            <a:ext cx="146875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Proactive, responsive</a:t>
            </a:r>
          </a:p>
        </p:txBody>
      </p:sp>
      <p:sp>
        <p:nvSpPr>
          <p:cNvPr id="62" name="TextBox 62">
            <a:extLst xmlns:a="http://schemas.openxmlformats.org/drawingml/2006/main">
              <a:ext uri="{FF2B5EF4-FFF2-40B4-BE49-F238E27FC236}">
                <a16:creationId xmlns:a16="http://schemas.microsoft.com/office/drawing/2014/main" id="{632CFC84-134C-4EED-9E3E-9A575C723352}"/>
              </a:ext>
            </a:extLst>
          </p:cNvPr>
          <p:cNvSpPr>
            <a:spLocks xmlns:a="http://schemas.openxmlformats.org/drawingml/2006/main" noGrp="1"/>
          </p:cNvSpPr>
          <p:nvPr/>
        </p:nvSpPr>
        <p:spPr>
          <a:xfrm xmlns:a="http://schemas.openxmlformats.org/drawingml/2006/main" rot="0">
            <a:off x="8236268" y="3885724"/>
            <a:ext cx="25145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and fun enough to stay present on the desk</a:t>
            </a:r>
          </a:p>
        </p:txBody>
      </p:sp>
      <p:sp>
        <p:nvSpPr>
          <p:cNvPr id="64" name="Rectangle 64">
            <a:extLst xmlns:a="http://schemas.openxmlformats.org/drawingml/2006/main">
              <a:ext uri="{FF2B5EF4-FFF2-40B4-BE49-F238E27FC236}">
                <a16:creationId xmlns:a16="http://schemas.microsoft.com/office/drawing/2014/main" id="{2356A45C-620B-4A42-A709-FC392DAD5544}"/>
              </a:ext>
            </a:extLst>
          </p:cNvPr>
          <p:cNvSpPr>
            <a:spLocks xmlns:a="http://schemas.openxmlformats.org/drawingml/2006/main" noGrp="1"/>
          </p:cNvSpPr>
          <p:nvPr/>
        </p:nvSpPr>
        <p:spPr>
          <a:xfrm xmlns:a="http://schemas.openxmlformats.org/drawingml/2006/main" rot="0">
            <a:off x="4419600" y="4419600"/>
            <a:ext cx="7010400" cy="1314450"/>
          </a:xfrm>
          <a:prstGeom xmlns:a="http://schemas.openxmlformats.org/drawingml/2006/main" prst="roundRect">
            <a:avLst>
              <a:gd name="adj" fmla="val 8696"/>
            </a:avLst>
          </a:prstGeom>
          <a:solidFill xmlns:a="http://schemas.openxmlformats.org/drawingml/2006/main">
            <a:srgbClr val="EAF0F7"/>
          </a:solidFill>
          <a:ln xmlns:a="http://schemas.openxmlformats.org/drawingml/2006/main">
            <a:noFill/>
          </a:ln>
        </p:spPr>
      </p:sp>
      <p:sp>
        <p:nvSpPr>
          <p:cNvPr id="65" name="Freeform 65">
            <a:extLst xmlns:a="http://schemas.openxmlformats.org/drawingml/2006/main">
              <a:ext uri="{FF2B5EF4-FFF2-40B4-BE49-F238E27FC236}">
                <a16:creationId xmlns:a16="http://schemas.microsoft.com/office/drawing/2014/main" id="{7B42D0C2-A7DA-4905-91EB-DA78C190E8F2}"/>
              </a:ext>
            </a:extLst>
          </p:cNvPr>
          <p:cNvSpPr>
            <a:spLocks xmlns:a="http://schemas.openxmlformats.org/drawingml/2006/main" noGrp="1"/>
          </p:cNvSpPr>
          <p:nvPr/>
        </p:nvSpPr>
        <p:spPr>
          <a:xfrm xmlns:a="http://schemas.openxmlformats.org/drawingml/2006/main" rot="0">
            <a:off x="4772025" y="4795838"/>
            <a:ext cx="95250" cy="95250"/>
          </a:xfrm>
          <a:custGeom xmlns:a="http://schemas.openxmlformats.org/drawingml/2006/main">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2F80ED">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301F7598-B9F8-4A7A-9D15-D87B6E197761}"/>
              </a:ext>
            </a:extLst>
          </p:cNvPr>
          <p:cNvSpPr>
            <a:spLocks xmlns:a="http://schemas.openxmlformats.org/drawingml/2006/main" noGrp="1"/>
          </p:cNvSpPr>
          <p:nvPr/>
        </p:nvSpPr>
        <p:spPr>
          <a:xfrm xmlns:a="http://schemas.openxmlformats.org/drawingml/2006/main" rot="0">
            <a:off x="4676775" y="4724400"/>
            <a:ext cx="285750" cy="285750"/>
          </a:xfrm>
          <a:custGeom xmlns:a="http://schemas.openxmlformats.org/drawingml/2006/main">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xmlns:a="http://schemas.openxmlformats.org/drawingml/2006/main">
            <a:srgbClr val="2F80ED"/>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70E97B17-AE22-4C2F-93FB-FBDF8677A73A}"/>
              </a:ext>
            </a:extLst>
          </p:cNvPr>
          <p:cNvSpPr>
            <a:spLocks xmlns:a="http://schemas.openxmlformats.org/drawingml/2006/main" noGrp="1"/>
          </p:cNvSpPr>
          <p:nvPr/>
        </p:nvSpPr>
        <p:spPr>
          <a:xfrm xmlns:a="http://schemas.openxmlformats.org/drawingml/2006/main" rot="0">
            <a:off x="5164455" y="4769168"/>
            <a:ext cx="21040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COURSE FIT</a:t>
            </a:r>
          </a:p>
        </p:txBody>
      </p:sp>
      <p:sp>
        <p:nvSpPr>
          <p:cNvPr id="69" name="TextBox 69">
            <a:extLst xmlns:a="http://schemas.openxmlformats.org/drawingml/2006/main">
              <a:ext uri="{FF2B5EF4-FFF2-40B4-BE49-F238E27FC236}">
                <a16:creationId xmlns:a16="http://schemas.microsoft.com/office/drawing/2014/main" id="{717317AB-9062-4644-BC56-D0F5A472E21F}"/>
              </a:ext>
            </a:extLst>
          </p:cNvPr>
          <p:cNvSpPr>
            <a:spLocks xmlns:a="http://schemas.openxmlformats.org/drawingml/2006/main" noGrp="1"/>
          </p:cNvSpPr>
          <p:nvPr/>
        </p:nvSpPr>
        <p:spPr>
          <a:xfrm xmlns:a="http://schemas.openxmlformats.org/drawingml/2006/main" rot="0">
            <a:off x="4614862" y="5164931"/>
            <a:ext cx="473166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Deep-learning perception + autonomous robot control</a:t>
            </a:r>
          </a:p>
        </p:txBody>
      </p:sp>
      <p:sp>
        <p:nvSpPr>
          <p:cNvPr id="70" name="TextBox 70">
            <a:extLst xmlns:a="http://schemas.openxmlformats.org/drawingml/2006/main">
              <a:ext uri="{FF2B5EF4-FFF2-40B4-BE49-F238E27FC236}">
                <a16:creationId xmlns:a16="http://schemas.microsoft.com/office/drawing/2014/main" id="{9F33FD86-E0E5-47B7-B862-92C28857E7F1}"/>
              </a:ext>
            </a:extLst>
          </p:cNvPr>
          <p:cNvSpPr>
            <a:spLocks xmlns:a="http://schemas.openxmlformats.org/drawingml/2006/main" noGrp="1"/>
          </p:cNvSpPr>
          <p:nvPr/>
        </p:nvSpPr>
        <p:spPr>
          <a:xfrm xmlns:a="http://schemas.openxmlformats.org/drawingml/2006/main" rot="0">
            <a:off x="4616768" y="5409724"/>
            <a:ext cx="558296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Video + computer audio · moving parts · deep-learning automation · interactive feedback</a:t>
            </a:r>
          </a:p>
        </p:txBody>
      </p:sp>
      <p:sp>
        <p:nvSpPr>
          <p:cNvPr id="72" name="TextBox 72">
            <a:extLst xmlns:a="http://schemas.openxmlformats.org/drawingml/2006/main">
              <a:ext uri="{FF2B5EF4-FFF2-40B4-BE49-F238E27FC236}">
                <a16:creationId xmlns:a16="http://schemas.microsoft.com/office/drawing/2014/main" id="{AB7ABF65-77A8-4954-A41B-C7D5BCE3CC9E}"/>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01</a:t>
            </a:r>
          </a:p>
        </p:txBody>
      </p:sp>
    </p:spTree>
    <p:extLst>
      <p:ext uri="{BB962C8B-B14F-4D97-AF65-F5344CB8AC3E}">
        <p14:creationId xmlns:p14="http://schemas.microsoft.com/office/powerpoint/2010/main" val="6592159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C3425F86-49D7-4BD7-8FED-D26391C4EC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7D1C5216-1956-43C0-9C28-1EDF108AF947}"/>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49B95077-7567-409F-8AC0-107F7E500481}"/>
              </a:ext>
            </a:extLst>
          </p:cNvPr>
          <p:cNvSpPr>
            <a:spLocks xmlns:a="http://schemas.openxmlformats.org/drawingml/2006/main" noGrp="1"/>
          </p:cNvSpPr>
          <p:nvPr/>
        </p:nvSpPr>
        <p:spPr>
          <a:xfrm xmlns:a="http://schemas.openxmlformats.org/drawingml/2006/main" rot="0">
            <a:off x="659130" y="411480"/>
            <a:ext cx="236152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PRODUCT OVERVIEW</a:t>
            </a:r>
          </a:p>
        </p:txBody>
      </p:sp>
      <p:sp>
        <p:nvSpPr>
          <p:cNvPr id="5" name="TextBox 5">
            <a:extLst xmlns:a="http://schemas.openxmlformats.org/drawingml/2006/main">
              <a:ext uri="{FF2B5EF4-FFF2-40B4-BE49-F238E27FC236}">
                <a16:creationId xmlns:a16="http://schemas.microsoft.com/office/drawing/2014/main" id="{824CEB9F-3A1A-4A5D-B95B-CE4C5A1B702B}"/>
              </a:ext>
            </a:extLst>
          </p:cNvPr>
          <p:cNvSpPr>
            <a:spLocks xmlns:a="http://schemas.openxmlformats.org/drawingml/2006/main" noGrp="1"/>
          </p:cNvSpPr>
          <p:nvPr/>
        </p:nvSpPr>
        <p:spPr>
          <a:xfrm xmlns:a="http://schemas.openxmlformats.org/drawingml/2006/main" rot="0">
            <a:off x="9729268" y="485299"/>
            <a:ext cx="20179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D95D5D"/>
                </a:solidFill>
                <a:latin typeface="Arial"/>
                <a:ea typeface="Arial"/>
                <a:cs typeface="Arial"/>
              </a:rPr>
              <a:t>HEALTH · FOCUS · COMPANIONSHIP</a:t>
            </a:r>
          </a:p>
        </p:txBody>
      </p:sp>
      <p:sp>
        <p:nvSpPr>
          <p:cNvPr id="6" name="Line 6">
            <a:extLst xmlns:a="http://schemas.openxmlformats.org/drawingml/2006/main">
              <a:ext uri="{FF2B5EF4-FFF2-40B4-BE49-F238E27FC236}">
                <a16:creationId xmlns:a16="http://schemas.microsoft.com/office/drawing/2014/main" id="{D1B91D8B-68CA-467D-B824-D5376805646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8" name="Rectangle 8">
            <a:extLst xmlns:a="http://schemas.openxmlformats.org/drawingml/2006/main">
              <a:ext uri="{FF2B5EF4-FFF2-40B4-BE49-F238E27FC236}">
                <a16:creationId xmlns:a16="http://schemas.microsoft.com/office/drawing/2014/main" id="{978654C1-A40B-459F-B167-70909D7A271E}"/>
              </a:ext>
            </a:extLst>
          </p:cNvPr>
          <p:cNvSpPr>
            <a:spLocks xmlns:a="http://schemas.openxmlformats.org/drawingml/2006/main" noGrp="1"/>
          </p:cNvSpPr>
          <p:nvPr/>
        </p:nvSpPr>
        <p:spPr>
          <a:xfrm xmlns:a="http://schemas.openxmlformats.org/drawingml/2006/main" rot="0">
            <a:off x="457200" y="1066800"/>
            <a:ext cx="11277600" cy="4953000"/>
          </a:xfrm>
          <a:prstGeom xmlns:a="http://schemas.openxmlformats.org/drawingml/2006/main" prst="roundRect">
            <a:avLst>
              <a:gd name="adj" fmla="val 2308"/>
            </a:avLst>
          </a:prstGeom>
          <a:solidFill xmlns:a="http://schemas.openxmlformats.org/drawingml/2006/main">
            <a:srgbClr val="F7F9FC"/>
          </a:solidFill>
          <a:ln xmlns:a="http://schemas.openxmlformats.org/drawingml/2006/main" w="14288">
            <a:solidFill>
              <a:srgbClr val="CED8E4"/>
            </a:solidFill>
            <a:prstDash val="lgDash"/>
          </a:ln>
        </p:spPr>
      </p:sp>
      <p:sp>
        <p:nvSpPr>
          <p:cNvPr id="9" name="TextBox 9">
            <a:extLst xmlns:a="http://schemas.openxmlformats.org/drawingml/2006/main">
              <a:ext uri="{FF2B5EF4-FFF2-40B4-BE49-F238E27FC236}">
                <a16:creationId xmlns:a16="http://schemas.microsoft.com/office/drawing/2014/main" id="{78A798BF-50C6-4335-AE08-4F18FB5CFFE1}"/>
              </a:ext>
            </a:extLst>
          </p:cNvPr>
          <p:cNvSpPr>
            <a:spLocks xmlns:a="http://schemas.openxmlformats.org/drawingml/2006/main" noGrp="1"/>
          </p:cNvSpPr>
          <p:nvPr/>
        </p:nvSpPr>
        <p:spPr>
          <a:xfrm xmlns:a="http://schemas.openxmlformats.org/drawingml/2006/main" rot="0">
            <a:off x="673418" y="1218724"/>
            <a:ext cx="472777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FROM PASSIVE REMINDERS TO A COMPANION THAT PERCEIVES AND ACTS</a:t>
            </a:r>
          </a:p>
        </p:txBody>
      </p:sp>
      <p:sp>
        <p:nvSpPr>
          <p:cNvPr id="11" name="Rectangle 11">
            <a:extLst xmlns:a="http://schemas.openxmlformats.org/drawingml/2006/main">
              <a:ext uri="{FF2B5EF4-FFF2-40B4-BE49-F238E27FC236}">
                <a16:creationId xmlns:a16="http://schemas.microsoft.com/office/drawing/2014/main" id="{9CACC870-90B4-4477-93F0-02DB2067414D}"/>
              </a:ext>
            </a:extLst>
          </p:cNvPr>
          <p:cNvSpPr>
            <a:spLocks xmlns:a="http://schemas.openxmlformats.org/drawingml/2006/main" noGrp="1"/>
          </p:cNvSpPr>
          <p:nvPr/>
        </p:nvSpPr>
        <p:spPr>
          <a:xfrm xmlns:a="http://schemas.openxmlformats.org/drawingml/2006/main" rot="0">
            <a:off x="685800" y="1524000"/>
            <a:ext cx="3429000" cy="4210050"/>
          </a:xfrm>
          <a:prstGeom xmlns:a="http://schemas.openxmlformats.org/drawingml/2006/main" prst="roundRect">
            <a:avLst>
              <a:gd name="adj" fmla="val 3333"/>
            </a:avLst>
          </a:prstGeom>
          <a:solidFill xmlns:a="http://schemas.openxmlformats.org/drawingml/2006/main">
            <a:srgbClr val="123B5D"/>
          </a:solidFill>
          <a:ln xmlns:a="http://schemas.openxmlformats.org/drawingml/2006/main">
            <a:noFill/>
          </a:ln>
        </p:spPr>
      </p:sp>
      <p:sp>
        <p:nvSpPr>
          <p:cNvPr id="12" name="Freeform 12">
            <a:extLst xmlns:a="http://schemas.openxmlformats.org/drawingml/2006/main">
              <a:ext uri="{FF2B5EF4-FFF2-40B4-BE49-F238E27FC236}">
                <a16:creationId xmlns:a16="http://schemas.microsoft.com/office/drawing/2014/main" id="{310CC452-27C0-4F43-989B-74020D13D5AB}"/>
              </a:ext>
            </a:extLst>
          </p:cNvPr>
          <p:cNvSpPr>
            <a:spLocks xmlns:a="http://schemas.openxmlformats.org/drawingml/2006/main" noGrp="1"/>
          </p:cNvSpPr>
          <p:nvPr/>
        </p:nvSpPr>
        <p:spPr>
          <a:xfrm xmlns:a="http://schemas.openxmlformats.org/drawingml/2006/main" rot="0">
            <a:off x="940523" y="1833562"/>
            <a:ext cx="366793" cy="301228"/>
          </a:xfrm>
          <a:custGeom xmlns:a="http://schemas.openxmlformats.org/drawingml/2006/main">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xmlns:a="http://schemas.openxmlformats.org/drawingml/2006/main">
            <a:srgbClr val="F7F9FC">
              <a:alpha val="20000"/>
            </a:srgbClr>
          </a:solidFill>
          <a:ln xmlns:a="http://schemas.openxmlformats.org/drawingml/2006/main">
            <a:noFill/>
          </a:ln>
        </p:spPr>
      </p:sp>
      <p:sp>
        <p:nvSpPr>
          <p:cNvPr id="13" name="Freeform 13">
            <a:extLst xmlns:a="http://schemas.openxmlformats.org/drawingml/2006/main">
              <a:ext uri="{FF2B5EF4-FFF2-40B4-BE49-F238E27FC236}">
                <a16:creationId xmlns:a16="http://schemas.microsoft.com/office/drawing/2014/main" id="{E37C0FE7-ABA8-4A39-BAAE-817FBCBDFF73}"/>
              </a:ext>
            </a:extLst>
          </p:cNvPr>
          <p:cNvSpPr>
            <a:spLocks xmlns:a="http://schemas.openxmlformats.org/drawingml/2006/main" noGrp="1"/>
          </p:cNvSpPr>
          <p:nvPr/>
        </p:nvSpPr>
        <p:spPr>
          <a:xfrm xmlns:a="http://schemas.openxmlformats.org/drawingml/2006/main" rot="0">
            <a:off x="927485" y="1813884"/>
            <a:ext cx="392919" cy="340585"/>
          </a:xfrm>
          <a:custGeom xmlns:a="http://schemas.openxmlformats.org/drawingml/2006/main">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xmlns:a="http://schemas.openxmlformats.org/drawingml/2006/main">
            <a:srgbClr val="F7F9FC"/>
          </a:solidFill>
          <a:ln xmlns:a="http://schemas.openxmlformats.org/drawingml/2006/main">
            <a:noFill/>
          </a:ln>
        </p:spPr>
      </p:sp>
      <p:sp>
        <p:nvSpPr>
          <p:cNvPr id="15" name="Freeform 15">
            <a:extLst xmlns:a="http://schemas.openxmlformats.org/drawingml/2006/main">
              <a:ext uri="{FF2B5EF4-FFF2-40B4-BE49-F238E27FC236}">
                <a16:creationId xmlns:a16="http://schemas.microsoft.com/office/drawing/2014/main" id="{A328A959-4B39-418D-9B7D-C1B3B3A0B1C1}"/>
              </a:ext>
            </a:extLst>
          </p:cNvPr>
          <p:cNvSpPr>
            <a:spLocks xmlns:a="http://schemas.openxmlformats.org/drawingml/2006/main" noGrp="1"/>
          </p:cNvSpPr>
          <p:nvPr/>
        </p:nvSpPr>
        <p:spPr>
          <a:xfrm xmlns:a="http://schemas.openxmlformats.org/drawingml/2006/main" rot="0">
            <a:off x="1457579" y="1820466"/>
            <a:ext cx="292640" cy="340519"/>
          </a:xfrm>
          <a:custGeom xmlns:a="http://schemas.openxmlformats.org/drawingml/2006/main">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xmlns:a="http://schemas.openxmlformats.org/drawingml/2006/main">
            <a:srgbClr val="F7F9FC">
              <a:alpha val="20000"/>
            </a:srgbClr>
          </a:solidFill>
          <a:ln xmlns:a="http://schemas.openxmlformats.org/drawingml/2006/main">
            <a:noFill/>
          </a:ln>
        </p:spPr>
      </p:sp>
      <p:sp>
        <p:nvSpPr>
          <p:cNvPr id="16" name="Freeform 16">
            <a:extLst xmlns:a="http://schemas.openxmlformats.org/drawingml/2006/main">
              <a:ext uri="{FF2B5EF4-FFF2-40B4-BE49-F238E27FC236}">
                <a16:creationId xmlns:a16="http://schemas.microsoft.com/office/drawing/2014/main" id="{9B5F4042-B24F-41EB-B49A-6F62C92A7559}"/>
              </a:ext>
            </a:extLst>
          </p:cNvPr>
          <p:cNvSpPr>
            <a:spLocks xmlns:a="http://schemas.openxmlformats.org/drawingml/2006/main" noGrp="1"/>
          </p:cNvSpPr>
          <p:nvPr/>
        </p:nvSpPr>
        <p:spPr>
          <a:xfrm xmlns:a="http://schemas.openxmlformats.org/drawingml/2006/main" rot="0">
            <a:off x="1442437" y="1804400"/>
            <a:ext cx="320878" cy="369681"/>
          </a:xfrm>
          <a:custGeom xmlns:a="http://schemas.openxmlformats.org/drawingml/2006/main">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xmlns:a="http://schemas.openxmlformats.org/drawingml/2006/main">
            <a:srgbClr val="F7F9FC"/>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27C7C214-DC36-435E-9E1D-FECF0150D7FE}"/>
              </a:ext>
            </a:extLst>
          </p:cNvPr>
          <p:cNvSpPr>
            <a:spLocks xmlns:a="http://schemas.openxmlformats.org/drawingml/2006/main" noGrp="1"/>
          </p:cNvSpPr>
          <p:nvPr/>
        </p:nvSpPr>
        <p:spPr>
          <a:xfrm xmlns:a="http://schemas.openxmlformats.org/drawingml/2006/main" rot="0">
            <a:off x="902018" y="2437924"/>
            <a:ext cx="164249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PRODUCT PROMISE</a:t>
            </a:r>
          </a:p>
        </p:txBody>
      </p:sp>
      <p:sp>
        <p:nvSpPr>
          <p:cNvPr id="19" name="TextBox 19">
            <a:extLst xmlns:a="http://schemas.openxmlformats.org/drawingml/2006/main">
              <a:ext uri="{FF2B5EF4-FFF2-40B4-BE49-F238E27FC236}">
                <a16:creationId xmlns:a16="http://schemas.microsoft.com/office/drawing/2014/main" id="{FD266AF8-28E2-4C27-B861-B8E51FE2F1A1}"/>
              </a:ext>
            </a:extLst>
          </p:cNvPr>
          <p:cNvSpPr>
            <a:spLocks xmlns:a="http://schemas.openxmlformats.org/drawingml/2006/main" noGrp="1"/>
          </p:cNvSpPr>
          <p:nvPr/>
        </p:nvSpPr>
        <p:spPr>
          <a:xfrm xmlns:a="http://schemas.openxmlformats.org/drawingml/2006/main" rot="0">
            <a:off x="893445" y="2755582"/>
            <a:ext cx="187859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AWARE OF</a:t>
            </a:r>
          </a:p>
        </p:txBody>
      </p:sp>
      <p:sp>
        <p:nvSpPr>
          <p:cNvPr id="20" name="TextBox 20">
            <a:extLst xmlns:a="http://schemas.openxmlformats.org/drawingml/2006/main">
              <a:ext uri="{FF2B5EF4-FFF2-40B4-BE49-F238E27FC236}">
                <a16:creationId xmlns:a16="http://schemas.microsoft.com/office/drawing/2014/main" id="{C020D530-8E66-4D71-B028-7093FC011A1A}"/>
              </a:ext>
            </a:extLst>
          </p:cNvPr>
          <p:cNvSpPr>
            <a:spLocks xmlns:a="http://schemas.openxmlformats.org/drawingml/2006/main" noGrp="1"/>
          </p:cNvSpPr>
          <p:nvPr/>
        </p:nvSpPr>
        <p:spPr>
          <a:xfrm xmlns:a="http://schemas.openxmlformats.org/drawingml/2006/main" rot="0">
            <a:off x="893445" y="3031808"/>
            <a:ext cx="124326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DESK CONTEXT</a:t>
            </a:r>
          </a:p>
        </p:txBody>
      </p:sp>
      <p:sp>
        <p:nvSpPr>
          <p:cNvPr id="21" name="Rectangle 21">
            <a:extLst xmlns:a="http://schemas.openxmlformats.org/drawingml/2006/main">
              <a:ext uri="{FF2B5EF4-FFF2-40B4-BE49-F238E27FC236}">
                <a16:creationId xmlns:a16="http://schemas.microsoft.com/office/drawing/2014/main" id="{49687176-52F2-4113-9C7A-802EF0B6217A}"/>
              </a:ext>
            </a:extLst>
          </p:cNvPr>
          <p:cNvSpPr>
            <a:spLocks xmlns:a="http://schemas.openxmlformats.org/drawingml/2006/main" noGrp="1"/>
          </p:cNvSpPr>
          <p:nvPr/>
        </p:nvSpPr>
        <p:spPr>
          <a:xfrm xmlns:a="http://schemas.openxmlformats.org/drawingml/2006/main" rot="0">
            <a:off x="914400" y="3476625"/>
            <a:ext cx="2743200" cy="590550"/>
          </a:xfrm>
          <a:prstGeom xmlns:a="http://schemas.openxmlformats.org/drawingml/2006/main" prst="roundRect">
            <a:avLst>
              <a:gd name="adj" fmla="val 16129"/>
            </a:avLst>
          </a:prstGeom>
          <a:solidFill xmlns:a="http://schemas.openxmlformats.org/drawingml/2006/main">
            <a:srgbClr val="2F80ED"/>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9B044053-B3DA-4F29-B142-FDB831529433}"/>
              </a:ext>
            </a:extLst>
          </p:cNvPr>
          <p:cNvSpPr>
            <a:spLocks xmlns:a="http://schemas.openxmlformats.org/drawingml/2006/main" noGrp="1"/>
          </p:cNvSpPr>
          <p:nvPr/>
        </p:nvSpPr>
        <p:spPr>
          <a:xfrm xmlns:a="http://schemas.openxmlformats.org/drawingml/2006/main" rot="0">
            <a:off x="1913715" y="3594735"/>
            <a:ext cx="74456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b="1">
                <a:solidFill>
                  <a:srgbClr val="F7F9FC"/>
                </a:solidFill>
                <a:latin typeface="Consolas"/>
                <a:ea typeface="Consolas"/>
                <a:cs typeface="Consolas"/>
              </a:rPr>
              <a:t>PROACTIVE</a:t>
            </a:r>
          </a:p>
        </p:txBody>
      </p:sp>
      <p:sp>
        <p:nvSpPr>
          <p:cNvPr id="23" name="TextBox 23">
            <a:extLst xmlns:a="http://schemas.openxmlformats.org/drawingml/2006/main">
              <a:ext uri="{FF2B5EF4-FFF2-40B4-BE49-F238E27FC236}">
                <a16:creationId xmlns:a16="http://schemas.microsoft.com/office/drawing/2014/main" id="{3B0D53B9-73EF-420A-8E79-3193161E12BA}"/>
              </a:ext>
            </a:extLst>
          </p:cNvPr>
          <p:cNvSpPr>
            <a:spLocks xmlns:a="http://schemas.openxmlformats.org/drawingml/2006/main" noGrp="1"/>
          </p:cNvSpPr>
          <p:nvPr/>
        </p:nvSpPr>
        <p:spPr>
          <a:xfrm xmlns:a="http://schemas.openxmlformats.org/drawingml/2006/main" rot="0">
            <a:off x="1148977" y="3838099"/>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a:solidFill>
                  <a:srgbClr val="F7F9FC"/>
                </a:solidFill>
                <a:latin typeface="Arial"/>
                <a:ea typeface="Arial"/>
                <a:cs typeface="Arial"/>
              </a:rPr>
              <a:t>Perceive → decide → move and respond</a:t>
            </a:r>
          </a:p>
        </p:txBody>
      </p:sp>
      <p:sp>
        <p:nvSpPr>
          <p:cNvPr id="24" name="Line 24">
            <a:extLst xmlns:a="http://schemas.openxmlformats.org/drawingml/2006/main">
              <a:ext uri="{FF2B5EF4-FFF2-40B4-BE49-F238E27FC236}">
                <a16:creationId xmlns:a16="http://schemas.microsoft.com/office/drawing/2014/main" id="{28F3E89C-BADF-4380-87C0-70D1FB0BEB08}"/>
              </a:ext>
            </a:extLst>
          </p:cNvPr>
          <p:cNvSpPr>
            <a:spLocks xmlns:a="http://schemas.openxmlformats.org/drawingml/2006/main" noGrp="1"/>
          </p:cNvSpPr>
          <p:nvPr/>
        </p:nvSpPr>
        <p:spPr>
          <a:xfrm xmlns:a="http://schemas.openxmlformats.org/drawingml/2006/main" rot="0">
            <a:off x="914400" y="4352925"/>
            <a:ext cx="2743200" cy="9525"/>
          </a:xfrm>
          <a:custGeom xmlns:a="http://schemas.openxmlformats.org/drawingml/2006/main">
            <a:rect l="l" t="t" r="r" b="b"/>
            <a:pathLst>
              <a:path w="2743200" h="9525">
                <a:moveTo>
                  <a:pt x="0" y="0"/>
                </a:moveTo>
                <a:lnTo>
                  <a:pt x="2743200" y="0"/>
                </a:lnTo>
              </a:path>
            </a:pathLst>
          </a:custGeom>
          <a:noFill xmlns:a="http://schemas.openxmlformats.org/drawingml/2006/main"/>
          <a:ln xmlns:a="http://schemas.openxmlformats.org/drawingml/2006/main" w="9525">
            <a:solidFill>
              <a:srgbClr val="F7F9FC">
                <a:alpha val="35000"/>
              </a:srgbClr>
            </a:solidFill>
          </a:ln>
        </p:spPr>
      </p:sp>
      <p:sp>
        <p:nvSpPr>
          <p:cNvPr id="25" name="Ellipse 25">
            <a:extLst xmlns:a="http://schemas.openxmlformats.org/drawingml/2006/main">
              <a:ext uri="{FF2B5EF4-FFF2-40B4-BE49-F238E27FC236}">
                <a16:creationId xmlns:a16="http://schemas.microsoft.com/office/drawing/2014/main" id="{BF2EA731-FE4E-47DD-B08D-6B8E7708BDDF}"/>
              </a:ext>
            </a:extLst>
          </p:cNvPr>
          <p:cNvSpPr>
            <a:spLocks xmlns:a="http://schemas.openxmlformats.org/drawingml/2006/main" noGrp="1"/>
          </p:cNvSpPr>
          <p:nvPr/>
        </p:nvSpPr>
        <p:spPr>
          <a:xfrm xmlns:a="http://schemas.openxmlformats.org/drawingml/2006/main" rot="0">
            <a:off x="952500" y="4619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6" name="TextBox 26">
            <a:extLst xmlns:a="http://schemas.openxmlformats.org/drawingml/2006/main">
              <a:ext uri="{FF2B5EF4-FFF2-40B4-BE49-F238E27FC236}">
                <a16:creationId xmlns:a16="http://schemas.microsoft.com/office/drawing/2014/main" id="{1D9DBB1F-FF1F-44DE-B030-31553C1CD0E6}"/>
              </a:ext>
            </a:extLst>
          </p:cNvPr>
          <p:cNvSpPr>
            <a:spLocks xmlns:a="http://schemas.openxmlformats.org/drawingml/2006/main" noGrp="1"/>
          </p:cNvSpPr>
          <p:nvPr/>
        </p:nvSpPr>
        <p:spPr>
          <a:xfrm xmlns:a="http://schemas.openxmlformats.org/drawingml/2006/main" rot="0">
            <a:off x="1128712" y="4583906"/>
            <a:ext cx="234636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Reduce unnoticed long sitting</a:t>
            </a:r>
          </a:p>
        </p:txBody>
      </p:sp>
      <p:sp>
        <p:nvSpPr>
          <p:cNvPr id="27" name="Ellipse 27">
            <a:extLst xmlns:a="http://schemas.openxmlformats.org/drawingml/2006/main">
              <a:ext uri="{FF2B5EF4-FFF2-40B4-BE49-F238E27FC236}">
                <a16:creationId xmlns:a16="http://schemas.microsoft.com/office/drawing/2014/main" id="{2A3714A5-682C-47B6-B308-8377E5C1D4C3}"/>
              </a:ext>
            </a:extLst>
          </p:cNvPr>
          <p:cNvSpPr>
            <a:spLocks xmlns:a="http://schemas.openxmlformats.org/drawingml/2006/main" noGrp="1"/>
          </p:cNvSpPr>
          <p:nvPr/>
        </p:nvSpPr>
        <p:spPr>
          <a:xfrm xmlns:a="http://schemas.openxmlformats.org/drawingml/2006/main" rot="0">
            <a:off x="952500" y="5000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82948DB1-AC7E-4F07-A302-5A1C2AA5A4EB}"/>
              </a:ext>
            </a:extLst>
          </p:cNvPr>
          <p:cNvSpPr>
            <a:spLocks xmlns:a="http://schemas.openxmlformats.org/drawingml/2006/main" noGrp="1"/>
          </p:cNvSpPr>
          <p:nvPr/>
        </p:nvSpPr>
        <p:spPr>
          <a:xfrm xmlns:a="http://schemas.openxmlformats.org/drawingml/2006/main" rot="0">
            <a:off x="1128712" y="4964906"/>
            <a:ext cx="226385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Interrupt harmful focus patterns</a:t>
            </a:r>
          </a:p>
        </p:txBody>
      </p:sp>
      <p:sp>
        <p:nvSpPr>
          <p:cNvPr id="29" name="Ellipse 29">
            <a:extLst xmlns:a="http://schemas.openxmlformats.org/drawingml/2006/main">
              <a:ext uri="{FF2B5EF4-FFF2-40B4-BE49-F238E27FC236}">
                <a16:creationId xmlns:a16="http://schemas.microsoft.com/office/drawing/2014/main" id="{7CAF6720-646A-482E-A4B7-196D15F21ECC}"/>
              </a:ext>
            </a:extLst>
          </p:cNvPr>
          <p:cNvSpPr>
            <a:spLocks xmlns:a="http://schemas.openxmlformats.org/drawingml/2006/main" noGrp="1"/>
          </p:cNvSpPr>
          <p:nvPr/>
        </p:nvSpPr>
        <p:spPr>
          <a:xfrm xmlns:a="http://schemas.openxmlformats.org/drawingml/2006/main" rot="0">
            <a:off x="952500" y="5381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1D4CECDB-29C8-49B5-A837-50C483087771}"/>
              </a:ext>
            </a:extLst>
          </p:cNvPr>
          <p:cNvSpPr>
            <a:spLocks xmlns:a="http://schemas.openxmlformats.org/drawingml/2006/main" noGrp="1"/>
          </p:cNvSpPr>
          <p:nvPr/>
        </p:nvSpPr>
        <p:spPr>
          <a:xfrm xmlns:a="http://schemas.openxmlformats.org/drawingml/2006/main" rot="0">
            <a:off x="1128712" y="5345906"/>
            <a:ext cx="255639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Make reminders visible and engaging</a:t>
            </a:r>
          </a:p>
        </p:txBody>
      </p:sp>
      <p:sp>
        <p:nvSpPr>
          <p:cNvPr id="32" name="Rectangle 32">
            <a:extLst xmlns:a="http://schemas.openxmlformats.org/drawingml/2006/main">
              <a:ext uri="{FF2B5EF4-FFF2-40B4-BE49-F238E27FC236}">
                <a16:creationId xmlns:a16="http://schemas.microsoft.com/office/drawing/2014/main" id="{E0F22EDB-B7D1-40FE-951B-D2B23EAD36E8}"/>
              </a:ext>
            </a:extLst>
          </p:cNvPr>
          <p:cNvSpPr>
            <a:spLocks xmlns:a="http://schemas.openxmlformats.org/drawingml/2006/main" noGrp="1"/>
          </p:cNvSpPr>
          <p:nvPr/>
        </p:nvSpPr>
        <p:spPr>
          <a:xfrm xmlns:a="http://schemas.openxmlformats.org/drawingml/2006/main" rot="0">
            <a:off x="4419600" y="15240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33" name="Freeform 33">
            <a:extLst xmlns:a="http://schemas.openxmlformats.org/drawingml/2006/main">
              <a:ext uri="{FF2B5EF4-FFF2-40B4-BE49-F238E27FC236}">
                <a16:creationId xmlns:a16="http://schemas.microsoft.com/office/drawing/2014/main" id="{0C209F29-B222-4AA1-ABE4-D8AACF1A0EC5}"/>
              </a:ext>
            </a:extLst>
          </p:cNvPr>
          <p:cNvSpPr>
            <a:spLocks xmlns:a="http://schemas.openxmlformats.org/drawingml/2006/main" noGrp="1"/>
          </p:cNvSpPr>
          <p:nvPr/>
        </p:nvSpPr>
        <p:spPr>
          <a:xfrm xmlns:a="http://schemas.openxmlformats.org/drawingml/2006/main" rot="0">
            <a:off x="4681142" y="1754981"/>
            <a:ext cx="238943" cy="291321"/>
          </a:xfrm>
          <a:custGeom xmlns:a="http://schemas.openxmlformats.org/drawingml/2006/main">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xmlns:a="http://schemas.openxmlformats.org/drawingml/2006/main">
            <a:srgbClr val="2F80ED">
              <a:alpha val="20000"/>
            </a:srgbClr>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15066CE6-D046-4868-B930-8BD343EB51D9}"/>
              </a:ext>
            </a:extLst>
          </p:cNvPr>
          <p:cNvSpPr>
            <a:spLocks xmlns:a="http://schemas.openxmlformats.org/drawingml/2006/main" noGrp="1"/>
          </p:cNvSpPr>
          <p:nvPr/>
        </p:nvSpPr>
        <p:spPr>
          <a:xfrm xmlns:a="http://schemas.openxmlformats.org/drawingml/2006/main" rot="0">
            <a:off x="4669371" y="1744266"/>
            <a:ext cx="262458" cy="315209"/>
          </a:xfrm>
          <a:custGeom xmlns:a="http://schemas.openxmlformats.org/drawingml/2006/main">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xmlns:a="http://schemas.openxmlformats.org/drawingml/2006/main">
            <a:srgbClr val="2F80ED"/>
          </a:solidFill>
          <a:ln xmlns:a="http://schemas.openxmlformats.org/drawingml/2006/main">
            <a:noFill/>
          </a:ln>
        </p:spPr>
      </p:sp>
      <p:sp>
        <p:nvSpPr>
          <p:cNvPr id="36" name="TextBox 36">
            <a:extLst xmlns:a="http://schemas.openxmlformats.org/drawingml/2006/main">
              <a:ext uri="{FF2B5EF4-FFF2-40B4-BE49-F238E27FC236}">
                <a16:creationId xmlns:a16="http://schemas.microsoft.com/office/drawing/2014/main" id="{57BB40E5-D49C-4613-B70D-26ADA4CF9DAD}"/>
              </a:ext>
            </a:extLst>
          </p:cNvPr>
          <p:cNvSpPr>
            <a:spLocks xmlns:a="http://schemas.openxmlformats.org/drawingml/2006/main" noGrp="1"/>
          </p:cNvSpPr>
          <p:nvPr/>
        </p:nvSpPr>
        <p:spPr>
          <a:xfrm xmlns:a="http://schemas.openxmlformats.org/drawingml/2006/main" rot="0">
            <a:off x="5088255" y="1797368"/>
            <a:ext cx="192452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LONG SITTING</a:t>
            </a:r>
          </a:p>
        </p:txBody>
      </p:sp>
      <p:sp>
        <p:nvSpPr>
          <p:cNvPr id="37" name="TextBox 37">
            <a:extLst xmlns:a="http://schemas.openxmlformats.org/drawingml/2006/main">
              <a:ext uri="{FF2B5EF4-FFF2-40B4-BE49-F238E27FC236}">
                <a16:creationId xmlns:a16="http://schemas.microsoft.com/office/drawing/2014/main" id="{CA86B929-0E43-4EE9-A65E-D741D9978797}"/>
              </a:ext>
            </a:extLst>
          </p:cNvPr>
          <p:cNvSpPr>
            <a:spLocks xmlns:a="http://schemas.openxmlformats.org/drawingml/2006/main" noGrp="1"/>
          </p:cNvSpPr>
          <p:nvPr/>
        </p:nvSpPr>
        <p:spPr>
          <a:xfrm xmlns:a="http://schemas.openxmlformats.org/drawingml/2006/main" rot="0">
            <a:off x="4614862" y="2202656"/>
            <a:ext cx="18888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Detect prolonged seated or static states</a:t>
            </a:r>
          </a:p>
        </p:txBody>
      </p:sp>
      <p:sp>
        <p:nvSpPr>
          <p:cNvPr id="38" name="TextBox 38">
            <a:extLst xmlns:a="http://schemas.openxmlformats.org/drawingml/2006/main">
              <a:ext uri="{FF2B5EF4-FFF2-40B4-BE49-F238E27FC236}">
                <a16:creationId xmlns:a16="http://schemas.microsoft.com/office/drawing/2014/main" id="{64D5380B-B3A5-4354-B5BD-4E251061823A}"/>
              </a:ext>
            </a:extLst>
          </p:cNvPr>
          <p:cNvSpPr>
            <a:spLocks xmlns:a="http://schemas.openxmlformats.org/drawingml/2006/main" noGrp="1"/>
          </p:cNvSpPr>
          <p:nvPr/>
        </p:nvSpPr>
        <p:spPr>
          <a:xfrm xmlns:a="http://schemas.openxmlformats.org/drawingml/2006/main" rot="0">
            <a:off x="4616768" y="2437924"/>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then trigger a stretch or movement cue</a:t>
            </a:r>
          </a:p>
        </p:txBody>
      </p:sp>
      <p:sp>
        <p:nvSpPr>
          <p:cNvPr id="40" name="Rectangle 40">
            <a:extLst xmlns:a="http://schemas.openxmlformats.org/drawingml/2006/main">
              <a:ext uri="{FF2B5EF4-FFF2-40B4-BE49-F238E27FC236}">
                <a16:creationId xmlns:a16="http://schemas.microsoft.com/office/drawing/2014/main" id="{6F3E840A-54EF-4683-A456-498D6D7A0967}"/>
              </a:ext>
            </a:extLst>
          </p:cNvPr>
          <p:cNvSpPr>
            <a:spLocks xmlns:a="http://schemas.openxmlformats.org/drawingml/2006/main" noGrp="1"/>
          </p:cNvSpPr>
          <p:nvPr/>
        </p:nvSpPr>
        <p:spPr>
          <a:xfrm xmlns:a="http://schemas.openxmlformats.org/drawingml/2006/main" rot="0">
            <a:off x="8039100" y="15240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1" name="Freeform 41">
            <a:extLst xmlns:a="http://schemas.openxmlformats.org/drawingml/2006/main">
              <a:ext uri="{FF2B5EF4-FFF2-40B4-BE49-F238E27FC236}">
                <a16:creationId xmlns:a16="http://schemas.microsoft.com/office/drawing/2014/main" id="{4B25AF25-8F27-4134-9C72-11F798074D8C}"/>
              </a:ext>
            </a:extLst>
          </p:cNvPr>
          <p:cNvSpPr>
            <a:spLocks xmlns:a="http://schemas.openxmlformats.org/drawingml/2006/main" noGrp="1"/>
          </p:cNvSpPr>
          <p:nvPr/>
        </p:nvSpPr>
        <p:spPr>
          <a:xfrm xmlns:a="http://schemas.openxmlformats.org/drawingml/2006/main" rot="0">
            <a:off x="8302203" y="1775932"/>
            <a:ext cx="246965" cy="246965"/>
          </a:xfrm>
          <a:custGeom xmlns:a="http://schemas.openxmlformats.org/drawingml/2006/main">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xmlns:a="http://schemas.openxmlformats.org/drawingml/2006/main">
            <a:srgbClr val="2F80ED">
              <a:alpha val="20000"/>
            </a:srgbClr>
          </a:solidFill>
          <a:ln xmlns:a="http://schemas.openxmlformats.org/drawingml/2006/main">
            <a:noFill/>
          </a:ln>
        </p:spPr>
      </p:sp>
      <p:sp>
        <p:nvSpPr>
          <p:cNvPr id="42" name="Freeform 42">
            <a:extLst xmlns:a="http://schemas.openxmlformats.org/drawingml/2006/main">
              <a:ext uri="{FF2B5EF4-FFF2-40B4-BE49-F238E27FC236}">
                <a16:creationId xmlns:a16="http://schemas.microsoft.com/office/drawing/2014/main" id="{DA1694BD-A2FD-455F-B824-A590C30BB0DA}"/>
              </a:ext>
            </a:extLst>
          </p:cNvPr>
          <p:cNvSpPr>
            <a:spLocks xmlns:a="http://schemas.openxmlformats.org/drawingml/2006/main" noGrp="1"/>
          </p:cNvSpPr>
          <p:nvPr/>
        </p:nvSpPr>
        <p:spPr>
          <a:xfrm xmlns:a="http://schemas.openxmlformats.org/drawingml/2006/main" rot="0">
            <a:off x="8291445" y="1764707"/>
            <a:ext cx="268951" cy="268949"/>
          </a:xfrm>
          <a:custGeom xmlns:a="http://schemas.openxmlformats.org/drawingml/2006/main">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xmlns:a="http://schemas.openxmlformats.org/drawingml/2006/main">
            <a:srgbClr val="2F80ED"/>
          </a:solidFill>
          <a:ln xmlns:a="http://schemas.openxmlformats.org/drawingml/2006/main">
            <a:noFill/>
          </a:ln>
        </p:spPr>
      </p:sp>
      <p:sp>
        <p:nvSpPr>
          <p:cNvPr id="44" name="TextBox 44">
            <a:extLst xmlns:a="http://schemas.openxmlformats.org/drawingml/2006/main">
              <a:ext uri="{FF2B5EF4-FFF2-40B4-BE49-F238E27FC236}">
                <a16:creationId xmlns:a16="http://schemas.microsoft.com/office/drawing/2014/main" id="{D0A143B4-20B6-4315-97DB-31F81E2C0FD6}"/>
              </a:ext>
            </a:extLst>
          </p:cNvPr>
          <p:cNvSpPr>
            <a:spLocks xmlns:a="http://schemas.openxmlformats.org/drawingml/2006/main" noGrp="1"/>
          </p:cNvSpPr>
          <p:nvPr/>
        </p:nvSpPr>
        <p:spPr>
          <a:xfrm xmlns:a="http://schemas.openxmlformats.org/drawingml/2006/main" rot="0">
            <a:off x="8707755" y="1797368"/>
            <a:ext cx="151812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SCREEN &amp; EYE USE</a:t>
            </a:r>
          </a:p>
        </p:txBody>
      </p:sp>
      <p:sp>
        <p:nvSpPr>
          <p:cNvPr id="45" name="TextBox 45">
            <a:extLst xmlns:a="http://schemas.openxmlformats.org/drawingml/2006/main">
              <a:ext uri="{FF2B5EF4-FFF2-40B4-BE49-F238E27FC236}">
                <a16:creationId xmlns:a16="http://schemas.microsoft.com/office/drawing/2014/main" id="{B519663C-D02A-4FCB-ADCC-F074E29BB119}"/>
              </a:ext>
            </a:extLst>
          </p:cNvPr>
          <p:cNvSpPr>
            <a:spLocks xmlns:a="http://schemas.openxmlformats.org/drawingml/2006/main" noGrp="1"/>
          </p:cNvSpPr>
          <p:nvPr/>
        </p:nvSpPr>
        <p:spPr>
          <a:xfrm xmlns:a="http://schemas.openxmlformats.org/drawingml/2006/main" rot="0">
            <a:off x="8234362" y="2202656"/>
            <a:ext cx="243637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Estimate face-to-screen distance</a:t>
            </a:r>
          </a:p>
        </p:txBody>
      </p:sp>
      <p:sp>
        <p:nvSpPr>
          <p:cNvPr id="46" name="TextBox 46">
            <a:extLst xmlns:a="http://schemas.openxmlformats.org/drawingml/2006/main">
              <a:ext uri="{FF2B5EF4-FFF2-40B4-BE49-F238E27FC236}">
                <a16:creationId xmlns:a16="http://schemas.microsoft.com/office/drawing/2014/main" id="{587D43E9-3531-4174-AD08-8DF1011D1E44}"/>
              </a:ext>
            </a:extLst>
          </p:cNvPr>
          <p:cNvSpPr>
            <a:spLocks xmlns:a="http://schemas.openxmlformats.org/drawingml/2006/main" noGrp="1"/>
          </p:cNvSpPr>
          <p:nvPr/>
        </p:nvSpPr>
        <p:spPr>
          <a:xfrm xmlns:a="http://schemas.openxmlformats.org/drawingml/2006/main" rot="0">
            <a:off x="8236268" y="2437924"/>
            <a:ext cx="222854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and sustained head / gaze direction</a:t>
            </a:r>
          </a:p>
        </p:txBody>
      </p:sp>
      <p:sp>
        <p:nvSpPr>
          <p:cNvPr id="48" name="Rectangle 48">
            <a:extLst xmlns:a="http://schemas.openxmlformats.org/drawingml/2006/main">
              <a:ext uri="{FF2B5EF4-FFF2-40B4-BE49-F238E27FC236}">
                <a16:creationId xmlns:a16="http://schemas.microsoft.com/office/drawing/2014/main" id="{19A79CEE-8F6C-4138-A3AB-415D27E55C68}"/>
              </a:ext>
            </a:extLst>
          </p:cNvPr>
          <p:cNvSpPr>
            <a:spLocks xmlns:a="http://schemas.openxmlformats.org/drawingml/2006/main" noGrp="1"/>
          </p:cNvSpPr>
          <p:nvPr/>
        </p:nvSpPr>
        <p:spPr>
          <a:xfrm xmlns:a="http://schemas.openxmlformats.org/drawingml/2006/main" rot="0">
            <a:off x="4419600" y="29718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9" name="Freeform 49">
            <a:extLst xmlns:a="http://schemas.openxmlformats.org/drawingml/2006/main">
              <a:ext uri="{FF2B5EF4-FFF2-40B4-BE49-F238E27FC236}">
                <a16:creationId xmlns:a16="http://schemas.microsoft.com/office/drawing/2014/main" id="{89CA6C9E-A62A-4B66-8B20-85953290C510}"/>
              </a:ext>
            </a:extLst>
          </p:cNvPr>
          <p:cNvSpPr>
            <a:spLocks xmlns:a="http://schemas.openxmlformats.org/drawingml/2006/main" noGrp="1"/>
          </p:cNvSpPr>
          <p:nvPr/>
        </p:nvSpPr>
        <p:spPr>
          <a:xfrm xmlns:a="http://schemas.openxmlformats.org/drawingml/2006/main" rot="0">
            <a:off x="4682728" y="322421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2AB7A9">
              <a:alpha val="20000"/>
            </a:srgbClr>
          </a:solidFill>
          <a:ln xmlns:a="http://schemas.openxmlformats.org/drawingml/2006/main">
            <a:noFill/>
          </a:ln>
        </p:spPr>
      </p:sp>
      <p:sp>
        <p:nvSpPr>
          <p:cNvPr id="50" name="Freeform 50">
            <a:extLst xmlns:a="http://schemas.openxmlformats.org/drawingml/2006/main">
              <a:ext uri="{FF2B5EF4-FFF2-40B4-BE49-F238E27FC236}">
                <a16:creationId xmlns:a16="http://schemas.microsoft.com/office/drawing/2014/main" id="{770C3BD1-52B8-424C-BA21-575415130AA1}"/>
              </a:ext>
            </a:extLst>
          </p:cNvPr>
          <p:cNvSpPr>
            <a:spLocks xmlns:a="http://schemas.openxmlformats.org/drawingml/2006/main" noGrp="1"/>
          </p:cNvSpPr>
          <p:nvPr/>
        </p:nvSpPr>
        <p:spPr>
          <a:xfrm xmlns:a="http://schemas.openxmlformats.org/drawingml/2006/main" rot="0">
            <a:off x="4672012" y="321349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2AB7A9"/>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53ECE2EE-0543-4890-B44C-C07F8C4BFD19}"/>
              </a:ext>
            </a:extLst>
          </p:cNvPr>
          <p:cNvSpPr>
            <a:spLocks xmlns:a="http://schemas.openxmlformats.org/drawingml/2006/main" noGrp="1"/>
          </p:cNvSpPr>
          <p:nvPr/>
        </p:nvSpPr>
        <p:spPr>
          <a:xfrm xmlns:a="http://schemas.openxmlformats.org/drawingml/2006/main" rot="0">
            <a:off x="5088255" y="3245168"/>
            <a:ext cx="188672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PHONE DISTRACTION</a:t>
            </a:r>
          </a:p>
        </p:txBody>
      </p:sp>
      <p:sp>
        <p:nvSpPr>
          <p:cNvPr id="53" name="TextBox 53">
            <a:extLst xmlns:a="http://schemas.openxmlformats.org/drawingml/2006/main">
              <a:ext uri="{FF2B5EF4-FFF2-40B4-BE49-F238E27FC236}">
                <a16:creationId xmlns:a16="http://schemas.microsoft.com/office/drawing/2014/main" id="{CCDA1289-3EC8-476C-AB5A-D2D22D8C67C0}"/>
              </a:ext>
            </a:extLst>
          </p:cNvPr>
          <p:cNvSpPr>
            <a:spLocks xmlns:a="http://schemas.openxmlformats.org/drawingml/2006/main" noGrp="1"/>
          </p:cNvSpPr>
          <p:nvPr/>
        </p:nvSpPr>
        <p:spPr>
          <a:xfrm xmlns:a="http://schemas.openxmlformats.org/drawingml/2006/main" rot="0">
            <a:off x="4614862" y="3650456"/>
            <a:ext cx="19563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Detect persistent phone use</a:t>
            </a:r>
          </a:p>
        </p:txBody>
      </p:sp>
      <p:sp>
        <p:nvSpPr>
          <p:cNvPr id="54" name="TextBox 54">
            <a:extLst xmlns:a="http://schemas.openxmlformats.org/drawingml/2006/main">
              <a:ext uri="{FF2B5EF4-FFF2-40B4-BE49-F238E27FC236}">
                <a16:creationId xmlns:a16="http://schemas.microsoft.com/office/drawing/2014/main" id="{3D317E0B-2860-4550-A64E-1070262DE719}"/>
              </a:ext>
            </a:extLst>
          </p:cNvPr>
          <p:cNvSpPr>
            <a:spLocks xmlns:a="http://schemas.openxmlformats.org/drawingml/2006/main" noGrp="1"/>
          </p:cNvSpPr>
          <p:nvPr/>
        </p:nvSpPr>
        <p:spPr>
          <a:xfrm xmlns:a="http://schemas.openxmlformats.org/drawingml/2006/main" rot="0">
            <a:off x="4616768" y="3885724"/>
            <a:ext cx="25860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during an active focus session</a:t>
            </a:r>
          </a:p>
        </p:txBody>
      </p:sp>
      <p:sp>
        <p:nvSpPr>
          <p:cNvPr id="56" name="Rectangle 56">
            <a:extLst xmlns:a="http://schemas.openxmlformats.org/drawingml/2006/main">
              <a:ext uri="{FF2B5EF4-FFF2-40B4-BE49-F238E27FC236}">
                <a16:creationId xmlns:a16="http://schemas.microsoft.com/office/drawing/2014/main" id="{BDBA905D-2D57-4DE4-847F-C524DD79C0CD}"/>
              </a:ext>
            </a:extLst>
          </p:cNvPr>
          <p:cNvSpPr>
            <a:spLocks xmlns:a="http://schemas.openxmlformats.org/drawingml/2006/main" noGrp="1"/>
          </p:cNvSpPr>
          <p:nvPr/>
        </p:nvSpPr>
        <p:spPr>
          <a:xfrm xmlns:a="http://schemas.openxmlformats.org/drawingml/2006/main" rot="0">
            <a:off x="8039100" y="29718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57" name="Freeform 57">
            <a:extLst xmlns:a="http://schemas.openxmlformats.org/drawingml/2006/main">
              <a:ext uri="{FF2B5EF4-FFF2-40B4-BE49-F238E27FC236}">
                <a16:creationId xmlns:a16="http://schemas.microsoft.com/office/drawing/2014/main" id="{42149DC5-2636-4637-9633-F7007D2C7CB4}"/>
              </a:ext>
            </a:extLst>
          </p:cNvPr>
          <p:cNvSpPr>
            <a:spLocks xmlns:a="http://schemas.openxmlformats.org/drawingml/2006/main" noGrp="1"/>
          </p:cNvSpPr>
          <p:nvPr/>
        </p:nvSpPr>
        <p:spPr>
          <a:xfrm xmlns:a="http://schemas.openxmlformats.org/drawingml/2006/main" rot="0">
            <a:off x="8312944" y="3309938"/>
            <a:ext cx="214312" cy="85725"/>
          </a:xfrm>
          <a:custGeom xmlns:a="http://schemas.openxmlformats.org/drawingml/2006/main">
            <a:rect l="l" t="t" r="r" b="b"/>
            <a:pathLst>
              <a:path w="214312" h="85725">
                <a:moveTo>
                  <a:pt x="214312" y="0"/>
                </a:moveTo>
                <a:lnTo>
                  <a:pt x="214312" y="85725"/>
                </a:lnTo>
                <a:lnTo>
                  <a:pt x="0" y="85725"/>
                </a:lnTo>
                <a:lnTo>
                  <a:pt x="0" y="0"/>
                </a:lnTo>
                <a:close/>
              </a:path>
            </a:pathLst>
          </a:custGeom>
          <a:solidFill xmlns:a="http://schemas.openxmlformats.org/drawingml/2006/main">
            <a:srgbClr val="2AB7A9">
              <a:alpha val="20000"/>
            </a:srgbClr>
          </a:solidFill>
          <a:ln xmlns:a="http://schemas.openxmlformats.org/drawingml/2006/main">
            <a:noFill/>
          </a:ln>
        </p:spPr>
      </p:sp>
      <p:sp>
        <p:nvSpPr>
          <p:cNvPr id="58" name="Freeform 58">
            <a:extLst xmlns:a="http://schemas.openxmlformats.org/drawingml/2006/main">
              <a:ext uri="{FF2B5EF4-FFF2-40B4-BE49-F238E27FC236}">
                <a16:creationId xmlns:a16="http://schemas.microsoft.com/office/drawing/2014/main" id="{1E636CFF-F244-4C4F-BEA8-A51E8E7F1C67}"/>
              </a:ext>
            </a:extLst>
          </p:cNvPr>
          <p:cNvSpPr>
            <a:spLocks xmlns:a="http://schemas.openxmlformats.org/drawingml/2006/main" noGrp="1"/>
          </p:cNvSpPr>
          <p:nvPr/>
        </p:nvSpPr>
        <p:spPr>
          <a:xfrm xmlns:a="http://schemas.openxmlformats.org/drawingml/2006/main" rot="0">
            <a:off x="8302228" y="3213497"/>
            <a:ext cx="235744" cy="278606"/>
          </a:xfrm>
          <a:custGeom xmlns:a="http://schemas.openxmlformats.org/drawingml/2006/main">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xmlns:a="http://schemas.openxmlformats.org/drawingml/2006/main">
            <a:srgbClr val="2AB7A9"/>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9E40A0CB-B69D-477F-9449-4C664EB1180B}"/>
              </a:ext>
            </a:extLst>
          </p:cNvPr>
          <p:cNvSpPr>
            <a:spLocks xmlns:a="http://schemas.openxmlformats.org/drawingml/2006/main" noGrp="1"/>
          </p:cNvSpPr>
          <p:nvPr/>
        </p:nvSpPr>
        <p:spPr>
          <a:xfrm xmlns:a="http://schemas.openxmlformats.org/drawingml/2006/main" rot="0">
            <a:off x="8707755" y="3245168"/>
            <a:ext cx="101721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PASSIVE SOFTWARE</a:t>
            </a:r>
          </a:p>
        </p:txBody>
      </p:sp>
      <p:sp>
        <p:nvSpPr>
          <p:cNvPr id="61" name="TextBox 61">
            <a:extLst xmlns:a="http://schemas.openxmlformats.org/drawingml/2006/main">
              <a:ext uri="{FF2B5EF4-FFF2-40B4-BE49-F238E27FC236}">
                <a16:creationId xmlns:a16="http://schemas.microsoft.com/office/drawing/2014/main" id="{FB8E575C-93CA-4737-A0A7-CA4E734F5DF6}"/>
              </a:ext>
            </a:extLst>
          </p:cNvPr>
          <p:cNvSpPr>
            <a:spLocks xmlns:a="http://schemas.openxmlformats.org/drawingml/2006/main" noGrp="1"/>
          </p:cNvSpPr>
          <p:nvPr/>
        </p:nvSpPr>
        <p:spPr>
          <a:xfrm xmlns:a="http://schemas.openxmlformats.org/drawingml/2006/main" rot="0">
            <a:off x="8234362" y="3650456"/>
            <a:ext cx="146875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Notifications are easy</a:t>
            </a:r>
          </a:p>
        </p:txBody>
      </p:sp>
      <p:sp>
        <p:nvSpPr>
          <p:cNvPr id="62" name="TextBox 62">
            <a:extLst xmlns:a="http://schemas.openxmlformats.org/drawingml/2006/main">
              <a:ext uri="{FF2B5EF4-FFF2-40B4-BE49-F238E27FC236}">
                <a16:creationId xmlns:a16="http://schemas.microsoft.com/office/drawing/2014/main" id="{632CFC84-134C-4EED-9E3E-9A575C723352}"/>
              </a:ext>
            </a:extLst>
          </p:cNvPr>
          <p:cNvSpPr>
            <a:spLocks xmlns:a="http://schemas.openxmlformats.org/drawingml/2006/main" noGrp="1"/>
          </p:cNvSpPr>
          <p:nvPr/>
        </p:nvSpPr>
        <p:spPr>
          <a:xfrm xmlns:a="http://schemas.openxmlformats.org/drawingml/2006/main" rot="0">
            <a:off x="8236268" y="3885724"/>
            <a:ext cx="25145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to mute, ignore, or forget</a:t>
            </a:r>
          </a:p>
        </p:txBody>
      </p:sp>
      <p:sp>
        <p:nvSpPr>
          <p:cNvPr id="64" name="Rectangle 64">
            <a:extLst xmlns:a="http://schemas.openxmlformats.org/drawingml/2006/main">
              <a:ext uri="{FF2B5EF4-FFF2-40B4-BE49-F238E27FC236}">
                <a16:creationId xmlns:a16="http://schemas.microsoft.com/office/drawing/2014/main" id="{2356A45C-620B-4A42-A709-FC392DAD5544}"/>
              </a:ext>
            </a:extLst>
          </p:cNvPr>
          <p:cNvSpPr>
            <a:spLocks xmlns:a="http://schemas.openxmlformats.org/drawingml/2006/main" noGrp="1"/>
          </p:cNvSpPr>
          <p:nvPr/>
        </p:nvSpPr>
        <p:spPr>
          <a:xfrm xmlns:a="http://schemas.openxmlformats.org/drawingml/2006/main" rot="0">
            <a:off x="4419600" y="4419600"/>
            <a:ext cx="7010400" cy="1314450"/>
          </a:xfrm>
          <a:prstGeom xmlns:a="http://schemas.openxmlformats.org/drawingml/2006/main" prst="roundRect">
            <a:avLst>
              <a:gd name="adj" fmla="val 8696"/>
            </a:avLst>
          </a:prstGeom>
          <a:solidFill xmlns:a="http://schemas.openxmlformats.org/drawingml/2006/main">
            <a:srgbClr val="EAF0F7"/>
          </a:solidFill>
          <a:ln xmlns:a="http://schemas.openxmlformats.org/drawingml/2006/main">
            <a:noFill/>
          </a:ln>
        </p:spPr>
      </p:sp>
      <p:sp>
        <p:nvSpPr>
          <p:cNvPr id="65" name="Freeform 65">
            <a:extLst xmlns:a="http://schemas.openxmlformats.org/drawingml/2006/main">
              <a:ext uri="{FF2B5EF4-FFF2-40B4-BE49-F238E27FC236}">
                <a16:creationId xmlns:a16="http://schemas.microsoft.com/office/drawing/2014/main" id="{7B42D0C2-A7DA-4905-91EB-DA78C190E8F2}"/>
              </a:ext>
            </a:extLst>
          </p:cNvPr>
          <p:cNvSpPr>
            <a:spLocks xmlns:a="http://schemas.openxmlformats.org/drawingml/2006/main" noGrp="1"/>
          </p:cNvSpPr>
          <p:nvPr/>
        </p:nvSpPr>
        <p:spPr>
          <a:xfrm xmlns:a="http://schemas.openxmlformats.org/drawingml/2006/main" rot="0">
            <a:off x="4772025" y="4795838"/>
            <a:ext cx="95250" cy="95250"/>
          </a:xfrm>
          <a:custGeom xmlns:a="http://schemas.openxmlformats.org/drawingml/2006/main">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2F80ED">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301F7598-B9F8-4A7A-9D15-D87B6E197761}"/>
              </a:ext>
            </a:extLst>
          </p:cNvPr>
          <p:cNvSpPr>
            <a:spLocks xmlns:a="http://schemas.openxmlformats.org/drawingml/2006/main" noGrp="1"/>
          </p:cNvSpPr>
          <p:nvPr/>
        </p:nvSpPr>
        <p:spPr>
          <a:xfrm xmlns:a="http://schemas.openxmlformats.org/drawingml/2006/main" rot="0">
            <a:off x="4676775" y="4724400"/>
            <a:ext cx="285750" cy="285750"/>
          </a:xfrm>
          <a:custGeom xmlns:a="http://schemas.openxmlformats.org/drawingml/2006/main">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xmlns:a="http://schemas.openxmlformats.org/drawingml/2006/main">
            <a:srgbClr val="2F80ED"/>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70E97B17-AE22-4C2F-93FB-FBDF8677A73A}"/>
              </a:ext>
            </a:extLst>
          </p:cNvPr>
          <p:cNvSpPr>
            <a:spLocks xmlns:a="http://schemas.openxmlformats.org/drawingml/2006/main" noGrp="1"/>
          </p:cNvSpPr>
          <p:nvPr/>
        </p:nvSpPr>
        <p:spPr>
          <a:xfrm xmlns:a="http://schemas.openxmlformats.org/drawingml/2006/main" rot="0">
            <a:off x="5164455" y="4769168"/>
            <a:ext cx="21040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DESKMATE RESPONSE</a:t>
            </a:r>
          </a:p>
        </p:txBody>
      </p:sp>
      <p:sp>
        <p:nvSpPr>
          <p:cNvPr id="69" name="TextBox 69">
            <a:extLst xmlns:a="http://schemas.openxmlformats.org/drawingml/2006/main">
              <a:ext uri="{FF2B5EF4-FFF2-40B4-BE49-F238E27FC236}">
                <a16:creationId xmlns:a16="http://schemas.microsoft.com/office/drawing/2014/main" id="{717317AB-9062-4644-BC56-D0F5A472E21F}"/>
              </a:ext>
            </a:extLst>
          </p:cNvPr>
          <p:cNvSpPr>
            <a:spLocks xmlns:a="http://schemas.openxmlformats.org/drawingml/2006/main" noGrp="1"/>
          </p:cNvSpPr>
          <p:nvPr/>
        </p:nvSpPr>
        <p:spPr>
          <a:xfrm xmlns:a="http://schemas.openxmlformats.org/drawingml/2006/main" rot="0">
            <a:off x="4614862" y="5164931"/>
            <a:ext cx="473166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One event layer coordinates movement, display, servo and computer sound</a:t>
            </a:r>
          </a:p>
        </p:txBody>
      </p:sp>
      <p:sp>
        <p:nvSpPr>
          <p:cNvPr id="70" name="TextBox 70">
            <a:extLst xmlns:a="http://schemas.openxmlformats.org/drawingml/2006/main">
              <a:ext uri="{FF2B5EF4-FFF2-40B4-BE49-F238E27FC236}">
                <a16:creationId xmlns:a16="http://schemas.microsoft.com/office/drawing/2014/main" id="{9F33FD86-E0E5-47B7-B862-92C28857E7F1}"/>
              </a:ext>
            </a:extLst>
          </p:cNvPr>
          <p:cNvSpPr>
            <a:spLocks xmlns:a="http://schemas.openxmlformats.org/drawingml/2006/main" noGrp="1"/>
          </p:cNvSpPr>
          <p:nvPr/>
        </p:nvSpPr>
        <p:spPr>
          <a:xfrm xmlns:a="http://schemas.openxmlformats.org/drawingml/2006/main" rot="0">
            <a:off x="4616768" y="5409724"/>
            <a:ext cx="558296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The robot changes position or expression so the reminder becomes a physical interaction</a:t>
            </a:r>
          </a:p>
        </p:txBody>
      </p:sp>
      <p:sp>
        <p:nvSpPr>
          <p:cNvPr id="72" name="TextBox 72">
            <a:extLst xmlns:a="http://schemas.openxmlformats.org/drawingml/2006/main">
              <a:ext uri="{FF2B5EF4-FFF2-40B4-BE49-F238E27FC236}">
                <a16:creationId xmlns:a16="http://schemas.microsoft.com/office/drawing/2014/main" id="{AB7ABF65-77A8-4954-A41B-C7D5BCE3CC9E}"/>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02</a:t>
            </a:r>
          </a:p>
        </p:txBody>
      </p:sp>
    </p:spTree>
    <p:extLst>
      <p:ext uri="{BB962C8B-B14F-4D97-AF65-F5344CB8AC3E}">
        <p14:creationId xmlns:p14="http://schemas.microsoft.com/office/powerpoint/2010/main" val="659215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0CC2B9C0-2B99-4CD8-993C-34D777246B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49555B61-8E37-42BB-B73D-41F42EA64618}"/>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A1504088-D5DA-488B-9C18-DD988AF6DF09}"/>
              </a:ext>
            </a:extLst>
          </p:cNvPr>
          <p:cNvSpPr>
            <a:spLocks xmlns:a="http://schemas.openxmlformats.org/drawingml/2006/main" noGrp="1"/>
          </p:cNvSpPr>
          <p:nvPr/>
        </p:nvSpPr>
        <p:spPr>
          <a:xfrm xmlns:a="http://schemas.openxmlformats.org/drawingml/2006/main" rot="0">
            <a:off x="659130" y="411480"/>
            <a:ext cx="364058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CORE EXPERIENCE</a:t>
            </a:r>
          </a:p>
        </p:txBody>
      </p:sp>
      <p:sp>
        <p:nvSpPr>
          <p:cNvPr id="5" name="Line 5">
            <a:extLst xmlns:a="http://schemas.openxmlformats.org/drawingml/2006/main">
              <a:ext uri="{FF2B5EF4-FFF2-40B4-BE49-F238E27FC236}">
                <a16:creationId xmlns:a16="http://schemas.microsoft.com/office/drawing/2014/main" id="{6F12083C-C733-4995-83A6-EE24E9DE634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7" name="Rectangle 7">
            <a:extLst xmlns:a="http://schemas.openxmlformats.org/drawingml/2006/main">
              <a:ext uri="{FF2B5EF4-FFF2-40B4-BE49-F238E27FC236}">
                <a16:creationId xmlns:a16="http://schemas.microsoft.com/office/drawing/2014/main" id="{84E05979-ADD0-4FEC-BE52-F0F4E9B32CEE}"/>
              </a:ext>
            </a:extLst>
          </p:cNvPr>
          <p:cNvSpPr>
            <a:spLocks xmlns:a="http://schemas.openxmlformats.org/drawingml/2006/main" noGrp="1"/>
          </p:cNvSpPr>
          <p:nvPr/>
        </p:nvSpPr>
        <p:spPr>
          <a:xfrm xmlns:a="http://schemas.openxmlformats.org/drawingml/2006/main" rot="0">
            <a:off x="457200" y="1181100"/>
            <a:ext cx="2000250" cy="1485900"/>
          </a:xfrm>
          <a:prstGeom xmlns:a="http://schemas.openxmlformats.org/drawingml/2006/main" prst="roundRect">
            <a:avLst>
              <a:gd name="adj" fmla="val 7692"/>
            </a:avLst>
          </a:prstGeom>
          <a:solidFill xmlns:a="http://schemas.openxmlformats.org/drawingml/2006/main">
            <a:srgbClr val="EAF0F7"/>
          </a:solidFill>
          <a:ln xmlns:a="http://schemas.openxmlformats.org/drawingml/2006/main">
            <a:noFill/>
          </a:ln>
        </p:spPr>
      </p:sp>
      <p:sp>
        <p:nvSpPr>
          <p:cNvPr id="8" name="Freeform 8">
            <a:extLst xmlns:a="http://schemas.openxmlformats.org/drawingml/2006/main">
              <a:ext uri="{FF2B5EF4-FFF2-40B4-BE49-F238E27FC236}">
                <a16:creationId xmlns:a16="http://schemas.microsoft.com/office/drawing/2014/main" id="{77E7D40D-88C3-4503-B6CE-6814D52A46CB}"/>
              </a:ext>
            </a:extLst>
          </p:cNvPr>
          <p:cNvSpPr>
            <a:spLocks xmlns:a="http://schemas.openxmlformats.org/drawingml/2006/main" noGrp="1"/>
          </p:cNvSpPr>
          <p:nvPr/>
        </p:nvSpPr>
        <p:spPr>
          <a:xfrm xmlns:a="http://schemas.openxmlformats.org/drawingml/2006/main" rot="0">
            <a:off x="742355" y="1454944"/>
            <a:ext cx="248841" cy="135731"/>
          </a:xfrm>
          <a:custGeom xmlns:a="http://schemas.openxmlformats.org/drawingml/2006/main">
            <a:rect l="l" t="t" r="r" b="b"/>
            <a:pathLst>
              <a:path w="248841" h="135731">
                <a:moveTo>
                  <a:pt x="248841" y="67866"/>
                </a:moveTo>
                <a:cubicBezTo>
                  <a:pt x="248841" y="105347"/>
                  <a:pt x="193134" y="135731"/>
                  <a:pt x="124420" y="135731"/>
                </a:cubicBezTo>
                <a:cubicBezTo>
                  <a:pt x="55706" y="135731"/>
                  <a:pt x="0" y="105347"/>
                  <a:pt x="0" y="67866"/>
                </a:cubicBezTo>
                <a:cubicBezTo>
                  <a:pt x="0" y="30384"/>
                  <a:pt x="55706" y="0"/>
                  <a:pt x="124420" y="0"/>
                </a:cubicBezTo>
                <a:cubicBezTo>
                  <a:pt x="193134" y="0"/>
                  <a:pt x="248841" y="30384"/>
                  <a:pt x="248841" y="67866"/>
                </a:cubicBezTo>
                <a:close/>
              </a:path>
            </a:pathLst>
          </a:custGeom>
          <a:solidFill xmlns:a="http://schemas.openxmlformats.org/drawingml/2006/main">
            <a:srgbClr val="2F80ED">
              <a:alpha val="20000"/>
            </a:srgbClr>
          </a:solidFill>
          <a:ln xmlns:a="http://schemas.openxmlformats.org/drawingml/2006/main">
            <a:noFill/>
          </a:ln>
        </p:spPr>
      </p:sp>
      <p:sp>
        <p:nvSpPr>
          <p:cNvPr id="9" name="Freeform 9">
            <a:extLst xmlns:a="http://schemas.openxmlformats.org/drawingml/2006/main">
              <a:ext uri="{FF2B5EF4-FFF2-40B4-BE49-F238E27FC236}">
                <a16:creationId xmlns:a16="http://schemas.microsoft.com/office/drawing/2014/main" id="{EE3DC46D-192C-4401-A803-8FA2215C6E6D}"/>
              </a:ext>
            </a:extLst>
          </p:cNvPr>
          <p:cNvSpPr>
            <a:spLocks xmlns:a="http://schemas.openxmlformats.org/drawingml/2006/main" noGrp="1"/>
          </p:cNvSpPr>
          <p:nvPr/>
        </p:nvSpPr>
        <p:spPr>
          <a:xfrm xmlns:a="http://schemas.openxmlformats.org/drawingml/2006/main" rot="0">
            <a:off x="731044" y="1443633"/>
            <a:ext cx="271462" cy="294084"/>
          </a:xfrm>
          <a:custGeom xmlns:a="http://schemas.openxmlformats.org/drawingml/2006/main">
            <a:rect l="l" t="t" r="r" b="b"/>
            <a:pathLst>
              <a:path w="271462" h="294084">
                <a:moveTo>
                  <a:pt x="135731" y="0"/>
                </a:moveTo>
                <a:cubicBezTo>
                  <a:pt x="59623" y="0"/>
                  <a:pt x="0" y="34781"/>
                  <a:pt x="0" y="79177"/>
                </a:cubicBezTo>
                <a:lnTo>
                  <a:pt x="0" y="214908"/>
                </a:lnTo>
                <a:cubicBezTo>
                  <a:pt x="0" y="259303"/>
                  <a:pt x="59623" y="294084"/>
                  <a:pt x="135731" y="294084"/>
                </a:cubicBezTo>
                <a:cubicBezTo>
                  <a:pt x="211840" y="294084"/>
                  <a:pt x="271462" y="259303"/>
                  <a:pt x="271462" y="214908"/>
                </a:cubicBezTo>
                <a:lnTo>
                  <a:pt x="271462" y="79177"/>
                </a:lnTo>
                <a:cubicBezTo>
                  <a:pt x="271462" y="34781"/>
                  <a:pt x="211840" y="0"/>
                  <a:pt x="135731" y="0"/>
                </a:cubicBezTo>
                <a:close/>
                <a:moveTo>
                  <a:pt x="248841" y="147042"/>
                </a:moveTo>
                <a:cubicBezTo>
                  <a:pt x="248841" y="160644"/>
                  <a:pt x="237699" y="174514"/>
                  <a:pt x="218287" y="185103"/>
                </a:cubicBezTo>
                <a:cubicBezTo>
                  <a:pt x="196429" y="197022"/>
                  <a:pt x="167105" y="203597"/>
                  <a:pt x="135731" y="203597"/>
                </a:cubicBezTo>
                <a:cubicBezTo>
                  <a:pt x="104358" y="203597"/>
                  <a:pt x="75034" y="197022"/>
                  <a:pt x="53176" y="185103"/>
                </a:cubicBezTo>
                <a:cubicBezTo>
                  <a:pt x="33763" y="174514"/>
                  <a:pt x="22622" y="160644"/>
                  <a:pt x="22622" y="147042"/>
                </a:cubicBezTo>
                <a:lnTo>
                  <a:pt x="22622" y="123515"/>
                </a:lnTo>
                <a:cubicBezTo>
                  <a:pt x="46742" y="144723"/>
                  <a:pt x="87985" y="158353"/>
                  <a:pt x="135731" y="158353"/>
                </a:cubicBezTo>
                <a:cubicBezTo>
                  <a:pt x="183478" y="158353"/>
                  <a:pt x="224720" y="144667"/>
                  <a:pt x="248841" y="123515"/>
                </a:cubicBezTo>
                <a:close/>
                <a:moveTo>
                  <a:pt x="53176" y="41115"/>
                </a:moveTo>
                <a:cubicBezTo>
                  <a:pt x="75034" y="29196"/>
                  <a:pt x="104358" y="22622"/>
                  <a:pt x="135731" y="22622"/>
                </a:cubicBezTo>
                <a:cubicBezTo>
                  <a:pt x="167105" y="22622"/>
                  <a:pt x="196429" y="29196"/>
                  <a:pt x="218287" y="41115"/>
                </a:cubicBezTo>
                <a:cubicBezTo>
                  <a:pt x="237699" y="51705"/>
                  <a:pt x="248841" y="65575"/>
                  <a:pt x="248841" y="79177"/>
                </a:cubicBezTo>
                <a:cubicBezTo>
                  <a:pt x="248841" y="92778"/>
                  <a:pt x="237699" y="106648"/>
                  <a:pt x="218287" y="117238"/>
                </a:cubicBezTo>
                <a:cubicBezTo>
                  <a:pt x="196429" y="129157"/>
                  <a:pt x="167105" y="135731"/>
                  <a:pt x="135731" y="135731"/>
                </a:cubicBezTo>
                <a:cubicBezTo>
                  <a:pt x="104358" y="135731"/>
                  <a:pt x="75034" y="129157"/>
                  <a:pt x="53176" y="117238"/>
                </a:cubicBezTo>
                <a:cubicBezTo>
                  <a:pt x="33763" y="106648"/>
                  <a:pt x="22622" y="92778"/>
                  <a:pt x="22622" y="79177"/>
                </a:cubicBezTo>
                <a:cubicBezTo>
                  <a:pt x="22622" y="65575"/>
                  <a:pt x="33763" y="51705"/>
                  <a:pt x="53176" y="41115"/>
                </a:cubicBezTo>
                <a:close/>
                <a:moveTo>
                  <a:pt x="218287" y="252969"/>
                </a:moveTo>
                <a:cubicBezTo>
                  <a:pt x="196429" y="264888"/>
                  <a:pt x="167105" y="271462"/>
                  <a:pt x="135731" y="271462"/>
                </a:cubicBezTo>
                <a:cubicBezTo>
                  <a:pt x="104358" y="271462"/>
                  <a:pt x="75034" y="264888"/>
                  <a:pt x="53176" y="252969"/>
                </a:cubicBezTo>
                <a:cubicBezTo>
                  <a:pt x="33763" y="242379"/>
                  <a:pt x="22622" y="228509"/>
                  <a:pt x="22622" y="214908"/>
                </a:cubicBezTo>
                <a:lnTo>
                  <a:pt x="22622" y="191381"/>
                </a:lnTo>
                <a:cubicBezTo>
                  <a:pt x="46742" y="212589"/>
                  <a:pt x="87985" y="226219"/>
                  <a:pt x="135731" y="226219"/>
                </a:cubicBezTo>
                <a:cubicBezTo>
                  <a:pt x="183478" y="226219"/>
                  <a:pt x="224720" y="212533"/>
                  <a:pt x="248841" y="191381"/>
                </a:cubicBezTo>
                <a:lnTo>
                  <a:pt x="248841" y="214908"/>
                </a:lnTo>
                <a:cubicBezTo>
                  <a:pt x="248841" y="228509"/>
                  <a:pt x="237699" y="242379"/>
                  <a:pt x="218287" y="252969"/>
                </a:cubicBezTo>
                <a:close/>
              </a:path>
            </a:pathLst>
          </a:custGeom>
          <a:solidFill xmlns:a="http://schemas.openxmlformats.org/drawingml/2006/main">
            <a:srgbClr val="2F80ED"/>
          </a:solidFill>
          <a:ln xmlns:a="http://schemas.openxmlformats.org/drawingml/2006/main">
            <a:noFill/>
          </a:ln>
        </p:spPr>
      </p:sp>
      <p:sp>
        <p:nvSpPr>
          <p:cNvPr id="11" name="TextBox 11">
            <a:extLst xmlns:a="http://schemas.openxmlformats.org/drawingml/2006/main">
              <a:ext uri="{FF2B5EF4-FFF2-40B4-BE49-F238E27FC236}">
                <a16:creationId xmlns:a16="http://schemas.microsoft.com/office/drawing/2014/main" id="{D48E65A7-BAD7-47BD-8B11-08D170FF8403}"/>
              </a:ext>
            </a:extLst>
          </p:cNvPr>
          <p:cNvSpPr>
            <a:spLocks xmlns:a="http://schemas.openxmlformats.org/drawingml/2006/main" noGrp="1"/>
          </p:cNvSpPr>
          <p:nvPr/>
        </p:nvSpPr>
        <p:spPr>
          <a:xfrm xmlns:a="http://schemas.openxmlformats.org/drawingml/2006/main" rot="0">
            <a:off x="668655" y="1902142"/>
            <a:ext cx="13101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PERCEIVE</a:t>
            </a:r>
          </a:p>
        </p:txBody>
      </p:sp>
      <p:sp>
        <p:nvSpPr>
          <p:cNvPr id="12" name="TextBox 12">
            <a:extLst xmlns:a="http://schemas.openxmlformats.org/drawingml/2006/main">
              <a:ext uri="{FF2B5EF4-FFF2-40B4-BE49-F238E27FC236}">
                <a16:creationId xmlns:a16="http://schemas.microsoft.com/office/drawing/2014/main" id="{08AC3EBA-C5BB-4ADD-8F62-4798431CE5A4}"/>
              </a:ext>
            </a:extLst>
          </p:cNvPr>
          <p:cNvSpPr>
            <a:spLocks xmlns:a="http://schemas.openxmlformats.org/drawingml/2006/main" noGrp="1"/>
          </p:cNvSpPr>
          <p:nvPr/>
        </p:nvSpPr>
        <p:spPr>
          <a:xfrm xmlns:a="http://schemas.openxmlformats.org/drawingml/2006/main" rot="0">
            <a:off x="673418" y="2190274"/>
            <a:ext cx="111040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Camera observes posture,</a:t>
            </a:r>
          </a:p>
        </p:txBody>
      </p:sp>
      <p:sp>
        <p:nvSpPr>
          <p:cNvPr id="13" name="TextBox 13">
            <a:extLst xmlns:a="http://schemas.openxmlformats.org/drawingml/2006/main">
              <a:ext uri="{FF2B5EF4-FFF2-40B4-BE49-F238E27FC236}">
                <a16:creationId xmlns:a16="http://schemas.microsoft.com/office/drawing/2014/main" id="{45AD7329-6488-4994-81E4-DD403815F2AE}"/>
              </a:ext>
            </a:extLst>
          </p:cNvPr>
          <p:cNvSpPr>
            <a:spLocks xmlns:a="http://schemas.openxmlformats.org/drawingml/2006/main" noGrp="1"/>
          </p:cNvSpPr>
          <p:nvPr/>
        </p:nvSpPr>
        <p:spPr>
          <a:xfrm xmlns:a="http://schemas.openxmlformats.org/drawingml/2006/main" rot="0">
            <a:off x="673418" y="2371249"/>
            <a:ext cx="124691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face, hands and phone</a:t>
            </a:r>
          </a:p>
        </p:txBody>
      </p:sp>
      <p:sp>
        <p:nvSpPr>
          <p:cNvPr id="15" name="Line 15">
            <a:extLst xmlns:a="http://schemas.openxmlformats.org/drawingml/2006/main">
              <a:ext uri="{FF2B5EF4-FFF2-40B4-BE49-F238E27FC236}">
                <a16:creationId xmlns:a16="http://schemas.microsoft.com/office/drawing/2014/main" id="{D4A531EA-7939-4321-AA08-CFCC718227A0}"/>
              </a:ext>
            </a:extLst>
          </p:cNvPr>
          <p:cNvSpPr>
            <a:spLocks xmlns:a="http://schemas.openxmlformats.org/drawingml/2006/main" noGrp="1"/>
          </p:cNvSpPr>
          <p:nvPr/>
        </p:nvSpPr>
        <p:spPr>
          <a:xfrm xmlns:a="http://schemas.openxmlformats.org/drawingml/2006/main" rot="0">
            <a:off x="245745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16" name="Rectangle 16">
            <a:extLst xmlns:a="http://schemas.openxmlformats.org/drawingml/2006/main">
              <a:ext uri="{FF2B5EF4-FFF2-40B4-BE49-F238E27FC236}">
                <a16:creationId xmlns:a16="http://schemas.microsoft.com/office/drawing/2014/main" id="{12BD6A5D-70A0-4292-BEE2-B923C313C9EC}"/>
              </a:ext>
            </a:extLst>
          </p:cNvPr>
          <p:cNvSpPr>
            <a:spLocks xmlns:a="http://schemas.openxmlformats.org/drawingml/2006/main" noGrp="1"/>
          </p:cNvSpPr>
          <p:nvPr/>
        </p:nvSpPr>
        <p:spPr>
          <a:xfrm xmlns:a="http://schemas.openxmlformats.org/drawingml/2006/main" rot="0">
            <a:off x="2724150" y="1181100"/>
            <a:ext cx="2000250" cy="1485900"/>
          </a:xfrm>
          <a:prstGeom xmlns:a="http://schemas.openxmlformats.org/drawingml/2006/main" prst="roundRect">
            <a:avLst>
              <a:gd name="adj" fmla="val 7692"/>
            </a:avLst>
          </a:prstGeom>
          <a:solidFill xmlns:a="http://schemas.openxmlformats.org/drawingml/2006/main">
            <a:srgbClr val="123B5D"/>
          </a:solidFill>
          <a:ln xmlns:a="http://schemas.openxmlformats.org/drawingml/2006/main">
            <a:noFill/>
          </a:ln>
        </p:spPr>
      </p:sp>
      <p:sp>
        <p:nvSpPr>
          <p:cNvPr id="17" name="Freeform 17">
            <a:extLst xmlns:a="http://schemas.openxmlformats.org/drawingml/2006/main">
              <a:ext uri="{FF2B5EF4-FFF2-40B4-BE49-F238E27FC236}">
                <a16:creationId xmlns:a16="http://schemas.microsoft.com/office/drawing/2014/main" id="{FE5430F0-55EA-47A3-BF42-CD9D298B0887}"/>
              </a:ext>
            </a:extLst>
          </p:cNvPr>
          <p:cNvSpPr>
            <a:spLocks xmlns:a="http://schemas.openxmlformats.org/drawingml/2006/main" noGrp="1"/>
          </p:cNvSpPr>
          <p:nvPr/>
        </p:nvSpPr>
        <p:spPr>
          <a:xfrm xmlns:a="http://schemas.openxmlformats.org/drawingml/2006/main" rot="0">
            <a:off x="3020616" y="1545431"/>
            <a:ext cx="226219" cy="90488"/>
          </a:xfrm>
          <a:custGeom xmlns:a="http://schemas.openxmlformats.org/drawingml/2006/main">
            <a:rect l="l" t="t" r="r" b="b"/>
            <a:pathLst>
              <a:path w="226219" h="90488">
                <a:moveTo>
                  <a:pt x="226219" y="0"/>
                </a:moveTo>
                <a:lnTo>
                  <a:pt x="226219" y="90488"/>
                </a:lnTo>
                <a:lnTo>
                  <a:pt x="0" y="90488"/>
                </a:lnTo>
                <a:lnTo>
                  <a:pt x="0" y="0"/>
                </a:lnTo>
                <a:close/>
              </a:path>
            </a:pathLst>
          </a:custGeom>
          <a:solidFill xmlns:a="http://schemas.openxmlformats.org/drawingml/2006/main">
            <a:srgbClr val="F7F9FC">
              <a:alpha val="20000"/>
            </a:srgbClr>
          </a:solidFill>
          <a:ln xmlns:a="http://schemas.openxmlformats.org/drawingml/2006/main">
            <a:noFill/>
          </a:ln>
        </p:spPr>
      </p:sp>
      <p:sp>
        <p:nvSpPr>
          <p:cNvPr id="18" name="Freeform 18">
            <a:extLst xmlns:a="http://schemas.openxmlformats.org/drawingml/2006/main">
              <a:ext uri="{FF2B5EF4-FFF2-40B4-BE49-F238E27FC236}">
                <a16:creationId xmlns:a16="http://schemas.microsoft.com/office/drawing/2014/main" id="{FB300ACF-0DC9-4012-96EC-AB908D1D0AE6}"/>
              </a:ext>
            </a:extLst>
          </p:cNvPr>
          <p:cNvSpPr>
            <a:spLocks xmlns:a="http://schemas.openxmlformats.org/drawingml/2006/main" noGrp="1"/>
          </p:cNvSpPr>
          <p:nvPr/>
        </p:nvSpPr>
        <p:spPr>
          <a:xfrm xmlns:a="http://schemas.openxmlformats.org/drawingml/2006/main" rot="0">
            <a:off x="3009305" y="1443633"/>
            <a:ext cx="248841" cy="294084"/>
          </a:xfrm>
          <a:custGeom xmlns:a="http://schemas.openxmlformats.org/drawingml/2006/main">
            <a:rect l="l" t="t" r="r" b="b"/>
            <a:pathLst>
              <a:path w="248841" h="294084">
                <a:moveTo>
                  <a:pt x="22622" y="101798"/>
                </a:moveTo>
                <a:lnTo>
                  <a:pt x="22622" y="192286"/>
                </a:lnTo>
                <a:cubicBezTo>
                  <a:pt x="22622" y="198533"/>
                  <a:pt x="17558" y="203597"/>
                  <a:pt x="11311" y="203597"/>
                </a:cubicBezTo>
                <a:cubicBezTo>
                  <a:pt x="5064" y="203597"/>
                  <a:pt x="0" y="198533"/>
                  <a:pt x="0" y="192286"/>
                </a:cubicBezTo>
                <a:lnTo>
                  <a:pt x="0" y="101798"/>
                </a:lnTo>
                <a:cubicBezTo>
                  <a:pt x="0" y="95552"/>
                  <a:pt x="5064" y="90488"/>
                  <a:pt x="11311" y="90488"/>
                </a:cubicBezTo>
                <a:cubicBezTo>
                  <a:pt x="17558" y="90488"/>
                  <a:pt x="22622" y="95552"/>
                  <a:pt x="22622" y="101798"/>
                </a:cubicBezTo>
                <a:close/>
                <a:moveTo>
                  <a:pt x="67866" y="0"/>
                </a:moveTo>
                <a:cubicBezTo>
                  <a:pt x="61619" y="0"/>
                  <a:pt x="56555" y="5064"/>
                  <a:pt x="56555" y="11311"/>
                </a:cubicBezTo>
                <a:lnTo>
                  <a:pt x="56555" y="282773"/>
                </a:lnTo>
                <a:cubicBezTo>
                  <a:pt x="56555" y="289020"/>
                  <a:pt x="61619" y="294084"/>
                  <a:pt x="67866" y="294084"/>
                </a:cubicBezTo>
                <a:cubicBezTo>
                  <a:pt x="74112" y="294084"/>
                  <a:pt x="79177" y="289020"/>
                  <a:pt x="79177" y="282773"/>
                </a:cubicBezTo>
                <a:lnTo>
                  <a:pt x="79177" y="11311"/>
                </a:lnTo>
                <a:cubicBezTo>
                  <a:pt x="79177" y="5064"/>
                  <a:pt x="74112" y="0"/>
                  <a:pt x="67866" y="0"/>
                </a:cubicBezTo>
                <a:close/>
                <a:moveTo>
                  <a:pt x="124420" y="45244"/>
                </a:moveTo>
                <a:cubicBezTo>
                  <a:pt x="118173" y="45244"/>
                  <a:pt x="113109" y="50308"/>
                  <a:pt x="113109" y="56555"/>
                </a:cubicBezTo>
                <a:lnTo>
                  <a:pt x="113109" y="237530"/>
                </a:lnTo>
                <a:cubicBezTo>
                  <a:pt x="113109" y="243777"/>
                  <a:pt x="118173" y="248841"/>
                  <a:pt x="124420" y="248841"/>
                </a:cubicBezTo>
                <a:cubicBezTo>
                  <a:pt x="130667" y="248841"/>
                  <a:pt x="135731" y="243777"/>
                  <a:pt x="135731" y="237530"/>
                </a:cubicBezTo>
                <a:lnTo>
                  <a:pt x="135731" y="56555"/>
                </a:lnTo>
                <a:cubicBezTo>
                  <a:pt x="135731" y="50308"/>
                  <a:pt x="130667" y="45244"/>
                  <a:pt x="124420" y="45244"/>
                </a:cubicBezTo>
                <a:close/>
                <a:moveTo>
                  <a:pt x="180975" y="90488"/>
                </a:moveTo>
                <a:cubicBezTo>
                  <a:pt x="174728" y="90488"/>
                  <a:pt x="169664" y="95552"/>
                  <a:pt x="169664" y="101798"/>
                </a:cubicBezTo>
                <a:lnTo>
                  <a:pt x="169664" y="192286"/>
                </a:lnTo>
                <a:cubicBezTo>
                  <a:pt x="169664" y="198533"/>
                  <a:pt x="174728" y="203597"/>
                  <a:pt x="180975" y="203597"/>
                </a:cubicBezTo>
                <a:cubicBezTo>
                  <a:pt x="187222" y="203597"/>
                  <a:pt x="192286" y="198533"/>
                  <a:pt x="192286" y="192286"/>
                </a:cubicBezTo>
                <a:lnTo>
                  <a:pt x="192286" y="101798"/>
                </a:lnTo>
                <a:cubicBezTo>
                  <a:pt x="192286" y="95552"/>
                  <a:pt x="187222" y="90488"/>
                  <a:pt x="180975" y="90488"/>
                </a:cubicBezTo>
                <a:close/>
                <a:moveTo>
                  <a:pt x="237530" y="67866"/>
                </a:moveTo>
                <a:cubicBezTo>
                  <a:pt x="231283" y="67866"/>
                  <a:pt x="226219" y="72930"/>
                  <a:pt x="226219" y="79177"/>
                </a:cubicBezTo>
                <a:lnTo>
                  <a:pt x="226219" y="214908"/>
                </a:lnTo>
                <a:cubicBezTo>
                  <a:pt x="226219" y="221155"/>
                  <a:pt x="231283" y="226219"/>
                  <a:pt x="237530" y="226219"/>
                </a:cubicBezTo>
                <a:cubicBezTo>
                  <a:pt x="243777" y="226219"/>
                  <a:pt x="248841" y="221155"/>
                  <a:pt x="248841" y="214908"/>
                </a:cubicBezTo>
                <a:lnTo>
                  <a:pt x="248841" y="79177"/>
                </a:lnTo>
                <a:cubicBezTo>
                  <a:pt x="248841" y="72930"/>
                  <a:pt x="243777" y="67866"/>
                  <a:pt x="237530" y="67866"/>
                </a:cubicBezTo>
                <a:close/>
              </a:path>
            </a:pathLst>
          </a:custGeom>
          <a:solidFill xmlns:a="http://schemas.openxmlformats.org/drawingml/2006/main">
            <a:srgbClr val="F7F9FC"/>
          </a:solidFill>
          <a:ln xmlns:a="http://schemas.openxmlformats.org/drawingml/2006/main">
            <a:noFill/>
          </a:ln>
        </p:spPr>
      </p:sp>
      <p:sp>
        <p:nvSpPr>
          <p:cNvPr id="20" name="TextBox 20">
            <a:extLst xmlns:a="http://schemas.openxmlformats.org/drawingml/2006/main">
              <a:ext uri="{FF2B5EF4-FFF2-40B4-BE49-F238E27FC236}">
                <a16:creationId xmlns:a16="http://schemas.microsoft.com/office/drawing/2014/main" id="{CCA24174-6981-40AB-8D77-B648883CA31D}"/>
              </a:ext>
            </a:extLst>
          </p:cNvPr>
          <p:cNvSpPr>
            <a:spLocks xmlns:a="http://schemas.openxmlformats.org/drawingml/2006/main" noGrp="1"/>
          </p:cNvSpPr>
          <p:nvPr/>
        </p:nvSpPr>
        <p:spPr>
          <a:xfrm xmlns:a="http://schemas.openxmlformats.org/drawingml/2006/main" rot="0">
            <a:off x="2935605" y="1902142"/>
            <a:ext cx="14425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INTERPRET</a:t>
            </a:r>
          </a:p>
        </p:txBody>
      </p:sp>
      <p:sp>
        <p:nvSpPr>
          <p:cNvPr id="21" name="TextBox 21">
            <a:extLst xmlns:a="http://schemas.openxmlformats.org/drawingml/2006/main">
              <a:ext uri="{FF2B5EF4-FFF2-40B4-BE49-F238E27FC236}">
                <a16:creationId xmlns:a16="http://schemas.microsoft.com/office/drawing/2014/main" id="{D6D38E89-1BAA-49B1-AF4F-7EA938BB5446}"/>
              </a:ext>
            </a:extLst>
          </p:cNvPr>
          <p:cNvSpPr>
            <a:spLocks xmlns:a="http://schemas.openxmlformats.org/drawingml/2006/main" noGrp="1"/>
          </p:cNvSpPr>
          <p:nvPr/>
        </p:nvSpPr>
        <p:spPr>
          <a:xfrm xmlns:a="http://schemas.openxmlformats.org/drawingml/2006/main" rot="0">
            <a:off x="2940368" y="2190274"/>
            <a:ext cx="181898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Pre-trained models convert</a:t>
            </a:r>
          </a:p>
        </p:txBody>
      </p:sp>
      <p:sp>
        <p:nvSpPr>
          <p:cNvPr id="22" name="TextBox 22">
            <a:extLst xmlns:a="http://schemas.openxmlformats.org/drawingml/2006/main">
              <a:ext uri="{FF2B5EF4-FFF2-40B4-BE49-F238E27FC236}">
                <a16:creationId xmlns:a16="http://schemas.microsoft.com/office/drawing/2014/main" id="{06F482F6-01B1-4A0D-BA57-C848AF8891D2}"/>
              </a:ext>
            </a:extLst>
          </p:cNvPr>
          <p:cNvSpPr>
            <a:spLocks xmlns:a="http://schemas.openxmlformats.org/drawingml/2006/main" noGrp="1"/>
          </p:cNvSpPr>
          <p:nvPr/>
        </p:nvSpPr>
        <p:spPr>
          <a:xfrm xmlns:a="http://schemas.openxmlformats.org/drawingml/2006/main" rot="0">
            <a:off x="2940368" y="2371249"/>
            <a:ext cx="181248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frames into useful features</a:t>
            </a:r>
          </a:p>
        </p:txBody>
      </p:sp>
      <p:sp>
        <p:nvSpPr>
          <p:cNvPr id="24" name="Line 24">
            <a:extLst xmlns:a="http://schemas.openxmlformats.org/drawingml/2006/main">
              <a:ext uri="{FF2B5EF4-FFF2-40B4-BE49-F238E27FC236}">
                <a16:creationId xmlns:a16="http://schemas.microsoft.com/office/drawing/2014/main" id="{20A8E2A3-0EFE-4C9D-BEF7-CC1C03E9192B}"/>
              </a:ext>
            </a:extLst>
          </p:cNvPr>
          <p:cNvSpPr>
            <a:spLocks xmlns:a="http://schemas.openxmlformats.org/drawingml/2006/main" noGrp="1"/>
          </p:cNvSpPr>
          <p:nvPr/>
        </p:nvSpPr>
        <p:spPr>
          <a:xfrm xmlns:a="http://schemas.openxmlformats.org/drawingml/2006/main" rot="0">
            <a:off x="472440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25" name="Rectangle 25">
            <a:extLst xmlns:a="http://schemas.openxmlformats.org/drawingml/2006/main">
              <a:ext uri="{FF2B5EF4-FFF2-40B4-BE49-F238E27FC236}">
                <a16:creationId xmlns:a16="http://schemas.microsoft.com/office/drawing/2014/main" id="{CE1D7831-93D7-4BBA-B61B-152A59376F40}"/>
              </a:ext>
            </a:extLst>
          </p:cNvPr>
          <p:cNvSpPr>
            <a:spLocks xmlns:a="http://schemas.openxmlformats.org/drawingml/2006/main" noGrp="1"/>
          </p:cNvSpPr>
          <p:nvPr/>
        </p:nvSpPr>
        <p:spPr>
          <a:xfrm xmlns:a="http://schemas.openxmlformats.org/drawingml/2006/main" rot="0">
            <a:off x="4991100" y="1181100"/>
            <a:ext cx="2000250" cy="1485900"/>
          </a:xfrm>
          <a:prstGeom xmlns:a="http://schemas.openxmlformats.org/drawingml/2006/main" prst="roundRect">
            <a:avLst>
              <a:gd name="adj" fmla="val 7692"/>
            </a:avLst>
          </a:prstGeom>
          <a:solidFill xmlns:a="http://schemas.openxmlformats.org/drawingml/2006/main">
            <a:srgbClr val="EAF0F7"/>
          </a:solidFill>
          <a:ln xmlns:a="http://schemas.openxmlformats.org/drawingml/2006/main">
            <a:noFill/>
          </a:ln>
        </p:spPr>
      </p:sp>
      <p:sp>
        <p:nvSpPr>
          <p:cNvPr id="26" name="Freeform 26">
            <a:extLst xmlns:a="http://schemas.openxmlformats.org/drawingml/2006/main">
              <a:ext uri="{FF2B5EF4-FFF2-40B4-BE49-F238E27FC236}">
                <a16:creationId xmlns:a16="http://schemas.microsoft.com/office/drawing/2014/main" id="{83D0CE5D-3A6F-4629-8A55-6143EDA2D552}"/>
              </a:ext>
            </a:extLst>
          </p:cNvPr>
          <p:cNvSpPr>
            <a:spLocks xmlns:a="http://schemas.openxmlformats.org/drawingml/2006/main" noGrp="1"/>
          </p:cNvSpPr>
          <p:nvPr/>
        </p:nvSpPr>
        <p:spPr>
          <a:xfrm xmlns:a="http://schemas.openxmlformats.org/drawingml/2006/main" rot="0">
            <a:off x="5276255" y="1477566"/>
            <a:ext cx="248841" cy="248841"/>
          </a:xfrm>
          <a:custGeom xmlns:a="http://schemas.openxmlformats.org/drawingml/2006/main">
            <a:rect l="l" t="t" r="r" b="b"/>
            <a:pathLst>
              <a:path w="248841" h="248841">
                <a:moveTo>
                  <a:pt x="248841" y="124420"/>
                </a:moveTo>
                <a:cubicBezTo>
                  <a:pt x="248841" y="193136"/>
                  <a:pt x="193136" y="248841"/>
                  <a:pt x="124420" y="248841"/>
                </a:cubicBezTo>
                <a:cubicBezTo>
                  <a:pt x="55705" y="248841"/>
                  <a:pt x="0" y="193136"/>
                  <a:pt x="0" y="124420"/>
                </a:cubicBezTo>
                <a:cubicBezTo>
                  <a:pt x="0" y="55705"/>
                  <a:pt x="55705" y="0"/>
                  <a:pt x="124420" y="0"/>
                </a:cubicBezTo>
                <a:cubicBezTo>
                  <a:pt x="193136" y="0"/>
                  <a:pt x="248841" y="55705"/>
                  <a:pt x="248841" y="124420"/>
                </a:cubicBezTo>
                <a:close/>
              </a:path>
            </a:pathLst>
          </a:custGeom>
          <a:solidFill xmlns:a="http://schemas.openxmlformats.org/drawingml/2006/main">
            <a:srgbClr val="2F80ED">
              <a:alpha val="20000"/>
            </a:srgbClr>
          </a:solidFill>
          <a:ln xmlns:a="http://schemas.openxmlformats.org/drawingml/2006/main">
            <a:noFill/>
          </a:ln>
        </p:spPr>
      </p:sp>
      <p:sp>
        <p:nvSpPr>
          <p:cNvPr id="27" name="Freeform 27">
            <a:extLst xmlns:a="http://schemas.openxmlformats.org/drawingml/2006/main">
              <a:ext uri="{FF2B5EF4-FFF2-40B4-BE49-F238E27FC236}">
                <a16:creationId xmlns:a16="http://schemas.microsoft.com/office/drawing/2014/main" id="{9D55C567-FEC7-4AE8-A175-2075C5390231}"/>
              </a:ext>
            </a:extLst>
          </p:cNvPr>
          <p:cNvSpPr>
            <a:spLocks xmlns:a="http://schemas.openxmlformats.org/drawingml/2006/main" noGrp="1"/>
          </p:cNvSpPr>
          <p:nvPr/>
        </p:nvSpPr>
        <p:spPr>
          <a:xfrm xmlns:a="http://schemas.openxmlformats.org/drawingml/2006/main" rot="0">
            <a:off x="5264944" y="1421011"/>
            <a:ext cx="271462" cy="316706"/>
          </a:xfrm>
          <a:custGeom xmlns:a="http://schemas.openxmlformats.org/drawingml/2006/main">
            <a:rect l="l" t="t" r="r" b="b"/>
            <a:pathLst>
              <a:path w="271462" h="316706">
                <a:moveTo>
                  <a:pt x="135731" y="45244"/>
                </a:moveTo>
                <a:cubicBezTo>
                  <a:pt x="60769" y="45244"/>
                  <a:pt x="0" y="106013"/>
                  <a:pt x="0" y="180975"/>
                </a:cubicBezTo>
                <a:cubicBezTo>
                  <a:pt x="0" y="255937"/>
                  <a:pt x="60769" y="316706"/>
                  <a:pt x="135731" y="316706"/>
                </a:cubicBezTo>
                <a:cubicBezTo>
                  <a:pt x="210694" y="316706"/>
                  <a:pt x="271462" y="255937"/>
                  <a:pt x="271462" y="180975"/>
                </a:cubicBezTo>
                <a:cubicBezTo>
                  <a:pt x="271377" y="106048"/>
                  <a:pt x="210658" y="45329"/>
                  <a:pt x="135731" y="45244"/>
                </a:cubicBezTo>
                <a:close/>
                <a:moveTo>
                  <a:pt x="135731" y="294084"/>
                </a:moveTo>
                <a:cubicBezTo>
                  <a:pt x="73263" y="294084"/>
                  <a:pt x="22622" y="243444"/>
                  <a:pt x="22622" y="180975"/>
                </a:cubicBezTo>
                <a:cubicBezTo>
                  <a:pt x="22622" y="118506"/>
                  <a:pt x="73263" y="67866"/>
                  <a:pt x="135731" y="67866"/>
                </a:cubicBezTo>
                <a:cubicBezTo>
                  <a:pt x="198200" y="67866"/>
                  <a:pt x="248841" y="118506"/>
                  <a:pt x="248841" y="180975"/>
                </a:cubicBezTo>
                <a:cubicBezTo>
                  <a:pt x="248770" y="243415"/>
                  <a:pt x="198171" y="294014"/>
                  <a:pt x="135731" y="294084"/>
                </a:cubicBezTo>
                <a:close/>
                <a:moveTo>
                  <a:pt x="200288" y="116418"/>
                </a:moveTo>
                <a:cubicBezTo>
                  <a:pt x="202412" y="118539"/>
                  <a:pt x="203606" y="121418"/>
                  <a:pt x="203606" y="124420"/>
                </a:cubicBezTo>
                <a:cubicBezTo>
                  <a:pt x="203606" y="127422"/>
                  <a:pt x="202412" y="130301"/>
                  <a:pt x="200288" y="132423"/>
                </a:cubicBezTo>
                <a:lnTo>
                  <a:pt x="143734" y="188977"/>
                </a:lnTo>
                <a:cubicBezTo>
                  <a:pt x="139314" y="193397"/>
                  <a:pt x="132148" y="193397"/>
                  <a:pt x="127729" y="188977"/>
                </a:cubicBezTo>
                <a:cubicBezTo>
                  <a:pt x="123309" y="184558"/>
                  <a:pt x="123309" y="177392"/>
                  <a:pt x="127729" y="172973"/>
                </a:cubicBezTo>
                <a:lnTo>
                  <a:pt x="184283" y="116418"/>
                </a:lnTo>
                <a:cubicBezTo>
                  <a:pt x="186405" y="114294"/>
                  <a:pt x="189284" y="113100"/>
                  <a:pt x="192286" y="113100"/>
                </a:cubicBezTo>
                <a:cubicBezTo>
                  <a:pt x="195288" y="113100"/>
                  <a:pt x="198167" y="114294"/>
                  <a:pt x="200288" y="116418"/>
                </a:cubicBezTo>
                <a:close/>
                <a:moveTo>
                  <a:pt x="90488" y="11311"/>
                </a:moveTo>
                <a:cubicBezTo>
                  <a:pt x="90488" y="5064"/>
                  <a:pt x="95552" y="0"/>
                  <a:pt x="101798" y="0"/>
                </a:cubicBezTo>
                <a:lnTo>
                  <a:pt x="169664" y="0"/>
                </a:lnTo>
                <a:cubicBezTo>
                  <a:pt x="175911" y="0"/>
                  <a:pt x="180975" y="5064"/>
                  <a:pt x="180975" y="11311"/>
                </a:cubicBezTo>
                <a:cubicBezTo>
                  <a:pt x="180975" y="17558"/>
                  <a:pt x="175911" y="22622"/>
                  <a:pt x="169664" y="22622"/>
                </a:cubicBezTo>
                <a:lnTo>
                  <a:pt x="101798" y="22622"/>
                </a:lnTo>
                <a:cubicBezTo>
                  <a:pt x="95552" y="22622"/>
                  <a:pt x="90488" y="17558"/>
                  <a:pt x="90488" y="11311"/>
                </a:cubicBezTo>
                <a:close/>
              </a:path>
            </a:pathLst>
          </a:custGeom>
          <a:solidFill xmlns:a="http://schemas.openxmlformats.org/drawingml/2006/main">
            <a:srgbClr val="2F80ED"/>
          </a:solidFill>
          <a:ln xmlns:a="http://schemas.openxmlformats.org/drawingml/2006/main">
            <a:noFill/>
          </a:ln>
        </p:spPr>
      </p:sp>
      <p:sp>
        <p:nvSpPr>
          <p:cNvPr id="29" name="TextBox 29">
            <a:extLst xmlns:a="http://schemas.openxmlformats.org/drawingml/2006/main">
              <a:ext uri="{FF2B5EF4-FFF2-40B4-BE49-F238E27FC236}">
                <a16:creationId xmlns:a16="http://schemas.microsoft.com/office/drawing/2014/main" id="{C804A3AA-DA33-4664-8204-01AE2409AD81}"/>
              </a:ext>
            </a:extLst>
          </p:cNvPr>
          <p:cNvSpPr>
            <a:spLocks xmlns:a="http://schemas.openxmlformats.org/drawingml/2006/main" noGrp="1"/>
          </p:cNvSpPr>
          <p:nvPr/>
        </p:nvSpPr>
        <p:spPr>
          <a:xfrm xmlns:a="http://schemas.openxmlformats.org/drawingml/2006/main" rot="0">
            <a:off x="5202555" y="1902142"/>
            <a:ext cx="85654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CONFIRM</a:t>
            </a:r>
          </a:p>
        </p:txBody>
      </p:sp>
      <p:sp>
        <p:nvSpPr>
          <p:cNvPr id="30" name="TextBox 30">
            <a:extLst xmlns:a="http://schemas.openxmlformats.org/drawingml/2006/main">
              <a:ext uri="{FF2B5EF4-FFF2-40B4-BE49-F238E27FC236}">
                <a16:creationId xmlns:a16="http://schemas.microsoft.com/office/drawing/2014/main" id="{E240A474-33E7-4B16-90CE-8645C636DE83}"/>
              </a:ext>
            </a:extLst>
          </p:cNvPr>
          <p:cNvSpPr>
            <a:spLocks xmlns:a="http://schemas.openxmlformats.org/drawingml/2006/main" noGrp="1"/>
          </p:cNvSpPr>
          <p:nvPr/>
        </p:nvSpPr>
        <p:spPr>
          <a:xfrm xmlns:a="http://schemas.openxmlformats.org/drawingml/2006/main" rot="0">
            <a:off x="5207318" y="2190274"/>
            <a:ext cx="17864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Temporal logic checks that</a:t>
            </a:r>
          </a:p>
        </p:txBody>
      </p:sp>
      <p:sp>
        <p:nvSpPr>
          <p:cNvPr id="31" name="TextBox 31">
            <a:extLst xmlns:a="http://schemas.openxmlformats.org/drawingml/2006/main">
              <a:ext uri="{FF2B5EF4-FFF2-40B4-BE49-F238E27FC236}">
                <a16:creationId xmlns:a16="http://schemas.microsoft.com/office/drawing/2014/main" id="{2F1BF013-927A-4E42-A04C-C769658B935A}"/>
              </a:ext>
            </a:extLst>
          </p:cNvPr>
          <p:cNvSpPr>
            <a:spLocks xmlns:a="http://schemas.openxmlformats.org/drawingml/2006/main" noGrp="1"/>
          </p:cNvSpPr>
          <p:nvPr/>
        </p:nvSpPr>
        <p:spPr>
          <a:xfrm xmlns:a="http://schemas.openxmlformats.org/drawingml/2006/main" rot="0">
            <a:off x="5207318" y="2371249"/>
            <a:ext cx="179948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the behaviour persists</a:t>
            </a:r>
          </a:p>
        </p:txBody>
      </p:sp>
      <p:sp>
        <p:nvSpPr>
          <p:cNvPr id="33" name="Line 33">
            <a:extLst xmlns:a="http://schemas.openxmlformats.org/drawingml/2006/main">
              <a:ext uri="{FF2B5EF4-FFF2-40B4-BE49-F238E27FC236}">
                <a16:creationId xmlns:a16="http://schemas.microsoft.com/office/drawing/2014/main" id="{07FC134B-7FDB-4BA1-B097-F6D9FD60FD8D}"/>
              </a:ext>
            </a:extLst>
          </p:cNvPr>
          <p:cNvSpPr>
            <a:spLocks xmlns:a="http://schemas.openxmlformats.org/drawingml/2006/main" noGrp="1"/>
          </p:cNvSpPr>
          <p:nvPr/>
        </p:nvSpPr>
        <p:spPr>
          <a:xfrm xmlns:a="http://schemas.openxmlformats.org/drawingml/2006/main" rot="0">
            <a:off x="699135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34" name="Rectangle 34">
            <a:extLst xmlns:a="http://schemas.openxmlformats.org/drawingml/2006/main">
              <a:ext uri="{FF2B5EF4-FFF2-40B4-BE49-F238E27FC236}">
                <a16:creationId xmlns:a16="http://schemas.microsoft.com/office/drawing/2014/main" id="{A924C855-F022-4B4D-9ACF-1D69DC8F49B8}"/>
              </a:ext>
            </a:extLst>
          </p:cNvPr>
          <p:cNvSpPr>
            <a:spLocks xmlns:a="http://schemas.openxmlformats.org/drawingml/2006/main" noGrp="1"/>
          </p:cNvSpPr>
          <p:nvPr/>
        </p:nvSpPr>
        <p:spPr>
          <a:xfrm xmlns:a="http://schemas.openxmlformats.org/drawingml/2006/main" rot="0">
            <a:off x="7258050" y="1181100"/>
            <a:ext cx="2000250" cy="1485900"/>
          </a:xfrm>
          <a:prstGeom xmlns:a="http://schemas.openxmlformats.org/drawingml/2006/main" prst="roundRect">
            <a:avLst>
              <a:gd name="adj" fmla="val 7692"/>
            </a:avLst>
          </a:prstGeom>
          <a:solidFill xmlns:a="http://schemas.openxmlformats.org/drawingml/2006/main">
            <a:srgbClr val="2AB7A9"/>
          </a:solidFill>
          <a:ln xmlns:a="http://schemas.openxmlformats.org/drawingml/2006/main">
            <a:noFill/>
          </a:ln>
        </p:spPr>
      </p:sp>
      <p:sp>
        <p:nvSpPr>
          <p:cNvPr id="35" name="Freeform 35">
            <a:extLst xmlns:a="http://schemas.openxmlformats.org/drawingml/2006/main">
              <a:ext uri="{FF2B5EF4-FFF2-40B4-BE49-F238E27FC236}">
                <a16:creationId xmlns:a16="http://schemas.microsoft.com/office/drawing/2014/main" id="{2F38C87E-D63D-4B0F-B2F0-158D116CCD36}"/>
              </a:ext>
            </a:extLst>
          </p:cNvPr>
          <p:cNvSpPr>
            <a:spLocks xmlns:a="http://schemas.openxmlformats.org/drawingml/2006/main" noGrp="1"/>
          </p:cNvSpPr>
          <p:nvPr/>
        </p:nvSpPr>
        <p:spPr>
          <a:xfrm xmlns:a="http://schemas.openxmlformats.org/drawingml/2006/main" rot="0">
            <a:off x="7599759" y="1488877"/>
            <a:ext cx="158353" cy="203597"/>
          </a:xfrm>
          <a:custGeom xmlns:a="http://schemas.openxmlformats.org/drawingml/2006/main">
            <a:rect l="l" t="t" r="r" b="b"/>
            <a:pathLst>
              <a:path w="158353" h="203597">
                <a:moveTo>
                  <a:pt x="67866" y="33933"/>
                </a:moveTo>
                <a:cubicBezTo>
                  <a:pt x="67866" y="52673"/>
                  <a:pt x="52673" y="67866"/>
                  <a:pt x="33933" y="67866"/>
                </a:cubicBezTo>
                <a:cubicBezTo>
                  <a:pt x="15192" y="67866"/>
                  <a:pt x="0" y="52673"/>
                  <a:pt x="0" y="33933"/>
                </a:cubicBezTo>
                <a:cubicBezTo>
                  <a:pt x="0" y="15192"/>
                  <a:pt x="15192" y="0"/>
                  <a:pt x="33933" y="0"/>
                </a:cubicBezTo>
                <a:cubicBezTo>
                  <a:pt x="52673" y="0"/>
                  <a:pt x="67866" y="15192"/>
                  <a:pt x="67866" y="33933"/>
                </a:cubicBezTo>
                <a:close/>
                <a:moveTo>
                  <a:pt x="124420" y="135731"/>
                </a:moveTo>
                <a:cubicBezTo>
                  <a:pt x="105680" y="135731"/>
                  <a:pt x="90488" y="150923"/>
                  <a:pt x="90488" y="169664"/>
                </a:cubicBezTo>
                <a:cubicBezTo>
                  <a:pt x="90488" y="188405"/>
                  <a:pt x="105680" y="203597"/>
                  <a:pt x="124420" y="203597"/>
                </a:cubicBezTo>
                <a:cubicBezTo>
                  <a:pt x="143161" y="203597"/>
                  <a:pt x="158353" y="188405"/>
                  <a:pt x="158353" y="169664"/>
                </a:cubicBezTo>
                <a:cubicBezTo>
                  <a:pt x="158353" y="150923"/>
                  <a:pt x="143161" y="135731"/>
                  <a:pt x="124420" y="135731"/>
                </a:cubicBezTo>
                <a:close/>
              </a:path>
            </a:pathLst>
          </a:custGeom>
          <a:solidFill xmlns:a="http://schemas.openxmlformats.org/drawingml/2006/main">
            <a:srgbClr val="F7F9FC">
              <a:alpha val="20000"/>
            </a:srgbClr>
          </a:solidFill>
          <a:ln xmlns:a="http://schemas.openxmlformats.org/drawingml/2006/main">
            <a:noFill/>
          </a:ln>
        </p:spPr>
      </p:sp>
      <p:sp>
        <p:nvSpPr>
          <p:cNvPr id="36" name="Freeform 36">
            <a:extLst xmlns:a="http://schemas.openxmlformats.org/drawingml/2006/main">
              <a:ext uri="{FF2B5EF4-FFF2-40B4-BE49-F238E27FC236}">
                <a16:creationId xmlns:a16="http://schemas.microsoft.com/office/drawing/2014/main" id="{04CE6FE1-AC8B-4BB7-A457-79DB5AE32A81}"/>
              </a:ext>
            </a:extLst>
          </p:cNvPr>
          <p:cNvSpPr>
            <a:spLocks xmlns:a="http://schemas.openxmlformats.org/drawingml/2006/main" noGrp="1"/>
          </p:cNvSpPr>
          <p:nvPr/>
        </p:nvSpPr>
        <p:spPr>
          <a:xfrm xmlns:a="http://schemas.openxmlformats.org/drawingml/2006/main" rot="0">
            <a:off x="7531894" y="1477477"/>
            <a:ext cx="271462" cy="226396"/>
          </a:xfrm>
          <a:custGeom xmlns:a="http://schemas.openxmlformats.org/drawingml/2006/main">
            <a:rect l="l" t="t" r="r" b="b"/>
            <a:pathLst>
              <a:path w="271462" h="226396">
                <a:moveTo>
                  <a:pt x="11311" y="56643"/>
                </a:moveTo>
                <a:lnTo>
                  <a:pt x="57969" y="56643"/>
                </a:lnTo>
                <a:cubicBezTo>
                  <a:pt x="63094" y="76663"/>
                  <a:pt x="81133" y="90665"/>
                  <a:pt x="101798" y="90665"/>
                </a:cubicBezTo>
                <a:cubicBezTo>
                  <a:pt x="122464" y="90665"/>
                  <a:pt x="140503" y="76663"/>
                  <a:pt x="145628" y="56643"/>
                </a:cubicBezTo>
                <a:lnTo>
                  <a:pt x="260152" y="56643"/>
                </a:lnTo>
                <a:cubicBezTo>
                  <a:pt x="266398" y="56643"/>
                  <a:pt x="271462" y="51579"/>
                  <a:pt x="271462" y="45332"/>
                </a:cubicBezTo>
                <a:cubicBezTo>
                  <a:pt x="271462" y="39086"/>
                  <a:pt x="266398" y="34022"/>
                  <a:pt x="260152" y="34022"/>
                </a:cubicBezTo>
                <a:lnTo>
                  <a:pt x="145628" y="34022"/>
                </a:lnTo>
                <a:cubicBezTo>
                  <a:pt x="140503" y="14002"/>
                  <a:pt x="122464" y="0"/>
                  <a:pt x="101798" y="0"/>
                </a:cubicBezTo>
                <a:cubicBezTo>
                  <a:pt x="81133" y="0"/>
                  <a:pt x="63094" y="14002"/>
                  <a:pt x="57969" y="34022"/>
                </a:cubicBezTo>
                <a:lnTo>
                  <a:pt x="11311" y="34022"/>
                </a:lnTo>
                <a:cubicBezTo>
                  <a:pt x="5064" y="34022"/>
                  <a:pt x="0" y="39086"/>
                  <a:pt x="0" y="45332"/>
                </a:cubicBezTo>
                <a:cubicBezTo>
                  <a:pt x="0" y="51579"/>
                  <a:pt x="5064" y="56643"/>
                  <a:pt x="11311" y="56643"/>
                </a:cubicBezTo>
                <a:close/>
                <a:moveTo>
                  <a:pt x="101798" y="22711"/>
                </a:moveTo>
                <a:cubicBezTo>
                  <a:pt x="114292" y="22711"/>
                  <a:pt x="124420" y="32839"/>
                  <a:pt x="124420" y="45332"/>
                </a:cubicBezTo>
                <a:cubicBezTo>
                  <a:pt x="124420" y="57826"/>
                  <a:pt x="114292" y="67954"/>
                  <a:pt x="101798" y="67954"/>
                </a:cubicBezTo>
                <a:cubicBezTo>
                  <a:pt x="89305" y="67954"/>
                  <a:pt x="79177" y="57826"/>
                  <a:pt x="79177" y="45332"/>
                </a:cubicBezTo>
                <a:cubicBezTo>
                  <a:pt x="79177" y="32839"/>
                  <a:pt x="89305" y="22711"/>
                  <a:pt x="101798" y="22711"/>
                </a:cubicBezTo>
                <a:close/>
                <a:moveTo>
                  <a:pt x="260152" y="169753"/>
                </a:moveTo>
                <a:lnTo>
                  <a:pt x="236116" y="169753"/>
                </a:lnTo>
                <a:cubicBezTo>
                  <a:pt x="230990" y="149733"/>
                  <a:pt x="212951" y="135731"/>
                  <a:pt x="192286" y="135731"/>
                </a:cubicBezTo>
                <a:cubicBezTo>
                  <a:pt x="171621" y="135731"/>
                  <a:pt x="153582" y="149733"/>
                  <a:pt x="148456" y="169753"/>
                </a:cubicBezTo>
                <a:lnTo>
                  <a:pt x="11311" y="169753"/>
                </a:lnTo>
                <a:cubicBezTo>
                  <a:pt x="5064" y="169753"/>
                  <a:pt x="0" y="174817"/>
                  <a:pt x="0" y="181064"/>
                </a:cubicBezTo>
                <a:cubicBezTo>
                  <a:pt x="0" y="187311"/>
                  <a:pt x="5064" y="192375"/>
                  <a:pt x="11311" y="192375"/>
                </a:cubicBezTo>
                <a:lnTo>
                  <a:pt x="148456" y="192375"/>
                </a:lnTo>
                <a:cubicBezTo>
                  <a:pt x="153582" y="212394"/>
                  <a:pt x="171621" y="226396"/>
                  <a:pt x="192286" y="226396"/>
                </a:cubicBezTo>
                <a:cubicBezTo>
                  <a:pt x="212951" y="226396"/>
                  <a:pt x="230990" y="212394"/>
                  <a:pt x="236116" y="192375"/>
                </a:cubicBezTo>
                <a:lnTo>
                  <a:pt x="260152" y="192375"/>
                </a:lnTo>
                <a:cubicBezTo>
                  <a:pt x="266398" y="192375"/>
                  <a:pt x="271462" y="187311"/>
                  <a:pt x="271462" y="181064"/>
                </a:cubicBezTo>
                <a:cubicBezTo>
                  <a:pt x="271462" y="174817"/>
                  <a:pt x="266398" y="169753"/>
                  <a:pt x="260152" y="169753"/>
                </a:cubicBezTo>
                <a:close/>
                <a:moveTo>
                  <a:pt x="192286" y="203686"/>
                </a:moveTo>
                <a:cubicBezTo>
                  <a:pt x="179792" y="203686"/>
                  <a:pt x="169664" y="193557"/>
                  <a:pt x="169664" y="181064"/>
                </a:cubicBezTo>
                <a:cubicBezTo>
                  <a:pt x="169664" y="168570"/>
                  <a:pt x="179792" y="158442"/>
                  <a:pt x="192286" y="158442"/>
                </a:cubicBezTo>
                <a:cubicBezTo>
                  <a:pt x="204780" y="158442"/>
                  <a:pt x="214908" y="168570"/>
                  <a:pt x="214908" y="181064"/>
                </a:cubicBezTo>
                <a:cubicBezTo>
                  <a:pt x="214908" y="193557"/>
                  <a:pt x="204780" y="203686"/>
                  <a:pt x="192286" y="203686"/>
                </a:cubicBezTo>
                <a:close/>
              </a:path>
            </a:pathLst>
          </a:custGeom>
          <a:solidFill xmlns:a="http://schemas.openxmlformats.org/drawingml/2006/main">
            <a:srgbClr val="F7F9FC"/>
          </a:solidFill>
          <a:ln xmlns:a="http://schemas.openxmlformats.org/drawingml/2006/main">
            <a:noFill/>
          </a:ln>
        </p:spPr>
      </p:sp>
      <p:sp>
        <p:nvSpPr>
          <p:cNvPr id="38" name="TextBox 38">
            <a:extLst xmlns:a="http://schemas.openxmlformats.org/drawingml/2006/main">
              <a:ext uri="{FF2B5EF4-FFF2-40B4-BE49-F238E27FC236}">
                <a16:creationId xmlns:a16="http://schemas.microsoft.com/office/drawing/2014/main" id="{E58CA6A3-F849-46BA-AF4F-F2660D9372F4}"/>
              </a:ext>
            </a:extLst>
          </p:cNvPr>
          <p:cNvSpPr>
            <a:spLocks xmlns:a="http://schemas.openxmlformats.org/drawingml/2006/main" noGrp="1"/>
          </p:cNvSpPr>
          <p:nvPr/>
        </p:nvSpPr>
        <p:spPr>
          <a:xfrm xmlns:a="http://schemas.openxmlformats.org/drawingml/2006/main" rot="0">
            <a:off x="7469505" y="1902142"/>
            <a:ext cx="142361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RESPOND</a:t>
            </a:r>
          </a:p>
        </p:txBody>
      </p:sp>
      <p:sp>
        <p:nvSpPr>
          <p:cNvPr id="39" name="TextBox 39">
            <a:extLst xmlns:a="http://schemas.openxmlformats.org/drawingml/2006/main">
              <a:ext uri="{FF2B5EF4-FFF2-40B4-BE49-F238E27FC236}">
                <a16:creationId xmlns:a16="http://schemas.microsoft.com/office/drawing/2014/main" id="{B9D5BD38-2591-47B6-ACF1-7682452177BA}"/>
              </a:ext>
            </a:extLst>
          </p:cNvPr>
          <p:cNvSpPr>
            <a:spLocks xmlns:a="http://schemas.openxmlformats.org/drawingml/2006/main" noGrp="1"/>
          </p:cNvSpPr>
          <p:nvPr/>
        </p:nvSpPr>
        <p:spPr>
          <a:xfrm xmlns:a="http://schemas.openxmlformats.org/drawingml/2006/main" rot="0">
            <a:off x="7474268" y="2190274"/>
            <a:ext cx="152645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Robot moves, turns, displays</a:t>
            </a:r>
          </a:p>
        </p:txBody>
      </p:sp>
      <p:sp>
        <p:nvSpPr>
          <p:cNvPr id="40" name="TextBox 40">
            <a:extLst xmlns:a="http://schemas.openxmlformats.org/drawingml/2006/main">
              <a:ext uri="{FF2B5EF4-FFF2-40B4-BE49-F238E27FC236}">
                <a16:creationId xmlns:a16="http://schemas.microsoft.com/office/drawing/2014/main" id="{5616ACF0-AD3B-431C-B149-C778E4252EF8}"/>
              </a:ext>
            </a:extLst>
          </p:cNvPr>
          <p:cNvSpPr>
            <a:spLocks xmlns:a="http://schemas.openxmlformats.org/drawingml/2006/main" noGrp="1"/>
          </p:cNvSpPr>
          <p:nvPr/>
        </p:nvSpPr>
        <p:spPr>
          <a:xfrm xmlns:a="http://schemas.openxmlformats.org/drawingml/2006/main" rot="0">
            <a:off x="7474268" y="2371249"/>
            <a:ext cx="173447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and plays sound through the laptop</a:t>
            </a:r>
          </a:p>
        </p:txBody>
      </p:sp>
      <p:sp>
        <p:nvSpPr>
          <p:cNvPr id="42" name="Line 42">
            <a:extLst xmlns:a="http://schemas.openxmlformats.org/drawingml/2006/main">
              <a:ext uri="{FF2B5EF4-FFF2-40B4-BE49-F238E27FC236}">
                <a16:creationId xmlns:a16="http://schemas.microsoft.com/office/drawing/2014/main" id="{F0DEA251-7821-4D1F-B974-1D10F93089E8}"/>
              </a:ext>
            </a:extLst>
          </p:cNvPr>
          <p:cNvSpPr>
            <a:spLocks xmlns:a="http://schemas.openxmlformats.org/drawingml/2006/main" noGrp="1"/>
          </p:cNvSpPr>
          <p:nvPr/>
        </p:nvSpPr>
        <p:spPr>
          <a:xfrm xmlns:a="http://schemas.openxmlformats.org/drawingml/2006/main" rot="0">
            <a:off x="925830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43" name="Rectangle 43">
            <a:extLst xmlns:a="http://schemas.openxmlformats.org/drawingml/2006/main">
              <a:ext uri="{FF2B5EF4-FFF2-40B4-BE49-F238E27FC236}">
                <a16:creationId xmlns:a16="http://schemas.microsoft.com/office/drawing/2014/main" id="{DFDC7F9C-DDD7-4F82-93BE-D1747D2E4FE8}"/>
              </a:ext>
            </a:extLst>
          </p:cNvPr>
          <p:cNvSpPr>
            <a:spLocks xmlns:a="http://schemas.openxmlformats.org/drawingml/2006/main" noGrp="1"/>
          </p:cNvSpPr>
          <p:nvPr/>
        </p:nvSpPr>
        <p:spPr>
          <a:xfrm xmlns:a="http://schemas.openxmlformats.org/drawingml/2006/main" rot="0">
            <a:off x="9525000" y="1181100"/>
            <a:ext cx="2209800" cy="1485900"/>
          </a:xfrm>
          <a:prstGeom xmlns:a="http://schemas.openxmlformats.org/drawingml/2006/main" prst="roundRect">
            <a:avLst>
              <a:gd name="adj" fmla="val 7692"/>
            </a:avLst>
          </a:prstGeom>
          <a:solidFill xmlns:a="http://schemas.openxmlformats.org/drawingml/2006/main">
            <a:srgbClr val="2F80ED"/>
          </a:solidFill>
          <a:ln xmlns:a="http://schemas.openxmlformats.org/drawingml/2006/main">
            <a:noFill/>
          </a:ln>
        </p:spPr>
      </p:sp>
      <p:sp>
        <p:nvSpPr>
          <p:cNvPr id="44" name="Freeform 44">
            <a:extLst xmlns:a="http://schemas.openxmlformats.org/drawingml/2006/main">
              <a:ext uri="{FF2B5EF4-FFF2-40B4-BE49-F238E27FC236}">
                <a16:creationId xmlns:a16="http://schemas.microsoft.com/office/drawing/2014/main" id="{6C847E84-97B9-4E5E-A674-7F9E1A69CF95}"/>
              </a:ext>
            </a:extLst>
          </p:cNvPr>
          <p:cNvSpPr>
            <a:spLocks xmlns:a="http://schemas.openxmlformats.org/drawingml/2006/main" noGrp="1"/>
          </p:cNvSpPr>
          <p:nvPr/>
        </p:nvSpPr>
        <p:spPr>
          <a:xfrm xmlns:a="http://schemas.openxmlformats.org/drawingml/2006/main" rot="0">
            <a:off x="9798031" y="1477566"/>
            <a:ext cx="273089" cy="249450"/>
          </a:xfrm>
          <a:custGeom xmlns:a="http://schemas.openxmlformats.org/drawingml/2006/main">
            <a:rect l="l" t="t" r="r" b="b"/>
            <a:pathLst>
              <a:path w="273089" h="249450">
                <a:moveTo>
                  <a:pt x="269307" y="18918"/>
                </a:moveTo>
                <a:lnTo>
                  <a:pt x="173531" y="121154"/>
                </a:lnTo>
                <a:cubicBezTo>
                  <a:pt x="171568" y="123251"/>
                  <a:pt x="170476" y="126016"/>
                  <a:pt x="170477" y="128888"/>
                </a:cubicBezTo>
                <a:lnTo>
                  <a:pt x="170477" y="207344"/>
                </a:lnTo>
                <a:cubicBezTo>
                  <a:pt x="170480" y="211127"/>
                  <a:pt x="168591" y="214660"/>
                  <a:pt x="165444" y="216760"/>
                </a:cubicBezTo>
                <a:lnTo>
                  <a:pt x="120200" y="246918"/>
                </a:lnTo>
                <a:cubicBezTo>
                  <a:pt x="116733" y="249231"/>
                  <a:pt x="112274" y="249450"/>
                  <a:pt x="108596" y="247487"/>
                </a:cubicBezTo>
                <a:cubicBezTo>
                  <a:pt x="104919" y="245524"/>
                  <a:pt x="102619" y="241698"/>
                  <a:pt x="102612" y="237530"/>
                </a:cubicBezTo>
                <a:lnTo>
                  <a:pt x="102612" y="128888"/>
                </a:lnTo>
                <a:cubicBezTo>
                  <a:pt x="102612" y="126016"/>
                  <a:pt x="101521" y="123251"/>
                  <a:pt x="99558" y="121154"/>
                </a:cubicBezTo>
                <a:lnTo>
                  <a:pt x="3782" y="18918"/>
                </a:lnTo>
                <a:cubicBezTo>
                  <a:pt x="775" y="15608"/>
                  <a:pt x="0" y="10838"/>
                  <a:pt x="1804" y="6747"/>
                </a:cubicBezTo>
                <a:cubicBezTo>
                  <a:pt x="3608" y="2656"/>
                  <a:pt x="7653" y="12"/>
                  <a:pt x="12124" y="0"/>
                </a:cubicBezTo>
                <a:lnTo>
                  <a:pt x="260965" y="0"/>
                </a:lnTo>
                <a:cubicBezTo>
                  <a:pt x="265436" y="12"/>
                  <a:pt x="269481" y="2656"/>
                  <a:pt x="271285" y="6747"/>
                </a:cubicBezTo>
                <a:cubicBezTo>
                  <a:pt x="273089" y="10838"/>
                  <a:pt x="272314" y="15608"/>
                  <a:pt x="269307" y="18918"/>
                </a:cubicBezTo>
                <a:close/>
              </a:path>
            </a:pathLst>
          </a:custGeom>
          <a:solidFill xmlns:a="http://schemas.openxmlformats.org/drawingml/2006/main">
            <a:srgbClr val="F7F9FC">
              <a:alpha val="20000"/>
            </a:srgbClr>
          </a:solidFill>
          <a:ln xmlns:a="http://schemas.openxmlformats.org/drawingml/2006/main">
            <a:noFill/>
          </a:ln>
        </p:spPr>
      </p:sp>
      <p:sp>
        <p:nvSpPr>
          <p:cNvPr id="45" name="Freeform 45">
            <a:extLst xmlns:a="http://schemas.openxmlformats.org/drawingml/2006/main">
              <a:ext uri="{FF2B5EF4-FFF2-40B4-BE49-F238E27FC236}">
                <a16:creationId xmlns:a16="http://schemas.microsoft.com/office/drawing/2014/main" id="{EC01A2E8-AC23-4E95-B73F-59DD3227C5B2}"/>
              </a:ext>
            </a:extLst>
          </p:cNvPr>
          <p:cNvSpPr>
            <a:spLocks xmlns:a="http://schemas.openxmlformats.org/drawingml/2006/main" noGrp="1"/>
          </p:cNvSpPr>
          <p:nvPr/>
        </p:nvSpPr>
        <p:spPr>
          <a:xfrm xmlns:a="http://schemas.openxmlformats.org/drawingml/2006/main" rot="0">
            <a:off x="9785892" y="1466203"/>
            <a:ext cx="297447" cy="272778"/>
          </a:xfrm>
          <a:custGeom xmlns:a="http://schemas.openxmlformats.org/drawingml/2006/main">
            <a:rect l="l" t="t" r="r" b="b"/>
            <a:pathLst>
              <a:path w="297447" h="272778">
                <a:moveTo>
                  <a:pt x="293746" y="13526"/>
                </a:moveTo>
                <a:cubicBezTo>
                  <a:pt x="290187" y="5303"/>
                  <a:pt x="282063" y="0"/>
                  <a:pt x="273104" y="51"/>
                </a:cubicBezTo>
                <a:lnTo>
                  <a:pt x="24263" y="51"/>
                </a:lnTo>
                <a:cubicBezTo>
                  <a:pt x="15318" y="69"/>
                  <a:pt x="7223" y="5356"/>
                  <a:pt x="3612" y="13539"/>
                </a:cubicBezTo>
                <a:cubicBezTo>
                  <a:pt x="0" y="21723"/>
                  <a:pt x="1550" y="31266"/>
                  <a:pt x="7565" y="37886"/>
                </a:cubicBezTo>
                <a:lnTo>
                  <a:pt x="7678" y="38014"/>
                </a:lnTo>
                <a:lnTo>
                  <a:pt x="103440" y="140265"/>
                </a:lnTo>
                <a:lnTo>
                  <a:pt x="103440" y="248892"/>
                </a:lnTo>
                <a:cubicBezTo>
                  <a:pt x="103438" y="257234"/>
                  <a:pt x="108027" y="264900"/>
                  <a:pt x="115381" y="268839"/>
                </a:cubicBezTo>
                <a:cubicBezTo>
                  <a:pt x="122735" y="272778"/>
                  <a:pt x="131660" y="272349"/>
                  <a:pt x="138603" y="267725"/>
                </a:cubicBezTo>
                <a:lnTo>
                  <a:pt x="183846" y="237553"/>
                </a:lnTo>
                <a:cubicBezTo>
                  <a:pt x="190145" y="233357"/>
                  <a:pt x="193929" y="226289"/>
                  <a:pt x="193927" y="218720"/>
                </a:cubicBezTo>
                <a:lnTo>
                  <a:pt x="193927" y="140265"/>
                </a:lnTo>
                <a:lnTo>
                  <a:pt x="289702" y="38014"/>
                </a:lnTo>
                <a:lnTo>
                  <a:pt x="289816" y="37886"/>
                </a:lnTo>
                <a:cubicBezTo>
                  <a:pt x="295899" y="31292"/>
                  <a:pt x="297447" y="21698"/>
                  <a:pt x="293746" y="13526"/>
                </a:cubicBezTo>
                <a:close/>
                <a:moveTo>
                  <a:pt x="24263" y="22673"/>
                </a:moveTo>
                <a:lnTo>
                  <a:pt x="24263" y="22673"/>
                </a:lnTo>
                <a:close/>
                <a:moveTo>
                  <a:pt x="177441" y="124868"/>
                </a:moveTo>
                <a:cubicBezTo>
                  <a:pt x="173512" y="129033"/>
                  <a:pt x="171318" y="134539"/>
                  <a:pt x="171305" y="140265"/>
                </a:cubicBezTo>
                <a:lnTo>
                  <a:pt x="171305" y="218720"/>
                </a:lnTo>
                <a:lnTo>
                  <a:pt x="126062" y="248892"/>
                </a:lnTo>
                <a:lnTo>
                  <a:pt x="126062" y="140265"/>
                </a:lnTo>
                <a:cubicBezTo>
                  <a:pt x="126075" y="134518"/>
                  <a:pt x="123889" y="128984"/>
                  <a:pt x="119954" y="124797"/>
                </a:cubicBezTo>
                <a:lnTo>
                  <a:pt x="24263" y="22673"/>
                </a:lnTo>
                <a:lnTo>
                  <a:pt x="273104" y="22673"/>
                </a:lnTo>
                <a:close/>
              </a:path>
            </a:pathLst>
          </a:custGeom>
          <a:solidFill xmlns:a="http://schemas.openxmlformats.org/drawingml/2006/main">
            <a:srgbClr val="F7F9FC"/>
          </a:solidFill>
          <a:ln xmlns:a="http://schemas.openxmlformats.org/drawingml/2006/main">
            <a:noFill/>
          </a:ln>
        </p:spPr>
      </p:sp>
      <p:sp>
        <p:nvSpPr>
          <p:cNvPr id="47" name="TextBox 47">
            <a:extLst xmlns:a="http://schemas.openxmlformats.org/drawingml/2006/main">
              <a:ext uri="{FF2B5EF4-FFF2-40B4-BE49-F238E27FC236}">
                <a16:creationId xmlns:a16="http://schemas.microsoft.com/office/drawing/2014/main" id="{DAE788A4-F3F8-4D29-9374-B6E28971BA55}"/>
              </a:ext>
            </a:extLst>
          </p:cNvPr>
          <p:cNvSpPr>
            <a:spLocks xmlns:a="http://schemas.openxmlformats.org/drawingml/2006/main" noGrp="1"/>
          </p:cNvSpPr>
          <p:nvPr/>
        </p:nvSpPr>
        <p:spPr>
          <a:xfrm xmlns:a="http://schemas.openxmlformats.org/drawingml/2006/main" rot="0">
            <a:off x="9736455" y="1902142"/>
            <a:ext cx="102666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RESET</a:t>
            </a:r>
          </a:p>
        </p:txBody>
      </p:sp>
      <p:sp>
        <p:nvSpPr>
          <p:cNvPr id="48" name="TextBox 48">
            <a:extLst xmlns:a="http://schemas.openxmlformats.org/drawingml/2006/main">
              <a:ext uri="{FF2B5EF4-FFF2-40B4-BE49-F238E27FC236}">
                <a16:creationId xmlns:a16="http://schemas.microsoft.com/office/drawing/2014/main" id="{52E06966-5F88-40AB-A0E1-05D148E0C511}"/>
              </a:ext>
            </a:extLst>
          </p:cNvPr>
          <p:cNvSpPr>
            <a:spLocks xmlns:a="http://schemas.openxmlformats.org/drawingml/2006/main" noGrp="1"/>
          </p:cNvSpPr>
          <p:nvPr/>
        </p:nvSpPr>
        <p:spPr>
          <a:xfrm xmlns:a="http://schemas.openxmlformats.org/drawingml/2006/main" rot="0">
            <a:off x="9741218" y="2190274"/>
            <a:ext cx="166297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User gesture or cooldown</a:t>
            </a:r>
          </a:p>
        </p:txBody>
      </p:sp>
      <p:sp>
        <p:nvSpPr>
          <p:cNvPr id="49" name="TextBox 49">
            <a:extLst xmlns:a="http://schemas.openxmlformats.org/drawingml/2006/main">
              <a:ext uri="{FF2B5EF4-FFF2-40B4-BE49-F238E27FC236}">
                <a16:creationId xmlns:a16="http://schemas.microsoft.com/office/drawing/2014/main" id="{E2A57CD0-A573-4A8B-B113-BD82823F36A1}"/>
              </a:ext>
            </a:extLst>
          </p:cNvPr>
          <p:cNvSpPr>
            <a:spLocks xmlns:a="http://schemas.openxmlformats.org/drawingml/2006/main" noGrp="1"/>
          </p:cNvSpPr>
          <p:nvPr/>
        </p:nvSpPr>
        <p:spPr>
          <a:xfrm xmlns:a="http://schemas.openxmlformats.org/drawingml/2006/main" rot="0">
            <a:off x="9741218" y="2371249"/>
            <a:ext cx="127942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returns to monitoring</a:t>
            </a:r>
          </a:p>
        </p:txBody>
      </p:sp>
      <p:sp>
        <p:nvSpPr>
          <p:cNvPr id="51" name="Rectangle 51">
            <a:extLst xmlns:a="http://schemas.openxmlformats.org/drawingml/2006/main">
              <a:ext uri="{FF2B5EF4-FFF2-40B4-BE49-F238E27FC236}">
                <a16:creationId xmlns:a16="http://schemas.microsoft.com/office/drawing/2014/main" id="{9C7AB0C5-B618-488F-BDC0-AC1DD790E3A2}"/>
              </a:ext>
            </a:extLst>
          </p:cNvPr>
          <p:cNvSpPr>
            <a:spLocks xmlns:a="http://schemas.openxmlformats.org/drawingml/2006/main" noGrp="1"/>
          </p:cNvSpPr>
          <p:nvPr/>
        </p:nvSpPr>
        <p:spPr>
          <a:xfrm xmlns:a="http://schemas.openxmlformats.org/drawingml/2006/main" rot="0">
            <a:off x="457200" y="3028950"/>
            <a:ext cx="3429000" cy="2095500"/>
          </a:xfrm>
          <a:prstGeom xmlns:a="http://schemas.openxmlformats.org/drawingml/2006/main" prst="roundRect">
            <a:avLst>
              <a:gd name="adj" fmla="val 5455"/>
            </a:avLst>
          </a:prstGeom>
          <a:solidFill xmlns:a="http://schemas.openxmlformats.org/drawingml/2006/main">
            <a:srgbClr val="EAF0F7"/>
          </a:solidFill>
          <a:ln xmlns:a="http://schemas.openxmlformats.org/drawingml/2006/main">
            <a:noFill/>
          </a:ln>
        </p:spPr>
      </p:sp>
      <p:sp>
        <p:nvSpPr>
          <p:cNvPr id="52" name="Freeform 52">
            <a:extLst xmlns:a="http://schemas.openxmlformats.org/drawingml/2006/main">
              <a:ext uri="{FF2B5EF4-FFF2-40B4-BE49-F238E27FC236}">
                <a16:creationId xmlns:a16="http://schemas.microsoft.com/office/drawing/2014/main" id="{E351DB96-7B6B-45FF-BA9B-D2AD4E472307}"/>
              </a:ext>
            </a:extLst>
          </p:cNvPr>
          <p:cNvSpPr>
            <a:spLocks xmlns:a="http://schemas.openxmlformats.org/drawingml/2006/main" noGrp="1"/>
          </p:cNvSpPr>
          <p:nvPr/>
        </p:nvSpPr>
        <p:spPr>
          <a:xfrm xmlns:a="http://schemas.openxmlformats.org/drawingml/2006/main" rot="0">
            <a:off x="746522" y="3378994"/>
            <a:ext cx="202406" cy="80962"/>
          </a:xfrm>
          <a:custGeom xmlns:a="http://schemas.openxmlformats.org/drawingml/2006/main">
            <a:rect l="l" t="t" r="r" b="b"/>
            <a:pathLst>
              <a:path w="202406" h="80962">
                <a:moveTo>
                  <a:pt x="202406" y="0"/>
                </a:moveTo>
                <a:lnTo>
                  <a:pt x="202406" y="80962"/>
                </a:lnTo>
                <a:lnTo>
                  <a:pt x="0" y="80962"/>
                </a:lnTo>
                <a:lnTo>
                  <a:pt x="0" y="0"/>
                </a:lnTo>
                <a:close/>
              </a:path>
            </a:pathLst>
          </a:custGeom>
          <a:solidFill xmlns:a="http://schemas.openxmlformats.org/drawingml/2006/main">
            <a:srgbClr val="2F80ED">
              <a:alpha val="20000"/>
            </a:srgbClr>
          </a:solidFill>
          <a:ln xmlns:a="http://schemas.openxmlformats.org/drawingml/2006/main">
            <a:noFill/>
          </a:ln>
        </p:spPr>
      </p:sp>
      <p:sp>
        <p:nvSpPr>
          <p:cNvPr id="53" name="Freeform 53">
            <a:extLst xmlns:a="http://schemas.openxmlformats.org/drawingml/2006/main">
              <a:ext uri="{FF2B5EF4-FFF2-40B4-BE49-F238E27FC236}">
                <a16:creationId xmlns:a16="http://schemas.microsoft.com/office/drawing/2014/main" id="{185141E1-01D3-45FB-8BE3-DBA6A117ED06}"/>
              </a:ext>
            </a:extLst>
          </p:cNvPr>
          <p:cNvSpPr>
            <a:spLocks xmlns:a="http://schemas.openxmlformats.org/drawingml/2006/main" noGrp="1"/>
          </p:cNvSpPr>
          <p:nvPr/>
        </p:nvSpPr>
        <p:spPr>
          <a:xfrm xmlns:a="http://schemas.openxmlformats.org/drawingml/2006/main" rot="0">
            <a:off x="736402" y="3287911"/>
            <a:ext cx="222647" cy="263128"/>
          </a:xfrm>
          <a:custGeom xmlns:a="http://schemas.openxmlformats.org/drawingml/2006/main">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xmlns:a="http://schemas.openxmlformats.org/drawingml/2006/main">
            <a:srgbClr val="2F80ED"/>
          </a:solidFill>
          <a:ln xmlns:a="http://schemas.openxmlformats.org/drawingml/2006/main">
            <a:noFill/>
          </a:ln>
        </p:spPr>
      </p:sp>
      <p:sp>
        <p:nvSpPr>
          <p:cNvPr id="55" name="TextBox 55">
            <a:extLst xmlns:a="http://schemas.openxmlformats.org/drawingml/2006/main">
              <a:ext uri="{FF2B5EF4-FFF2-40B4-BE49-F238E27FC236}">
                <a16:creationId xmlns:a16="http://schemas.microsoft.com/office/drawing/2014/main" id="{6D9C0035-10A5-46AA-B27F-D82EC2C38ED4}"/>
              </a:ext>
            </a:extLst>
          </p:cNvPr>
          <p:cNvSpPr>
            <a:spLocks xmlns:a="http://schemas.openxmlformats.org/drawingml/2006/main" noGrp="1"/>
          </p:cNvSpPr>
          <p:nvPr/>
        </p:nvSpPr>
        <p:spPr>
          <a:xfrm xmlns:a="http://schemas.openxmlformats.org/drawingml/2006/main" rot="0">
            <a:off x="1125855" y="3321368"/>
            <a:ext cx="145196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FOCUS SUPPORT</a:t>
            </a:r>
          </a:p>
        </p:txBody>
      </p:sp>
      <p:sp>
        <p:nvSpPr>
          <p:cNvPr id="56" name="Line 56">
            <a:extLst xmlns:a="http://schemas.openxmlformats.org/drawingml/2006/main">
              <a:ext uri="{FF2B5EF4-FFF2-40B4-BE49-F238E27FC236}">
                <a16:creationId xmlns:a16="http://schemas.microsoft.com/office/drawing/2014/main" id="{9935BA55-86DB-4862-AA74-01A967DA35E1}"/>
              </a:ext>
            </a:extLst>
          </p:cNvPr>
          <p:cNvSpPr>
            <a:spLocks xmlns:a="http://schemas.openxmlformats.org/drawingml/2006/main" noGrp="1"/>
          </p:cNvSpPr>
          <p:nvPr/>
        </p:nvSpPr>
        <p:spPr>
          <a:xfrm xmlns:a="http://schemas.openxmlformats.org/drawingml/2006/main" rot="0">
            <a:off x="685800" y="3752850"/>
            <a:ext cx="2971800" cy="9525"/>
          </a:xfrm>
          <a:custGeom xmlns:a="http://schemas.openxmlformats.org/drawingml/2006/main">
            <a:rect l="l" t="t" r="r" b="b"/>
            <a:pathLst>
              <a:path w="2971800" h="9525">
                <a:moveTo>
                  <a:pt x="0" y="0"/>
                </a:moveTo>
                <a:lnTo>
                  <a:pt x="2971800" y="0"/>
                </a:lnTo>
              </a:path>
            </a:pathLst>
          </a:custGeom>
          <a:noFill xmlns:a="http://schemas.openxmlformats.org/drawingml/2006/main"/>
          <a:ln xmlns:a="http://schemas.openxmlformats.org/drawingml/2006/main" w="9525">
            <a:solidFill>
              <a:srgbClr val="CED8E4"/>
            </a:solidFill>
          </a:ln>
        </p:spPr>
      </p:sp>
      <p:sp>
        <p:nvSpPr>
          <p:cNvPr id="57" name="Ellipse 57">
            <a:extLst xmlns:a="http://schemas.openxmlformats.org/drawingml/2006/main">
              <a:ext uri="{FF2B5EF4-FFF2-40B4-BE49-F238E27FC236}">
                <a16:creationId xmlns:a16="http://schemas.microsoft.com/office/drawing/2014/main" id="{760CB261-C0BC-4599-B992-58B68F1320FA}"/>
              </a:ext>
            </a:extLst>
          </p:cNvPr>
          <p:cNvSpPr>
            <a:spLocks xmlns:a="http://schemas.openxmlformats.org/drawingml/2006/main" noGrp="1"/>
          </p:cNvSpPr>
          <p:nvPr/>
        </p:nvSpPr>
        <p:spPr>
          <a:xfrm xmlns:a="http://schemas.openxmlformats.org/drawingml/2006/main" rot="0">
            <a:off x="723900" y="40100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58" name="TextBox 58">
            <a:extLst xmlns:a="http://schemas.openxmlformats.org/drawingml/2006/main">
              <a:ext uri="{FF2B5EF4-FFF2-40B4-BE49-F238E27FC236}">
                <a16:creationId xmlns:a16="http://schemas.microsoft.com/office/drawing/2014/main" id="{C6BEBA34-2E21-4CD5-AF41-9B8DD2BE17DA}"/>
              </a:ext>
            </a:extLst>
          </p:cNvPr>
          <p:cNvSpPr>
            <a:spLocks xmlns:a="http://schemas.openxmlformats.org/drawingml/2006/main" noGrp="1"/>
          </p:cNvSpPr>
          <p:nvPr/>
        </p:nvSpPr>
        <p:spPr>
          <a:xfrm xmlns:a="http://schemas.openxmlformats.org/drawingml/2006/main" rot="0">
            <a:off x="900112" y="3974306"/>
            <a:ext cx="18963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Start, pause and reset a focus timer</a:t>
            </a:r>
          </a:p>
        </p:txBody>
      </p:sp>
      <p:sp>
        <p:nvSpPr>
          <p:cNvPr id="59" name="Ellipse 59">
            <a:extLst xmlns:a="http://schemas.openxmlformats.org/drawingml/2006/main">
              <a:ext uri="{FF2B5EF4-FFF2-40B4-BE49-F238E27FC236}">
                <a16:creationId xmlns:a16="http://schemas.microsoft.com/office/drawing/2014/main" id="{02C9C88F-C2FA-4780-B9D6-FDE736857318}"/>
              </a:ext>
            </a:extLst>
          </p:cNvPr>
          <p:cNvSpPr>
            <a:spLocks xmlns:a="http://schemas.openxmlformats.org/drawingml/2006/main" noGrp="1"/>
          </p:cNvSpPr>
          <p:nvPr/>
        </p:nvSpPr>
        <p:spPr>
          <a:xfrm xmlns:a="http://schemas.openxmlformats.org/drawingml/2006/main" rot="0">
            <a:off x="723900" y="4400550"/>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D32E3915-AC49-431F-BDAF-00DBFE13DE5C}"/>
              </a:ext>
            </a:extLst>
          </p:cNvPr>
          <p:cNvSpPr>
            <a:spLocks xmlns:a="http://schemas.openxmlformats.org/drawingml/2006/main" noGrp="1"/>
          </p:cNvSpPr>
          <p:nvPr/>
        </p:nvSpPr>
        <p:spPr>
          <a:xfrm xmlns:a="http://schemas.openxmlformats.org/drawingml/2006/main" rot="0">
            <a:off x="900112" y="4364831"/>
            <a:ext cx="194131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Detect persistent phone distraction</a:t>
            </a:r>
          </a:p>
        </p:txBody>
      </p:sp>
      <p:sp>
        <p:nvSpPr>
          <p:cNvPr id="61" name="Ellipse 61">
            <a:extLst xmlns:a="http://schemas.openxmlformats.org/drawingml/2006/main">
              <a:ext uri="{FF2B5EF4-FFF2-40B4-BE49-F238E27FC236}">
                <a16:creationId xmlns:a16="http://schemas.microsoft.com/office/drawing/2014/main" id="{57D6BAD9-5870-40AD-8E1E-0BD3F398CAE3}"/>
              </a:ext>
            </a:extLst>
          </p:cNvPr>
          <p:cNvSpPr>
            <a:spLocks xmlns:a="http://schemas.openxmlformats.org/drawingml/2006/main" noGrp="1"/>
          </p:cNvSpPr>
          <p:nvPr/>
        </p:nvSpPr>
        <p:spPr>
          <a:xfrm xmlns:a="http://schemas.openxmlformats.org/drawingml/2006/main" rot="0">
            <a:off x="723900" y="479107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62" name="TextBox 62">
            <a:extLst xmlns:a="http://schemas.openxmlformats.org/drawingml/2006/main">
              <a:ext uri="{FF2B5EF4-FFF2-40B4-BE49-F238E27FC236}">
                <a16:creationId xmlns:a16="http://schemas.microsoft.com/office/drawing/2014/main" id="{152C9C01-AE08-440F-B084-EC68E1108DB0}"/>
              </a:ext>
            </a:extLst>
          </p:cNvPr>
          <p:cNvSpPr>
            <a:spLocks xmlns:a="http://schemas.openxmlformats.org/drawingml/2006/main" noGrp="1"/>
          </p:cNvSpPr>
          <p:nvPr/>
        </p:nvSpPr>
        <p:spPr>
          <a:xfrm xmlns:a="http://schemas.openxmlformats.org/drawingml/2006/main" rot="0">
            <a:off x="900112" y="4755356"/>
            <a:ext cx="278141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Celebrate completion with motion / display</a:t>
            </a:r>
          </a:p>
        </p:txBody>
      </p:sp>
      <p:sp>
        <p:nvSpPr>
          <p:cNvPr id="64" name="Rectangle 64">
            <a:extLst xmlns:a="http://schemas.openxmlformats.org/drawingml/2006/main">
              <a:ext uri="{FF2B5EF4-FFF2-40B4-BE49-F238E27FC236}">
                <a16:creationId xmlns:a16="http://schemas.microsoft.com/office/drawing/2014/main" id="{686AA320-322F-4C6B-8005-6E829AE17999}"/>
              </a:ext>
            </a:extLst>
          </p:cNvPr>
          <p:cNvSpPr>
            <a:spLocks xmlns:a="http://schemas.openxmlformats.org/drawingml/2006/main" noGrp="1"/>
          </p:cNvSpPr>
          <p:nvPr/>
        </p:nvSpPr>
        <p:spPr>
          <a:xfrm xmlns:a="http://schemas.openxmlformats.org/drawingml/2006/main" rot="0">
            <a:off x="4152900" y="3028950"/>
            <a:ext cx="3429000" cy="2095500"/>
          </a:xfrm>
          <a:prstGeom xmlns:a="http://schemas.openxmlformats.org/drawingml/2006/main" prst="roundRect">
            <a:avLst>
              <a:gd name="adj" fmla="val 5455"/>
            </a:avLst>
          </a:prstGeom>
          <a:solidFill xmlns:a="http://schemas.openxmlformats.org/drawingml/2006/main">
            <a:srgbClr val="F7F9FC"/>
          </a:solidFill>
          <a:ln xmlns:a="http://schemas.openxmlformats.org/drawingml/2006/main" w="14288">
            <a:solidFill>
              <a:srgbClr val="CED8E4"/>
            </a:solidFill>
          </a:ln>
        </p:spPr>
      </p:sp>
      <p:sp>
        <p:nvSpPr>
          <p:cNvPr id="65" name="Freeform 65">
            <a:extLst xmlns:a="http://schemas.openxmlformats.org/drawingml/2006/main">
              <a:ext uri="{FF2B5EF4-FFF2-40B4-BE49-F238E27FC236}">
                <a16:creationId xmlns:a16="http://schemas.microsoft.com/office/drawing/2014/main" id="{1563083F-91E5-4FFA-B420-7D8DED95E87E}"/>
              </a:ext>
            </a:extLst>
          </p:cNvPr>
          <p:cNvSpPr>
            <a:spLocks xmlns:a="http://schemas.openxmlformats.org/drawingml/2006/main" noGrp="1"/>
          </p:cNvSpPr>
          <p:nvPr/>
        </p:nvSpPr>
        <p:spPr>
          <a:xfrm xmlns:a="http://schemas.openxmlformats.org/drawingml/2006/main" rot="0">
            <a:off x="4432078" y="3297577"/>
            <a:ext cx="233245" cy="233245"/>
          </a:xfrm>
          <a:custGeom xmlns:a="http://schemas.openxmlformats.org/drawingml/2006/main">
            <a:rect l="l" t="t" r="r" b="b"/>
            <a:pathLst>
              <a:path w="233245" h="233245">
                <a:moveTo>
                  <a:pt x="232715" y="180191"/>
                </a:moveTo>
                <a:cubicBezTo>
                  <a:pt x="228650" y="210570"/>
                  <a:pt x="202719" y="233245"/>
                  <a:pt x="172069" y="233221"/>
                </a:cubicBezTo>
                <a:cubicBezTo>
                  <a:pt x="77051" y="233221"/>
                  <a:pt x="23" y="156194"/>
                  <a:pt x="23" y="61176"/>
                </a:cubicBezTo>
                <a:cubicBezTo>
                  <a:pt x="0" y="30526"/>
                  <a:pt x="22675" y="4595"/>
                  <a:pt x="53054" y="530"/>
                </a:cubicBezTo>
                <a:cubicBezTo>
                  <a:pt x="57513" y="0"/>
                  <a:pt x="61789" y="2472"/>
                  <a:pt x="63554" y="6602"/>
                </a:cubicBezTo>
                <a:lnTo>
                  <a:pt x="90284" y="66312"/>
                </a:lnTo>
                <a:cubicBezTo>
                  <a:pt x="91618" y="69427"/>
                  <a:pt x="91304" y="73002"/>
                  <a:pt x="89449" y="75838"/>
                </a:cubicBezTo>
                <a:lnTo>
                  <a:pt x="62415" y="107982"/>
                </a:lnTo>
                <a:cubicBezTo>
                  <a:pt x="60464" y="110926"/>
                  <a:pt x="60205" y="114678"/>
                  <a:pt x="61732" y="117862"/>
                </a:cubicBezTo>
                <a:cubicBezTo>
                  <a:pt x="72194" y="139279"/>
                  <a:pt x="94332" y="161152"/>
                  <a:pt x="115812" y="171512"/>
                </a:cubicBezTo>
                <a:cubicBezTo>
                  <a:pt x="119014" y="173033"/>
                  <a:pt x="122780" y="172749"/>
                  <a:pt x="125718" y="170766"/>
                </a:cubicBezTo>
                <a:lnTo>
                  <a:pt x="157344" y="143821"/>
                </a:lnTo>
                <a:cubicBezTo>
                  <a:pt x="160191" y="141926"/>
                  <a:pt x="163803" y="141598"/>
                  <a:pt x="166945" y="142948"/>
                </a:cubicBezTo>
                <a:lnTo>
                  <a:pt x="226605" y="169678"/>
                </a:lnTo>
                <a:cubicBezTo>
                  <a:pt x="230754" y="171432"/>
                  <a:pt x="233245" y="175717"/>
                  <a:pt x="232715" y="180191"/>
                </a:cubicBezTo>
                <a:close/>
              </a:path>
            </a:pathLst>
          </a:custGeom>
          <a:solidFill xmlns:a="http://schemas.openxmlformats.org/drawingml/2006/main">
            <a:srgbClr val="2AB7A9">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8E5A8885-FA55-4600-BDB9-C07499903CCE}"/>
              </a:ext>
            </a:extLst>
          </p:cNvPr>
          <p:cNvSpPr>
            <a:spLocks xmlns:a="http://schemas.openxmlformats.org/drawingml/2006/main" noGrp="1"/>
          </p:cNvSpPr>
          <p:nvPr/>
        </p:nvSpPr>
        <p:spPr>
          <a:xfrm xmlns:a="http://schemas.openxmlformats.org/drawingml/2006/main" rot="0">
            <a:off x="4421917" y="3286976"/>
            <a:ext cx="254009" cy="254007"/>
          </a:xfrm>
          <a:custGeom xmlns:a="http://schemas.openxmlformats.org/drawingml/2006/main">
            <a:rect l="l" t="t" r="r" b="b"/>
            <a:pathLst>
              <a:path w="254009" h="254007">
                <a:moveTo>
                  <a:pt x="240890" y="171032"/>
                </a:moveTo>
                <a:lnTo>
                  <a:pt x="181294" y="144327"/>
                </a:lnTo>
                <a:lnTo>
                  <a:pt x="181129" y="144251"/>
                </a:lnTo>
                <a:cubicBezTo>
                  <a:pt x="174844" y="141563"/>
                  <a:pt x="167626" y="142229"/>
                  <a:pt x="161939" y="146023"/>
                </a:cubicBezTo>
                <a:cubicBezTo>
                  <a:pt x="161609" y="146240"/>
                  <a:pt x="161292" y="146477"/>
                  <a:pt x="160990" y="146731"/>
                </a:cubicBezTo>
                <a:lnTo>
                  <a:pt x="130199" y="172981"/>
                </a:lnTo>
                <a:cubicBezTo>
                  <a:pt x="110692" y="163505"/>
                  <a:pt x="90552" y="143518"/>
                  <a:pt x="81077" y="124264"/>
                </a:cubicBezTo>
                <a:lnTo>
                  <a:pt x="107365" y="93005"/>
                </a:lnTo>
                <a:cubicBezTo>
                  <a:pt x="107618" y="92689"/>
                  <a:pt x="107858" y="92372"/>
                  <a:pt x="108086" y="92031"/>
                </a:cubicBezTo>
                <a:cubicBezTo>
                  <a:pt x="111797" y="86360"/>
                  <a:pt x="112423" y="79209"/>
                  <a:pt x="109756" y="72979"/>
                </a:cubicBezTo>
                <a:lnTo>
                  <a:pt x="109756" y="72827"/>
                </a:lnTo>
                <a:lnTo>
                  <a:pt x="82975" y="13130"/>
                </a:lnTo>
                <a:cubicBezTo>
                  <a:pt x="79409" y="4901"/>
                  <a:pt x="70852" y="0"/>
                  <a:pt x="61950" y="1087"/>
                </a:cubicBezTo>
                <a:cubicBezTo>
                  <a:pt x="26489" y="5753"/>
                  <a:pt x="0" y="36011"/>
                  <a:pt x="64" y="71777"/>
                </a:cubicBezTo>
                <a:cubicBezTo>
                  <a:pt x="64" y="172222"/>
                  <a:pt x="81786" y="253943"/>
                  <a:pt x="182230" y="253943"/>
                </a:cubicBezTo>
                <a:cubicBezTo>
                  <a:pt x="217996" y="254007"/>
                  <a:pt x="248254" y="227518"/>
                  <a:pt x="252920" y="192057"/>
                </a:cubicBezTo>
                <a:cubicBezTo>
                  <a:pt x="254009" y="183158"/>
                  <a:pt x="249114" y="174603"/>
                  <a:pt x="240890" y="171032"/>
                </a:cubicBezTo>
                <a:close/>
                <a:moveTo>
                  <a:pt x="182230" y="233702"/>
                </a:moveTo>
                <a:cubicBezTo>
                  <a:pt x="92841" y="233605"/>
                  <a:pt x="20402" y="161166"/>
                  <a:pt x="20305" y="71777"/>
                </a:cubicBezTo>
                <a:cubicBezTo>
                  <a:pt x="20206" y="46223"/>
                  <a:pt x="39087" y="24564"/>
                  <a:pt x="64417" y="21176"/>
                </a:cubicBezTo>
                <a:cubicBezTo>
                  <a:pt x="64412" y="21226"/>
                  <a:pt x="64412" y="21277"/>
                  <a:pt x="64417" y="21328"/>
                </a:cubicBezTo>
                <a:lnTo>
                  <a:pt x="90982" y="80784"/>
                </a:lnTo>
                <a:lnTo>
                  <a:pt x="64834" y="112082"/>
                </a:lnTo>
                <a:cubicBezTo>
                  <a:pt x="64569" y="112387"/>
                  <a:pt x="64328" y="112713"/>
                  <a:pt x="64113" y="113056"/>
                </a:cubicBezTo>
                <a:cubicBezTo>
                  <a:pt x="60241" y="118997"/>
                  <a:pt x="59761" y="126532"/>
                  <a:pt x="62848" y="132917"/>
                </a:cubicBezTo>
                <a:cubicBezTo>
                  <a:pt x="74309" y="156358"/>
                  <a:pt x="97928" y="179799"/>
                  <a:pt x="121622" y="191248"/>
                </a:cubicBezTo>
                <a:cubicBezTo>
                  <a:pt x="128054" y="194306"/>
                  <a:pt x="135621" y="193758"/>
                  <a:pt x="141546" y="189806"/>
                </a:cubicBezTo>
                <a:cubicBezTo>
                  <a:pt x="141871" y="189587"/>
                  <a:pt x="142183" y="189350"/>
                  <a:pt x="142482" y="189097"/>
                </a:cubicBezTo>
                <a:lnTo>
                  <a:pt x="173235" y="162860"/>
                </a:lnTo>
                <a:lnTo>
                  <a:pt x="232692" y="189489"/>
                </a:lnTo>
                <a:lnTo>
                  <a:pt x="232692" y="189489"/>
                </a:lnTo>
                <a:cubicBezTo>
                  <a:pt x="232692" y="189489"/>
                  <a:pt x="232793" y="189489"/>
                  <a:pt x="232831" y="189489"/>
                </a:cubicBezTo>
                <a:cubicBezTo>
                  <a:pt x="229484" y="214856"/>
                  <a:pt x="207816" y="233789"/>
                  <a:pt x="182230" y="233702"/>
                </a:cubicBezTo>
                <a:close/>
              </a:path>
            </a:pathLst>
          </a:custGeom>
          <a:solidFill xmlns:a="http://schemas.openxmlformats.org/drawingml/2006/main">
            <a:srgbClr val="2AB7A9"/>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58CD3073-2984-4AB4-B7ED-7692D12684D8}"/>
              </a:ext>
            </a:extLst>
          </p:cNvPr>
          <p:cNvSpPr>
            <a:spLocks xmlns:a="http://schemas.openxmlformats.org/drawingml/2006/main" noGrp="1"/>
          </p:cNvSpPr>
          <p:nvPr/>
        </p:nvSpPr>
        <p:spPr>
          <a:xfrm xmlns:a="http://schemas.openxmlformats.org/drawingml/2006/main" rot="0">
            <a:off x="4821555" y="3321368"/>
            <a:ext cx="159373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WELL-BEING CUES</a:t>
            </a:r>
          </a:p>
        </p:txBody>
      </p:sp>
      <p:sp>
        <p:nvSpPr>
          <p:cNvPr id="69" name="Line 69">
            <a:extLst xmlns:a="http://schemas.openxmlformats.org/drawingml/2006/main">
              <a:ext uri="{FF2B5EF4-FFF2-40B4-BE49-F238E27FC236}">
                <a16:creationId xmlns:a16="http://schemas.microsoft.com/office/drawing/2014/main" id="{51C82719-C43F-4784-845E-268DB3BE4087}"/>
              </a:ext>
            </a:extLst>
          </p:cNvPr>
          <p:cNvSpPr>
            <a:spLocks xmlns:a="http://schemas.openxmlformats.org/drawingml/2006/main" noGrp="1"/>
          </p:cNvSpPr>
          <p:nvPr/>
        </p:nvSpPr>
        <p:spPr>
          <a:xfrm xmlns:a="http://schemas.openxmlformats.org/drawingml/2006/main" rot="0">
            <a:off x="4381500" y="3752850"/>
            <a:ext cx="2971800" cy="9525"/>
          </a:xfrm>
          <a:custGeom xmlns:a="http://schemas.openxmlformats.org/drawingml/2006/main">
            <a:rect l="l" t="t" r="r" b="b"/>
            <a:pathLst>
              <a:path w="2971800" h="9525">
                <a:moveTo>
                  <a:pt x="0" y="0"/>
                </a:moveTo>
                <a:lnTo>
                  <a:pt x="2971800" y="0"/>
                </a:lnTo>
              </a:path>
            </a:pathLst>
          </a:custGeom>
          <a:noFill xmlns:a="http://schemas.openxmlformats.org/drawingml/2006/main"/>
          <a:ln xmlns:a="http://schemas.openxmlformats.org/drawingml/2006/main" w="9525">
            <a:solidFill>
              <a:srgbClr val="CED8E4"/>
            </a:solidFill>
          </a:ln>
        </p:spPr>
      </p:sp>
      <p:sp>
        <p:nvSpPr>
          <p:cNvPr id="70" name="Ellipse 70">
            <a:extLst xmlns:a="http://schemas.openxmlformats.org/drawingml/2006/main">
              <a:ext uri="{FF2B5EF4-FFF2-40B4-BE49-F238E27FC236}">
                <a16:creationId xmlns:a16="http://schemas.microsoft.com/office/drawing/2014/main" id="{FE2F3A67-86DC-4F22-85DD-A54EEF4C7D93}"/>
              </a:ext>
            </a:extLst>
          </p:cNvPr>
          <p:cNvSpPr>
            <a:spLocks xmlns:a="http://schemas.openxmlformats.org/drawingml/2006/main" noGrp="1"/>
          </p:cNvSpPr>
          <p:nvPr/>
        </p:nvSpPr>
        <p:spPr>
          <a:xfrm xmlns:a="http://schemas.openxmlformats.org/drawingml/2006/main" rot="0">
            <a:off x="4419600" y="4010025"/>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1" name="TextBox 71">
            <a:extLst xmlns:a="http://schemas.openxmlformats.org/drawingml/2006/main">
              <a:ext uri="{FF2B5EF4-FFF2-40B4-BE49-F238E27FC236}">
                <a16:creationId xmlns:a16="http://schemas.microsoft.com/office/drawing/2014/main" id="{75F0AE24-0366-4AA2-AD85-F0817C5B4634}"/>
              </a:ext>
            </a:extLst>
          </p:cNvPr>
          <p:cNvSpPr>
            <a:spLocks xmlns:a="http://schemas.openxmlformats.org/drawingml/2006/main" noGrp="1"/>
          </p:cNvSpPr>
          <p:nvPr/>
        </p:nvSpPr>
        <p:spPr>
          <a:xfrm xmlns:a="http://schemas.openxmlformats.org/drawingml/2006/main" rot="0">
            <a:off x="4595812" y="3974306"/>
            <a:ext cx="206132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Track sitting and static duration</a:t>
            </a:r>
          </a:p>
        </p:txBody>
      </p:sp>
      <p:sp>
        <p:nvSpPr>
          <p:cNvPr id="72" name="Ellipse 72">
            <a:extLst xmlns:a="http://schemas.openxmlformats.org/drawingml/2006/main">
              <a:ext uri="{FF2B5EF4-FFF2-40B4-BE49-F238E27FC236}">
                <a16:creationId xmlns:a16="http://schemas.microsoft.com/office/drawing/2014/main" id="{059946EE-6296-491D-8089-B2B70E6D574D}"/>
              </a:ext>
            </a:extLst>
          </p:cNvPr>
          <p:cNvSpPr>
            <a:spLocks xmlns:a="http://schemas.openxmlformats.org/drawingml/2006/main" noGrp="1"/>
          </p:cNvSpPr>
          <p:nvPr/>
        </p:nvSpPr>
        <p:spPr>
          <a:xfrm xmlns:a="http://schemas.openxmlformats.org/drawingml/2006/main" rot="0">
            <a:off x="4419600" y="4400550"/>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3" name="TextBox 73">
            <a:extLst xmlns:a="http://schemas.openxmlformats.org/drawingml/2006/main">
              <a:ext uri="{FF2B5EF4-FFF2-40B4-BE49-F238E27FC236}">
                <a16:creationId xmlns:a16="http://schemas.microsoft.com/office/drawing/2014/main" id="{4F153D0D-7DDD-47B3-AF2C-541A7AFA369B}"/>
              </a:ext>
            </a:extLst>
          </p:cNvPr>
          <p:cNvSpPr>
            <a:spLocks xmlns:a="http://schemas.openxmlformats.org/drawingml/2006/main" noGrp="1"/>
          </p:cNvSpPr>
          <p:nvPr/>
        </p:nvSpPr>
        <p:spPr>
          <a:xfrm xmlns:a="http://schemas.openxmlformats.org/drawingml/2006/main" rot="0">
            <a:off x="4595812" y="4364831"/>
            <a:ext cx="23088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Estimate screen distance and head direction</a:t>
            </a:r>
          </a:p>
        </p:txBody>
      </p:sp>
      <p:sp>
        <p:nvSpPr>
          <p:cNvPr id="74" name="Ellipse 74">
            <a:extLst xmlns:a="http://schemas.openxmlformats.org/drawingml/2006/main">
              <a:ext uri="{FF2B5EF4-FFF2-40B4-BE49-F238E27FC236}">
                <a16:creationId xmlns:a16="http://schemas.microsoft.com/office/drawing/2014/main" id="{4A645F6C-3060-4AED-A588-2BF477F8A402}"/>
              </a:ext>
            </a:extLst>
          </p:cNvPr>
          <p:cNvSpPr>
            <a:spLocks xmlns:a="http://schemas.openxmlformats.org/drawingml/2006/main" noGrp="1"/>
          </p:cNvSpPr>
          <p:nvPr/>
        </p:nvSpPr>
        <p:spPr>
          <a:xfrm xmlns:a="http://schemas.openxmlformats.org/drawingml/2006/main" rot="0">
            <a:off x="4419600" y="4791075"/>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5" name="TextBox 75">
            <a:extLst xmlns:a="http://schemas.openxmlformats.org/drawingml/2006/main">
              <a:ext uri="{FF2B5EF4-FFF2-40B4-BE49-F238E27FC236}">
                <a16:creationId xmlns:a16="http://schemas.microsoft.com/office/drawing/2014/main" id="{4B944E03-433B-41CA-AF3B-B3BE1724F0F4}"/>
              </a:ext>
            </a:extLst>
          </p:cNvPr>
          <p:cNvSpPr>
            <a:spLocks xmlns:a="http://schemas.openxmlformats.org/drawingml/2006/main" noGrp="1"/>
          </p:cNvSpPr>
          <p:nvPr/>
        </p:nvSpPr>
        <p:spPr>
          <a:xfrm xmlns:a="http://schemas.openxmlformats.org/drawingml/2006/main" rot="0">
            <a:off x="4595812" y="4755356"/>
            <a:ext cx="241387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Prompt short breaks and posture changes</a:t>
            </a:r>
          </a:p>
        </p:txBody>
      </p:sp>
      <p:sp>
        <p:nvSpPr>
          <p:cNvPr id="77" name="Rectangle 77">
            <a:extLst xmlns:a="http://schemas.openxmlformats.org/drawingml/2006/main">
              <a:ext uri="{FF2B5EF4-FFF2-40B4-BE49-F238E27FC236}">
                <a16:creationId xmlns:a16="http://schemas.microsoft.com/office/drawing/2014/main" id="{471EE4D3-73BD-4D5B-B8ED-88D3031851A6}"/>
              </a:ext>
            </a:extLst>
          </p:cNvPr>
          <p:cNvSpPr>
            <a:spLocks xmlns:a="http://schemas.openxmlformats.org/drawingml/2006/main" noGrp="1"/>
          </p:cNvSpPr>
          <p:nvPr/>
        </p:nvSpPr>
        <p:spPr>
          <a:xfrm xmlns:a="http://schemas.openxmlformats.org/drawingml/2006/main" rot="0">
            <a:off x="7848600" y="3028950"/>
            <a:ext cx="3886200" cy="2095500"/>
          </a:xfrm>
          <a:prstGeom xmlns:a="http://schemas.openxmlformats.org/drawingml/2006/main" prst="roundRect">
            <a:avLst>
              <a:gd name="adj" fmla="val 5455"/>
            </a:avLst>
          </a:prstGeom>
          <a:solidFill xmlns:a="http://schemas.openxmlformats.org/drawingml/2006/main">
            <a:srgbClr val="EAF0F7"/>
          </a:solidFill>
          <a:ln xmlns:a="http://schemas.openxmlformats.org/drawingml/2006/main">
            <a:noFill/>
          </a:ln>
        </p:spPr>
      </p:sp>
      <p:sp>
        <p:nvSpPr>
          <p:cNvPr id="78" name="Freeform 78">
            <a:extLst xmlns:a="http://schemas.openxmlformats.org/drawingml/2006/main">
              <a:ext uri="{FF2B5EF4-FFF2-40B4-BE49-F238E27FC236}">
                <a16:creationId xmlns:a16="http://schemas.microsoft.com/office/drawing/2014/main" id="{7621157B-2D5B-4CBC-99A5-0DCA95B70FDD}"/>
              </a:ext>
            </a:extLst>
          </p:cNvPr>
          <p:cNvSpPr>
            <a:spLocks xmlns:a="http://schemas.openxmlformats.org/drawingml/2006/main" noGrp="1"/>
          </p:cNvSpPr>
          <p:nvPr/>
        </p:nvSpPr>
        <p:spPr>
          <a:xfrm xmlns:a="http://schemas.openxmlformats.org/drawingml/2006/main" rot="0">
            <a:off x="8127410" y="3308152"/>
            <a:ext cx="223455" cy="192286"/>
          </a:xfrm>
          <a:custGeom xmlns:a="http://schemas.openxmlformats.org/drawingml/2006/main">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xmlns:a="http://schemas.openxmlformats.org/drawingml/2006/main">
            <a:srgbClr val="2F80ED">
              <a:alpha val="20000"/>
            </a:srgbClr>
          </a:solidFill>
          <a:ln xmlns:a="http://schemas.openxmlformats.org/drawingml/2006/main">
            <a:noFill/>
          </a:ln>
        </p:spPr>
      </p:sp>
      <p:sp>
        <p:nvSpPr>
          <p:cNvPr id="79" name="Freeform 79">
            <a:extLst xmlns:a="http://schemas.openxmlformats.org/drawingml/2006/main">
              <a:ext uri="{FF2B5EF4-FFF2-40B4-BE49-F238E27FC236}">
                <a16:creationId xmlns:a16="http://schemas.microsoft.com/office/drawing/2014/main" id="{6D2E9FF0-3D0A-4AF9-9C64-63C9A7A0D61A}"/>
              </a:ext>
            </a:extLst>
          </p:cNvPr>
          <p:cNvSpPr>
            <a:spLocks xmlns:a="http://schemas.openxmlformats.org/drawingml/2006/main" noGrp="1"/>
          </p:cNvSpPr>
          <p:nvPr/>
        </p:nvSpPr>
        <p:spPr>
          <a:xfrm xmlns:a="http://schemas.openxmlformats.org/drawingml/2006/main" rot="0">
            <a:off x="8111768" y="3277266"/>
            <a:ext cx="255696" cy="273824"/>
          </a:xfrm>
          <a:custGeom xmlns:a="http://schemas.openxmlformats.org/drawingml/2006/main">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xmlns:a="http://schemas.openxmlformats.org/drawingml/2006/main">
            <a:srgbClr val="2F80ED"/>
          </a:solidFill>
          <a:ln xmlns:a="http://schemas.openxmlformats.org/drawingml/2006/main">
            <a:noFill/>
          </a:ln>
        </p:spPr>
      </p:sp>
      <p:sp>
        <p:nvSpPr>
          <p:cNvPr id="81" name="TextBox 81">
            <a:extLst xmlns:a="http://schemas.openxmlformats.org/drawingml/2006/main">
              <a:ext uri="{FF2B5EF4-FFF2-40B4-BE49-F238E27FC236}">
                <a16:creationId xmlns:a16="http://schemas.microsoft.com/office/drawing/2014/main" id="{B4CB30D5-81F5-4BE0-920B-3C9DF9A3D734}"/>
              </a:ext>
            </a:extLst>
          </p:cNvPr>
          <p:cNvSpPr>
            <a:spLocks xmlns:a="http://schemas.openxmlformats.org/drawingml/2006/main" noGrp="1"/>
          </p:cNvSpPr>
          <p:nvPr/>
        </p:nvSpPr>
        <p:spPr>
          <a:xfrm xmlns:a="http://schemas.openxmlformats.org/drawingml/2006/main" rot="0">
            <a:off x="8517255" y="3321368"/>
            <a:ext cx="1319651"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COMPANION FEEDBACK</a:t>
            </a:r>
          </a:p>
        </p:txBody>
      </p:sp>
      <p:sp>
        <p:nvSpPr>
          <p:cNvPr id="82" name="Line 82">
            <a:extLst xmlns:a="http://schemas.openxmlformats.org/drawingml/2006/main">
              <a:ext uri="{FF2B5EF4-FFF2-40B4-BE49-F238E27FC236}">
                <a16:creationId xmlns:a16="http://schemas.microsoft.com/office/drawing/2014/main" id="{CC107BE4-2F29-402B-B140-55DC6B03D2CD}"/>
              </a:ext>
            </a:extLst>
          </p:cNvPr>
          <p:cNvSpPr>
            <a:spLocks xmlns:a="http://schemas.openxmlformats.org/drawingml/2006/main" noGrp="1"/>
          </p:cNvSpPr>
          <p:nvPr/>
        </p:nvSpPr>
        <p:spPr>
          <a:xfrm xmlns:a="http://schemas.openxmlformats.org/drawingml/2006/main" rot="0">
            <a:off x="8077200" y="3752850"/>
            <a:ext cx="3429000" cy="9525"/>
          </a:xfrm>
          <a:custGeom xmlns:a="http://schemas.openxmlformats.org/drawingml/2006/main">
            <a:rect l="l" t="t" r="r" b="b"/>
            <a:pathLst>
              <a:path w="3429000" h="9525">
                <a:moveTo>
                  <a:pt x="0" y="0"/>
                </a:moveTo>
                <a:lnTo>
                  <a:pt x="3429000" y="0"/>
                </a:lnTo>
              </a:path>
            </a:pathLst>
          </a:custGeom>
          <a:noFill xmlns:a="http://schemas.openxmlformats.org/drawingml/2006/main"/>
          <a:ln xmlns:a="http://schemas.openxmlformats.org/drawingml/2006/main" w="9525">
            <a:solidFill>
              <a:srgbClr val="CED8E4"/>
            </a:solidFill>
          </a:ln>
        </p:spPr>
      </p:sp>
      <p:sp>
        <p:nvSpPr>
          <p:cNvPr id="83" name="Ellipse 83">
            <a:extLst xmlns:a="http://schemas.openxmlformats.org/drawingml/2006/main">
              <a:ext uri="{FF2B5EF4-FFF2-40B4-BE49-F238E27FC236}">
                <a16:creationId xmlns:a16="http://schemas.microsoft.com/office/drawing/2014/main" id="{8401F0F4-2706-4EF4-8D47-511D3BDFBDA9}"/>
              </a:ext>
            </a:extLst>
          </p:cNvPr>
          <p:cNvSpPr>
            <a:spLocks xmlns:a="http://schemas.openxmlformats.org/drawingml/2006/main" noGrp="1"/>
          </p:cNvSpPr>
          <p:nvPr/>
        </p:nvSpPr>
        <p:spPr>
          <a:xfrm xmlns:a="http://schemas.openxmlformats.org/drawingml/2006/main" rot="0">
            <a:off x="8115300" y="40100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4" name="TextBox 84">
            <a:extLst xmlns:a="http://schemas.openxmlformats.org/drawingml/2006/main">
              <a:ext uri="{FF2B5EF4-FFF2-40B4-BE49-F238E27FC236}">
                <a16:creationId xmlns:a16="http://schemas.microsoft.com/office/drawing/2014/main" id="{5879D7AE-0389-4942-A3E5-02BE0BF690B6}"/>
              </a:ext>
            </a:extLst>
          </p:cNvPr>
          <p:cNvSpPr>
            <a:spLocks xmlns:a="http://schemas.openxmlformats.org/drawingml/2006/main" noGrp="1"/>
          </p:cNvSpPr>
          <p:nvPr/>
        </p:nvSpPr>
        <p:spPr>
          <a:xfrm xmlns:a="http://schemas.openxmlformats.org/drawingml/2006/main" rot="0">
            <a:off x="8291512" y="3974306"/>
            <a:ext cx="308895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Face recognition can personalize greetings</a:t>
            </a:r>
          </a:p>
        </p:txBody>
      </p:sp>
      <p:sp>
        <p:nvSpPr>
          <p:cNvPr id="85" name="Ellipse 85">
            <a:extLst xmlns:a="http://schemas.openxmlformats.org/drawingml/2006/main">
              <a:ext uri="{FF2B5EF4-FFF2-40B4-BE49-F238E27FC236}">
                <a16:creationId xmlns:a16="http://schemas.microsoft.com/office/drawing/2014/main" id="{D823CD41-1412-4370-B7AD-69B86A6CEF95}"/>
              </a:ext>
            </a:extLst>
          </p:cNvPr>
          <p:cNvSpPr>
            <a:spLocks xmlns:a="http://schemas.openxmlformats.org/drawingml/2006/main" noGrp="1"/>
          </p:cNvSpPr>
          <p:nvPr/>
        </p:nvSpPr>
        <p:spPr>
          <a:xfrm xmlns:a="http://schemas.openxmlformats.org/drawingml/2006/main" rot="0">
            <a:off x="8115300" y="4400550"/>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6" name="TextBox 86">
            <a:extLst xmlns:a="http://schemas.openxmlformats.org/drawingml/2006/main">
              <a:ext uri="{FF2B5EF4-FFF2-40B4-BE49-F238E27FC236}">
                <a16:creationId xmlns:a16="http://schemas.microsoft.com/office/drawing/2014/main" id="{8BEAEB59-17B3-4F37-9317-293DB6F8C101}"/>
              </a:ext>
            </a:extLst>
          </p:cNvPr>
          <p:cNvSpPr>
            <a:spLocks xmlns:a="http://schemas.openxmlformats.org/drawingml/2006/main" noGrp="1"/>
          </p:cNvSpPr>
          <p:nvPr/>
        </p:nvSpPr>
        <p:spPr>
          <a:xfrm xmlns:a="http://schemas.openxmlformats.org/drawingml/2006/main" rot="0">
            <a:off x="8291512" y="4364831"/>
            <a:ext cx="241387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Screen shows emoji, status and timer</a:t>
            </a:r>
          </a:p>
        </p:txBody>
      </p:sp>
      <p:sp>
        <p:nvSpPr>
          <p:cNvPr id="87" name="Ellipse 87">
            <a:extLst xmlns:a="http://schemas.openxmlformats.org/drawingml/2006/main">
              <a:ext uri="{FF2B5EF4-FFF2-40B4-BE49-F238E27FC236}">
                <a16:creationId xmlns:a16="http://schemas.microsoft.com/office/drawing/2014/main" id="{3B2BD682-B5BB-4258-88AD-D5AD6678219D}"/>
              </a:ext>
            </a:extLst>
          </p:cNvPr>
          <p:cNvSpPr>
            <a:spLocks xmlns:a="http://schemas.openxmlformats.org/drawingml/2006/main" noGrp="1"/>
          </p:cNvSpPr>
          <p:nvPr/>
        </p:nvSpPr>
        <p:spPr>
          <a:xfrm xmlns:a="http://schemas.openxmlformats.org/drawingml/2006/main" rot="0">
            <a:off x="8115300" y="479107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8" name="TextBox 88">
            <a:extLst xmlns:a="http://schemas.openxmlformats.org/drawingml/2006/main">
              <a:ext uri="{FF2B5EF4-FFF2-40B4-BE49-F238E27FC236}">
                <a16:creationId xmlns:a16="http://schemas.microsoft.com/office/drawing/2014/main" id="{3486BFAF-9403-4BBE-BF5E-A7940B866B00}"/>
              </a:ext>
            </a:extLst>
          </p:cNvPr>
          <p:cNvSpPr>
            <a:spLocks xmlns:a="http://schemas.openxmlformats.org/drawingml/2006/main" noGrp="1"/>
          </p:cNvSpPr>
          <p:nvPr/>
        </p:nvSpPr>
        <p:spPr>
          <a:xfrm xmlns:a="http://schemas.openxmlformats.org/drawingml/2006/main" rot="0">
            <a:off x="8291512" y="4755356"/>
            <a:ext cx="342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Movement makes the response visible and playful</a:t>
            </a:r>
          </a:p>
        </p:txBody>
      </p:sp>
      <p:sp>
        <p:nvSpPr>
          <p:cNvPr id="90" name="Rectangle 90">
            <a:extLst xmlns:a="http://schemas.openxmlformats.org/drawingml/2006/main">
              <a:ext uri="{FF2B5EF4-FFF2-40B4-BE49-F238E27FC236}">
                <a16:creationId xmlns:a16="http://schemas.microsoft.com/office/drawing/2014/main" id="{7571D045-6BBA-41D8-BD72-D226F92470A8}"/>
              </a:ext>
            </a:extLst>
          </p:cNvPr>
          <p:cNvSpPr>
            <a:spLocks xmlns:a="http://schemas.openxmlformats.org/drawingml/2006/main" noGrp="1"/>
          </p:cNvSpPr>
          <p:nvPr/>
        </p:nvSpPr>
        <p:spPr>
          <a:xfrm xmlns:a="http://schemas.openxmlformats.org/drawingml/2006/main" rot="0">
            <a:off x="457200" y="5410200"/>
            <a:ext cx="11277600" cy="781050"/>
          </a:xfrm>
          <a:prstGeom xmlns:a="http://schemas.openxmlformats.org/drawingml/2006/main" prst="roundRect">
            <a:avLst>
              <a:gd name="adj" fmla="val 14634"/>
            </a:avLst>
          </a:prstGeom>
          <a:solidFill xmlns:a="http://schemas.openxmlformats.org/drawingml/2006/main">
            <a:srgbClr val="123B5D"/>
          </a:solidFill>
          <a:ln xmlns:a="http://schemas.openxmlformats.org/drawingml/2006/main">
            <a:noFill/>
          </a:ln>
        </p:spPr>
      </p:sp>
      <p:sp>
        <p:nvSpPr>
          <p:cNvPr id="91" name="Freeform 91">
            <a:extLst xmlns:a="http://schemas.openxmlformats.org/drawingml/2006/main">
              <a:ext uri="{FF2B5EF4-FFF2-40B4-BE49-F238E27FC236}">
                <a16:creationId xmlns:a16="http://schemas.microsoft.com/office/drawing/2014/main" id="{86AD5A0E-5F3B-45AC-BC19-EAA891E3BFA2}"/>
              </a:ext>
            </a:extLst>
          </p:cNvPr>
          <p:cNvSpPr>
            <a:spLocks xmlns:a="http://schemas.openxmlformats.org/drawingml/2006/main" noGrp="1"/>
          </p:cNvSpPr>
          <p:nvPr/>
        </p:nvSpPr>
        <p:spPr>
          <a:xfrm xmlns:a="http://schemas.openxmlformats.org/drawingml/2006/main" rot="0">
            <a:off x="804862" y="5693569"/>
            <a:ext cx="166688" cy="214312"/>
          </a:xfrm>
          <a:custGeom xmlns:a="http://schemas.openxmlformats.org/drawingml/2006/main">
            <a:rect l="l" t="t" r="r" b="b"/>
            <a:pathLst>
              <a:path w="166688" h="214312">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moveTo>
                  <a:pt x="130969" y="142875"/>
                </a:moveTo>
                <a:cubicBezTo>
                  <a:pt x="111242" y="142875"/>
                  <a:pt x="95250" y="158867"/>
                  <a:pt x="95250" y="178594"/>
                </a:cubicBezTo>
                <a:cubicBezTo>
                  <a:pt x="95250" y="198321"/>
                  <a:pt x="111242" y="214312"/>
                  <a:pt x="130969" y="214312"/>
                </a:cubicBezTo>
                <a:cubicBezTo>
                  <a:pt x="150696" y="214312"/>
                  <a:pt x="166688" y="198321"/>
                  <a:pt x="166688" y="178594"/>
                </a:cubicBezTo>
                <a:cubicBezTo>
                  <a:pt x="166688" y="158867"/>
                  <a:pt x="150696" y="142875"/>
                  <a:pt x="130969" y="142875"/>
                </a:cubicBezTo>
                <a:close/>
              </a:path>
            </a:pathLst>
          </a:custGeom>
          <a:solidFill xmlns:a="http://schemas.openxmlformats.org/drawingml/2006/main">
            <a:srgbClr val="F7F9FC">
              <a:alpha val="20000"/>
            </a:srgbClr>
          </a:solidFill>
          <a:ln xmlns:a="http://schemas.openxmlformats.org/drawingml/2006/main">
            <a:noFill/>
          </a:ln>
        </p:spPr>
      </p:sp>
      <p:sp>
        <p:nvSpPr>
          <p:cNvPr id="92" name="Freeform 92">
            <a:extLst xmlns:a="http://schemas.openxmlformats.org/drawingml/2006/main">
              <a:ext uri="{FF2B5EF4-FFF2-40B4-BE49-F238E27FC236}">
                <a16:creationId xmlns:a16="http://schemas.microsoft.com/office/drawing/2014/main" id="{24089C8C-B8F8-4F63-A1AB-4344620A9210}"/>
              </a:ext>
            </a:extLst>
          </p:cNvPr>
          <p:cNvSpPr>
            <a:spLocks xmlns:a="http://schemas.openxmlformats.org/drawingml/2006/main" noGrp="1"/>
          </p:cNvSpPr>
          <p:nvPr/>
        </p:nvSpPr>
        <p:spPr>
          <a:xfrm xmlns:a="http://schemas.openxmlformats.org/drawingml/2006/main" rot="0">
            <a:off x="733425" y="5681569"/>
            <a:ext cx="285750" cy="238312"/>
          </a:xfrm>
          <a:custGeom xmlns:a="http://schemas.openxmlformats.org/drawingml/2006/main">
            <a:rect l="l" t="t" r="r" b="b"/>
            <a:pathLst>
              <a:path w="285750" h="238312">
                <a:moveTo>
                  <a:pt x="11906" y="59625"/>
                </a:moveTo>
                <a:lnTo>
                  <a:pt x="61020" y="59625"/>
                </a:lnTo>
                <a:cubicBezTo>
                  <a:pt x="66415" y="80698"/>
                  <a:pt x="85403" y="95437"/>
                  <a:pt x="107156" y="95437"/>
                </a:cubicBezTo>
                <a:cubicBezTo>
                  <a:pt x="128909" y="95437"/>
                  <a:pt x="147897" y="80698"/>
                  <a:pt x="153293" y="59625"/>
                </a:cubicBezTo>
                <a:lnTo>
                  <a:pt x="273844" y="59625"/>
                </a:lnTo>
                <a:cubicBezTo>
                  <a:pt x="280419" y="59625"/>
                  <a:pt x="285750" y="54294"/>
                  <a:pt x="285750" y="47718"/>
                </a:cubicBezTo>
                <a:cubicBezTo>
                  <a:pt x="285750" y="41143"/>
                  <a:pt x="280419" y="35812"/>
                  <a:pt x="273844" y="35812"/>
                </a:cubicBezTo>
                <a:lnTo>
                  <a:pt x="153293" y="35812"/>
                </a:lnTo>
                <a:cubicBezTo>
                  <a:pt x="147897" y="14739"/>
                  <a:pt x="128909" y="0"/>
                  <a:pt x="107156" y="0"/>
                </a:cubicBezTo>
                <a:cubicBezTo>
                  <a:pt x="85403" y="0"/>
                  <a:pt x="66415" y="14739"/>
                  <a:pt x="61020" y="35812"/>
                </a:cubicBezTo>
                <a:lnTo>
                  <a:pt x="11906" y="35812"/>
                </a:lnTo>
                <a:cubicBezTo>
                  <a:pt x="5331" y="35812"/>
                  <a:pt x="0" y="41143"/>
                  <a:pt x="0" y="47718"/>
                </a:cubicBezTo>
                <a:cubicBezTo>
                  <a:pt x="0" y="54294"/>
                  <a:pt x="5331" y="59625"/>
                  <a:pt x="11906" y="59625"/>
                </a:cubicBezTo>
                <a:close/>
                <a:moveTo>
                  <a:pt x="107156" y="23906"/>
                </a:moveTo>
                <a:cubicBezTo>
                  <a:pt x="120308" y="23906"/>
                  <a:pt x="130969" y="34567"/>
                  <a:pt x="130969" y="47718"/>
                </a:cubicBezTo>
                <a:cubicBezTo>
                  <a:pt x="130969" y="60870"/>
                  <a:pt x="120308" y="71531"/>
                  <a:pt x="107156" y="71531"/>
                </a:cubicBezTo>
                <a:cubicBezTo>
                  <a:pt x="94005" y="71531"/>
                  <a:pt x="83344" y="60870"/>
                  <a:pt x="83344" y="47718"/>
                </a:cubicBezTo>
                <a:cubicBezTo>
                  <a:pt x="83344" y="34567"/>
                  <a:pt x="94005" y="23906"/>
                  <a:pt x="107156" y="23906"/>
                </a:cubicBezTo>
                <a:close/>
                <a:moveTo>
                  <a:pt x="273844" y="178687"/>
                </a:moveTo>
                <a:lnTo>
                  <a:pt x="248543" y="178687"/>
                </a:lnTo>
                <a:cubicBezTo>
                  <a:pt x="243147" y="157614"/>
                  <a:pt x="224159" y="142875"/>
                  <a:pt x="202406" y="142875"/>
                </a:cubicBezTo>
                <a:cubicBezTo>
                  <a:pt x="180653" y="142875"/>
                  <a:pt x="161665" y="157614"/>
                  <a:pt x="156270" y="178687"/>
                </a:cubicBezTo>
                <a:lnTo>
                  <a:pt x="11906" y="178687"/>
                </a:lnTo>
                <a:cubicBezTo>
                  <a:pt x="5331" y="178687"/>
                  <a:pt x="0" y="184018"/>
                  <a:pt x="0" y="190593"/>
                </a:cubicBezTo>
                <a:cubicBezTo>
                  <a:pt x="0" y="197169"/>
                  <a:pt x="5331" y="202500"/>
                  <a:pt x="11906" y="202500"/>
                </a:cubicBezTo>
                <a:lnTo>
                  <a:pt x="156270" y="202500"/>
                </a:lnTo>
                <a:cubicBezTo>
                  <a:pt x="161665" y="223573"/>
                  <a:pt x="180653" y="238312"/>
                  <a:pt x="202406" y="238312"/>
                </a:cubicBezTo>
                <a:cubicBezTo>
                  <a:pt x="224159" y="238312"/>
                  <a:pt x="243147" y="223573"/>
                  <a:pt x="248543" y="202500"/>
                </a:cubicBezTo>
                <a:lnTo>
                  <a:pt x="273844" y="202500"/>
                </a:lnTo>
                <a:cubicBezTo>
                  <a:pt x="280419" y="202500"/>
                  <a:pt x="285750" y="197169"/>
                  <a:pt x="285750" y="190593"/>
                </a:cubicBezTo>
                <a:cubicBezTo>
                  <a:pt x="285750" y="184018"/>
                  <a:pt x="280419" y="178687"/>
                  <a:pt x="273844" y="178687"/>
                </a:cubicBezTo>
                <a:close/>
                <a:moveTo>
                  <a:pt x="202406" y="214406"/>
                </a:moveTo>
                <a:cubicBezTo>
                  <a:pt x="189255" y="214406"/>
                  <a:pt x="178594" y="203745"/>
                  <a:pt x="178594" y="190593"/>
                </a:cubicBezTo>
                <a:cubicBezTo>
                  <a:pt x="178594" y="177442"/>
                  <a:pt x="189255" y="166781"/>
                  <a:pt x="202406" y="166781"/>
                </a:cubicBezTo>
                <a:cubicBezTo>
                  <a:pt x="215558" y="166781"/>
                  <a:pt x="226219" y="177442"/>
                  <a:pt x="226219" y="190593"/>
                </a:cubicBezTo>
                <a:cubicBezTo>
                  <a:pt x="226219" y="203745"/>
                  <a:pt x="215558" y="214406"/>
                  <a:pt x="202406" y="214406"/>
                </a:cubicBezTo>
                <a:close/>
              </a:path>
            </a:pathLst>
          </a:custGeom>
          <a:solidFill xmlns:a="http://schemas.openxmlformats.org/drawingml/2006/main">
            <a:srgbClr val="F7F9FC"/>
          </a:solidFill>
          <a:ln xmlns:a="http://schemas.openxmlformats.org/drawingml/2006/main">
            <a:noFill/>
          </a:ln>
        </p:spPr>
      </p:sp>
      <p:sp>
        <p:nvSpPr>
          <p:cNvPr id="94" name="TextBox 94">
            <a:extLst xmlns:a="http://schemas.openxmlformats.org/drawingml/2006/main">
              <a:ext uri="{FF2B5EF4-FFF2-40B4-BE49-F238E27FC236}">
                <a16:creationId xmlns:a16="http://schemas.microsoft.com/office/drawing/2014/main" id="{83D87E56-1208-4608-A4B7-36D0B0DCE29A}"/>
              </a:ext>
            </a:extLst>
          </p:cNvPr>
          <p:cNvSpPr>
            <a:spLocks xmlns:a="http://schemas.openxmlformats.org/drawingml/2006/main" noGrp="1"/>
          </p:cNvSpPr>
          <p:nvPr/>
        </p:nvSpPr>
        <p:spPr>
          <a:xfrm xmlns:a="http://schemas.openxmlformats.org/drawingml/2006/main" rot="0">
            <a:off x="1242060" y="5642610"/>
            <a:ext cx="4961896"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F7F9FC"/>
                </a:solidFill>
                <a:latin typeface="Arial"/>
                <a:ea typeface="Arial"/>
                <a:cs typeface="Arial"/>
              </a:rPr>
              <a:t>ONE LOOP, MULTIPLE MODALITIES</a:t>
            </a:r>
          </a:p>
        </p:txBody>
      </p:sp>
      <p:sp>
        <p:nvSpPr>
          <p:cNvPr id="95" name="TextBox 95">
            <a:extLst xmlns:a="http://schemas.openxmlformats.org/drawingml/2006/main">
              <a:ext uri="{FF2B5EF4-FFF2-40B4-BE49-F238E27FC236}">
                <a16:creationId xmlns:a16="http://schemas.microsoft.com/office/drawing/2014/main" id="{9DB9CE2E-6D17-4EC1-A821-1D831012E918}"/>
              </a:ext>
            </a:extLst>
          </p:cNvPr>
          <p:cNvSpPr>
            <a:spLocks xmlns:a="http://schemas.openxmlformats.org/drawingml/2006/main" noGrp="1"/>
          </p:cNvSpPr>
          <p:nvPr/>
        </p:nvSpPr>
        <p:spPr>
          <a:xfrm xmlns:a="http://schemas.openxmlformats.org/drawingml/2006/main" rot="0">
            <a:off x="1244918" y="5914549"/>
            <a:ext cx="57129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Video and laptop audio drive decisions; motion, display and sound close the interaction loop.</a:t>
            </a:r>
          </a:p>
        </p:txBody>
      </p:sp>
      <p:sp>
        <p:nvSpPr>
          <p:cNvPr id="97" name="TextBox 97">
            <a:extLst xmlns:a="http://schemas.openxmlformats.org/drawingml/2006/main">
              <a:ext uri="{FF2B5EF4-FFF2-40B4-BE49-F238E27FC236}">
                <a16:creationId xmlns:a16="http://schemas.microsoft.com/office/drawing/2014/main" id="{25973E35-1CA7-4E05-B0A1-E4BF98EBB2D0}"/>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03</a:t>
            </a:r>
          </a:p>
        </p:txBody>
      </p:sp>
    </p:spTree>
    <p:extLst>
      <p:ext uri="{BB962C8B-B14F-4D97-AF65-F5344CB8AC3E}">
        <p14:creationId xmlns:p14="http://schemas.microsoft.com/office/powerpoint/2010/main" val="1972069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96E5F9CB-0072-4450-A8F8-641C85B9401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14F5A1BC-7683-41D2-95C9-8812810AC85E}"/>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AFA8B766-9EC3-4B1E-A798-DEDB3D033488}"/>
              </a:ext>
            </a:extLst>
          </p:cNvPr>
          <p:cNvSpPr>
            <a:spLocks xmlns:a="http://schemas.openxmlformats.org/drawingml/2006/main" noGrp="1"/>
          </p:cNvSpPr>
          <p:nvPr/>
        </p:nvSpPr>
        <p:spPr>
          <a:xfrm xmlns:a="http://schemas.openxmlformats.org/drawingml/2006/main" rot="0">
            <a:off x="659130" y="411480"/>
            <a:ext cx="1273593"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SYSTEM ARCHITECTURE</a:t>
            </a:r>
          </a:p>
        </p:txBody>
      </p:sp>
      <p:sp>
        <p:nvSpPr>
          <p:cNvPr id="5" name="Line 5">
            <a:extLst xmlns:a="http://schemas.openxmlformats.org/drawingml/2006/main">
              <a:ext uri="{FF2B5EF4-FFF2-40B4-BE49-F238E27FC236}">
                <a16:creationId xmlns:a16="http://schemas.microsoft.com/office/drawing/2014/main" id="{D408836B-0D94-416D-B81E-2FCCC38348F8}"/>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7" name="Rectangle 7">
            <a:extLst xmlns:a="http://schemas.openxmlformats.org/drawingml/2006/main">
              <a:ext uri="{FF2B5EF4-FFF2-40B4-BE49-F238E27FC236}">
                <a16:creationId xmlns:a16="http://schemas.microsoft.com/office/drawing/2014/main" id="{46F12BB4-DB2E-469E-B3C7-48B8CAC66009}"/>
              </a:ext>
            </a:extLst>
          </p:cNvPr>
          <p:cNvSpPr>
            <a:spLocks xmlns:a="http://schemas.openxmlformats.org/drawingml/2006/main" noGrp="1"/>
          </p:cNvSpPr>
          <p:nvPr/>
        </p:nvSpPr>
        <p:spPr>
          <a:xfrm xmlns:a="http://schemas.openxmlformats.org/drawingml/2006/main" rot="0">
            <a:off x="457200" y="1143000"/>
            <a:ext cx="2000250" cy="1162050"/>
          </a:xfrm>
          <a:prstGeom xmlns:a="http://schemas.openxmlformats.org/drawingml/2006/main" prst="roundRect">
            <a:avLst>
              <a:gd name="adj" fmla="val 9836"/>
            </a:avLst>
          </a:prstGeom>
          <a:solidFill xmlns:a="http://schemas.openxmlformats.org/drawingml/2006/main">
            <a:srgbClr val="EAF0F7"/>
          </a:solidFill>
          <a:ln xmlns:a="http://schemas.openxmlformats.org/drawingml/2006/main">
            <a:noFill/>
          </a:ln>
        </p:spPr>
      </p:sp>
      <p:sp>
        <p:nvSpPr>
          <p:cNvPr id="8" name="Freeform 8">
            <a:extLst xmlns:a="http://schemas.openxmlformats.org/drawingml/2006/main">
              <a:ext uri="{FF2B5EF4-FFF2-40B4-BE49-F238E27FC236}">
                <a16:creationId xmlns:a16="http://schemas.microsoft.com/office/drawing/2014/main" id="{300CDBDA-B162-40A0-B7CF-E2FA0D16A227}"/>
              </a:ext>
            </a:extLst>
          </p:cNvPr>
          <p:cNvSpPr>
            <a:spLocks xmlns:a="http://schemas.openxmlformats.org/drawingml/2006/main" noGrp="1"/>
          </p:cNvSpPr>
          <p:nvPr/>
        </p:nvSpPr>
        <p:spPr>
          <a:xfrm xmlns:a="http://schemas.openxmlformats.org/drawingml/2006/main" rot="0">
            <a:off x="669131" y="1365052"/>
            <a:ext cx="242888" cy="212527"/>
          </a:xfrm>
          <a:custGeom xmlns:a="http://schemas.openxmlformats.org/drawingml/2006/main">
            <a:rect l="l" t="t" r="r" b="b"/>
            <a:pathLst>
              <a:path w="242888" h="212527">
                <a:moveTo>
                  <a:pt x="222647" y="30361"/>
                </a:moveTo>
                <a:lnTo>
                  <a:pt x="182166" y="30361"/>
                </a:lnTo>
                <a:lnTo>
                  <a:pt x="161925" y="0"/>
                </a:lnTo>
                <a:lnTo>
                  <a:pt x="80962" y="0"/>
                </a:lnTo>
                <a:lnTo>
                  <a:pt x="60722" y="30361"/>
                </a:lnTo>
                <a:lnTo>
                  <a:pt x="20241" y="30361"/>
                </a:lnTo>
                <a:cubicBezTo>
                  <a:pt x="9062" y="30361"/>
                  <a:pt x="0" y="39423"/>
                  <a:pt x="0" y="50602"/>
                </a:cubicBezTo>
                <a:lnTo>
                  <a:pt x="0" y="192286"/>
                </a:lnTo>
                <a:cubicBezTo>
                  <a:pt x="0" y="203465"/>
                  <a:pt x="9062" y="212527"/>
                  <a:pt x="20241" y="212527"/>
                </a:cubicBezTo>
                <a:lnTo>
                  <a:pt x="222647" y="212527"/>
                </a:lnTo>
                <a:cubicBezTo>
                  <a:pt x="233825" y="212527"/>
                  <a:pt x="242888" y="203465"/>
                  <a:pt x="242888" y="192286"/>
                </a:cubicBezTo>
                <a:lnTo>
                  <a:pt x="242888" y="50602"/>
                </a:lnTo>
                <a:cubicBezTo>
                  <a:pt x="242888" y="39423"/>
                  <a:pt x="233825" y="30361"/>
                  <a:pt x="222647" y="30361"/>
                </a:cubicBezTo>
                <a:close/>
                <a:moveTo>
                  <a:pt x="121444" y="161925"/>
                </a:moveTo>
                <a:cubicBezTo>
                  <a:pt x="96292" y="161925"/>
                  <a:pt x="75902" y="141535"/>
                  <a:pt x="75902" y="116384"/>
                </a:cubicBezTo>
                <a:cubicBezTo>
                  <a:pt x="75902" y="91232"/>
                  <a:pt x="96292" y="70842"/>
                  <a:pt x="121444" y="70842"/>
                </a:cubicBezTo>
                <a:cubicBezTo>
                  <a:pt x="146596" y="70842"/>
                  <a:pt x="166985" y="91232"/>
                  <a:pt x="166985" y="116384"/>
                </a:cubicBezTo>
                <a:cubicBezTo>
                  <a:pt x="166985" y="141535"/>
                  <a:pt x="146596" y="161925"/>
                  <a:pt x="121444" y="161925"/>
                </a:cubicBezTo>
                <a:close/>
              </a:path>
            </a:pathLst>
          </a:custGeom>
          <a:solidFill xmlns:a="http://schemas.openxmlformats.org/drawingml/2006/main">
            <a:srgbClr val="2F80ED">
              <a:alpha val="20000"/>
            </a:srgbClr>
          </a:solidFill>
          <a:ln xmlns:a="http://schemas.openxmlformats.org/drawingml/2006/main">
            <a:noFill/>
          </a:ln>
        </p:spPr>
      </p:sp>
      <p:sp>
        <p:nvSpPr>
          <p:cNvPr id="9" name="Freeform 9">
            <a:extLst xmlns:a="http://schemas.openxmlformats.org/drawingml/2006/main">
              <a:ext uri="{FF2B5EF4-FFF2-40B4-BE49-F238E27FC236}">
                <a16:creationId xmlns:a16="http://schemas.microsoft.com/office/drawing/2014/main" id="{6072652D-F9E9-4DA4-BAA5-BC6A4A2837C4}"/>
              </a:ext>
            </a:extLst>
          </p:cNvPr>
          <p:cNvSpPr>
            <a:spLocks xmlns:a="http://schemas.openxmlformats.org/drawingml/2006/main" noGrp="1"/>
          </p:cNvSpPr>
          <p:nvPr/>
        </p:nvSpPr>
        <p:spPr>
          <a:xfrm xmlns:a="http://schemas.openxmlformats.org/drawingml/2006/main" rot="0">
            <a:off x="659011" y="1354931"/>
            <a:ext cx="263128" cy="232767"/>
          </a:xfrm>
          <a:custGeom xmlns:a="http://schemas.openxmlformats.org/drawingml/2006/main">
            <a:rect l="l" t="t" r="r" b="b"/>
            <a:pathLst>
              <a:path w="263128" h="232767">
                <a:moveTo>
                  <a:pt x="232767" y="30361"/>
                </a:moveTo>
                <a:lnTo>
                  <a:pt x="197700" y="30361"/>
                </a:lnTo>
                <a:lnTo>
                  <a:pt x="180458" y="4504"/>
                </a:lnTo>
                <a:cubicBezTo>
                  <a:pt x="178582" y="1692"/>
                  <a:pt x="175426" y="2"/>
                  <a:pt x="172045" y="0"/>
                </a:cubicBezTo>
                <a:lnTo>
                  <a:pt x="91083" y="0"/>
                </a:lnTo>
                <a:cubicBezTo>
                  <a:pt x="87702" y="2"/>
                  <a:pt x="84546" y="1692"/>
                  <a:pt x="82670" y="4504"/>
                </a:cubicBezTo>
                <a:lnTo>
                  <a:pt x="65415" y="30361"/>
                </a:lnTo>
                <a:lnTo>
                  <a:pt x="30361" y="30361"/>
                </a:lnTo>
                <a:cubicBezTo>
                  <a:pt x="13593" y="30361"/>
                  <a:pt x="0" y="43954"/>
                  <a:pt x="0" y="60722"/>
                </a:cubicBezTo>
                <a:lnTo>
                  <a:pt x="0" y="202406"/>
                </a:lnTo>
                <a:cubicBezTo>
                  <a:pt x="0" y="219174"/>
                  <a:pt x="13593" y="232767"/>
                  <a:pt x="30361" y="232767"/>
                </a:cubicBezTo>
                <a:lnTo>
                  <a:pt x="232767" y="232767"/>
                </a:lnTo>
                <a:cubicBezTo>
                  <a:pt x="249535" y="232767"/>
                  <a:pt x="263128" y="219174"/>
                  <a:pt x="263128" y="202406"/>
                </a:cubicBezTo>
                <a:lnTo>
                  <a:pt x="263128" y="60722"/>
                </a:lnTo>
                <a:cubicBezTo>
                  <a:pt x="263128" y="43954"/>
                  <a:pt x="249535" y="30361"/>
                  <a:pt x="232767" y="30361"/>
                </a:cubicBezTo>
                <a:close/>
                <a:moveTo>
                  <a:pt x="242888" y="202406"/>
                </a:moveTo>
                <a:cubicBezTo>
                  <a:pt x="242888" y="207996"/>
                  <a:pt x="238356" y="212527"/>
                  <a:pt x="232767" y="212527"/>
                </a:cubicBezTo>
                <a:lnTo>
                  <a:pt x="30361" y="212527"/>
                </a:lnTo>
                <a:cubicBezTo>
                  <a:pt x="24772" y="212527"/>
                  <a:pt x="20241" y="207996"/>
                  <a:pt x="20241" y="202406"/>
                </a:cubicBezTo>
                <a:lnTo>
                  <a:pt x="20241" y="60722"/>
                </a:lnTo>
                <a:cubicBezTo>
                  <a:pt x="20241" y="55133"/>
                  <a:pt x="24772" y="50602"/>
                  <a:pt x="30361" y="50602"/>
                </a:cubicBezTo>
                <a:lnTo>
                  <a:pt x="70842" y="50602"/>
                </a:lnTo>
                <a:cubicBezTo>
                  <a:pt x="74227" y="50604"/>
                  <a:pt x="77389" y="48914"/>
                  <a:pt x="79267" y="46098"/>
                </a:cubicBezTo>
                <a:lnTo>
                  <a:pt x="96497" y="20241"/>
                </a:lnTo>
                <a:lnTo>
                  <a:pt x="166618" y="20241"/>
                </a:lnTo>
                <a:lnTo>
                  <a:pt x="183861" y="46098"/>
                </a:lnTo>
                <a:cubicBezTo>
                  <a:pt x="185739" y="48914"/>
                  <a:pt x="188901" y="50604"/>
                  <a:pt x="192286" y="50602"/>
                </a:cubicBezTo>
                <a:lnTo>
                  <a:pt x="232767" y="50602"/>
                </a:lnTo>
                <a:cubicBezTo>
                  <a:pt x="238356" y="50602"/>
                  <a:pt x="242888" y="55133"/>
                  <a:pt x="242888" y="60722"/>
                </a:cubicBezTo>
                <a:close/>
                <a:moveTo>
                  <a:pt x="131564" y="70842"/>
                </a:moveTo>
                <a:cubicBezTo>
                  <a:pt x="100823" y="70842"/>
                  <a:pt x="75902" y="95763"/>
                  <a:pt x="75902" y="126504"/>
                </a:cubicBezTo>
                <a:cubicBezTo>
                  <a:pt x="75902" y="157245"/>
                  <a:pt x="100823" y="182166"/>
                  <a:pt x="131564" y="182166"/>
                </a:cubicBezTo>
                <a:cubicBezTo>
                  <a:pt x="162305" y="182166"/>
                  <a:pt x="187226" y="157245"/>
                  <a:pt x="187226" y="126504"/>
                </a:cubicBezTo>
                <a:cubicBezTo>
                  <a:pt x="187191" y="95777"/>
                  <a:pt x="162291" y="70877"/>
                  <a:pt x="131564" y="70842"/>
                </a:cubicBezTo>
                <a:close/>
                <a:moveTo>
                  <a:pt x="131564" y="161925"/>
                </a:moveTo>
                <a:cubicBezTo>
                  <a:pt x="112002" y="161925"/>
                  <a:pt x="96143" y="146066"/>
                  <a:pt x="96143" y="126504"/>
                </a:cubicBezTo>
                <a:cubicBezTo>
                  <a:pt x="96143" y="106941"/>
                  <a:pt x="112002" y="91083"/>
                  <a:pt x="131564" y="91083"/>
                </a:cubicBezTo>
                <a:cubicBezTo>
                  <a:pt x="151127" y="91083"/>
                  <a:pt x="166985" y="106941"/>
                  <a:pt x="166985" y="126504"/>
                </a:cubicBezTo>
                <a:cubicBezTo>
                  <a:pt x="166985" y="146066"/>
                  <a:pt x="151127" y="161925"/>
                  <a:pt x="131564" y="161925"/>
                </a:cubicBezTo>
                <a:close/>
              </a:path>
            </a:pathLst>
          </a:custGeom>
          <a:solidFill xmlns:a="http://schemas.openxmlformats.org/drawingml/2006/main">
            <a:srgbClr val="2F80ED"/>
          </a:solidFill>
          <a:ln xmlns:a="http://schemas.openxmlformats.org/drawingml/2006/main">
            <a:noFill/>
          </a:ln>
        </p:spPr>
      </p:sp>
      <p:sp>
        <p:nvSpPr>
          <p:cNvPr id="11" name="Freeform 11">
            <a:extLst xmlns:a="http://schemas.openxmlformats.org/drawingml/2006/main">
              <a:ext uri="{FF2B5EF4-FFF2-40B4-BE49-F238E27FC236}">
                <a16:creationId xmlns:a16="http://schemas.microsoft.com/office/drawing/2014/main" id="{9FC52D17-8F00-4A3F-97C4-3C59762BC017}"/>
              </a:ext>
            </a:extLst>
          </p:cNvPr>
          <p:cNvSpPr>
            <a:spLocks xmlns:a="http://schemas.openxmlformats.org/drawingml/2006/main" noGrp="1"/>
          </p:cNvSpPr>
          <p:nvPr/>
        </p:nvSpPr>
        <p:spPr>
          <a:xfrm xmlns:a="http://schemas.openxmlformats.org/drawingml/2006/main" rot="0">
            <a:off x="1101923" y="1344811"/>
            <a:ext cx="101203" cy="182166"/>
          </a:xfrm>
          <a:custGeom xmlns:a="http://schemas.openxmlformats.org/drawingml/2006/main">
            <a:rect l="l" t="t" r="r" b="b"/>
            <a:pathLst>
              <a:path w="101203" h="182166">
                <a:moveTo>
                  <a:pt x="101203" y="50602"/>
                </a:moveTo>
                <a:lnTo>
                  <a:pt x="101203" y="131564"/>
                </a:lnTo>
                <a:cubicBezTo>
                  <a:pt x="101203" y="159511"/>
                  <a:pt x="78548" y="182166"/>
                  <a:pt x="50602" y="182166"/>
                </a:cubicBezTo>
                <a:lnTo>
                  <a:pt x="50602" y="182166"/>
                </a:lnTo>
                <a:cubicBezTo>
                  <a:pt x="22655" y="182166"/>
                  <a:pt x="0" y="159511"/>
                  <a:pt x="0" y="131564"/>
                </a:cubicBezTo>
                <a:lnTo>
                  <a:pt x="0" y="50602"/>
                </a:lnTo>
                <a:cubicBezTo>
                  <a:pt x="0" y="22655"/>
                  <a:pt x="22655" y="0"/>
                  <a:pt x="50602" y="0"/>
                </a:cubicBezTo>
                <a:lnTo>
                  <a:pt x="50602" y="0"/>
                </a:lnTo>
                <a:cubicBezTo>
                  <a:pt x="78548" y="0"/>
                  <a:pt x="101203" y="22655"/>
                  <a:pt x="101203" y="50602"/>
                </a:cubicBezTo>
                <a:close/>
              </a:path>
            </a:pathLst>
          </a:custGeom>
          <a:solidFill xmlns:a="http://schemas.openxmlformats.org/drawingml/2006/main">
            <a:srgbClr val="2F80ED">
              <a:alpha val="20000"/>
            </a:srgbClr>
          </a:solidFill>
          <a:ln xmlns:a="http://schemas.openxmlformats.org/drawingml/2006/main">
            <a:noFill/>
          </a:ln>
        </p:spPr>
      </p:sp>
      <p:sp>
        <p:nvSpPr>
          <p:cNvPr id="12" name="Freeform 12">
            <a:extLst xmlns:a="http://schemas.openxmlformats.org/drawingml/2006/main">
              <a:ext uri="{FF2B5EF4-FFF2-40B4-BE49-F238E27FC236}">
                <a16:creationId xmlns:a16="http://schemas.microsoft.com/office/drawing/2014/main" id="{30754BE4-9CCD-43AA-8D90-7F75377FF4F4}"/>
              </a:ext>
            </a:extLst>
          </p:cNvPr>
          <p:cNvSpPr>
            <a:spLocks xmlns:a="http://schemas.openxmlformats.org/drawingml/2006/main" noGrp="1"/>
          </p:cNvSpPr>
          <p:nvPr/>
        </p:nvSpPr>
        <p:spPr>
          <a:xfrm xmlns:a="http://schemas.openxmlformats.org/drawingml/2006/main" rot="0">
            <a:off x="1051322" y="1334691"/>
            <a:ext cx="202406" cy="283369"/>
          </a:xfrm>
          <a:custGeom xmlns:a="http://schemas.openxmlformats.org/drawingml/2006/main">
            <a:rect l="l" t="t" r="r" b="b"/>
            <a:pathLst>
              <a:path w="202406" h="283369">
                <a:moveTo>
                  <a:pt x="101203" y="202406"/>
                </a:moveTo>
                <a:cubicBezTo>
                  <a:pt x="134724" y="202371"/>
                  <a:pt x="161890" y="175206"/>
                  <a:pt x="161925" y="141684"/>
                </a:cubicBezTo>
                <a:lnTo>
                  <a:pt x="161925" y="60722"/>
                </a:lnTo>
                <a:cubicBezTo>
                  <a:pt x="161925" y="27186"/>
                  <a:pt x="134739" y="0"/>
                  <a:pt x="101203" y="0"/>
                </a:cubicBezTo>
                <a:cubicBezTo>
                  <a:pt x="67667" y="0"/>
                  <a:pt x="40481" y="27186"/>
                  <a:pt x="40481" y="60722"/>
                </a:cubicBezTo>
                <a:lnTo>
                  <a:pt x="40481" y="141684"/>
                </a:lnTo>
                <a:cubicBezTo>
                  <a:pt x="40516" y="175206"/>
                  <a:pt x="67682" y="202371"/>
                  <a:pt x="101203" y="202406"/>
                </a:cubicBezTo>
                <a:close/>
                <a:moveTo>
                  <a:pt x="60722" y="60722"/>
                </a:moveTo>
                <a:cubicBezTo>
                  <a:pt x="60722" y="38365"/>
                  <a:pt x="78846" y="20241"/>
                  <a:pt x="101203" y="20241"/>
                </a:cubicBezTo>
                <a:cubicBezTo>
                  <a:pt x="123560" y="20241"/>
                  <a:pt x="141684" y="38365"/>
                  <a:pt x="141684" y="60722"/>
                </a:cubicBezTo>
                <a:lnTo>
                  <a:pt x="141684" y="141684"/>
                </a:lnTo>
                <a:cubicBezTo>
                  <a:pt x="141684" y="164042"/>
                  <a:pt x="123560" y="182166"/>
                  <a:pt x="101203" y="182166"/>
                </a:cubicBezTo>
                <a:cubicBezTo>
                  <a:pt x="78846" y="182166"/>
                  <a:pt x="60722" y="164042"/>
                  <a:pt x="60722" y="141684"/>
                </a:cubicBezTo>
                <a:close/>
                <a:moveTo>
                  <a:pt x="111323" y="242381"/>
                </a:moveTo>
                <a:lnTo>
                  <a:pt x="111323" y="273248"/>
                </a:lnTo>
                <a:cubicBezTo>
                  <a:pt x="111323" y="278838"/>
                  <a:pt x="106792" y="283369"/>
                  <a:pt x="101203" y="283369"/>
                </a:cubicBezTo>
                <a:cubicBezTo>
                  <a:pt x="95614" y="283369"/>
                  <a:pt x="91083" y="278838"/>
                  <a:pt x="91083" y="273248"/>
                </a:cubicBezTo>
                <a:lnTo>
                  <a:pt x="91083" y="242381"/>
                </a:lnTo>
                <a:cubicBezTo>
                  <a:pt x="39400" y="237122"/>
                  <a:pt x="64" y="193634"/>
                  <a:pt x="0" y="141684"/>
                </a:cubicBezTo>
                <a:cubicBezTo>
                  <a:pt x="0" y="136095"/>
                  <a:pt x="4531" y="131564"/>
                  <a:pt x="10120" y="131564"/>
                </a:cubicBezTo>
                <a:cubicBezTo>
                  <a:pt x="15710" y="131564"/>
                  <a:pt x="20241" y="136095"/>
                  <a:pt x="20241" y="141684"/>
                </a:cubicBezTo>
                <a:cubicBezTo>
                  <a:pt x="20241" y="186399"/>
                  <a:pt x="56489" y="222647"/>
                  <a:pt x="101203" y="222647"/>
                </a:cubicBezTo>
                <a:cubicBezTo>
                  <a:pt x="145917" y="222647"/>
                  <a:pt x="182166" y="186399"/>
                  <a:pt x="182166" y="141684"/>
                </a:cubicBezTo>
                <a:cubicBezTo>
                  <a:pt x="182166" y="136095"/>
                  <a:pt x="186697" y="131564"/>
                  <a:pt x="192286" y="131564"/>
                </a:cubicBezTo>
                <a:cubicBezTo>
                  <a:pt x="197875" y="131564"/>
                  <a:pt x="202406" y="136095"/>
                  <a:pt x="202406" y="141684"/>
                </a:cubicBezTo>
                <a:cubicBezTo>
                  <a:pt x="202342" y="193634"/>
                  <a:pt x="163006" y="237122"/>
                  <a:pt x="111323" y="242381"/>
                </a:cubicBezTo>
                <a:close/>
              </a:path>
            </a:pathLst>
          </a:custGeom>
          <a:solidFill xmlns:a="http://schemas.openxmlformats.org/drawingml/2006/main">
            <a:srgbClr val="2F80ED"/>
          </a:solidFill>
          <a:ln xmlns:a="http://schemas.openxmlformats.org/drawingml/2006/main">
            <a:noFill/>
          </a:ln>
        </p:spPr>
      </p:sp>
      <p:sp>
        <p:nvSpPr>
          <p:cNvPr id="14" name="TextBox 14">
            <a:extLst xmlns:a="http://schemas.openxmlformats.org/drawingml/2006/main">
              <a:ext uri="{FF2B5EF4-FFF2-40B4-BE49-F238E27FC236}">
                <a16:creationId xmlns:a16="http://schemas.microsoft.com/office/drawing/2014/main" id="{315C2022-7E8C-4D9B-A8A2-52124D956820}"/>
              </a:ext>
            </a:extLst>
          </p:cNvPr>
          <p:cNvSpPr>
            <a:spLocks xmlns:a="http://schemas.openxmlformats.org/drawingml/2006/main" noGrp="1"/>
          </p:cNvSpPr>
          <p:nvPr/>
        </p:nvSpPr>
        <p:spPr>
          <a:xfrm xmlns:a="http://schemas.openxmlformats.org/drawingml/2006/main" rot="0">
            <a:off x="611505" y="1740218"/>
            <a:ext cx="2056843" cy="169277"/>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lIns="0" tIns="0" rIns="0" bIns="0" anchor="t">
            <a:spAutoFit/>
          </a:bodyPr>
          <a:lstStyle xmlns:a="http://schemas.openxmlformats.org/drawingml/2006/main"/>
          <a:p xmlns:a="http://schemas.openxmlformats.org/drawingml/2006/main">
            <a:pPr algn="l">
              <a:buNone/>
            </a:pPr>
            <a:r>
              <a:rPr sz="1100" b="1">
                <a:solidFill>
                  <a:srgbClr val="162432"/>
                </a:solidFill>
                <a:latin typeface="Arial"/>
                <a:ea typeface="Arial"/>
                <a:cs typeface="Arial"/>
              </a:rPr>
              <a:t>CAMERA / LAPTOP MIC</a:t>
            </a:r>
          </a:p>
        </p:txBody>
      </p:sp>
      <p:sp>
        <p:nvSpPr>
          <p:cNvPr id="15" name="TextBox 15">
            <a:extLst xmlns:a="http://schemas.openxmlformats.org/drawingml/2006/main">
              <a:ext uri="{FF2B5EF4-FFF2-40B4-BE49-F238E27FC236}">
                <a16:creationId xmlns:a16="http://schemas.microsoft.com/office/drawing/2014/main" id="{C59043F6-6BDB-4E72-BA1F-534F45E66F1D}"/>
              </a:ext>
            </a:extLst>
          </p:cNvPr>
          <p:cNvSpPr>
            <a:spLocks xmlns:a="http://schemas.openxmlformats.org/drawingml/2006/main" noGrp="1"/>
          </p:cNvSpPr>
          <p:nvPr/>
        </p:nvSpPr>
        <p:spPr>
          <a:xfrm xmlns:a="http://schemas.openxmlformats.org/drawingml/2006/main" rot="0">
            <a:off x="616268" y="2009299"/>
            <a:ext cx="175398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Video + computer audio</a:t>
            </a:r>
          </a:p>
        </p:txBody>
      </p:sp>
      <p:sp>
        <p:nvSpPr>
          <p:cNvPr id="17" name="Line 17">
            <a:extLst xmlns:a="http://schemas.openxmlformats.org/drawingml/2006/main">
              <a:ext uri="{FF2B5EF4-FFF2-40B4-BE49-F238E27FC236}">
                <a16:creationId xmlns:a16="http://schemas.microsoft.com/office/drawing/2014/main" id="{70C25FBD-5620-43A0-A22F-4FDB4B00F32E}"/>
              </a:ext>
            </a:extLst>
          </p:cNvPr>
          <p:cNvSpPr>
            <a:spLocks xmlns:a="http://schemas.openxmlformats.org/drawingml/2006/main" noGrp="1"/>
          </p:cNvSpPr>
          <p:nvPr/>
        </p:nvSpPr>
        <p:spPr>
          <a:xfrm xmlns:a="http://schemas.openxmlformats.org/drawingml/2006/main" rot="0">
            <a:off x="2457450" y="1724025"/>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18" name="Rectangle 18">
            <a:extLst xmlns:a="http://schemas.openxmlformats.org/drawingml/2006/main">
              <a:ext uri="{FF2B5EF4-FFF2-40B4-BE49-F238E27FC236}">
                <a16:creationId xmlns:a16="http://schemas.microsoft.com/office/drawing/2014/main" id="{1FCB6670-636D-40C2-AF38-D2F3E028987F}"/>
              </a:ext>
            </a:extLst>
          </p:cNvPr>
          <p:cNvSpPr>
            <a:spLocks xmlns:a="http://schemas.openxmlformats.org/drawingml/2006/main" noGrp="1"/>
          </p:cNvSpPr>
          <p:nvPr/>
        </p:nvSpPr>
        <p:spPr>
          <a:xfrm xmlns:a="http://schemas.openxmlformats.org/drawingml/2006/main" rot="0">
            <a:off x="2724150" y="1143000"/>
            <a:ext cx="2000250" cy="1162050"/>
          </a:xfrm>
          <a:prstGeom xmlns:a="http://schemas.openxmlformats.org/drawingml/2006/main" prst="roundRect">
            <a:avLst>
              <a:gd name="adj" fmla="val 9836"/>
            </a:avLst>
          </a:prstGeom>
          <a:solidFill xmlns:a="http://schemas.openxmlformats.org/drawingml/2006/main">
            <a:srgbClr val="123B5D"/>
          </a:solidFill>
          <a:ln xmlns:a="http://schemas.openxmlformats.org/drawingml/2006/main">
            <a:noFill/>
          </a:ln>
        </p:spPr>
      </p:sp>
      <p:sp>
        <p:nvSpPr>
          <p:cNvPr id="19" name="Freeform 19">
            <a:extLst xmlns:a="http://schemas.openxmlformats.org/drawingml/2006/main">
              <a:ext uri="{FF2B5EF4-FFF2-40B4-BE49-F238E27FC236}">
                <a16:creationId xmlns:a16="http://schemas.microsoft.com/office/drawing/2014/main" id="{DF21D508-8AED-4281-9940-FD1B4125F58C}"/>
              </a:ext>
            </a:extLst>
          </p:cNvPr>
          <p:cNvSpPr>
            <a:spLocks xmlns:a="http://schemas.openxmlformats.org/drawingml/2006/main" noGrp="1"/>
          </p:cNvSpPr>
          <p:nvPr/>
        </p:nvSpPr>
        <p:spPr>
          <a:xfrm xmlns:a="http://schemas.openxmlformats.org/drawingml/2006/main" rot="0">
            <a:off x="2946202" y="1365052"/>
            <a:ext cx="222647" cy="222647"/>
          </a:xfrm>
          <a:custGeom xmlns:a="http://schemas.openxmlformats.org/drawingml/2006/main">
            <a:rect l="l" t="t" r="r" b="b"/>
            <a:pathLst>
              <a:path w="222647" h="222647">
                <a:moveTo>
                  <a:pt x="222647" y="10120"/>
                </a:moveTo>
                <a:lnTo>
                  <a:pt x="222647" y="50602"/>
                </a:lnTo>
                <a:cubicBezTo>
                  <a:pt x="222647" y="56191"/>
                  <a:pt x="218116" y="60722"/>
                  <a:pt x="212527" y="60722"/>
                </a:cubicBezTo>
                <a:lnTo>
                  <a:pt x="172045" y="60722"/>
                </a:lnTo>
                <a:cubicBezTo>
                  <a:pt x="166456" y="60722"/>
                  <a:pt x="161925" y="56191"/>
                  <a:pt x="161925" y="50602"/>
                </a:cubicBezTo>
                <a:lnTo>
                  <a:pt x="161925" y="10120"/>
                </a:lnTo>
                <a:cubicBezTo>
                  <a:pt x="161925" y="4531"/>
                  <a:pt x="166456" y="0"/>
                  <a:pt x="172045" y="0"/>
                </a:cubicBezTo>
                <a:lnTo>
                  <a:pt x="212527" y="0"/>
                </a:lnTo>
                <a:cubicBezTo>
                  <a:pt x="218116" y="0"/>
                  <a:pt x="222647" y="4531"/>
                  <a:pt x="222647" y="10120"/>
                </a:cubicBezTo>
                <a:close/>
                <a:moveTo>
                  <a:pt x="50602" y="0"/>
                </a:moveTo>
                <a:lnTo>
                  <a:pt x="10120" y="0"/>
                </a:lnTo>
                <a:cubicBezTo>
                  <a:pt x="4531" y="0"/>
                  <a:pt x="0" y="4531"/>
                  <a:pt x="0" y="10120"/>
                </a:cubicBezTo>
                <a:lnTo>
                  <a:pt x="0" y="50602"/>
                </a:lnTo>
                <a:cubicBezTo>
                  <a:pt x="0" y="56191"/>
                  <a:pt x="4531" y="60722"/>
                  <a:pt x="10120" y="60722"/>
                </a:cubicBezTo>
                <a:lnTo>
                  <a:pt x="50602" y="60722"/>
                </a:lnTo>
                <a:cubicBezTo>
                  <a:pt x="56191" y="60722"/>
                  <a:pt x="60722" y="56191"/>
                  <a:pt x="60722" y="50602"/>
                </a:cubicBezTo>
                <a:lnTo>
                  <a:pt x="60722" y="10120"/>
                </a:lnTo>
                <a:cubicBezTo>
                  <a:pt x="60722" y="4531"/>
                  <a:pt x="56191" y="0"/>
                  <a:pt x="50602" y="0"/>
                </a:cubicBezTo>
                <a:close/>
                <a:moveTo>
                  <a:pt x="212527" y="161925"/>
                </a:moveTo>
                <a:lnTo>
                  <a:pt x="172045" y="161925"/>
                </a:lnTo>
                <a:cubicBezTo>
                  <a:pt x="166456" y="161925"/>
                  <a:pt x="161925" y="166456"/>
                  <a:pt x="161925" y="172045"/>
                </a:cubicBezTo>
                <a:lnTo>
                  <a:pt x="161925" y="212527"/>
                </a:lnTo>
                <a:cubicBezTo>
                  <a:pt x="161925" y="218116"/>
                  <a:pt x="166456" y="222647"/>
                  <a:pt x="172045" y="222647"/>
                </a:cubicBezTo>
                <a:lnTo>
                  <a:pt x="212527" y="222647"/>
                </a:lnTo>
                <a:cubicBezTo>
                  <a:pt x="218116" y="222647"/>
                  <a:pt x="222647" y="218116"/>
                  <a:pt x="222647" y="212527"/>
                </a:cubicBezTo>
                <a:lnTo>
                  <a:pt x="222647" y="172045"/>
                </a:lnTo>
                <a:cubicBezTo>
                  <a:pt x="222647" y="166456"/>
                  <a:pt x="218116" y="161925"/>
                  <a:pt x="212527" y="161925"/>
                </a:cubicBezTo>
                <a:close/>
                <a:moveTo>
                  <a:pt x="50602" y="161925"/>
                </a:moveTo>
                <a:lnTo>
                  <a:pt x="10120" y="161925"/>
                </a:lnTo>
                <a:cubicBezTo>
                  <a:pt x="4531" y="161925"/>
                  <a:pt x="0" y="166456"/>
                  <a:pt x="0" y="172045"/>
                </a:cubicBezTo>
                <a:lnTo>
                  <a:pt x="0" y="212527"/>
                </a:lnTo>
                <a:cubicBezTo>
                  <a:pt x="0" y="218116"/>
                  <a:pt x="4531" y="222647"/>
                  <a:pt x="10120" y="222647"/>
                </a:cubicBezTo>
                <a:lnTo>
                  <a:pt x="50602" y="222647"/>
                </a:lnTo>
                <a:cubicBezTo>
                  <a:pt x="56191" y="222647"/>
                  <a:pt x="60722" y="218116"/>
                  <a:pt x="60722" y="212527"/>
                </a:cubicBezTo>
                <a:lnTo>
                  <a:pt x="60722" y="172045"/>
                </a:lnTo>
                <a:cubicBezTo>
                  <a:pt x="60722" y="166456"/>
                  <a:pt x="56191" y="161925"/>
                  <a:pt x="50602" y="161925"/>
                </a:cubicBezTo>
                <a:close/>
              </a:path>
            </a:pathLst>
          </a:custGeom>
          <a:solidFill xmlns:a="http://schemas.openxmlformats.org/drawingml/2006/main">
            <a:srgbClr val="F7F9FC">
              <a:alpha val="20000"/>
            </a:srgbClr>
          </a:solidFill>
          <a:ln xmlns:a="http://schemas.openxmlformats.org/drawingml/2006/main">
            <a:noFill/>
          </a:ln>
        </p:spPr>
      </p:sp>
      <p:sp>
        <p:nvSpPr>
          <p:cNvPr id="20" name="Freeform 20">
            <a:extLst xmlns:a="http://schemas.openxmlformats.org/drawingml/2006/main">
              <a:ext uri="{FF2B5EF4-FFF2-40B4-BE49-F238E27FC236}">
                <a16:creationId xmlns:a16="http://schemas.microsoft.com/office/drawing/2014/main" id="{26EDDF42-1D4E-408E-BDA3-46736F3B1064}"/>
              </a:ext>
            </a:extLst>
          </p:cNvPr>
          <p:cNvSpPr>
            <a:spLocks xmlns:a="http://schemas.openxmlformats.org/drawingml/2006/main" noGrp="1"/>
          </p:cNvSpPr>
          <p:nvPr/>
        </p:nvSpPr>
        <p:spPr>
          <a:xfrm xmlns:a="http://schemas.openxmlformats.org/drawingml/2006/main" rot="0">
            <a:off x="2936081" y="1354931"/>
            <a:ext cx="242888" cy="242888"/>
          </a:xfrm>
          <a:custGeom xmlns:a="http://schemas.openxmlformats.org/drawingml/2006/main">
            <a:rect l="l" t="t" r="r" b="b"/>
            <a:pathLst>
              <a:path w="242888" h="242888">
                <a:moveTo>
                  <a:pt x="222647" y="80962"/>
                </a:moveTo>
                <a:cubicBezTo>
                  <a:pt x="233825" y="80962"/>
                  <a:pt x="242888" y="71900"/>
                  <a:pt x="242888" y="60722"/>
                </a:cubicBezTo>
                <a:lnTo>
                  <a:pt x="242888" y="20241"/>
                </a:lnTo>
                <a:cubicBezTo>
                  <a:pt x="242888" y="9062"/>
                  <a:pt x="233825" y="0"/>
                  <a:pt x="222647" y="0"/>
                </a:cubicBezTo>
                <a:lnTo>
                  <a:pt x="182166" y="0"/>
                </a:lnTo>
                <a:cubicBezTo>
                  <a:pt x="170987" y="0"/>
                  <a:pt x="161925" y="9062"/>
                  <a:pt x="161925" y="20241"/>
                </a:cubicBezTo>
                <a:lnTo>
                  <a:pt x="161925" y="30361"/>
                </a:lnTo>
                <a:lnTo>
                  <a:pt x="80962" y="30361"/>
                </a:lnTo>
                <a:lnTo>
                  <a:pt x="80962" y="20241"/>
                </a:lnTo>
                <a:cubicBezTo>
                  <a:pt x="80962" y="9062"/>
                  <a:pt x="71900" y="0"/>
                  <a:pt x="60722" y="0"/>
                </a:cubicBezTo>
                <a:lnTo>
                  <a:pt x="20241" y="0"/>
                </a:lnTo>
                <a:cubicBezTo>
                  <a:pt x="9062" y="0"/>
                  <a:pt x="0" y="9062"/>
                  <a:pt x="0" y="20241"/>
                </a:cubicBezTo>
                <a:lnTo>
                  <a:pt x="0" y="60722"/>
                </a:lnTo>
                <a:cubicBezTo>
                  <a:pt x="0" y="71900"/>
                  <a:pt x="9062" y="80962"/>
                  <a:pt x="20241" y="80962"/>
                </a:cubicBezTo>
                <a:lnTo>
                  <a:pt x="30361" y="80962"/>
                </a:lnTo>
                <a:lnTo>
                  <a:pt x="30361" y="161925"/>
                </a:lnTo>
                <a:lnTo>
                  <a:pt x="20241" y="161925"/>
                </a:lnTo>
                <a:cubicBezTo>
                  <a:pt x="9062" y="161925"/>
                  <a:pt x="0" y="170987"/>
                  <a:pt x="0" y="182166"/>
                </a:cubicBezTo>
                <a:lnTo>
                  <a:pt x="0" y="222647"/>
                </a:lnTo>
                <a:cubicBezTo>
                  <a:pt x="0" y="233825"/>
                  <a:pt x="9062" y="242888"/>
                  <a:pt x="20241" y="242888"/>
                </a:cubicBezTo>
                <a:lnTo>
                  <a:pt x="60722" y="242888"/>
                </a:lnTo>
                <a:cubicBezTo>
                  <a:pt x="71900" y="242888"/>
                  <a:pt x="80962" y="233825"/>
                  <a:pt x="80962" y="222647"/>
                </a:cubicBezTo>
                <a:lnTo>
                  <a:pt x="80962" y="212527"/>
                </a:lnTo>
                <a:lnTo>
                  <a:pt x="161925" y="212527"/>
                </a:lnTo>
                <a:lnTo>
                  <a:pt x="161925" y="222647"/>
                </a:lnTo>
                <a:cubicBezTo>
                  <a:pt x="161925" y="233825"/>
                  <a:pt x="170987" y="242888"/>
                  <a:pt x="182166" y="242888"/>
                </a:cubicBezTo>
                <a:lnTo>
                  <a:pt x="222647" y="242888"/>
                </a:lnTo>
                <a:cubicBezTo>
                  <a:pt x="233825" y="242888"/>
                  <a:pt x="242888" y="233825"/>
                  <a:pt x="242888" y="222647"/>
                </a:cubicBezTo>
                <a:lnTo>
                  <a:pt x="242888" y="182166"/>
                </a:lnTo>
                <a:cubicBezTo>
                  <a:pt x="242888" y="170987"/>
                  <a:pt x="233825" y="161925"/>
                  <a:pt x="222647" y="161925"/>
                </a:cubicBezTo>
                <a:lnTo>
                  <a:pt x="212527" y="161925"/>
                </a:lnTo>
                <a:lnTo>
                  <a:pt x="212527" y="80962"/>
                </a:lnTo>
                <a:close/>
                <a:moveTo>
                  <a:pt x="182166" y="20241"/>
                </a:moveTo>
                <a:lnTo>
                  <a:pt x="222647" y="20241"/>
                </a:lnTo>
                <a:lnTo>
                  <a:pt x="222647" y="60722"/>
                </a:lnTo>
                <a:lnTo>
                  <a:pt x="182166" y="60722"/>
                </a:lnTo>
                <a:close/>
                <a:moveTo>
                  <a:pt x="20241" y="20241"/>
                </a:moveTo>
                <a:lnTo>
                  <a:pt x="60722" y="20241"/>
                </a:lnTo>
                <a:lnTo>
                  <a:pt x="60722" y="40355"/>
                </a:lnTo>
                <a:cubicBezTo>
                  <a:pt x="60705" y="40438"/>
                  <a:pt x="60705" y="40524"/>
                  <a:pt x="60722" y="40608"/>
                </a:cubicBezTo>
                <a:lnTo>
                  <a:pt x="60722" y="60722"/>
                </a:lnTo>
                <a:lnTo>
                  <a:pt x="20241" y="60722"/>
                </a:lnTo>
                <a:close/>
                <a:moveTo>
                  <a:pt x="60722" y="222647"/>
                </a:moveTo>
                <a:lnTo>
                  <a:pt x="20241" y="222647"/>
                </a:lnTo>
                <a:lnTo>
                  <a:pt x="20241" y="182166"/>
                </a:lnTo>
                <a:lnTo>
                  <a:pt x="60722" y="182166"/>
                </a:lnTo>
                <a:lnTo>
                  <a:pt x="60722" y="202280"/>
                </a:lnTo>
                <a:cubicBezTo>
                  <a:pt x="60705" y="202363"/>
                  <a:pt x="60705" y="202449"/>
                  <a:pt x="60722" y="202533"/>
                </a:cubicBezTo>
                <a:lnTo>
                  <a:pt x="60722" y="222647"/>
                </a:lnTo>
                <a:close/>
                <a:moveTo>
                  <a:pt x="222647" y="222647"/>
                </a:moveTo>
                <a:lnTo>
                  <a:pt x="182166" y="222647"/>
                </a:lnTo>
                <a:lnTo>
                  <a:pt x="182166" y="182166"/>
                </a:lnTo>
                <a:lnTo>
                  <a:pt x="222647" y="182166"/>
                </a:lnTo>
                <a:close/>
                <a:moveTo>
                  <a:pt x="192286" y="161925"/>
                </a:moveTo>
                <a:lnTo>
                  <a:pt x="182166" y="161925"/>
                </a:lnTo>
                <a:cubicBezTo>
                  <a:pt x="170987" y="161925"/>
                  <a:pt x="161925" y="170987"/>
                  <a:pt x="161925" y="182166"/>
                </a:cubicBezTo>
                <a:lnTo>
                  <a:pt x="161925" y="192286"/>
                </a:lnTo>
                <a:lnTo>
                  <a:pt x="80962" y="192286"/>
                </a:lnTo>
                <a:lnTo>
                  <a:pt x="80962" y="182166"/>
                </a:lnTo>
                <a:cubicBezTo>
                  <a:pt x="80962" y="170987"/>
                  <a:pt x="71900" y="161925"/>
                  <a:pt x="60722" y="161925"/>
                </a:cubicBezTo>
                <a:lnTo>
                  <a:pt x="50602" y="161925"/>
                </a:lnTo>
                <a:lnTo>
                  <a:pt x="50602" y="80962"/>
                </a:lnTo>
                <a:lnTo>
                  <a:pt x="60722" y="80962"/>
                </a:lnTo>
                <a:cubicBezTo>
                  <a:pt x="71900" y="80962"/>
                  <a:pt x="80962" y="71900"/>
                  <a:pt x="80962" y="60722"/>
                </a:cubicBezTo>
                <a:lnTo>
                  <a:pt x="80962" y="50602"/>
                </a:lnTo>
                <a:lnTo>
                  <a:pt x="161925" y="50602"/>
                </a:lnTo>
                <a:lnTo>
                  <a:pt x="161925" y="60722"/>
                </a:lnTo>
                <a:cubicBezTo>
                  <a:pt x="161925" y="71900"/>
                  <a:pt x="170987" y="80962"/>
                  <a:pt x="182166" y="80962"/>
                </a:cubicBezTo>
                <a:lnTo>
                  <a:pt x="192286" y="80962"/>
                </a:lnTo>
                <a:close/>
              </a:path>
            </a:pathLst>
          </a:custGeom>
          <a:solidFill xmlns:a="http://schemas.openxmlformats.org/drawingml/2006/main">
            <a:srgbClr val="F7F9FC"/>
          </a:solidFill>
          <a:ln xmlns:a="http://schemas.openxmlformats.org/drawingml/2006/main">
            <a:noFill/>
          </a:ln>
        </p:spPr>
      </p:sp>
      <p:sp>
        <p:nvSpPr>
          <p:cNvPr id="22" name="Freeform 22">
            <a:extLst xmlns:a="http://schemas.openxmlformats.org/drawingml/2006/main">
              <a:ext uri="{FF2B5EF4-FFF2-40B4-BE49-F238E27FC236}">
                <a16:creationId xmlns:a16="http://schemas.microsoft.com/office/drawing/2014/main" id="{0FB1E4D8-569D-423C-A6EC-09C18F13DBC8}"/>
              </a:ext>
            </a:extLst>
          </p:cNvPr>
          <p:cNvSpPr>
            <a:spLocks xmlns:a="http://schemas.openxmlformats.org/drawingml/2006/main" noGrp="1"/>
          </p:cNvSpPr>
          <p:nvPr/>
        </p:nvSpPr>
        <p:spPr>
          <a:xfrm xmlns:a="http://schemas.openxmlformats.org/drawingml/2006/main" rot="0">
            <a:off x="3318272" y="1435894"/>
            <a:ext cx="202406" cy="80962"/>
          </a:xfrm>
          <a:custGeom xmlns:a="http://schemas.openxmlformats.org/drawingml/2006/main">
            <a:rect l="l" t="t" r="r" b="b"/>
            <a:pathLst>
              <a:path w="202406" h="80962">
                <a:moveTo>
                  <a:pt x="202406" y="0"/>
                </a:moveTo>
                <a:lnTo>
                  <a:pt x="202406" y="80962"/>
                </a:lnTo>
                <a:lnTo>
                  <a:pt x="0" y="80962"/>
                </a:lnTo>
                <a:lnTo>
                  <a:pt x="0" y="0"/>
                </a:lnTo>
                <a:close/>
              </a:path>
            </a:pathLst>
          </a:custGeom>
          <a:solidFill xmlns:a="http://schemas.openxmlformats.org/drawingml/2006/main">
            <a:srgbClr val="F7F9FC">
              <a:alpha val="20000"/>
            </a:srgbClr>
          </a:solidFill>
          <a:ln xmlns:a="http://schemas.openxmlformats.org/drawingml/2006/main">
            <a:noFill/>
          </a:ln>
        </p:spPr>
      </p:sp>
      <p:sp>
        <p:nvSpPr>
          <p:cNvPr id="23" name="Freeform 23">
            <a:extLst xmlns:a="http://schemas.openxmlformats.org/drawingml/2006/main">
              <a:ext uri="{FF2B5EF4-FFF2-40B4-BE49-F238E27FC236}">
                <a16:creationId xmlns:a16="http://schemas.microsoft.com/office/drawing/2014/main" id="{4575686A-4C33-48A6-8F06-6A9BA1255363}"/>
              </a:ext>
            </a:extLst>
          </p:cNvPr>
          <p:cNvSpPr>
            <a:spLocks xmlns:a="http://schemas.openxmlformats.org/drawingml/2006/main" noGrp="1"/>
          </p:cNvSpPr>
          <p:nvPr/>
        </p:nvSpPr>
        <p:spPr>
          <a:xfrm xmlns:a="http://schemas.openxmlformats.org/drawingml/2006/main" rot="0">
            <a:off x="3308152" y="1344811"/>
            <a:ext cx="222647" cy="263128"/>
          </a:xfrm>
          <a:custGeom xmlns:a="http://schemas.openxmlformats.org/drawingml/2006/main">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xmlns:a="http://schemas.openxmlformats.org/drawingml/2006/main">
            <a:srgbClr val="F7F9FC"/>
          </a:solidFill>
          <a:ln xmlns:a="http://schemas.openxmlformats.org/drawingml/2006/main">
            <a:noFill/>
          </a:ln>
        </p:spPr>
      </p:sp>
      <p:sp>
        <p:nvSpPr>
          <p:cNvPr id="25" name="TextBox 25">
            <a:extLst xmlns:a="http://schemas.openxmlformats.org/drawingml/2006/main">
              <a:ext uri="{FF2B5EF4-FFF2-40B4-BE49-F238E27FC236}">
                <a16:creationId xmlns:a16="http://schemas.microsoft.com/office/drawing/2014/main" id="{3E9B0A21-00E8-4A00-B047-C847B7BC69B2}"/>
              </a:ext>
            </a:extLst>
          </p:cNvPr>
          <p:cNvSpPr>
            <a:spLocks xmlns:a="http://schemas.openxmlformats.org/drawingml/2006/main" noGrp="1"/>
          </p:cNvSpPr>
          <p:nvPr/>
        </p:nvSpPr>
        <p:spPr>
          <a:xfrm xmlns:a="http://schemas.openxmlformats.org/drawingml/2006/main" rot="0">
            <a:off x="2878455" y="1740218"/>
            <a:ext cx="148977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PI 5 OR LAPTOP</a:t>
            </a:r>
          </a:p>
        </p:txBody>
      </p:sp>
      <p:sp>
        <p:nvSpPr>
          <p:cNvPr id="26" name="TextBox 26">
            <a:extLst xmlns:a="http://schemas.openxmlformats.org/drawingml/2006/main">
              <a:ext uri="{FF2B5EF4-FFF2-40B4-BE49-F238E27FC236}">
                <a16:creationId xmlns:a16="http://schemas.microsoft.com/office/drawing/2014/main" id="{3DFEA001-67DC-4896-93D6-8681D11ED542}"/>
              </a:ext>
            </a:extLst>
          </p:cNvPr>
          <p:cNvSpPr>
            <a:spLocks xmlns:a="http://schemas.openxmlformats.org/drawingml/2006/main" noGrp="1"/>
          </p:cNvSpPr>
          <p:nvPr/>
        </p:nvSpPr>
        <p:spPr>
          <a:xfrm xmlns:a="http://schemas.openxmlformats.org/drawingml/2006/main" rot="0">
            <a:off x="2883218" y="2009299"/>
            <a:ext cx="202701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Perception and event logic</a:t>
            </a:r>
          </a:p>
        </p:txBody>
      </p:sp>
      <p:sp>
        <p:nvSpPr>
          <p:cNvPr id="28" name="Line 28">
            <a:extLst xmlns:a="http://schemas.openxmlformats.org/drawingml/2006/main">
              <a:ext uri="{FF2B5EF4-FFF2-40B4-BE49-F238E27FC236}">
                <a16:creationId xmlns:a16="http://schemas.microsoft.com/office/drawing/2014/main" id="{E48ADEB3-412C-4037-9891-90178754C981}"/>
              </a:ext>
            </a:extLst>
          </p:cNvPr>
          <p:cNvSpPr>
            <a:spLocks xmlns:a="http://schemas.openxmlformats.org/drawingml/2006/main" noGrp="1"/>
          </p:cNvSpPr>
          <p:nvPr/>
        </p:nvSpPr>
        <p:spPr>
          <a:xfrm xmlns:a="http://schemas.openxmlformats.org/drawingml/2006/main" rot="0">
            <a:off x="4724400" y="1724025"/>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29" name="Rectangle 29">
            <a:extLst xmlns:a="http://schemas.openxmlformats.org/drawingml/2006/main">
              <a:ext uri="{FF2B5EF4-FFF2-40B4-BE49-F238E27FC236}">
                <a16:creationId xmlns:a16="http://schemas.microsoft.com/office/drawing/2014/main" id="{4B71DB93-8AB0-45C3-8503-3EC974887E47}"/>
              </a:ext>
            </a:extLst>
          </p:cNvPr>
          <p:cNvSpPr>
            <a:spLocks xmlns:a="http://schemas.openxmlformats.org/drawingml/2006/main" noGrp="1"/>
          </p:cNvSpPr>
          <p:nvPr/>
        </p:nvSpPr>
        <p:spPr>
          <a:xfrm xmlns:a="http://schemas.openxmlformats.org/drawingml/2006/main" rot="0">
            <a:off x="4991100" y="1143000"/>
            <a:ext cx="2000250" cy="1162050"/>
          </a:xfrm>
          <a:prstGeom xmlns:a="http://schemas.openxmlformats.org/drawingml/2006/main" prst="roundRect">
            <a:avLst>
              <a:gd name="adj" fmla="val 9836"/>
            </a:avLst>
          </a:prstGeom>
          <a:solidFill xmlns:a="http://schemas.openxmlformats.org/drawingml/2006/main">
            <a:srgbClr val="EAF0F7"/>
          </a:solidFill>
          <a:ln xmlns:a="http://schemas.openxmlformats.org/drawingml/2006/main">
            <a:noFill/>
          </a:ln>
        </p:spPr>
      </p:sp>
      <p:sp>
        <p:nvSpPr>
          <p:cNvPr id="30" name="Freeform 30">
            <a:extLst xmlns:a="http://schemas.openxmlformats.org/drawingml/2006/main">
              <a:ext uri="{FF2B5EF4-FFF2-40B4-BE49-F238E27FC236}">
                <a16:creationId xmlns:a16="http://schemas.microsoft.com/office/drawing/2014/main" id="{C6D29F25-F588-4C9F-8ED5-27F9793B56A9}"/>
              </a:ext>
            </a:extLst>
          </p:cNvPr>
          <p:cNvSpPr>
            <a:spLocks xmlns:a="http://schemas.openxmlformats.org/drawingml/2006/main" noGrp="1"/>
          </p:cNvSpPr>
          <p:nvPr/>
        </p:nvSpPr>
        <p:spPr>
          <a:xfrm xmlns:a="http://schemas.openxmlformats.org/drawingml/2006/main" rot="0">
            <a:off x="5263753" y="1385292"/>
            <a:ext cx="141684" cy="182166"/>
          </a:xfrm>
          <a:custGeom xmlns:a="http://schemas.openxmlformats.org/drawingml/2006/main">
            <a:rect l="l" t="t" r="r" b="b"/>
            <a:pathLst>
              <a:path w="141684" h="182166">
                <a:moveTo>
                  <a:pt x="60722" y="30361"/>
                </a:moveTo>
                <a:cubicBezTo>
                  <a:pt x="60722" y="47129"/>
                  <a:pt x="47129" y="60722"/>
                  <a:pt x="30361" y="60722"/>
                </a:cubicBezTo>
                <a:cubicBezTo>
                  <a:pt x="13593" y="60722"/>
                  <a:pt x="0" y="47129"/>
                  <a:pt x="0" y="30361"/>
                </a:cubicBezTo>
                <a:cubicBezTo>
                  <a:pt x="0" y="13593"/>
                  <a:pt x="13593" y="0"/>
                  <a:pt x="30361" y="0"/>
                </a:cubicBezTo>
                <a:cubicBezTo>
                  <a:pt x="47129" y="0"/>
                  <a:pt x="60722" y="13593"/>
                  <a:pt x="60722" y="30361"/>
                </a:cubicBezTo>
                <a:close/>
                <a:moveTo>
                  <a:pt x="111323" y="121444"/>
                </a:moveTo>
                <a:cubicBezTo>
                  <a:pt x="94556" y="121444"/>
                  <a:pt x="80962" y="135037"/>
                  <a:pt x="80962" y="151805"/>
                </a:cubicBezTo>
                <a:cubicBezTo>
                  <a:pt x="80962" y="168573"/>
                  <a:pt x="94556" y="182166"/>
                  <a:pt x="111323" y="182166"/>
                </a:cubicBezTo>
                <a:cubicBezTo>
                  <a:pt x="128091" y="182166"/>
                  <a:pt x="141684" y="168573"/>
                  <a:pt x="141684" y="151805"/>
                </a:cubicBezTo>
                <a:cubicBezTo>
                  <a:pt x="141684" y="135037"/>
                  <a:pt x="128091" y="121444"/>
                  <a:pt x="111323" y="121444"/>
                </a:cubicBezTo>
                <a:close/>
              </a:path>
            </a:pathLst>
          </a:custGeom>
          <a:solidFill xmlns:a="http://schemas.openxmlformats.org/drawingml/2006/main">
            <a:srgbClr val="2F80ED">
              <a:alpha val="20000"/>
            </a:srgbClr>
          </a:solidFill>
          <a:ln xmlns:a="http://schemas.openxmlformats.org/drawingml/2006/main">
            <a:noFill/>
          </a:ln>
        </p:spPr>
      </p:sp>
      <p:sp>
        <p:nvSpPr>
          <p:cNvPr id="31" name="Freeform 31">
            <a:extLst xmlns:a="http://schemas.openxmlformats.org/drawingml/2006/main">
              <a:ext uri="{FF2B5EF4-FFF2-40B4-BE49-F238E27FC236}">
                <a16:creationId xmlns:a16="http://schemas.microsoft.com/office/drawing/2014/main" id="{313F3299-AE54-4C04-965A-FFDE7822AB19}"/>
              </a:ext>
            </a:extLst>
          </p:cNvPr>
          <p:cNvSpPr>
            <a:spLocks xmlns:a="http://schemas.openxmlformats.org/drawingml/2006/main" noGrp="1"/>
          </p:cNvSpPr>
          <p:nvPr/>
        </p:nvSpPr>
        <p:spPr>
          <a:xfrm xmlns:a="http://schemas.openxmlformats.org/drawingml/2006/main" rot="0">
            <a:off x="5203031" y="1375092"/>
            <a:ext cx="242888" cy="202565"/>
          </a:xfrm>
          <a:custGeom xmlns:a="http://schemas.openxmlformats.org/drawingml/2006/main">
            <a:rect l="l" t="t" r="r" b="b"/>
            <a:pathLst>
              <a:path w="242888" h="202565">
                <a:moveTo>
                  <a:pt x="10120" y="50681"/>
                </a:moveTo>
                <a:lnTo>
                  <a:pt x="51867" y="50681"/>
                </a:lnTo>
                <a:cubicBezTo>
                  <a:pt x="56453" y="68593"/>
                  <a:pt x="72593" y="81121"/>
                  <a:pt x="91083" y="81121"/>
                </a:cubicBezTo>
                <a:cubicBezTo>
                  <a:pt x="109573" y="81121"/>
                  <a:pt x="125713" y="68593"/>
                  <a:pt x="130299" y="50681"/>
                </a:cubicBezTo>
                <a:lnTo>
                  <a:pt x="232767" y="50681"/>
                </a:lnTo>
                <a:cubicBezTo>
                  <a:pt x="238356" y="50681"/>
                  <a:pt x="242888" y="46150"/>
                  <a:pt x="242888" y="40561"/>
                </a:cubicBezTo>
                <a:cubicBezTo>
                  <a:pt x="242888" y="34971"/>
                  <a:pt x="238356" y="30440"/>
                  <a:pt x="232767" y="30440"/>
                </a:cubicBezTo>
                <a:lnTo>
                  <a:pt x="130299" y="30440"/>
                </a:lnTo>
                <a:cubicBezTo>
                  <a:pt x="125713" y="12528"/>
                  <a:pt x="109573" y="0"/>
                  <a:pt x="91083" y="0"/>
                </a:cubicBezTo>
                <a:cubicBezTo>
                  <a:pt x="72593" y="0"/>
                  <a:pt x="56453" y="12528"/>
                  <a:pt x="51867" y="30440"/>
                </a:cubicBezTo>
                <a:lnTo>
                  <a:pt x="10120" y="30440"/>
                </a:lnTo>
                <a:cubicBezTo>
                  <a:pt x="4531" y="30440"/>
                  <a:pt x="0" y="34971"/>
                  <a:pt x="0" y="40561"/>
                </a:cubicBezTo>
                <a:cubicBezTo>
                  <a:pt x="0" y="46150"/>
                  <a:pt x="4531" y="50681"/>
                  <a:pt x="10120" y="50681"/>
                </a:cubicBezTo>
                <a:close/>
                <a:moveTo>
                  <a:pt x="91083" y="20320"/>
                </a:moveTo>
                <a:cubicBezTo>
                  <a:pt x="102261" y="20320"/>
                  <a:pt x="111323" y="29382"/>
                  <a:pt x="111323" y="40561"/>
                </a:cubicBezTo>
                <a:cubicBezTo>
                  <a:pt x="111323" y="51739"/>
                  <a:pt x="102261" y="60801"/>
                  <a:pt x="91083" y="60801"/>
                </a:cubicBezTo>
                <a:cubicBezTo>
                  <a:pt x="79904" y="60801"/>
                  <a:pt x="70842" y="51739"/>
                  <a:pt x="70842" y="40561"/>
                </a:cubicBezTo>
                <a:cubicBezTo>
                  <a:pt x="70842" y="29382"/>
                  <a:pt x="79904" y="20320"/>
                  <a:pt x="91083" y="20320"/>
                </a:cubicBezTo>
                <a:close/>
                <a:moveTo>
                  <a:pt x="232767" y="151884"/>
                </a:moveTo>
                <a:lnTo>
                  <a:pt x="211262" y="151884"/>
                </a:lnTo>
                <a:cubicBezTo>
                  <a:pt x="206675" y="133972"/>
                  <a:pt x="190535" y="121444"/>
                  <a:pt x="172045" y="121444"/>
                </a:cubicBezTo>
                <a:cubicBezTo>
                  <a:pt x="153555" y="121444"/>
                  <a:pt x="137415" y="133972"/>
                  <a:pt x="132829" y="151884"/>
                </a:cubicBezTo>
                <a:lnTo>
                  <a:pt x="10120" y="151884"/>
                </a:lnTo>
                <a:cubicBezTo>
                  <a:pt x="4531" y="151884"/>
                  <a:pt x="0" y="156415"/>
                  <a:pt x="0" y="162004"/>
                </a:cubicBezTo>
                <a:cubicBezTo>
                  <a:pt x="0" y="167594"/>
                  <a:pt x="4531" y="172125"/>
                  <a:pt x="10120" y="172125"/>
                </a:cubicBezTo>
                <a:lnTo>
                  <a:pt x="132829" y="172125"/>
                </a:lnTo>
                <a:cubicBezTo>
                  <a:pt x="137415" y="190037"/>
                  <a:pt x="153555" y="202565"/>
                  <a:pt x="172045" y="202565"/>
                </a:cubicBezTo>
                <a:cubicBezTo>
                  <a:pt x="190535" y="202565"/>
                  <a:pt x="206675" y="190037"/>
                  <a:pt x="211262" y="172125"/>
                </a:cubicBezTo>
                <a:lnTo>
                  <a:pt x="232767" y="172125"/>
                </a:lnTo>
                <a:cubicBezTo>
                  <a:pt x="238356" y="172125"/>
                  <a:pt x="242888" y="167594"/>
                  <a:pt x="242888" y="162004"/>
                </a:cubicBezTo>
                <a:cubicBezTo>
                  <a:pt x="242888" y="156415"/>
                  <a:pt x="238356" y="151884"/>
                  <a:pt x="232767" y="151884"/>
                </a:cubicBezTo>
                <a:close/>
                <a:moveTo>
                  <a:pt x="172045" y="182245"/>
                </a:moveTo>
                <a:cubicBezTo>
                  <a:pt x="160867" y="182245"/>
                  <a:pt x="151805" y="173183"/>
                  <a:pt x="151805" y="162004"/>
                </a:cubicBezTo>
                <a:cubicBezTo>
                  <a:pt x="151805" y="150826"/>
                  <a:pt x="160867" y="141764"/>
                  <a:pt x="172045" y="141764"/>
                </a:cubicBezTo>
                <a:cubicBezTo>
                  <a:pt x="183224" y="141764"/>
                  <a:pt x="192286" y="150826"/>
                  <a:pt x="192286" y="162004"/>
                </a:cubicBezTo>
                <a:cubicBezTo>
                  <a:pt x="192286" y="173183"/>
                  <a:pt x="183224" y="182245"/>
                  <a:pt x="172045" y="182245"/>
                </a:cubicBezTo>
                <a:close/>
              </a:path>
            </a:pathLst>
          </a:custGeom>
          <a:solidFill xmlns:a="http://schemas.openxmlformats.org/drawingml/2006/main">
            <a:srgbClr val="2F80ED"/>
          </a:solidFill>
          <a:ln xmlns:a="http://schemas.openxmlformats.org/drawingml/2006/main">
            <a:noFill/>
          </a:ln>
        </p:spPr>
      </p:sp>
      <p:sp>
        <p:nvSpPr>
          <p:cNvPr id="33" name="TextBox 33">
            <a:extLst xmlns:a="http://schemas.openxmlformats.org/drawingml/2006/main">
              <a:ext uri="{FF2B5EF4-FFF2-40B4-BE49-F238E27FC236}">
                <a16:creationId xmlns:a16="http://schemas.microsoft.com/office/drawing/2014/main" id="{7E0DFABF-0B2F-4C1C-AB55-7F1471ACEDCA}"/>
              </a:ext>
            </a:extLst>
          </p:cNvPr>
          <p:cNvSpPr>
            <a:spLocks xmlns:a="http://schemas.openxmlformats.org/drawingml/2006/main" noGrp="1"/>
          </p:cNvSpPr>
          <p:nvPr/>
        </p:nvSpPr>
        <p:spPr>
          <a:xfrm xmlns:a="http://schemas.openxmlformats.org/drawingml/2006/main" rot="0">
            <a:off x="5145405" y="1740218"/>
            <a:ext cx="160318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UNIFIED EVENTS</a:t>
            </a:r>
          </a:p>
        </p:txBody>
      </p:sp>
      <p:sp>
        <p:nvSpPr>
          <p:cNvPr id="34" name="TextBox 34">
            <a:extLst xmlns:a="http://schemas.openxmlformats.org/drawingml/2006/main">
              <a:ext uri="{FF2B5EF4-FFF2-40B4-BE49-F238E27FC236}">
                <a16:creationId xmlns:a16="http://schemas.microsoft.com/office/drawing/2014/main" id="{25606F85-EFA2-4AFE-83EC-AD99E859EDE0}"/>
              </a:ext>
            </a:extLst>
          </p:cNvPr>
          <p:cNvSpPr>
            <a:spLocks xmlns:a="http://schemas.openxmlformats.org/drawingml/2006/main" noGrp="1"/>
          </p:cNvSpPr>
          <p:nvPr/>
        </p:nvSpPr>
        <p:spPr>
          <a:xfrm xmlns:a="http://schemas.openxmlformats.org/drawingml/2006/main" rot="0">
            <a:off x="5150168" y="2009299"/>
            <a:ext cx="160446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Confidence + duration gates</a:t>
            </a:r>
          </a:p>
        </p:txBody>
      </p:sp>
      <p:sp>
        <p:nvSpPr>
          <p:cNvPr id="36" name="Line 36">
            <a:extLst xmlns:a="http://schemas.openxmlformats.org/drawingml/2006/main">
              <a:ext uri="{FF2B5EF4-FFF2-40B4-BE49-F238E27FC236}">
                <a16:creationId xmlns:a16="http://schemas.microsoft.com/office/drawing/2014/main" id="{9353C0EF-C958-4F33-BE40-849303360517}"/>
              </a:ext>
            </a:extLst>
          </p:cNvPr>
          <p:cNvSpPr>
            <a:spLocks xmlns:a="http://schemas.openxmlformats.org/drawingml/2006/main" noGrp="1"/>
          </p:cNvSpPr>
          <p:nvPr/>
        </p:nvSpPr>
        <p:spPr>
          <a:xfrm xmlns:a="http://schemas.openxmlformats.org/drawingml/2006/main" rot="0">
            <a:off x="6991350" y="1724025"/>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37" name="Rectangle 37">
            <a:extLst xmlns:a="http://schemas.openxmlformats.org/drawingml/2006/main">
              <a:ext uri="{FF2B5EF4-FFF2-40B4-BE49-F238E27FC236}">
                <a16:creationId xmlns:a16="http://schemas.microsoft.com/office/drawing/2014/main" id="{6326ABBC-1E73-4DA9-A7C8-36C62E170A16}"/>
              </a:ext>
            </a:extLst>
          </p:cNvPr>
          <p:cNvSpPr>
            <a:spLocks xmlns:a="http://schemas.openxmlformats.org/drawingml/2006/main" noGrp="1"/>
          </p:cNvSpPr>
          <p:nvPr/>
        </p:nvSpPr>
        <p:spPr>
          <a:xfrm xmlns:a="http://schemas.openxmlformats.org/drawingml/2006/main" rot="0">
            <a:off x="7258050" y="1143000"/>
            <a:ext cx="2000250" cy="1162050"/>
          </a:xfrm>
          <a:prstGeom xmlns:a="http://schemas.openxmlformats.org/drawingml/2006/main" prst="roundRect">
            <a:avLst>
              <a:gd name="adj" fmla="val 9836"/>
            </a:avLst>
          </a:prstGeom>
          <a:solidFill xmlns:a="http://schemas.openxmlformats.org/drawingml/2006/main">
            <a:srgbClr val="2F80ED"/>
          </a:solidFill>
          <a:ln xmlns:a="http://schemas.openxmlformats.org/drawingml/2006/main">
            <a:noFill/>
          </a:ln>
        </p:spPr>
      </p:sp>
      <p:sp>
        <p:nvSpPr>
          <p:cNvPr id="38" name="Freeform 38">
            <a:extLst xmlns:a="http://schemas.openxmlformats.org/drawingml/2006/main">
              <a:ext uri="{FF2B5EF4-FFF2-40B4-BE49-F238E27FC236}">
                <a16:creationId xmlns:a16="http://schemas.microsoft.com/office/drawing/2014/main" id="{EB259314-54E9-4669-9292-5867EA0FB523}"/>
              </a:ext>
            </a:extLst>
          </p:cNvPr>
          <p:cNvSpPr>
            <a:spLocks xmlns:a="http://schemas.openxmlformats.org/drawingml/2006/main" noGrp="1"/>
          </p:cNvSpPr>
          <p:nvPr/>
        </p:nvSpPr>
        <p:spPr>
          <a:xfrm xmlns:a="http://schemas.openxmlformats.org/drawingml/2006/main" rot="0">
            <a:off x="7490222" y="1375172"/>
            <a:ext cx="202406" cy="202406"/>
          </a:xfrm>
          <a:custGeom xmlns:a="http://schemas.openxmlformats.org/drawingml/2006/main">
            <a:rect l="l" t="t" r="r" b="b"/>
            <a:pathLst>
              <a:path w="202406" h="202406">
                <a:moveTo>
                  <a:pt x="202406" y="10120"/>
                </a:moveTo>
                <a:lnTo>
                  <a:pt x="202406" y="192286"/>
                </a:lnTo>
                <a:cubicBezTo>
                  <a:pt x="202406" y="197875"/>
                  <a:pt x="197875" y="202406"/>
                  <a:pt x="192286" y="202406"/>
                </a:cubicBezTo>
                <a:lnTo>
                  <a:pt x="10120" y="202406"/>
                </a:lnTo>
                <a:cubicBezTo>
                  <a:pt x="4531" y="202406"/>
                  <a:pt x="0" y="197875"/>
                  <a:pt x="0" y="192286"/>
                </a:cubicBezTo>
                <a:lnTo>
                  <a:pt x="0" y="10120"/>
                </a:lnTo>
                <a:cubicBezTo>
                  <a:pt x="0" y="4531"/>
                  <a:pt x="4531" y="0"/>
                  <a:pt x="10120" y="0"/>
                </a:cubicBezTo>
                <a:lnTo>
                  <a:pt x="192286" y="0"/>
                </a:lnTo>
                <a:cubicBezTo>
                  <a:pt x="197875" y="0"/>
                  <a:pt x="202406" y="4531"/>
                  <a:pt x="202406" y="10120"/>
                </a:cubicBezTo>
                <a:close/>
              </a:path>
            </a:pathLst>
          </a:custGeom>
          <a:solidFill xmlns:a="http://schemas.openxmlformats.org/drawingml/2006/main">
            <a:srgbClr val="F7F9FC">
              <a:alpha val="20000"/>
            </a:srgbClr>
          </a:solidFill>
          <a:ln xmlns:a="http://schemas.openxmlformats.org/drawingml/2006/main">
            <a:noFill/>
          </a:ln>
        </p:spPr>
      </p:sp>
      <p:sp>
        <p:nvSpPr>
          <p:cNvPr id="39" name="Freeform 39">
            <a:extLst xmlns:a="http://schemas.openxmlformats.org/drawingml/2006/main">
              <a:ext uri="{FF2B5EF4-FFF2-40B4-BE49-F238E27FC236}">
                <a16:creationId xmlns:a16="http://schemas.microsoft.com/office/drawing/2014/main" id="{D06FC3B7-D2DC-41E1-90C1-FD7940598647}"/>
              </a:ext>
            </a:extLst>
          </p:cNvPr>
          <p:cNvSpPr>
            <a:spLocks xmlns:a="http://schemas.openxmlformats.org/drawingml/2006/main" noGrp="1"/>
          </p:cNvSpPr>
          <p:nvPr/>
        </p:nvSpPr>
        <p:spPr>
          <a:xfrm xmlns:a="http://schemas.openxmlformats.org/drawingml/2006/main" rot="0">
            <a:off x="7459853" y="1343817"/>
            <a:ext cx="242895" cy="243882"/>
          </a:xfrm>
          <a:custGeom xmlns:a="http://schemas.openxmlformats.org/drawingml/2006/main">
            <a:rect l="l" t="t" r="r" b="b"/>
            <a:pathLst>
              <a:path w="242895" h="243882">
                <a:moveTo>
                  <a:pt x="43449" y="99237"/>
                </a:moveTo>
                <a:lnTo>
                  <a:pt x="2968" y="58756"/>
                </a:lnTo>
                <a:cubicBezTo>
                  <a:pt x="1068" y="56858"/>
                  <a:pt x="0" y="54282"/>
                  <a:pt x="0" y="51596"/>
                </a:cubicBezTo>
                <a:cubicBezTo>
                  <a:pt x="0" y="48910"/>
                  <a:pt x="1068" y="46334"/>
                  <a:pt x="2968" y="44436"/>
                </a:cubicBezTo>
                <a:lnTo>
                  <a:pt x="43449" y="3954"/>
                </a:lnTo>
                <a:cubicBezTo>
                  <a:pt x="47404" y="0"/>
                  <a:pt x="53815" y="0"/>
                  <a:pt x="57770" y="3954"/>
                </a:cubicBezTo>
                <a:cubicBezTo>
                  <a:pt x="61724" y="7909"/>
                  <a:pt x="61724" y="14320"/>
                  <a:pt x="57770" y="18275"/>
                </a:cubicBezTo>
                <a:lnTo>
                  <a:pt x="24436" y="51596"/>
                </a:lnTo>
                <a:lnTo>
                  <a:pt x="57770" y="84917"/>
                </a:lnTo>
                <a:cubicBezTo>
                  <a:pt x="61724" y="88871"/>
                  <a:pt x="61724" y="95283"/>
                  <a:pt x="57770" y="99237"/>
                </a:cubicBezTo>
                <a:cubicBezTo>
                  <a:pt x="53815" y="103192"/>
                  <a:pt x="47404" y="103192"/>
                  <a:pt x="43449" y="99237"/>
                </a:cubicBezTo>
                <a:close/>
                <a:moveTo>
                  <a:pt x="94051" y="99237"/>
                </a:moveTo>
                <a:cubicBezTo>
                  <a:pt x="95949" y="101138"/>
                  <a:pt x="98525" y="102205"/>
                  <a:pt x="101211" y="102205"/>
                </a:cubicBezTo>
                <a:cubicBezTo>
                  <a:pt x="103897" y="102205"/>
                  <a:pt x="106473" y="101138"/>
                  <a:pt x="108371" y="99237"/>
                </a:cubicBezTo>
                <a:lnTo>
                  <a:pt x="148852" y="58756"/>
                </a:lnTo>
                <a:cubicBezTo>
                  <a:pt x="150753" y="56858"/>
                  <a:pt x="151821" y="54282"/>
                  <a:pt x="151821" y="51596"/>
                </a:cubicBezTo>
                <a:cubicBezTo>
                  <a:pt x="151821" y="48910"/>
                  <a:pt x="150753" y="46334"/>
                  <a:pt x="148852" y="44436"/>
                </a:cubicBezTo>
                <a:lnTo>
                  <a:pt x="108371" y="3954"/>
                </a:lnTo>
                <a:cubicBezTo>
                  <a:pt x="104417" y="0"/>
                  <a:pt x="98005" y="0"/>
                  <a:pt x="94051" y="3954"/>
                </a:cubicBezTo>
                <a:cubicBezTo>
                  <a:pt x="90097" y="7909"/>
                  <a:pt x="90097" y="14320"/>
                  <a:pt x="94051" y="18275"/>
                </a:cubicBezTo>
                <a:lnTo>
                  <a:pt x="127385" y="51596"/>
                </a:lnTo>
                <a:lnTo>
                  <a:pt x="94051" y="84917"/>
                </a:lnTo>
                <a:cubicBezTo>
                  <a:pt x="92151" y="86815"/>
                  <a:pt x="91083" y="89391"/>
                  <a:pt x="91083" y="92077"/>
                </a:cubicBezTo>
                <a:cubicBezTo>
                  <a:pt x="91083" y="94763"/>
                  <a:pt x="92151" y="97339"/>
                  <a:pt x="94051" y="99237"/>
                </a:cubicBezTo>
                <a:close/>
                <a:moveTo>
                  <a:pt x="222655" y="21235"/>
                </a:moveTo>
                <a:lnTo>
                  <a:pt x="192294" y="21235"/>
                </a:lnTo>
                <a:cubicBezTo>
                  <a:pt x="186705" y="21235"/>
                  <a:pt x="182174" y="25766"/>
                  <a:pt x="182174" y="31355"/>
                </a:cubicBezTo>
                <a:cubicBezTo>
                  <a:pt x="182174" y="36944"/>
                  <a:pt x="186705" y="41475"/>
                  <a:pt x="192294" y="41475"/>
                </a:cubicBezTo>
                <a:lnTo>
                  <a:pt x="222655" y="41475"/>
                </a:lnTo>
                <a:lnTo>
                  <a:pt x="222655" y="223641"/>
                </a:lnTo>
                <a:lnTo>
                  <a:pt x="40489" y="223641"/>
                </a:lnTo>
                <a:lnTo>
                  <a:pt x="40489" y="142679"/>
                </a:lnTo>
                <a:cubicBezTo>
                  <a:pt x="40489" y="137089"/>
                  <a:pt x="35958" y="132558"/>
                  <a:pt x="30369" y="132558"/>
                </a:cubicBezTo>
                <a:cubicBezTo>
                  <a:pt x="24780" y="132558"/>
                  <a:pt x="20249" y="137089"/>
                  <a:pt x="20249" y="142679"/>
                </a:cubicBezTo>
                <a:lnTo>
                  <a:pt x="20249" y="223641"/>
                </a:lnTo>
                <a:cubicBezTo>
                  <a:pt x="20249" y="234820"/>
                  <a:pt x="29311" y="243882"/>
                  <a:pt x="40489" y="243882"/>
                </a:cubicBezTo>
                <a:lnTo>
                  <a:pt x="222655" y="243882"/>
                </a:lnTo>
                <a:cubicBezTo>
                  <a:pt x="233833" y="243882"/>
                  <a:pt x="242895" y="234820"/>
                  <a:pt x="242895" y="223641"/>
                </a:cubicBezTo>
                <a:lnTo>
                  <a:pt x="242895" y="41475"/>
                </a:lnTo>
                <a:cubicBezTo>
                  <a:pt x="242895" y="30297"/>
                  <a:pt x="233833" y="21235"/>
                  <a:pt x="222655" y="21235"/>
                </a:cubicBezTo>
                <a:close/>
              </a:path>
            </a:pathLst>
          </a:custGeom>
          <a:solidFill xmlns:a="http://schemas.openxmlformats.org/drawingml/2006/main">
            <a:srgbClr val="F7F9FC"/>
          </a:solidFill>
          <a:ln xmlns:a="http://schemas.openxmlformats.org/drawingml/2006/main">
            <a:noFill/>
          </a:ln>
        </p:spPr>
      </p:sp>
      <p:sp>
        <p:nvSpPr>
          <p:cNvPr id="41" name="TextBox 41">
            <a:extLst xmlns:a="http://schemas.openxmlformats.org/drawingml/2006/main">
              <a:ext uri="{FF2B5EF4-FFF2-40B4-BE49-F238E27FC236}">
                <a16:creationId xmlns:a16="http://schemas.microsoft.com/office/drawing/2014/main" id="{56EE71C7-2007-4BEC-90D0-4C9D401392D3}"/>
              </a:ext>
            </a:extLst>
          </p:cNvPr>
          <p:cNvSpPr>
            <a:spLocks xmlns:a="http://schemas.openxmlformats.org/drawingml/2006/main" noGrp="1"/>
          </p:cNvSpPr>
          <p:nvPr/>
        </p:nvSpPr>
        <p:spPr>
          <a:xfrm xmlns:a="http://schemas.openxmlformats.org/drawingml/2006/main" rot="0">
            <a:off x="7412355" y="1740218"/>
            <a:ext cx="129129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ARDUINO MEGA</a:t>
            </a:r>
          </a:p>
        </p:txBody>
      </p:sp>
      <p:sp>
        <p:nvSpPr>
          <p:cNvPr id="42" name="TextBox 42">
            <a:extLst xmlns:a="http://schemas.openxmlformats.org/drawingml/2006/main">
              <a:ext uri="{FF2B5EF4-FFF2-40B4-BE49-F238E27FC236}">
                <a16:creationId xmlns:a16="http://schemas.microsoft.com/office/drawing/2014/main" id="{46A4CE88-C450-4070-A931-56EE230C1946}"/>
              </a:ext>
            </a:extLst>
          </p:cNvPr>
          <p:cNvSpPr>
            <a:spLocks xmlns:a="http://schemas.openxmlformats.org/drawingml/2006/main" noGrp="1"/>
          </p:cNvSpPr>
          <p:nvPr/>
        </p:nvSpPr>
        <p:spPr>
          <a:xfrm xmlns:a="http://schemas.openxmlformats.org/drawingml/2006/main" rot="0">
            <a:off x="7417118" y="2009299"/>
            <a:ext cx="152645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Motor / servo control</a:t>
            </a:r>
          </a:p>
        </p:txBody>
      </p:sp>
      <p:sp>
        <p:nvSpPr>
          <p:cNvPr id="44" name="Line 44">
            <a:extLst xmlns:a="http://schemas.openxmlformats.org/drawingml/2006/main">
              <a:ext uri="{FF2B5EF4-FFF2-40B4-BE49-F238E27FC236}">
                <a16:creationId xmlns:a16="http://schemas.microsoft.com/office/drawing/2014/main" id="{47616200-C9E9-4875-8993-C0612A8DB22D}"/>
              </a:ext>
            </a:extLst>
          </p:cNvPr>
          <p:cNvSpPr>
            <a:spLocks xmlns:a="http://schemas.openxmlformats.org/drawingml/2006/main" noGrp="1"/>
          </p:cNvSpPr>
          <p:nvPr/>
        </p:nvSpPr>
        <p:spPr>
          <a:xfrm xmlns:a="http://schemas.openxmlformats.org/drawingml/2006/main" rot="0">
            <a:off x="9258300" y="1724025"/>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45" name="Rectangle 45">
            <a:extLst xmlns:a="http://schemas.openxmlformats.org/drawingml/2006/main">
              <a:ext uri="{FF2B5EF4-FFF2-40B4-BE49-F238E27FC236}">
                <a16:creationId xmlns:a16="http://schemas.microsoft.com/office/drawing/2014/main" id="{9D044C61-A587-4F77-B8B0-AF880C88CFB3}"/>
              </a:ext>
            </a:extLst>
          </p:cNvPr>
          <p:cNvSpPr>
            <a:spLocks xmlns:a="http://schemas.openxmlformats.org/drawingml/2006/main" noGrp="1"/>
          </p:cNvSpPr>
          <p:nvPr/>
        </p:nvSpPr>
        <p:spPr>
          <a:xfrm xmlns:a="http://schemas.openxmlformats.org/drawingml/2006/main" rot="0">
            <a:off x="9525000" y="1143000"/>
            <a:ext cx="2209800" cy="1162050"/>
          </a:xfrm>
          <a:prstGeom xmlns:a="http://schemas.openxmlformats.org/drawingml/2006/main" prst="roundRect">
            <a:avLst>
              <a:gd name="adj" fmla="val 9836"/>
            </a:avLst>
          </a:prstGeom>
          <a:solidFill xmlns:a="http://schemas.openxmlformats.org/drawingml/2006/main">
            <a:srgbClr val="EAF0F7"/>
          </a:solidFill>
          <a:ln xmlns:a="http://schemas.openxmlformats.org/drawingml/2006/main">
            <a:noFill/>
          </a:ln>
        </p:spPr>
      </p:sp>
      <p:sp>
        <p:nvSpPr>
          <p:cNvPr id="46" name="Freeform 46">
            <a:extLst xmlns:a="http://schemas.openxmlformats.org/drawingml/2006/main">
              <a:ext uri="{FF2B5EF4-FFF2-40B4-BE49-F238E27FC236}">
                <a16:creationId xmlns:a16="http://schemas.microsoft.com/office/drawing/2014/main" id="{50D4EC31-6375-4FD3-A9B0-7BBDC53CEBF1}"/>
              </a:ext>
            </a:extLst>
          </p:cNvPr>
          <p:cNvSpPr>
            <a:spLocks xmlns:a="http://schemas.openxmlformats.org/drawingml/2006/main" noGrp="1"/>
          </p:cNvSpPr>
          <p:nvPr/>
        </p:nvSpPr>
        <p:spPr>
          <a:xfrm xmlns:a="http://schemas.openxmlformats.org/drawingml/2006/main" rot="0">
            <a:off x="9736931" y="1385292"/>
            <a:ext cx="242888" cy="202406"/>
          </a:xfrm>
          <a:custGeom xmlns:a="http://schemas.openxmlformats.org/drawingml/2006/main">
            <a:rect l="l" t="t" r="r" b="b"/>
            <a:pathLst>
              <a:path w="242888" h="202406">
                <a:moveTo>
                  <a:pt x="212527" y="0"/>
                </a:moveTo>
                <a:lnTo>
                  <a:pt x="30361" y="0"/>
                </a:lnTo>
                <a:cubicBezTo>
                  <a:pt x="13593" y="0"/>
                  <a:pt x="0" y="13593"/>
                  <a:pt x="0" y="30361"/>
                </a:cubicBezTo>
                <a:lnTo>
                  <a:pt x="0" y="172045"/>
                </a:lnTo>
                <a:cubicBezTo>
                  <a:pt x="0" y="188813"/>
                  <a:pt x="13593" y="202406"/>
                  <a:pt x="30361" y="202406"/>
                </a:cubicBezTo>
                <a:lnTo>
                  <a:pt x="212527" y="202406"/>
                </a:lnTo>
                <a:cubicBezTo>
                  <a:pt x="229294" y="202406"/>
                  <a:pt x="242888" y="188813"/>
                  <a:pt x="242888" y="172045"/>
                </a:cubicBezTo>
                <a:lnTo>
                  <a:pt x="242888" y="30361"/>
                </a:lnTo>
                <a:cubicBezTo>
                  <a:pt x="242888" y="13593"/>
                  <a:pt x="229294" y="0"/>
                  <a:pt x="212527" y="0"/>
                </a:cubicBezTo>
                <a:close/>
                <a:moveTo>
                  <a:pt x="166985" y="161925"/>
                </a:moveTo>
                <a:lnTo>
                  <a:pt x="75902" y="161925"/>
                </a:lnTo>
                <a:cubicBezTo>
                  <a:pt x="61929" y="161925"/>
                  <a:pt x="50602" y="150597"/>
                  <a:pt x="50602" y="136624"/>
                </a:cubicBezTo>
                <a:cubicBezTo>
                  <a:pt x="50602" y="122651"/>
                  <a:pt x="61929" y="111323"/>
                  <a:pt x="75902" y="111323"/>
                </a:cubicBezTo>
                <a:lnTo>
                  <a:pt x="166985" y="111323"/>
                </a:lnTo>
                <a:cubicBezTo>
                  <a:pt x="180958" y="111323"/>
                  <a:pt x="192286" y="122651"/>
                  <a:pt x="192286" y="136624"/>
                </a:cubicBezTo>
                <a:cubicBezTo>
                  <a:pt x="192286" y="150597"/>
                  <a:pt x="180958" y="161925"/>
                  <a:pt x="166985" y="161925"/>
                </a:cubicBezTo>
                <a:close/>
              </a:path>
            </a:pathLst>
          </a:custGeom>
          <a:solidFill xmlns:a="http://schemas.openxmlformats.org/drawingml/2006/main">
            <a:srgbClr val="2F80ED">
              <a:alpha val="20000"/>
            </a:srgbClr>
          </a:solidFill>
          <a:ln xmlns:a="http://schemas.openxmlformats.org/drawingml/2006/main">
            <a:noFill/>
          </a:ln>
        </p:spPr>
      </p:sp>
      <p:sp>
        <p:nvSpPr>
          <p:cNvPr id="47" name="Freeform 47">
            <a:extLst xmlns:a="http://schemas.openxmlformats.org/drawingml/2006/main">
              <a:ext uri="{FF2B5EF4-FFF2-40B4-BE49-F238E27FC236}">
                <a16:creationId xmlns:a16="http://schemas.microsoft.com/office/drawing/2014/main" id="{05E2B7A0-6BB9-41FF-A418-A19DFA115015}"/>
              </a:ext>
            </a:extLst>
          </p:cNvPr>
          <p:cNvSpPr>
            <a:spLocks xmlns:a="http://schemas.openxmlformats.org/drawingml/2006/main" noGrp="1"/>
          </p:cNvSpPr>
          <p:nvPr/>
        </p:nvSpPr>
        <p:spPr>
          <a:xfrm xmlns:a="http://schemas.openxmlformats.org/drawingml/2006/main" rot="0">
            <a:off x="9726811" y="1324570"/>
            <a:ext cx="263128" cy="273248"/>
          </a:xfrm>
          <a:custGeom xmlns:a="http://schemas.openxmlformats.org/drawingml/2006/main">
            <a:rect l="l" t="t" r="r" b="b"/>
            <a:pathLst>
              <a:path w="263128" h="273248">
                <a:moveTo>
                  <a:pt x="222647" y="50602"/>
                </a:moveTo>
                <a:lnTo>
                  <a:pt x="141684" y="50602"/>
                </a:lnTo>
                <a:lnTo>
                  <a:pt x="141684" y="10120"/>
                </a:lnTo>
                <a:cubicBezTo>
                  <a:pt x="141684" y="4531"/>
                  <a:pt x="137153" y="0"/>
                  <a:pt x="131564" y="0"/>
                </a:cubicBezTo>
                <a:cubicBezTo>
                  <a:pt x="125975" y="0"/>
                  <a:pt x="121444" y="4531"/>
                  <a:pt x="121444" y="10120"/>
                </a:cubicBezTo>
                <a:lnTo>
                  <a:pt x="121444" y="50602"/>
                </a:lnTo>
                <a:lnTo>
                  <a:pt x="40481" y="50602"/>
                </a:lnTo>
                <a:cubicBezTo>
                  <a:pt x="18124" y="50602"/>
                  <a:pt x="0" y="68726"/>
                  <a:pt x="0" y="91083"/>
                </a:cubicBezTo>
                <a:lnTo>
                  <a:pt x="0" y="232767"/>
                </a:lnTo>
                <a:cubicBezTo>
                  <a:pt x="0" y="255124"/>
                  <a:pt x="18124" y="273248"/>
                  <a:pt x="40481" y="273248"/>
                </a:cubicBezTo>
                <a:lnTo>
                  <a:pt x="222647" y="273248"/>
                </a:lnTo>
                <a:cubicBezTo>
                  <a:pt x="245004" y="273248"/>
                  <a:pt x="263128" y="255124"/>
                  <a:pt x="263128" y="232767"/>
                </a:cubicBezTo>
                <a:lnTo>
                  <a:pt x="263128" y="91083"/>
                </a:lnTo>
                <a:cubicBezTo>
                  <a:pt x="263128" y="68726"/>
                  <a:pt x="245004" y="50602"/>
                  <a:pt x="222647" y="50602"/>
                </a:cubicBezTo>
                <a:close/>
                <a:moveTo>
                  <a:pt x="242888" y="232767"/>
                </a:moveTo>
                <a:cubicBezTo>
                  <a:pt x="242888" y="243946"/>
                  <a:pt x="233825" y="253008"/>
                  <a:pt x="222647" y="253008"/>
                </a:cubicBezTo>
                <a:lnTo>
                  <a:pt x="40481" y="253008"/>
                </a:lnTo>
                <a:cubicBezTo>
                  <a:pt x="29303" y="253008"/>
                  <a:pt x="20241" y="243946"/>
                  <a:pt x="20241" y="232767"/>
                </a:cubicBezTo>
                <a:lnTo>
                  <a:pt x="20241" y="91083"/>
                </a:lnTo>
                <a:cubicBezTo>
                  <a:pt x="20241" y="79904"/>
                  <a:pt x="29303" y="70842"/>
                  <a:pt x="40481" y="70842"/>
                </a:cubicBezTo>
                <a:lnTo>
                  <a:pt x="222647" y="70842"/>
                </a:lnTo>
                <a:cubicBezTo>
                  <a:pt x="233825" y="70842"/>
                  <a:pt x="242888" y="79904"/>
                  <a:pt x="242888" y="91083"/>
                </a:cubicBezTo>
                <a:close/>
                <a:moveTo>
                  <a:pt x="177105" y="161925"/>
                </a:moveTo>
                <a:lnTo>
                  <a:pt x="86023" y="161925"/>
                </a:lnTo>
                <a:cubicBezTo>
                  <a:pt x="66460" y="161925"/>
                  <a:pt x="50602" y="177784"/>
                  <a:pt x="50602" y="197346"/>
                </a:cubicBezTo>
                <a:cubicBezTo>
                  <a:pt x="50602" y="216909"/>
                  <a:pt x="66460" y="232767"/>
                  <a:pt x="86023" y="232767"/>
                </a:cubicBezTo>
                <a:lnTo>
                  <a:pt x="177105" y="232767"/>
                </a:lnTo>
                <a:cubicBezTo>
                  <a:pt x="196668" y="232767"/>
                  <a:pt x="212527" y="216909"/>
                  <a:pt x="212527" y="197346"/>
                </a:cubicBezTo>
                <a:cubicBezTo>
                  <a:pt x="212527" y="177784"/>
                  <a:pt x="196668" y="161925"/>
                  <a:pt x="177105" y="161925"/>
                </a:cubicBezTo>
                <a:close/>
                <a:moveTo>
                  <a:pt x="141684" y="182166"/>
                </a:moveTo>
                <a:lnTo>
                  <a:pt x="141684" y="212527"/>
                </a:lnTo>
                <a:lnTo>
                  <a:pt x="121444" y="212527"/>
                </a:lnTo>
                <a:lnTo>
                  <a:pt x="121444" y="182166"/>
                </a:lnTo>
                <a:close/>
                <a:moveTo>
                  <a:pt x="70842" y="197346"/>
                </a:moveTo>
                <a:cubicBezTo>
                  <a:pt x="70842" y="188962"/>
                  <a:pt x="77639" y="182166"/>
                  <a:pt x="86023" y="182166"/>
                </a:cubicBezTo>
                <a:lnTo>
                  <a:pt x="101203" y="182166"/>
                </a:lnTo>
                <a:lnTo>
                  <a:pt x="101203" y="212527"/>
                </a:lnTo>
                <a:lnTo>
                  <a:pt x="86023" y="212527"/>
                </a:lnTo>
                <a:cubicBezTo>
                  <a:pt x="77639" y="212527"/>
                  <a:pt x="70842" y="205730"/>
                  <a:pt x="70842" y="197346"/>
                </a:cubicBezTo>
                <a:close/>
                <a:moveTo>
                  <a:pt x="177105" y="212527"/>
                </a:moveTo>
                <a:lnTo>
                  <a:pt x="161925" y="212527"/>
                </a:lnTo>
                <a:lnTo>
                  <a:pt x="161925" y="182166"/>
                </a:lnTo>
                <a:lnTo>
                  <a:pt x="177105" y="182166"/>
                </a:lnTo>
                <a:cubicBezTo>
                  <a:pt x="185489" y="182166"/>
                  <a:pt x="192286" y="188962"/>
                  <a:pt x="192286" y="197346"/>
                </a:cubicBezTo>
                <a:cubicBezTo>
                  <a:pt x="192286" y="205730"/>
                  <a:pt x="185489" y="212527"/>
                  <a:pt x="177105" y="212527"/>
                </a:cubicBezTo>
                <a:close/>
                <a:moveTo>
                  <a:pt x="60722" y="126504"/>
                </a:moveTo>
                <a:cubicBezTo>
                  <a:pt x="60722" y="118120"/>
                  <a:pt x="67518" y="111323"/>
                  <a:pt x="75902" y="111323"/>
                </a:cubicBezTo>
                <a:cubicBezTo>
                  <a:pt x="84286" y="111323"/>
                  <a:pt x="91083" y="118120"/>
                  <a:pt x="91083" y="126504"/>
                </a:cubicBezTo>
                <a:cubicBezTo>
                  <a:pt x="91083" y="134888"/>
                  <a:pt x="84286" y="141684"/>
                  <a:pt x="75902" y="141684"/>
                </a:cubicBezTo>
                <a:cubicBezTo>
                  <a:pt x="67518" y="141684"/>
                  <a:pt x="60722" y="134888"/>
                  <a:pt x="60722" y="126504"/>
                </a:cubicBezTo>
                <a:close/>
                <a:moveTo>
                  <a:pt x="172045" y="126504"/>
                </a:moveTo>
                <a:cubicBezTo>
                  <a:pt x="172045" y="118120"/>
                  <a:pt x="178842" y="111323"/>
                  <a:pt x="187226" y="111323"/>
                </a:cubicBezTo>
                <a:cubicBezTo>
                  <a:pt x="195610" y="111323"/>
                  <a:pt x="202406" y="118120"/>
                  <a:pt x="202406" y="126504"/>
                </a:cubicBezTo>
                <a:cubicBezTo>
                  <a:pt x="202406" y="134888"/>
                  <a:pt x="195610" y="141684"/>
                  <a:pt x="187226" y="141684"/>
                </a:cubicBezTo>
                <a:cubicBezTo>
                  <a:pt x="178842" y="141684"/>
                  <a:pt x="172045" y="134888"/>
                  <a:pt x="172045" y="126504"/>
                </a:cubicBezTo>
                <a:close/>
              </a:path>
            </a:pathLst>
          </a:custGeom>
          <a:solidFill xmlns:a="http://schemas.openxmlformats.org/drawingml/2006/main">
            <a:srgbClr val="2F80ED"/>
          </a:solidFill>
          <a:ln xmlns:a="http://schemas.openxmlformats.org/drawingml/2006/main">
            <a:noFill/>
          </a:ln>
        </p:spPr>
      </p:sp>
      <p:sp>
        <p:nvSpPr>
          <p:cNvPr id="49" name="Freeform 49">
            <a:extLst xmlns:a="http://schemas.openxmlformats.org/drawingml/2006/main">
              <a:ext uri="{FF2B5EF4-FFF2-40B4-BE49-F238E27FC236}">
                <a16:creationId xmlns:a16="http://schemas.microsoft.com/office/drawing/2014/main" id="{DE7B0A22-A5E0-4893-A553-00AC41EE7AEE}"/>
              </a:ext>
            </a:extLst>
          </p:cNvPr>
          <p:cNvSpPr>
            <a:spLocks xmlns:a="http://schemas.openxmlformats.org/drawingml/2006/main" noGrp="1"/>
          </p:cNvSpPr>
          <p:nvPr/>
        </p:nvSpPr>
        <p:spPr>
          <a:xfrm xmlns:a="http://schemas.openxmlformats.org/drawingml/2006/main" rot="0">
            <a:off x="10108610" y="1365052"/>
            <a:ext cx="223455" cy="192286"/>
          </a:xfrm>
          <a:custGeom xmlns:a="http://schemas.openxmlformats.org/drawingml/2006/main">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xmlns:a="http://schemas.openxmlformats.org/drawingml/2006/main">
            <a:srgbClr val="2F80ED">
              <a:alpha val="20000"/>
            </a:srgbClr>
          </a:solidFill>
          <a:ln xmlns:a="http://schemas.openxmlformats.org/drawingml/2006/main">
            <a:noFill/>
          </a:ln>
        </p:spPr>
      </p:sp>
      <p:sp>
        <p:nvSpPr>
          <p:cNvPr id="50" name="Freeform 50">
            <a:extLst xmlns:a="http://schemas.openxmlformats.org/drawingml/2006/main">
              <a:ext uri="{FF2B5EF4-FFF2-40B4-BE49-F238E27FC236}">
                <a16:creationId xmlns:a16="http://schemas.microsoft.com/office/drawing/2014/main" id="{45D4F5E4-794F-4A6C-8162-15ABAB438800}"/>
              </a:ext>
            </a:extLst>
          </p:cNvPr>
          <p:cNvSpPr>
            <a:spLocks xmlns:a="http://schemas.openxmlformats.org/drawingml/2006/main" noGrp="1"/>
          </p:cNvSpPr>
          <p:nvPr/>
        </p:nvSpPr>
        <p:spPr>
          <a:xfrm xmlns:a="http://schemas.openxmlformats.org/drawingml/2006/main" rot="0">
            <a:off x="10092968" y="1334166"/>
            <a:ext cx="255696" cy="273824"/>
          </a:xfrm>
          <a:custGeom xmlns:a="http://schemas.openxmlformats.org/drawingml/2006/main">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xmlns:a="http://schemas.openxmlformats.org/drawingml/2006/main">
            <a:srgbClr val="2F80ED"/>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94C6A3A7-033D-48FE-9A3C-E5F0F632EA58}"/>
              </a:ext>
            </a:extLst>
          </p:cNvPr>
          <p:cNvSpPr>
            <a:spLocks xmlns:a="http://schemas.openxmlformats.org/drawingml/2006/main" noGrp="1"/>
          </p:cNvSpPr>
          <p:nvPr/>
        </p:nvSpPr>
        <p:spPr>
          <a:xfrm xmlns:a="http://schemas.openxmlformats.org/drawingml/2006/main" rot="0">
            <a:off x="9679305" y="1740218"/>
            <a:ext cx="155593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ROBOT RESPONSE</a:t>
            </a:r>
          </a:p>
        </p:txBody>
      </p:sp>
      <p:sp>
        <p:nvSpPr>
          <p:cNvPr id="53" name="TextBox 53">
            <a:extLst xmlns:a="http://schemas.openxmlformats.org/drawingml/2006/main">
              <a:ext uri="{FF2B5EF4-FFF2-40B4-BE49-F238E27FC236}">
                <a16:creationId xmlns:a16="http://schemas.microsoft.com/office/drawing/2014/main" id="{B8DC7129-C54F-4006-95B8-4356B603783C}"/>
              </a:ext>
            </a:extLst>
          </p:cNvPr>
          <p:cNvSpPr>
            <a:spLocks xmlns:a="http://schemas.openxmlformats.org/drawingml/2006/main" noGrp="1"/>
          </p:cNvSpPr>
          <p:nvPr/>
        </p:nvSpPr>
        <p:spPr>
          <a:xfrm xmlns:a="http://schemas.openxmlformats.org/drawingml/2006/main" rot="0">
            <a:off x="9684068" y="2009299"/>
            <a:ext cx="185149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Move, display, computer sound</a:t>
            </a:r>
          </a:p>
        </p:txBody>
      </p:sp>
      <p:sp>
        <p:nvSpPr>
          <p:cNvPr id="55" name="Rectangle 55">
            <a:extLst xmlns:a="http://schemas.openxmlformats.org/drawingml/2006/main">
              <a:ext uri="{FF2B5EF4-FFF2-40B4-BE49-F238E27FC236}">
                <a16:creationId xmlns:a16="http://schemas.microsoft.com/office/drawing/2014/main" id="{9B4A7EC2-037D-47E5-A5E6-13F668416032}"/>
              </a:ext>
            </a:extLst>
          </p:cNvPr>
          <p:cNvSpPr>
            <a:spLocks xmlns:a="http://schemas.openxmlformats.org/drawingml/2006/main" noGrp="1"/>
          </p:cNvSpPr>
          <p:nvPr/>
        </p:nvSpPr>
        <p:spPr>
          <a:xfrm xmlns:a="http://schemas.openxmlformats.org/drawingml/2006/main" rot="0">
            <a:off x="457200" y="2647950"/>
            <a:ext cx="5410200" cy="3143250"/>
          </a:xfrm>
          <a:prstGeom xmlns:a="http://schemas.openxmlformats.org/drawingml/2006/main" prst="roundRect">
            <a:avLst>
              <a:gd name="adj" fmla="val 3636"/>
            </a:avLst>
          </a:prstGeom>
          <a:solidFill xmlns:a="http://schemas.openxmlformats.org/drawingml/2006/main">
            <a:srgbClr val="EAF0F7"/>
          </a:solidFill>
          <a:ln xmlns:a="http://schemas.openxmlformats.org/drawingml/2006/main">
            <a:noFill/>
          </a:ln>
        </p:spPr>
      </p:sp>
      <p:sp>
        <p:nvSpPr>
          <p:cNvPr id="56" name="TextBox 56">
            <a:extLst xmlns:a="http://schemas.openxmlformats.org/drawingml/2006/main">
              <a:ext uri="{FF2B5EF4-FFF2-40B4-BE49-F238E27FC236}">
                <a16:creationId xmlns:a16="http://schemas.microsoft.com/office/drawing/2014/main" id="{CE56D020-B6B6-4C67-BF3C-45B34CEEAA61}"/>
              </a:ext>
            </a:extLst>
          </p:cNvPr>
          <p:cNvSpPr>
            <a:spLocks xmlns:a="http://schemas.openxmlformats.org/drawingml/2006/main" noGrp="1"/>
          </p:cNvSpPr>
          <p:nvPr/>
        </p:nvSpPr>
        <p:spPr>
          <a:xfrm xmlns:a="http://schemas.openxmlformats.org/drawingml/2006/main" rot="0">
            <a:off x="635318" y="2857024"/>
            <a:ext cx="144454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PERCEPTION / DECISION</a:t>
            </a:r>
          </a:p>
        </p:txBody>
      </p:sp>
      <p:sp>
        <p:nvSpPr>
          <p:cNvPr id="57" name="TextBox 57">
            <a:extLst xmlns:a="http://schemas.openxmlformats.org/drawingml/2006/main">
              <a:ext uri="{FF2B5EF4-FFF2-40B4-BE49-F238E27FC236}">
                <a16:creationId xmlns:a16="http://schemas.microsoft.com/office/drawing/2014/main" id="{550C7857-8EAA-41D8-A324-E3FD11D7426C}"/>
              </a:ext>
            </a:extLst>
          </p:cNvPr>
          <p:cNvSpPr>
            <a:spLocks xmlns:a="http://schemas.openxmlformats.org/drawingml/2006/main" noGrp="1"/>
          </p:cNvSpPr>
          <p:nvPr/>
        </p:nvSpPr>
        <p:spPr>
          <a:xfrm xmlns:a="http://schemas.openxmlformats.org/drawingml/2006/main" rot="0">
            <a:off x="5289096" y="2857024"/>
            <a:ext cx="40018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5B6B7A"/>
                </a:solidFill>
                <a:latin typeface="Arial"/>
                <a:ea typeface="Arial"/>
                <a:cs typeface="Arial"/>
              </a:rPr>
              <a:t>ROLE</a:t>
            </a:r>
          </a:p>
        </p:txBody>
      </p:sp>
      <p:sp>
        <p:nvSpPr>
          <p:cNvPr id="58" name="Line 58">
            <a:extLst xmlns:a="http://schemas.openxmlformats.org/drawingml/2006/main">
              <a:ext uri="{FF2B5EF4-FFF2-40B4-BE49-F238E27FC236}">
                <a16:creationId xmlns:a16="http://schemas.microsoft.com/office/drawing/2014/main" id="{73D51244-CC89-4DD2-9439-3929F90F9954}"/>
              </a:ext>
            </a:extLst>
          </p:cNvPr>
          <p:cNvSpPr>
            <a:spLocks xmlns:a="http://schemas.openxmlformats.org/drawingml/2006/main" noGrp="1"/>
          </p:cNvSpPr>
          <p:nvPr/>
        </p:nvSpPr>
        <p:spPr>
          <a:xfrm xmlns:a="http://schemas.openxmlformats.org/drawingml/2006/main" rot="0">
            <a:off x="647700" y="3105150"/>
            <a:ext cx="5029200" cy="9525"/>
          </a:xfrm>
          <a:custGeom xmlns:a="http://schemas.openxmlformats.org/drawingml/2006/main">
            <a:rect l="l" t="t" r="r" b="b"/>
            <a:pathLst>
              <a:path w="5029200" h="9525">
                <a:moveTo>
                  <a:pt x="0" y="0"/>
                </a:moveTo>
                <a:lnTo>
                  <a:pt x="5029200" y="0"/>
                </a:lnTo>
              </a:path>
            </a:pathLst>
          </a:custGeom>
          <a:noFill xmlns:a="http://schemas.openxmlformats.org/drawingml/2006/main"/>
          <a:ln xmlns:a="http://schemas.openxmlformats.org/drawingml/2006/main" w="9525">
            <a:solidFill>
              <a:srgbClr val="CED8E4"/>
            </a:solidFill>
          </a:ln>
        </p:spPr>
      </p:sp>
      <p:sp>
        <p:nvSpPr>
          <p:cNvPr id="59" name="Freeform 59">
            <a:extLst xmlns:a="http://schemas.openxmlformats.org/drawingml/2006/main">
              <a:ext uri="{FF2B5EF4-FFF2-40B4-BE49-F238E27FC236}">
                <a16:creationId xmlns:a16="http://schemas.microsoft.com/office/drawing/2014/main" id="{E3EF26CE-2140-470C-94C7-4212A5942B3F}"/>
              </a:ext>
            </a:extLst>
          </p:cNvPr>
          <p:cNvSpPr>
            <a:spLocks xmlns:a="http://schemas.openxmlformats.org/drawingml/2006/main" noGrp="1"/>
          </p:cNvSpPr>
          <p:nvPr/>
        </p:nvSpPr>
        <p:spPr>
          <a:xfrm xmlns:a="http://schemas.openxmlformats.org/drawingml/2006/main" rot="0">
            <a:off x="689372" y="3326606"/>
            <a:ext cx="183356" cy="183356"/>
          </a:xfrm>
          <a:custGeom xmlns:a="http://schemas.openxmlformats.org/drawingml/2006/main">
            <a:rect l="l" t="t" r="r" b="b"/>
            <a:pathLst>
              <a:path w="183356" h="183356">
                <a:moveTo>
                  <a:pt x="183356" y="91678"/>
                </a:moveTo>
                <a:cubicBezTo>
                  <a:pt x="183356" y="142311"/>
                  <a:pt x="142311" y="183356"/>
                  <a:pt x="91678" y="183356"/>
                </a:cubicBezTo>
                <a:cubicBezTo>
                  <a:pt x="41046" y="183356"/>
                  <a:pt x="0" y="142311"/>
                  <a:pt x="0" y="91678"/>
                </a:cubicBezTo>
                <a:cubicBezTo>
                  <a:pt x="0" y="41046"/>
                  <a:pt x="41046" y="0"/>
                  <a:pt x="91678" y="0"/>
                </a:cubicBezTo>
                <a:cubicBezTo>
                  <a:pt x="142311" y="0"/>
                  <a:pt x="183356" y="41046"/>
                  <a:pt x="183356" y="91678"/>
                </a:cubicBezTo>
                <a:close/>
              </a:path>
            </a:pathLst>
          </a:custGeom>
          <a:solidFill xmlns:a="http://schemas.openxmlformats.org/drawingml/2006/main">
            <a:srgbClr val="2F80ED">
              <a:alpha val="20000"/>
            </a:srgbClr>
          </a:solidFill>
          <a:ln xmlns:a="http://schemas.openxmlformats.org/drawingml/2006/main">
            <a:noFill/>
          </a:ln>
        </p:spPr>
      </p:sp>
      <p:sp>
        <p:nvSpPr>
          <p:cNvPr id="60" name="Freeform 60">
            <a:extLst xmlns:a="http://schemas.openxmlformats.org/drawingml/2006/main">
              <a:ext uri="{FF2B5EF4-FFF2-40B4-BE49-F238E27FC236}">
                <a16:creationId xmlns:a16="http://schemas.microsoft.com/office/drawing/2014/main" id="{BE88FB9C-CB4D-4B66-9972-FB0470DFE463}"/>
              </a:ext>
            </a:extLst>
          </p:cNvPr>
          <p:cNvSpPr>
            <a:spLocks xmlns:a="http://schemas.openxmlformats.org/drawingml/2006/main" noGrp="1"/>
          </p:cNvSpPr>
          <p:nvPr/>
        </p:nvSpPr>
        <p:spPr>
          <a:xfrm xmlns:a="http://schemas.openxmlformats.org/drawingml/2006/main" rot="0">
            <a:off x="681038" y="3284934"/>
            <a:ext cx="200025" cy="233362"/>
          </a:xfrm>
          <a:custGeom xmlns:a="http://schemas.openxmlformats.org/drawingml/2006/main">
            <a:rect l="l" t="t" r="r" b="b"/>
            <a:pathLst>
              <a:path w="200025" h="233362">
                <a:moveTo>
                  <a:pt x="100012" y="33338"/>
                </a:moveTo>
                <a:cubicBezTo>
                  <a:pt x="44777" y="33338"/>
                  <a:pt x="0" y="78115"/>
                  <a:pt x="0" y="133350"/>
                </a:cubicBezTo>
                <a:cubicBezTo>
                  <a:pt x="0" y="188585"/>
                  <a:pt x="44777" y="233362"/>
                  <a:pt x="100012" y="233362"/>
                </a:cubicBezTo>
                <a:cubicBezTo>
                  <a:pt x="155248" y="233362"/>
                  <a:pt x="200025" y="188585"/>
                  <a:pt x="200025" y="133350"/>
                </a:cubicBezTo>
                <a:cubicBezTo>
                  <a:pt x="199962" y="78141"/>
                  <a:pt x="155222" y="33401"/>
                  <a:pt x="100013" y="33338"/>
                </a:cubicBezTo>
                <a:close/>
                <a:moveTo>
                  <a:pt x="100012" y="216694"/>
                </a:moveTo>
                <a:cubicBezTo>
                  <a:pt x="53983" y="216694"/>
                  <a:pt x="16669" y="179379"/>
                  <a:pt x="16669" y="133350"/>
                </a:cubicBezTo>
                <a:cubicBezTo>
                  <a:pt x="16669" y="87321"/>
                  <a:pt x="53983" y="50006"/>
                  <a:pt x="100012" y="50006"/>
                </a:cubicBezTo>
                <a:cubicBezTo>
                  <a:pt x="146042" y="50006"/>
                  <a:pt x="183356" y="87321"/>
                  <a:pt x="183356" y="133350"/>
                </a:cubicBezTo>
                <a:cubicBezTo>
                  <a:pt x="183305" y="179358"/>
                  <a:pt x="146021" y="216642"/>
                  <a:pt x="100013" y="216694"/>
                </a:cubicBezTo>
                <a:close/>
                <a:moveTo>
                  <a:pt x="147581" y="85782"/>
                </a:moveTo>
                <a:cubicBezTo>
                  <a:pt x="149146" y="87345"/>
                  <a:pt x="150025" y="89466"/>
                  <a:pt x="150025" y="91678"/>
                </a:cubicBezTo>
                <a:cubicBezTo>
                  <a:pt x="150025" y="93890"/>
                  <a:pt x="149146" y="96011"/>
                  <a:pt x="147581" y="97575"/>
                </a:cubicBezTo>
                <a:lnTo>
                  <a:pt x="105909" y="139247"/>
                </a:lnTo>
                <a:cubicBezTo>
                  <a:pt x="102652" y="142503"/>
                  <a:pt x="97373" y="142503"/>
                  <a:pt x="94116" y="139247"/>
                </a:cubicBezTo>
                <a:cubicBezTo>
                  <a:pt x="90859" y="135990"/>
                  <a:pt x="90859" y="130710"/>
                  <a:pt x="94116" y="127453"/>
                </a:cubicBezTo>
                <a:lnTo>
                  <a:pt x="135788" y="85782"/>
                </a:lnTo>
                <a:cubicBezTo>
                  <a:pt x="137351" y="84217"/>
                  <a:pt x="139472" y="83337"/>
                  <a:pt x="141684" y="83337"/>
                </a:cubicBezTo>
                <a:cubicBezTo>
                  <a:pt x="143896" y="83337"/>
                  <a:pt x="146018" y="84217"/>
                  <a:pt x="147581" y="85782"/>
                </a:cubicBezTo>
                <a:close/>
                <a:moveTo>
                  <a:pt x="66675" y="8334"/>
                </a:moveTo>
                <a:cubicBezTo>
                  <a:pt x="66675" y="3731"/>
                  <a:pt x="70406" y="0"/>
                  <a:pt x="75009" y="0"/>
                </a:cubicBezTo>
                <a:lnTo>
                  <a:pt x="125016" y="0"/>
                </a:lnTo>
                <a:cubicBezTo>
                  <a:pt x="129619" y="0"/>
                  <a:pt x="133350" y="3731"/>
                  <a:pt x="133350" y="8334"/>
                </a:cubicBezTo>
                <a:cubicBezTo>
                  <a:pt x="133350" y="12937"/>
                  <a:pt x="129619" y="16669"/>
                  <a:pt x="125016" y="16669"/>
                </a:cubicBezTo>
                <a:lnTo>
                  <a:pt x="75009" y="16669"/>
                </a:lnTo>
                <a:cubicBezTo>
                  <a:pt x="70406" y="16669"/>
                  <a:pt x="66675" y="12937"/>
                  <a:pt x="66675" y="8334"/>
                </a:cubicBezTo>
                <a:close/>
              </a:path>
            </a:pathLst>
          </a:custGeom>
          <a:solidFill xmlns:a="http://schemas.openxmlformats.org/drawingml/2006/main">
            <a:srgbClr val="2F80ED"/>
          </a:solidFill>
          <a:ln xmlns:a="http://schemas.openxmlformats.org/drawingml/2006/main">
            <a:noFill/>
          </a:ln>
        </p:spPr>
      </p:sp>
      <p:sp>
        <p:nvSpPr>
          <p:cNvPr id="62" name="TextBox 62">
            <a:extLst xmlns:a="http://schemas.openxmlformats.org/drawingml/2006/main">
              <a:ext uri="{FF2B5EF4-FFF2-40B4-BE49-F238E27FC236}">
                <a16:creationId xmlns:a16="http://schemas.microsoft.com/office/drawing/2014/main" id="{62DA0EB7-5CDB-4A20-A110-FF29F3BFB922}"/>
              </a:ext>
            </a:extLst>
          </p:cNvPr>
          <p:cNvSpPr>
            <a:spLocks xmlns:a="http://schemas.openxmlformats.org/drawingml/2006/main" noGrp="1"/>
          </p:cNvSpPr>
          <p:nvPr/>
        </p:nvSpPr>
        <p:spPr>
          <a:xfrm xmlns:a="http://schemas.openxmlformats.org/drawingml/2006/main" rot="0">
            <a:off x="1032510" y="3280410"/>
            <a:ext cx="134104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Vision models</a:t>
            </a:r>
          </a:p>
        </p:txBody>
      </p:sp>
      <p:sp>
        <p:nvSpPr>
          <p:cNvPr id="63" name="TextBox 63">
            <a:extLst xmlns:a="http://schemas.openxmlformats.org/drawingml/2006/main">
              <a:ext uri="{FF2B5EF4-FFF2-40B4-BE49-F238E27FC236}">
                <a16:creationId xmlns:a16="http://schemas.microsoft.com/office/drawing/2014/main" id="{0643E7CF-0093-4429-BABC-AD3A100F3465}"/>
              </a:ext>
            </a:extLst>
          </p:cNvPr>
          <p:cNvSpPr>
            <a:spLocks xmlns:a="http://schemas.openxmlformats.org/drawingml/2006/main" noGrp="1"/>
          </p:cNvSpPr>
          <p:nvPr/>
        </p:nvSpPr>
        <p:spPr>
          <a:xfrm xmlns:a="http://schemas.openxmlformats.org/drawingml/2006/main" rot="0">
            <a:off x="1035368" y="3504724"/>
            <a:ext cx="9868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Pose, face, hand and phone</a:t>
            </a:r>
          </a:p>
        </p:txBody>
      </p:sp>
      <p:sp>
        <p:nvSpPr>
          <p:cNvPr id="64" name="TextBox 64">
            <a:extLst xmlns:a="http://schemas.openxmlformats.org/drawingml/2006/main">
              <a:ext uri="{FF2B5EF4-FFF2-40B4-BE49-F238E27FC236}">
                <a16:creationId xmlns:a16="http://schemas.microsoft.com/office/drawing/2014/main" id="{138F1B47-B80C-43C3-92A8-22B1DC4E1C79}"/>
              </a:ext>
            </a:extLst>
          </p:cNvPr>
          <p:cNvSpPr>
            <a:spLocks xmlns:a="http://schemas.openxmlformats.org/drawingml/2006/main" noGrp="1"/>
          </p:cNvSpPr>
          <p:nvPr/>
        </p:nvSpPr>
        <p:spPr>
          <a:xfrm xmlns:a="http://schemas.openxmlformats.org/drawingml/2006/main" rot="0">
            <a:off x="4617887" y="3409474"/>
            <a:ext cx="107139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events</a:t>
            </a:r>
          </a:p>
        </p:txBody>
      </p:sp>
      <p:sp>
        <p:nvSpPr>
          <p:cNvPr id="65" name="Line 65">
            <a:extLst xmlns:a="http://schemas.openxmlformats.org/drawingml/2006/main">
              <a:ext uri="{FF2B5EF4-FFF2-40B4-BE49-F238E27FC236}">
                <a16:creationId xmlns:a16="http://schemas.microsoft.com/office/drawing/2014/main" id="{CF1135BE-98AA-4593-BE77-A3E4E0AD23BA}"/>
              </a:ext>
            </a:extLst>
          </p:cNvPr>
          <p:cNvSpPr>
            <a:spLocks xmlns:a="http://schemas.openxmlformats.org/drawingml/2006/main" noGrp="1"/>
          </p:cNvSpPr>
          <p:nvPr/>
        </p:nvSpPr>
        <p:spPr>
          <a:xfrm xmlns:a="http://schemas.openxmlformats.org/drawingml/2006/main" rot="0">
            <a:off x="647700" y="3771900"/>
            <a:ext cx="5029200" cy="9525"/>
          </a:xfrm>
          <a:custGeom xmlns:a="http://schemas.openxmlformats.org/drawingml/2006/main">
            <a:rect l="l" t="t" r="r" b="b"/>
            <a:pathLst>
              <a:path w="5029200" h="9525">
                <a:moveTo>
                  <a:pt x="0" y="0"/>
                </a:moveTo>
                <a:lnTo>
                  <a:pt x="5029200" y="0"/>
                </a:lnTo>
              </a:path>
            </a:pathLst>
          </a:custGeom>
          <a:noFill xmlns:a="http://schemas.openxmlformats.org/drawingml/2006/main"/>
          <a:ln xmlns:a="http://schemas.openxmlformats.org/drawingml/2006/main" w="9525">
            <a:solidFill>
              <a:srgbClr val="CED8E4"/>
            </a:solidFill>
          </a:ln>
        </p:spPr>
      </p:sp>
      <p:sp>
        <p:nvSpPr>
          <p:cNvPr id="66" name="Freeform 66">
            <a:extLst xmlns:a="http://schemas.openxmlformats.org/drawingml/2006/main">
              <a:ext uri="{FF2B5EF4-FFF2-40B4-BE49-F238E27FC236}">
                <a16:creationId xmlns:a16="http://schemas.microsoft.com/office/drawing/2014/main" id="{FB39B793-3BE7-4187-850D-863440FA5DEA}"/>
              </a:ext>
            </a:extLst>
          </p:cNvPr>
          <p:cNvSpPr>
            <a:spLocks xmlns:a="http://schemas.openxmlformats.org/drawingml/2006/main" noGrp="1"/>
          </p:cNvSpPr>
          <p:nvPr/>
        </p:nvSpPr>
        <p:spPr>
          <a:xfrm xmlns:a="http://schemas.openxmlformats.org/drawingml/2006/main" rot="0">
            <a:off x="688138" y="3960019"/>
            <a:ext cx="185845" cy="226583"/>
          </a:xfrm>
          <a:custGeom xmlns:a="http://schemas.openxmlformats.org/drawingml/2006/main">
            <a:rect l="l" t="t" r="r" b="b"/>
            <a:pathLst>
              <a:path w="185845" h="226583">
                <a:moveTo>
                  <a:pt x="67909" y="25003"/>
                </a:moveTo>
                <a:cubicBezTo>
                  <a:pt x="67909" y="11194"/>
                  <a:pt x="79103" y="0"/>
                  <a:pt x="92912" y="0"/>
                </a:cubicBezTo>
                <a:cubicBezTo>
                  <a:pt x="106721" y="0"/>
                  <a:pt x="117915" y="11194"/>
                  <a:pt x="117915" y="25003"/>
                </a:cubicBezTo>
                <a:cubicBezTo>
                  <a:pt x="117915" y="38812"/>
                  <a:pt x="106721" y="50006"/>
                  <a:pt x="92912" y="50006"/>
                </a:cubicBezTo>
                <a:cubicBezTo>
                  <a:pt x="79103" y="50006"/>
                  <a:pt x="67909" y="38812"/>
                  <a:pt x="67909" y="25003"/>
                </a:cubicBezTo>
                <a:close/>
                <a:moveTo>
                  <a:pt x="180933" y="128672"/>
                </a:moveTo>
                <a:lnTo>
                  <a:pt x="133719" y="75145"/>
                </a:lnTo>
                <a:cubicBezTo>
                  <a:pt x="128974" y="69761"/>
                  <a:pt x="122144" y="66676"/>
                  <a:pt x="114967" y="66675"/>
                </a:cubicBezTo>
                <a:lnTo>
                  <a:pt x="70857" y="66675"/>
                </a:lnTo>
                <a:cubicBezTo>
                  <a:pt x="63681" y="66676"/>
                  <a:pt x="56850" y="69761"/>
                  <a:pt x="52105" y="75145"/>
                </a:cubicBezTo>
                <a:lnTo>
                  <a:pt x="4891" y="128672"/>
                </a:lnTo>
                <a:cubicBezTo>
                  <a:pt x="0" y="133563"/>
                  <a:pt x="0" y="141492"/>
                  <a:pt x="4891" y="146383"/>
                </a:cubicBezTo>
                <a:cubicBezTo>
                  <a:pt x="9781" y="151274"/>
                  <a:pt x="17711" y="151274"/>
                  <a:pt x="22601" y="146383"/>
                </a:cubicBezTo>
                <a:lnTo>
                  <a:pt x="59575" y="116681"/>
                </a:lnTo>
                <a:lnTo>
                  <a:pt x="35749" y="207245"/>
                </a:lnTo>
                <a:cubicBezTo>
                  <a:pt x="32950" y="213480"/>
                  <a:pt x="35677" y="220807"/>
                  <a:pt x="41871" y="223695"/>
                </a:cubicBezTo>
                <a:cubicBezTo>
                  <a:pt x="48066" y="226583"/>
                  <a:pt x="55431" y="223961"/>
                  <a:pt x="58408" y="217808"/>
                </a:cubicBezTo>
                <a:lnTo>
                  <a:pt x="92912" y="158353"/>
                </a:lnTo>
                <a:lnTo>
                  <a:pt x="127416" y="217808"/>
                </a:lnTo>
                <a:cubicBezTo>
                  <a:pt x="130393" y="223961"/>
                  <a:pt x="137758" y="226583"/>
                  <a:pt x="143953" y="223695"/>
                </a:cubicBezTo>
                <a:cubicBezTo>
                  <a:pt x="150147" y="220807"/>
                  <a:pt x="152874" y="213480"/>
                  <a:pt x="150075" y="207245"/>
                </a:cubicBezTo>
                <a:lnTo>
                  <a:pt x="126250" y="116681"/>
                </a:lnTo>
                <a:lnTo>
                  <a:pt x="163244" y="146362"/>
                </a:lnTo>
                <a:cubicBezTo>
                  <a:pt x="168134" y="151253"/>
                  <a:pt x="176064" y="151253"/>
                  <a:pt x="180954" y="146362"/>
                </a:cubicBezTo>
                <a:cubicBezTo>
                  <a:pt x="185845" y="141471"/>
                  <a:pt x="185845" y="133542"/>
                  <a:pt x="180954" y="128651"/>
                </a:cubicBezTo>
                <a:close/>
              </a:path>
            </a:pathLst>
          </a:custGeom>
          <a:solidFill xmlns:a="http://schemas.openxmlformats.org/drawingml/2006/main">
            <a:srgbClr val="2F80ED">
              <a:alpha val="20000"/>
            </a:srgbClr>
          </a:solidFill>
          <a:ln xmlns:a="http://schemas.openxmlformats.org/drawingml/2006/main">
            <a:noFill/>
          </a:ln>
        </p:spPr>
      </p:sp>
      <p:sp>
        <p:nvSpPr>
          <p:cNvPr id="67" name="Freeform 67">
            <a:extLst xmlns:a="http://schemas.openxmlformats.org/drawingml/2006/main">
              <a:ext uri="{FF2B5EF4-FFF2-40B4-BE49-F238E27FC236}">
                <a16:creationId xmlns:a16="http://schemas.microsoft.com/office/drawing/2014/main" id="{C147300D-2691-4528-8C71-C9E599B9EC9F}"/>
              </a:ext>
            </a:extLst>
          </p:cNvPr>
          <p:cNvSpPr>
            <a:spLocks xmlns:a="http://schemas.openxmlformats.org/drawingml/2006/main" noGrp="1"/>
          </p:cNvSpPr>
          <p:nvPr/>
        </p:nvSpPr>
        <p:spPr>
          <a:xfrm xmlns:a="http://schemas.openxmlformats.org/drawingml/2006/main" rot="0">
            <a:off x="678983" y="3951684"/>
            <a:ext cx="204134" cy="245163"/>
          </a:xfrm>
          <a:custGeom xmlns:a="http://schemas.openxmlformats.org/drawingml/2006/main">
            <a:rect l="l" t="t" r="r" b="b"/>
            <a:pathLst>
              <a:path w="204134" h="245163">
                <a:moveTo>
                  <a:pt x="135404" y="33338"/>
                </a:moveTo>
                <a:cubicBezTo>
                  <a:pt x="135404" y="14926"/>
                  <a:pt x="120479" y="0"/>
                  <a:pt x="102067" y="0"/>
                </a:cubicBezTo>
                <a:cubicBezTo>
                  <a:pt x="83655" y="0"/>
                  <a:pt x="68729" y="14926"/>
                  <a:pt x="68729" y="33338"/>
                </a:cubicBezTo>
                <a:cubicBezTo>
                  <a:pt x="68729" y="51749"/>
                  <a:pt x="83655" y="66675"/>
                  <a:pt x="102067" y="66675"/>
                </a:cubicBezTo>
                <a:cubicBezTo>
                  <a:pt x="120479" y="66675"/>
                  <a:pt x="135404" y="51749"/>
                  <a:pt x="135404" y="33338"/>
                </a:cubicBezTo>
                <a:close/>
                <a:moveTo>
                  <a:pt x="102067" y="50006"/>
                </a:moveTo>
                <a:cubicBezTo>
                  <a:pt x="92861" y="50006"/>
                  <a:pt x="85398" y="42543"/>
                  <a:pt x="85398" y="33338"/>
                </a:cubicBezTo>
                <a:cubicBezTo>
                  <a:pt x="85398" y="24132"/>
                  <a:pt x="92861" y="16669"/>
                  <a:pt x="102067" y="16669"/>
                </a:cubicBezTo>
                <a:cubicBezTo>
                  <a:pt x="111273" y="16669"/>
                  <a:pt x="118736" y="24132"/>
                  <a:pt x="118736" y="33338"/>
                </a:cubicBezTo>
                <a:cubicBezTo>
                  <a:pt x="118736" y="42543"/>
                  <a:pt x="111273" y="50006"/>
                  <a:pt x="102067" y="50006"/>
                </a:cubicBezTo>
                <a:close/>
                <a:moveTo>
                  <a:pt x="196183" y="131318"/>
                </a:moveTo>
                <a:lnTo>
                  <a:pt x="149125" y="77958"/>
                </a:lnTo>
                <a:cubicBezTo>
                  <a:pt x="142796" y="70783"/>
                  <a:pt x="133689" y="66674"/>
                  <a:pt x="124122" y="66675"/>
                </a:cubicBezTo>
                <a:lnTo>
                  <a:pt x="80012" y="66675"/>
                </a:lnTo>
                <a:cubicBezTo>
                  <a:pt x="70445" y="66674"/>
                  <a:pt x="61338" y="70783"/>
                  <a:pt x="55009" y="77958"/>
                </a:cubicBezTo>
                <a:lnTo>
                  <a:pt x="7951" y="131318"/>
                </a:lnTo>
                <a:cubicBezTo>
                  <a:pt x="0" y="139450"/>
                  <a:pt x="39" y="152456"/>
                  <a:pt x="8038" y="160540"/>
                </a:cubicBezTo>
                <a:cubicBezTo>
                  <a:pt x="16037" y="168624"/>
                  <a:pt x="29041" y="168801"/>
                  <a:pt x="37257" y="160937"/>
                </a:cubicBezTo>
                <a:lnTo>
                  <a:pt x="54238" y="147310"/>
                </a:lnTo>
                <a:lnTo>
                  <a:pt x="37007" y="212818"/>
                </a:lnTo>
                <a:cubicBezTo>
                  <a:pt x="32254" y="223304"/>
                  <a:pt x="36902" y="235658"/>
                  <a:pt x="47388" y="240410"/>
                </a:cubicBezTo>
                <a:cubicBezTo>
                  <a:pt x="57874" y="245163"/>
                  <a:pt x="70228" y="240515"/>
                  <a:pt x="74980" y="230029"/>
                </a:cubicBezTo>
                <a:lnTo>
                  <a:pt x="102067" y="183283"/>
                </a:lnTo>
                <a:lnTo>
                  <a:pt x="129154" y="230029"/>
                </a:lnTo>
                <a:cubicBezTo>
                  <a:pt x="134111" y="240147"/>
                  <a:pt x="146213" y="244492"/>
                  <a:pt x="156474" y="239836"/>
                </a:cubicBezTo>
                <a:cubicBezTo>
                  <a:pt x="166734" y="235181"/>
                  <a:pt x="171435" y="223212"/>
                  <a:pt x="167085" y="212818"/>
                </a:cubicBezTo>
                <a:lnTo>
                  <a:pt x="149896" y="147310"/>
                </a:lnTo>
                <a:lnTo>
                  <a:pt x="166877" y="160937"/>
                </a:lnTo>
                <a:cubicBezTo>
                  <a:pt x="175093" y="168801"/>
                  <a:pt x="188097" y="168624"/>
                  <a:pt x="196096" y="160540"/>
                </a:cubicBezTo>
                <a:cubicBezTo>
                  <a:pt x="204095" y="152456"/>
                  <a:pt x="204134" y="139450"/>
                  <a:pt x="196183" y="131318"/>
                </a:cubicBezTo>
                <a:close/>
                <a:moveTo>
                  <a:pt x="184192" y="148789"/>
                </a:moveTo>
                <a:cubicBezTo>
                  <a:pt x="183410" y="149572"/>
                  <a:pt x="182349" y="150012"/>
                  <a:pt x="181243" y="150012"/>
                </a:cubicBezTo>
                <a:cubicBezTo>
                  <a:pt x="180137" y="150012"/>
                  <a:pt x="179077" y="149572"/>
                  <a:pt x="178295" y="148789"/>
                </a:cubicBezTo>
                <a:cubicBezTo>
                  <a:pt x="178076" y="148581"/>
                  <a:pt x="177858" y="148373"/>
                  <a:pt x="177618" y="148185"/>
                </a:cubicBezTo>
                <a:lnTo>
                  <a:pt x="140613" y="118515"/>
                </a:lnTo>
                <a:cubicBezTo>
                  <a:pt x="137813" y="116279"/>
                  <a:pt x="133897" y="116084"/>
                  <a:pt x="130888" y="118030"/>
                </a:cubicBezTo>
                <a:cubicBezTo>
                  <a:pt x="127879" y="119976"/>
                  <a:pt x="126450" y="123628"/>
                  <a:pt x="127341" y="127099"/>
                </a:cubicBezTo>
                <a:lnTo>
                  <a:pt x="151177" y="217736"/>
                </a:lnTo>
                <a:cubicBezTo>
                  <a:pt x="151300" y="218219"/>
                  <a:pt x="151467" y="218690"/>
                  <a:pt x="151677" y="219142"/>
                </a:cubicBezTo>
                <a:cubicBezTo>
                  <a:pt x="152332" y="220495"/>
                  <a:pt x="152207" y="222096"/>
                  <a:pt x="151351" y="223331"/>
                </a:cubicBezTo>
                <a:cubicBezTo>
                  <a:pt x="150494" y="224566"/>
                  <a:pt x="149039" y="225244"/>
                  <a:pt x="147543" y="225106"/>
                </a:cubicBezTo>
                <a:cubicBezTo>
                  <a:pt x="146046" y="224968"/>
                  <a:pt x="144740" y="224034"/>
                  <a:pt x="144124" y="222663"/>
                </a:cubicBezTo>
                <a:cubicBezTo>
                  <a:pt x="144022" y="222438"/>
                  <a:pt x="143907" y="222219"/>
                  <a:pt x="143780" y="222007"/>
                </a:cubicBezTo>
                <a:lnTo>
                  <a:pt x="109276" y="162520"/>
                </a:lnTo>
                <a:cubicBezTo>
                  <a:pt x="107785" y="159950"/>
                  <a:pt x="105038" y="158368"/>
                  <a:pt x="102067" y="158368"/>
                </a:cubicBezTo>
                <a:cubicBezTo>
                  <a:pt x="99095" y="158368"/>
                  <a:pt x="96349" y="159950"/>
                  <a:pt x="94858" y="162520"/>
                </a:cubicBezTo>
                <a:lnTo>
                  <a:pt x="60395" y="221955"/>
                </a:lnTo>
                <a:cubicBezTo>
                  <a:pt x="60268" y="222167"/>
                  <a:pt x="60153" y="222386"/>
                  <a:pt x="60051" y="222611"/>
                </a:cubicBezTo>
                <a:cubicBezTo>
                  <a:pt x="59584" y="223614"/>
                  <a:pt x="58737" y="224390"/>
                  <a:pt x="57697" y="224768"/>
                </a:cubicBezTo>
                <a:cubicBezTo>
                  <a:pt x="56112" y="225349"/>
                  <a:pt x="54333" y="224916"/>
                  <a:pt x="53192" y="223672"/>
                </a:cubicBezTo>
                <a:cubicBezTo>
                  <a:pt x="52051" y="222428"/>
                  <a:pt x="51773" y="220619"/>
                  <a:pt x="52488" y="219090"/>
                </a:cubicBezTo>
                <a:cubicBezTo>
                  <a:pt x="52698" y="218638"/>
                  <a:pt x="52865" y="218167"/>
                  <a:pt x="52988" y="217683"/>
                </a:cubicBezTo>
                <a:lnTo>
                  <a:pt x="76793" y="127099"/>
                </a:lnTo>
                <a:cubicBezTo>
                  <a:pt x="77683" y="123628"/>
                  <a:pt x="76255" y="119976"/>
                  <a:pt x="73246" y="118030"/>
                </a:cubicBezTo>
                <a:cubicBezTo>
                  <a:pt x="70237" y="116084"/>
                  <a:pt x="66321" y="116279"/>
                  <a:pt x="63520" y="118515"/>
                </a:cubicBezTo>
                <a:lnTo>
                  <a:pt x="26516" y="148185"/>
                </a:lnTo>
                <a:cubicBezTo>
                  <a:pt x="26276" y="148373"/>
                  <a:pt x="26057" y="148581"/>
                  <a:pt x="25839" y="148789"/>
                </a:cubicBezTo>
                <a:cubicBezTo>
                  <a:pt x="24797" y="149888"/>
                  <a:pt x="23241" y="150335"/>
                  <a:pt x="21774" y="149957"/>
                </a:cubicBezTo>
                <a:cubicBezTo>
                  <a:pt x="20308" y="149579"/>
                  <a:pt x="19162" y="148435"/>
                  <a:pt x="18782" y="146970"/>
                </a:cubicBezTo>
                <a:cubicBezTo>
                  <a:pt x="18401" y="145504"/>
                  <a:pt x="18845" y="143947"/>
                  <a:pt x="19942" y="142903"/>
                </a:cubicBezTo>
                <a:cubicBezTo>
                  <a:pt x="20067" y="142778"/>
                  <a:pt x="20182" y="142653"/>
                  <a:pt x="20296" y="142518"/>
                </a:cubicBezTo>
                <a:lnTo>
                  <a:pt x="67510" y="88980"/>
                </a:lnTo>
                <a:cubicBezTo>
                  <a:pt x="70676" y="85395"/>
                  <a:pt x="75229" y="83342"/>
                  <a:pt x="80012" y="83344"/>
                </a:cubicBezTo>
                <a:lnTo>
                  <a:pt x="124122" y="83344"/>
                </a:lnTo>
                <a:cubicBezTo>
                  <a:pt x="128904" y="83342"/>
                  <a:pt x="133458" y="85395"/>
                  <a:pt x="136623" y="88980"/>
                </a:cubicBezTo>
                <a:lnTo>
                  <a:pt x="183838" y="142518"/>
                </a:lnTo>
                <a:cubicBezTo>
                  <a:pt x="183952" y="142653"/>
                  <a:pt x="184067" y="142778"/>
                  <a:pt x="184192" y="142903"/>
                </a:cubicBezTo>
                <a:cubicBezTo>
                  <a:pt x="185814" y="144530"/>
                  <a:pt x="185814" y="147163"/>
                  <a:pt x="184192" y="148789"/>
                </a:cubicBezTo>
                <a:close/>
              </a:path>
            </a:pathLst>
          </a:custGeom>
          <a:solidFill xmlns:a="http://schemas.openxmlformats.org/drawingml/2006/main">
            <a:srgbClr val="2F80ED"/>
          </a:solidFill>
          <a:ln xmlns:a="http://schemas.openxmlformats.org/drawingml/2006/main">
            <a:noFill/>
          </a:ln>
        </p:spPr>
      </p:sp>
      <p:sp>
        <p:nvSpPr>
          <p:cNvPr id="69" name="TextBox 69">
            <a:extLst xmlns:a="http://schemas.openxmlformats.org/drawingml/2006/main">
              <a:ext uri="{FF2B5EF4-FFF2-40B4-BE49-F238E27FC236}">
                <a16:creationId xmlns:a16="http://schemas.microsoft.com/office/drawing/2014/main" id="{A15F3307-91B2-47FB-9B9D-92DF77C1774F}"/>
              </a:ext>
            </a:extLst>
          </p:cNvPr>
          <p:cNvSpPr>
            <a:spLocks xmlns:a="http://schemas.openxmlformats.org/drawingml/2006/main" noGrp="1"/>
          </p:cNvSpPr>
          <p:nvPr/>
        </p:nvSpPr>
        <p:spPr>
          <a:xfrm xmlns:a="http://schemas.openxmlformats.org/drawingml/2006/main" rot="0">
            <a:off x="1032510" y="3947160"/>
            <a:ext cx="1240231"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Temporal logic</a:t>
            </a:r>
          </a:p>
        </p:txBody>
      </p:sp>
      <p:sp>
        <p:nvSpPr>
          <p:cNvPr id="70" name="TextBox 70">
            <a:extLst xmlns:a="http://schemas.openxmlformats.org/drawingml/2006/main">
              <a:ext uri="{FF2B5EF4-FFF2-40B4-BE49-F238E27FC236}">
                <a16:creationId xmlns:a16="http://schemas.microsoft.com/office/drawing/2014/main" id="{39419EBB-461A-4F39-9F98-09A66AC387A2}"/>
              </a:ext>
            </a:extLst>
          </p:cNvPr>
          <p:cNvSpPr>
            <a:spLocks xmlns:a="http://schemas.openxmlformats.org/drawingml/2006/main" noGrp="1"/>
          </p:cNvSpPr>
          <p:nvPr/>
        </p:nvSpPr>
        <p:spPr>
          <a:xfrm xmlns:a="http://schemas.openxmlformats.org/drawingml/2006/main" rot="0">
            <a:off x="1035368" y="4171474"/>
            <a:ext cx="257308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Smooth, confirm and apply cooldown</a:t>
            </a:r>
          </a:p>
        </p:txBody>
      </p:sp>
      <p:sp>
        <p:nvSpPr>
          <p:cNvPr id="71" name="TextBox 71">
            <a:extLst xmlns:a="http://schemas.openxmlformats.org/drawingml/2006/main">
              <a:ext uri="{FF2B5EF4-FFF2-40B4-BE49-F238E27FC236}">
                <a16:creationId xmlns:a16="http://schemas.microsoft.com/office/drawing/2014/main" id="{14452338-34E9-4499-87AA-7638A07BEB9E}"/>
              </a:ext>
            </a:extLst>
          </p:cNvPr>
          <p:cNvSpPr>
            <a:spLocks xmlns:a="http://schemas.openxmlformats.org/drawingml/2006/main" noGrp="1"/>
          </p:cNvSpPr>
          <p:nvPr/>
        </p:nvSpPr>
        <p:spPr>
          <a:xfrm xmlns:a="http://schemas.openxmlformats.org/drawingml/2006/main" rot="0">
            <a:off x="4656892" y="4076224"/>
            <a:ext cx="103239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gate</a:t>
            </a:r>
          </a:p>
        </p:txBody>
      </p:sp>
      <p:sp>
        <p:nvSpPr>
          <p:cNvPr id="72" name="Line 72">
            <a:extLst xmlns:a="http://schemas.openxmlformats.org/drawingml/2006/main">
              <a:ext uri="{FF2B5EF4-FFF2-40B4-BE49-F238E27FC236}">
                <a16:creationId xmlns:a16="http://schemas.microsoft.com/office/drawing/2014/main" id="{E8C61A54-B061-4E24-B736-0680AD084491}"/>
              </a:ext>
            </a:extLst>
          </p:cNvPr>
          <p:cNvSpPr>
            <a:spLocks xmlns:a="http://schemas.openxmlformats.org/drawingml/2006/main" noGrp="1"/>
          </p:cNvSpPr>
          <p:nvPr/>
        </p:nvSpPr>
        <p:spPr>
          <a:xfrm xmlns:a="http://schemas.openxmlformats.org/drawingml/2006/main" rot="0">
            <a:off x="647700" y="4438650"/>
            <a:ext cx="5029200" cy="9525"/>
          </a:xfrm>
          <a:custGeom xmlns:a="http://schemas.openxmlformats.org/drawingml/2006/main">
            <a:rect l="l" t="t" r="r" b="b"/>
            <a:pathLst>
              <a:path w="5029200" h="9525">
                <a:moveTo>
                  <a:pt x="0" y="0"/>
                </a:moveTo>
                <a:lnTo>
                  <a:pt x="5029200" y="0"/>
                </a:lnTo>
              </a:path>
            </a:pathLst>
          </a:custGeom>
          <a:noFill xmlns:a="http://schemas.openxmlformats.org/drawingml/2006/main"/>
          <a:ln xmlns:a="http://schemas.openxmlformats.org/drawingml/2006/main" w="9525">
            <a:solidFill>
              <a:srgbClr val="CED8E4"/>
            </a:solidFill>
          </a:ln>
        </p:spPr>
      </p:sp>
      <p:sp>
        <p:nvSpPr>
          <p:cNvPr id="73" name="Freeform 73">
            <a:extLst xmlns:a="http://schemas.openxmlformats.org/drawingml/2006/main">
              <a:ext uri="{FF2B5EF4-FFF2-40B4-BE49-F238E27FC236}">
                <a16:creationId xmlns:a16="http://schemas.microsoft.com/office/drawing/2014/main" id="{3DEEE2D3-5A55-4FC6-BA02-72AD71F3B428}"/>
              </a:ext>
            </a:extLst>
          </p:cNvPr>
          <p:cNvSpPr>
            <a:spLocks xmlns:a="http://schemas.openxmlformats.org/drawingml/2006/main" noGrp="1"/>
          </p:cNvSpPr>
          <p:nvPr/>
        </p:nvSpPr>
        <p:spPr>
          <a:xfrm xmlns:a="http://schemas.openxmlformats.org/drawingml/2006/main" rot="0">
            <a:off x="689372" y="4651772"/>
            <a:ext cx="183356" cy="183356"/>
          </a:xfrm>
          <a:custGeom xmlns:a="http://schemas.openxmlformats.org/drawingml/2006/main">
            <a:rect l="l" t="t" r="r" b="b"/>
            <a:pathLst>
              <a:path w="183356" h="183356">
                <a:moveTo>
                  <a:pt x="183356" y="8334"/>
                </a:moveTo>
                <a:lnTo>
                  <a:pt x="183356" y="41672"/>
                </a:lnTo>
                <a:cubicBezTo>
                  <a:pt x="183356" y="46275"/>
                  <a:pt x="179625" y="50006"/>
                  <a:pt x="175022" y="50006"/>
                </a:cubicBezTo>
                <a:lnTo>
                  <a:pt x="141684" y="50006"/>
                </a:lnTo>
                <a:cubicBezTo>
                  <a:pt x="137081" y="50006"/>
                  <a:pt x="133350" y="46275"/>
                  <a:pt x="133350" y="41672"/>
                </a:cubicBezTo>
                <a:lnTo>
                  <a:pt x="133350" y="8334"/>
                </a:lnTo>
                <a:cubicBezTo>
                  <a:pt x="133350" y="3731"/>
                  <a:pt x="137081" y="0"/>
                  <a:pt x="141684" y="0"/>
                </a:cubicBezTo>
                <a:lnTo>
                  <a:pt x="175022" y="0"/>
                </a:lnTo>
                <a:cubicBezTo>
                  <a:pt x="179625" y="0"/>
                  <a:pt x="183356" y="3731"/>
                  <a:pt x="183356" y="8334"/>
                </a:cubicBezTo>
                <a:close/>
                <a:moveTo>
                  <a:pt x="41672" y="0"/>
                </a:moveTo>
                <a:lnTo>
                  <a:pt x="8334" y="0"/>
                </a:lnTo>
                <a:cubicBezTo>
                  <a:pt x="3731" y="0"/>
                  <a:pt x="0" y="3731"/>
                  <a:pt x="0" y="8334"/>
                </a:cubicBezTo>
                <a:lnTo>
                  <a:pt x="0" y="41672"/>
                </a:lnTo>
                <a:cubicBezTo>
                  <a:pt x="0" y="46275"/>
                  <a:pt x="3731" y="50006"/>
                  <a:pt x="8334" y="50006"/>
                </a:cubicBezTo>
                <a:lnTo>
                  <a:pt x="41672" y="50006"/>
                </a:lnTo>
                <a:cubicBezTo>
                  <a:pt x="46275" y="50006"/>
                  <a:pt x="50006" y="46275"/>
                  <a:pt x="50006" y="41672"/>
                </a:cubicBezTo>
                <a:lnTo>
                  <a:pt x="50006" y="8334"/>
                </a:lnTo>
                <a:cubicBezTo>
                  <a:pt x="50006" y="3731"/>
                  <a:pt x="46275" y="0"/>
                  <a:pt x="41672" y="0"/>
                </a:cubicBezTo>
                <a:close/>
                <a:moveTo>
                  <a:pt x="175022" y="133350"/>
                </a:moveTo>
                <a:lnTo>
                  <a:pt x="141684" y="133350"/>
                </a:lnTo>
                <a:cubicBezTo>
                  <a:pt x="137081" y="133350"/>
                  <a:pt x="133350" y="137081"/>
                  <a:pt x="133350" y="141684"/>
                </a:cubicBezTo>
                <a:lnTo>
                  <a:pt x="133350" y="175022"/>
                </a:lnTo>
                <a:cubicBezTo>
                  <a:pt x="133350" y="179625"/>
                  <a:pt x="137081" y="183356"/>
                  <a:pt x="141684" y="183356"/>
                </a:cubicBezTo>
                <a:lnTo>
                  <a:pt x="175022" y="183356"/>
                </a:lnTo>
                <a:cubicBezTo>
                  <a:pt x="179625" y="183356"/>
                  <a:pt x="183356" y="179625"/>
                  <a:pt x="183356" y="175022"/>
                </a:cubicBezTo>
                <a:lnTo>
                  <a:pt x="183356" y="141684"/>
                </a:lnTo>
                <a:cubicBezTo>
                  <a:pt x="183356" y="137081"/>
                  <a:pt x="179625" y="133350"/>
                  <a:pt x="175022" y="133350"/>
                </a:cubicBezTo>
                <a:close/>
                <a:moveTo>
                  <a:pt x="41672" y="133350"/>
                </a:moveTo>
                <a:lnTo>
                  <a:pt x="8334" y="133350"/>
                </a:lnTo>
                <a:cubicBezTo>
                  <a:pt x="3731" y="133350"/>
                  <a:pt x="0" y="137081"/>
                  <a:pt x="0" y="141684"/>
                </a:cubicBezTo>
                <a:lnTo>
                  <a:pt x="0" y="175022"/>
                </a:lnTo>
                <a:cubicBezTo>
                  <a:pt x="0" y="179625"/>
                  <a:pt x="3731" y="183356"/>
                  <a:pt x="8334" y="183356"/>
                </a:cubicBezTo>
                <a:lnTo>
                  <a:pt x="41672" y="183356"/>
                </a:lnTo>
                <a:cubicBezTo>
                  <a:pt x="46275" y="183356"/>
                  <a:pt x="50006" y="179625"/>
                  <a:pt x="50006" y="175022"/>
                </a:cubicBezTo>
                <a:lnTo>
                  <a:pt x="50006" y="141684"/>
                </a:lnTo>
                <a:cubicBezTo>
                  <a:pt x="50006" y="137081"/>
                  <a:pt x="46275" y="133350"/>
                  <a:pt x="41672" y="133350"/>
                </a:cubicBezTo>
                <a:close/>
              </a:path>
            </a:pathLst>
          </a:custGeom>
          <a:solidFill xmlns:a="http://schemas.openxmlformats.org/drawingml/2006/main">
            <a:srgbClr val="2F80ED">
              <a:alpha val="20000"/>
            </a:srgbClr>
          </a:solidFill>
          <a:ln xmlns:a="http://schemas.openxmlformats.org/drawingml/2006/main">
            <a:noFill/>
          </a:ln>
        </p:spPr>
      </p:sp>
      <p:sp>
        <p:nvSpPr>
          <p:cNvPr id="74" name="Freeform 74">
            <a:extLst xmlns:a="http://schemas.openxmlformats.org/drawingml/2006/main">
              <a:ext uri="{FF2B5EF4-FFF2-40B4-BE49-F238E27FC236}">
                <a16:creationId xmlns:a16="http://schemas.microsoft.com/office/drawing/2014/main" id="{0079392C-B401-4566-8021-EF37AA2522D9}"/>
              </a:ext>
            </a:extLst>
          </p:cNvPr>
          <p:cNvSpPr>
            <a:spLocks xmlns:a="http://schemas.openxmlformats.org/drawingml/2006/main" noGrp="1"/>
          </p:cNvSpPr>
          <p:nvPr/>
        </p:nvSpPr>
        <p:spPr>
          <a:xfrm xmlns:a="http://schemas.openxmlformats.org/drawingml/2006/main" rot="0">
            <a:off x="681038" y="4643438"/>
            <a:ext cx="200025" cy="200025"/>
          </a:xfrm>
          <a:custGeom xmlns:a="http://schemas.openxmlformats.org/drawingml/2006/main">
            <a:rect l="l" t="t" r="r" b="b"/>
            <a:pathLst>
              <a:path w="200025" h="200025">
                <a:moveTo>
                  <a:pt x="183356" y="66675"/>
                </a:moveTo>
                <a:cubicBezTo>
                  <a:pt x="192562" y="66675"/>
                  <a:pt x="200025" y="59212"/>
                  <a:pt x="200025" y="50006"/>
                </a:cubicBezTo>
                <a:lnTo>
                  <a:pt x="200025" y="16669"/>
                </a:lnTo>
                <a:cubicBezTo>
                  <a:pt x="200025" y="7463"/>
                  <a:pt x="192562" y="0"/>
                  <a:pt x="183356" y="0"/>
                </a:cubicBezTo>
                <a:lnTo>
                  <a:pt x="150019" y="0"/>
                </a:lnTo>
                <a:cubicBezTo>
                  <a:pt x="140813" y="0"/>
                  <a:pt x="133350" y="7463"/>
                  <a:pt x="133350" y="16669"/>
                </a:cubicBezTo>
                <a:lnTo>
                  <a:pt x="133350" y="25003"/>
                </a:lnTo>
                <a:lnTo>
                  <a:pt x="66675" y="25003"/>
                </a:lnTo>
                <a:lnTo>
                  <a:pt x="66675" y="16669"/>
                </a:lnTo>
                <a:cubicBezTo>
                  <a:pt x="66675" y="7463"/>
                  <a:pt x="59212" y="0"/>
                  <a:pt x="50006" y="0"/>
                </a:cubicBezTo>
                <a:lnTo>
                  <a:pt x="16669" y="0"/>
                </a:lnTo>
                <a:cubicBezTo>
                  <a:pt x="7463" y="0"/>
                  <a:pt x="0" y="7463"/>
                  <a:pt x="0" y="16669"/>
                </a:cubicBezTo>
                <a:lnTo>
                  <a:pt x="0" y="50006"/>
                </a:lnTo>
                <a:cubicBezTo>
                  <a:pt x="0" y="59212"/>
                  <a:pt x="7463" y="66675"/>
                  <a:pt x="16669" y="66675"/>
                </a:cubicBezTo>
                <a:lnTo>
                  <a:pt x="25003" y="66675"/>
                </a:lnTo>
                <a:lnTo>
                  <a:pt x="25003" y="133350"/>
                </a:lnTo>
                <a:lnTo>
                  <a:pt x="16669" y="133350"/>
                </a:lnTo>
                <a:cubicBezTo>
                  <a:pt x="7463" y="133350"/>
                  <a:pt x="0" y="140813"/>
                  <a:pt x="0" y="150019"/>
                </a:cubicBezTo>
                <a:lnTo>
                  <a:pt x="0" y="183356"/>
                </a:lnTo>
                <a:cubicBezTo>
                  <a:pt x="0" y="192562"/>
                  <a:pt x="7463" y="200025"/>
                  <a:pt x="16669" y="200025"/>
                </a:cubicBezTo>
                <a:lnTo>
                  <a:pt x="50006" y="200025"/>
                </a:lnTo>
                <a:cubicBezTo>
                  <a:pt x="59212" y="200025"/>
                  <a:pt x="66675" y="192562"/>
                  <a:pt x="66675" y="183356"/>
                </a:cubicBezTo>
                <a:lnTo>
                  <a:pt x="66675" y="175022"/>
                </a:lnTo>
                <a:lnTo>
                  <a:pt x="133350" y="175022"/>
                </a:lnTo>
                <a:lnTo>
                  <a:pt x="133350" y="183356"/>
                </a:lnTo>
                <a:cubicBezTo>
                  <a:pt x="133350" y="192562"/>
                  <a:pt x="140813" y="200025"/>
                  <a:pt x="150019" y="200025"/>
                </a:cubicBezTo>
                <a:lnTo>
                  <a:pt x="183356" y="200025"/>
                </a:lnTo>
                <a:cubicBezTo>
                  <a:pt x="192562" y="200025"/>
                  <a:pt x="200025" y="192562"/>
                  <a:pt x="200025" y="183356"/>
                </a:cubicBezTo>
                <a:lnTo>
                  <a:pt x="200025" y="150019"/>
                </a:lnTo>
                <a:cubicBezTo>
                  <a:pt x="200025" y="140813"/>
                  <a:pt x="192562" y="133350"/>
                  <a:pt x="183356" y="133350"/>
                </a:cubicBezTo>
                <a:lnTo>
                  <a:pt x="175022" y="133350"/>
                </a:lnTo>
                <a:lnTo>
                  <a:pt x="175022" y="66675"/>
                </a:lnTo>
                <a:close/>
                <a:moveTo>
                  <a:pt x="150019" y="16669"/>
                </a:moveTo>
                <a:lnTo>
                  <a:pt x="183356" y="16669"/>
                </a:lnTo>
                <a:lnTo>
                  <a:pt x="183356" y="50006"/>
                </a:lnTo>
                <a:lnTo>
                  <a:pt x="150019" y="50006"/>
                </a:lnTo>
                <a:close/>
                <a:moveTo>
                  <a:pt x="16669" y="16669"/>
                </a:moveTo>
                <a:lnTo>
                  <a:pt x="50006" y="16669"/>
                </a:lnTo>
                <a:lnTo>
                  <a:pt x="50006" y="33233"/>
                </a:lnTo>
                <a:cubicBezTo>
                  <a:pt x="49992" y="33302"/>
                  <a:pt x="49992" y="33373"/>
                  <a:pt x="50006" y="33442"/>
                </a:cubicBezTo>
                <a:lnTo>
                  <a:pt x="50006" y="50006"/>
                </a:lnTo>
                <a:lnTo>
                  <a:pt x="16669" y="50006"/>
                </a:lnTo>
                <a:close/>
                <a:moveTo>
                  <a:pt x="50006" y="183356"/>
                </a:moveTo>
                <a:lnTo>
                  <a:pt x="16669" y="183356"/>
                </a:lnTo>
                <a:lnTo>
                  <a:pt x="16669" y="150019"/>
                </a:lnTo>
                <a:lnTo>
                  <a:pt x="50006" y="150019"/>
                </a:lnTo>
                <a:lnTo>
                  <a:pt x="50006" y="166583"/>
                </a:lnTo>
                <a:cubicBezTo>
                  <a:pt x="49992" y="166652"/>
                  <a:pt x="49992" y="166723"/>
                  <a:pt x="50006" y="166792"/>
                </a:cubicBezTo>
                <a:lnTo>
                  <a:pt x="50006" y="183356"/>
                </a:lnTo>
                <a:close/>
                <a:moveTo>
                  <a:pt x="183356" y="183356"/>
                </a:moveTo>
                <a:lnTo>
                  <a:pt x="150019" y="183356"/>
                </a:lnTo>
                <a:lnTo>
                  <a:pt x="150019" y="150019"/>
                </a:lnTo>
                <a:lnTo>
                  <a:pt x="183356" y="150019"/>
                </a:lnTo>
                <a:close/>
                <a:moveTo>
                  <a:pt x="158353" y="133350"/>
                </a:moveTo>
                <a:lnTo>
                  <a:pt x="150019" y="133350"/>
                </a:lnTo>
                <a:cubicBezTo>
                  <a:pt x="140813" y="133350"/>
                  <a:pt x="133350" y="140813"/>
                  <a:pt x="133350" y="150019"/>
                </a:cubicBezTo>
                <a:lnTo>
                  <a:pt x="133350" y="158353"/>
                </a:lnTo>
                <a:lnTo>
                  <a:pt x="66675" y="158353"/>
                </a:lnTo>
                <a:lnTo>
                  <a:pt x="66675" y="150019"/>
                </a:lnTo>
                <a:cubicBezTo>
                  <a:pt x="66675" y="140813"/>
                  <a:pt x="59212" y="133350"/>
                  <a:pt x="50006" y="133350"/>
                </a:cubicBezTo>
                <a:lnTo>
                  <a:pt x="41672" y="133350"/>
                </a:lnTo>
                <a:lnTo>
                  <a:pt x="41672" y="66675"/>
                </a:lnTo>
                <a:lnTo>
                  <a:pt x="50006" y="66675"/>
                </a:lnTo>
                <a:cubicBezTo>
                  <a:pt x="59212" y="66675"/>
                  <a:pt x="66675" y="59212"/>
                  <a:pt x="66675" y="50006"/>
                </a:cubicBezTo>
                <a:lnTo>
                  <a:pt x="66675" y="41672"/>
                </a:lnTo>
                <a:lnTo>
                  <a:pt x="133350" y="41672"/>
                </a:lnTo>
                <a:lnTo>
                  <a:pt x="133350" y="50006"/>
                </a:lnTo>
                <a:cubicBezTo>
                  <a:pt x="133350" y="59212"/>
                  <a:pt x="140813" y="66675"/>
                  <a:pt x="150019" y="66675"/>
                </a:cubicBezTo>
                <a:lnTo>
                  <a:pt x="158353" y="66675"/>
                </a:lnTo>
                <a:close/>
              </a:path>
            </a:pathLst>
          </a:custGeom>
          <a:solidFill xmlns:a="http://schemas.openxmlformats.org/drawingml/2006/main">
            <a:srgbClr val="2F80ED"/>
          </a:solidFill>
          <a:ln xmlns:a="http://schemas.openxmlformats.org/drawingml/2006/main">
            <a:noFill/>
          </a:ln>
        </p:spPr>
      </p:sp>
      <p:sp>
        <p:nvSpPr>
          <p:cNvPr id="76" name="TextBox 76">
            <a:extLst xmlns:a="http://schemas.openxmlformats.org/drawingml/2006/main">
              <a:ext uri="{FF2B5EF4-FFF2-40B4-BE49-F238E27FC236}">
                <a16:creationId xmlns:a16="http://schemas.microsoft.com/office/drawing/2014/main" id="{E6842DAB-3F32-4FCE-BA19-DF2AE399F4F1}"/>
              </a:ext>
            </a:extLst>
          </p:cNvPr>
          <p:cNvSpPr>
            <a:spLocks xmlns:a="http://schemas.openxmlformats.org/drawingml/2006/main" noGrp="1"/>
          </p:cNvSpPr>
          <p:nvPr/>
        </p:nvSpPr>
        <p:spPr>
          <a:xfrm xmlns:a="http://schemas.openxmlformats.org/drawingml/2006/main" rot="0">
            <a:off x="1032510" y="4613910"/>
            <a:ext cx="133264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Runtime choice</a:t>
            </a:r>
          </a:p>
        </p:txBody>
      </p:sp>
      <p:sp>
        <p:nvSpPr>
          <p:cNvPr id="77" name="TextBox 77">
            <a:extLst xmlns:a="http://schemas.openxmlformats.org/drawingml/2006/main">
              <a:ext uri="{FF2B5EF4-FFF2-40B4-BE49-F238E27FC236}">
                <a16:creationId xmlns:a16="http://schemas.microsoft.com/office/drawing/2014/main" id="{D3B65D98-6D34-4226-94AE-F21F53DB4D4C}"/>
              </a:ext>
            </a:extLst>
          </p:cNvPr>
          <p:cNvSpPr>
            <a:spLocks xmlns:a="http://schemas.openxmlformats.org/drawingml/2006/main" noGrp="1"/>
          </p:cNvSpPr>
          <p:nvPr/>
        </p:nvSpPr>
        <p:spPr>
          <a:xfrm xmlns:a="http://schemas.openxmlformats.org/drawingml/2006/main" rot="0">
            <a:off x="1035368" y="4838224"/>
            <a:ext cx="239106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Raspberry Pi 5 or laptop</a:t>
            </a:r>
          </a:p>
        </p:txBody>
      </p:sp>
      <p:sp>
        <p:nvSpPr>
          <p:cNvPr id="78" name="TextBox 78">
            <a:extLst xmlns:a="http://schemas.openxmlformats.org/drawingml/2006/main">
              <a:ext uri="{FF2B5EF4-FFF2-40B4-BE49-F238E27FC236}">
                <a16:creationId xmlns:a16="http://schemas.microsoft.com/office/drawing/2014/main" id="{AA0E9F4E-FD56-414B-A3BE-517FFE8EC013}"/>
              </a:ext>
            </a:extLst>
          </p:cNvPr>
          <p:cNvSpPr>
            <a:spLocks xmlns:a="http://schemas.openxmlformats.org/drawingml/2006/main" noGrp="1"/>
          </p:cNvSpPr>
          <p:nvPr/>
        </p:nvSpPr>
        <p:spPr>
          <a:xfrm xmlns:a="http://schemas.openxmlformats.org/drawingml/2006/main" rot="0">
            <a:off x="4552879" y="4742974"/>
            <a:ext cx="113640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deploy</a:t>
            </a:r>
          </a:p>
        </p:txBody>
      </p:sp>
      <p:sp>
        <p:nvSpPr>
          <p:cNvPr id="79" name="Line 79">
            <a:extLst xmlns:a="http://schemas.openxmlformats.org/drawingml/2006/main">
              <a:ext uri="{FF2B5EF4-FFF2-40B4-BE49-F238E27FC236}">
                <a16:creationId xmlns:a16="http://schemas.microsoft.com/office/drawing/2014/main" id="{DAC563BA-7AEB-44FB-B581-5857069760EE}"/>
              </a:ext>
            </a:extLst>
          </p:cNvPr>
          <p:cNvSpPr>
            <a:spLocks xmlns:a="http://schemas.openxmlformats.org/drawingml/2006/main" noGrp="1"/>
          </p:cNvSpPr>
          <p:nvPr/>
        </p:nvSpPr>
        <p:spPr>
          <a:xfrm xmlns:a="http://schemas.openxmlformats.org/drawingml/2006/main" rot="0">
            <a:off x="647700" y="5105400"/>
            <a:ext cx="5029200" cy="9525"/>
          </a:xfrm>
          <a:custGeom xmlns:a="http://schemas.openxmlformats.org/drawingml/2006/main">
            <a:rect l="l" t="t" r="r" b="b"/>
            <a:pathLst>
              <a:path w="5029200" h="9525">
                <a:moveTo>
                  <a:pt x="0" y="0"/>
                </a:moveTo>
                <a:lnTo>
                  <a:pt x="5029200" y="0"/>
                </a:lnTo>
              </a:path>
            </a:pathLst>
          </a:custGeom>
          <a:noFill xmlns:a="http://schemas.openxmlformats.org/drawingml/2006/main"/>
          <a:ln xmlns:a="http://schemas.openxmlformats.org/drawingml/2006/main" w="9525">
            <a:solidFill>
              <a:srgbClr val="CED8E4"/>
            </a:solidFill>
          </a:ln>
        </p:spPr>
      </p:sp>
      <p:sp>
        <p:nvSpPr>
          <p:cNvPr id="80" name="Freeform 80">
            <a:extLst xmlns:a="http://schemas.openxmlformats.org/drawingml/2006/main">
              <a:ext uri="{FF2B5EF4-FFF2-40B4-BE49-F238E27FC236}">
                <a16:creationId xmlns:a16="http://schemas.microsoft.com/office/drawing/2014/main" id="{600DF382-4695-4439-85A7-76520E2C9B42}"/>
              </a:ext>
            </a:extLst>
          </p:cNvPr>
          <p:cNvSpPr>
            <a:spLocks xmlns:a="http://schemas.openxmlformats.org/drawingml/2006/main" noGrp="1"/>
          </p:cNvSpPr>
          <p:nvPr/>
        </p:nvSpPr>
        <p:spPr>
          <a:xfrm xmlns:a="http://schemas.openxmlformats.org/drawingml/2006/main" rot="0">
            <a:off x="722709" y="5351859"/>
            <a:ext cx="116681" cy="116681"/>
          </a:xfrm>
          <a:custGeom xmlns:a="http://schemas.openxmlformats.org/drawingml/2006/main">
            <a:rect l="l" t="t" r="r" b="b"/>
            <a:pathLst>
              <a:path w="116681" h="116681">
                <a:moveTo>
                  <a:pt x="116681" y="58341"/>
                </a:moveTo>
                <a:cubicBezTo>
                  <a:pt x="116681" y="90561"/>
                  <a:pt x="90561" y="116681"/>
                  <a:pt x="58341" y="116681"/>
                </a:cubicBezTo>
                <a:cubicBezTo>
                  <a:pt x="26120" y="116681"/>
                  <a:pt x="0" y="90561"/>
                  <a:pt x="0" y="58341"/>
                </a:cubicBezTo>
                <a:cubicBezTo>
                  <a:pt x="0" y="26120"/>
                  <a:pt x="26120" y="0"/>
                  <a:pt x="58341" y="0"/>
                </a:cubicBezTo>
                <a:cubicBezTo>
                  <a:pt x="90561" y="0"/>
                  <a:pt x="116681" y="26120"/>
                  <a:pt x="116681" y="58341"/>
                </a:cubicBezTo>
                <a:close/>
              </a:path>
            </a:pathLst>
          </a:custGeom>
          <a:solidFill xmlns:a="http://schemas.openxmlformats.org/drawingml/2006/main">
            <a:srgbClr val="2F80ED">
              <a:alpha val="20000"/>
            </a:srgbClr>
          </a:solidFill>
          <a:ln xmlns:a="http://schemas.openxmlformats.org/drawingml/2006/main">
            <a:noFill/>
          </a:ln>
        </p:spPr>
      </p:sp>
      <p:sp>
        <p:nvSpPr>
          <p:cNvPr id="81" name="Freeform 81">
            <a:extLst xmlns:a="http://schemas.openxmlformats.org/drawingml/2006/main">
              <a:ext uri="{FF2B5EF4-FFF2-40B4-BE49-F238E27FC236}">
                <a16:creationId xmlns:a16="http://schemas.microsoft.com/office/drawing/2014/main" id="{C00EAD0D-93C3-4A2A-9A8E-DBBC7B09F074}"/>
              </a:ext>
            </a:extLst>
          </p:cNvPr>
          <p:cNvSpPr>
            <a:spLocks xmlns:a="http://schemas.openxmlformats.org/drawingml/2006/main" noGrp="1"/>
          </p:cNvSpPr>
          <p:nvPr/>
        </p:nvSpPr>
        <p:spPr>
          <a:xfrm xmlns:a="http://schemas.openxmlformats.org/drawingml/2006/main" rot="0">
            <a:off x="656034" y="5285184"/>
            <a:ext cx="250031" cy="250031"/>
          </a:xfrm>
          <a:custGeom xmlns:a="http://schemas.openxmlformats.org/drawingml/2006/main">
            <a:rect l="l" t="t" r="r" b="b"/>
            <a:pathLst>
              <a:path w="250031" h="250031">
                <a:moveTo>
                  <a:pt x="116681" y="33338"/>
                </a:moveTo>
                <a:lnTo>
                  <a:pt x="116681" y="8334"/>
                </a:lnTo>
                <a:cubicBezTo>
                  <a:pt x="116681" y="3731"/>
                  <a:pt x="120413" y="0"/>
                  <a:pt x="125016" y="0"/>
                </a:cubicBezTo>
                <a:cubicBezTo>
                  <a:pt x="129619" y="0"/>
                  <a:pt x="133350" y="3731"/>
                  <a:pt x="133350" y="8334"/>
                </a:cubicBezTo>
                <a:lnTo>
                  <a:pt x="133350" y="33338"/>
                </a:lnTo>
                <a:cubicBezTo>
                  <a:pt x="133350" y="37940"/>
                  <a:pt x="129619" y="41672"/>
                  <a:pt x="125016" y="41672"/>
                </a:cubicBezTo>
                <a:cubicBezTo>
                  <a:pt x="120413" y="41672"/>
                  <a:pt x="116681" y="37940"/>
                  <a:pt x="116681" y="33338"/>
                </a:cubicBezTo>
                <a:close/>
                <a:moveTo>
                  <a:pt x="191691" y="125016"/>
                </a:moveTo>
                <a:cubicBezTo>
                  <a:pt x="191691" y="161839"/>
                  <a:pt x="161839" y="191691"/>
                  <a:pt x="125016" y="191691"/>
                </a:cubicBezTo>
                <a:cubicBezTo>
                  <a:pt x="88192" y="191691"/>
                  <a:pt x="58341" y="161839"/>
                  <a:pt x="58341" y="125016"/>
                </a:cubicBezTo>
                <a:cubicBezTo>
                  <a:pt x="58341" y="88192"/>
                  <a:pt x="88192" y="58341"/>
                  <a:pt x="125016" y="58341"/>
                </a:cubicBezTo>
                <a:cubicBezTo>
                  <a:pt x="161823" y="58381"/>
                  <a:pt x="191650" y="88209"/>
                  <a:pt x="191691" y="125016"/>
                </a:cubicBezTo>
                <a:close/>
                <a:moveTo>
                  <a:pt x="175022" y="125016"/>
                </a:moveTo>
                <a:cubicBezTo>
                  <a:pt x="175022" y="97398"/>
                  <a:pt x="152633" y="75009"/>
                  <a:pt x="125016" y="75009"/>
                </a:cubicBezTo>
                <a:cubicBezTo>
                  <a:pt x="97398" y="75009"/>
                  <a:pt x="75009" y="97398"/>
                  <a:pt x="75009" y="125016"/>
                </a:cubicBezTo>
                <a:cubicBezTo>
                  <a:pt x="75009" y="152633"/>
                  <a:pt x="97398" y="175022"/>
                  <a:pt x="125016" y="175022"/>
                </a:cubicBezTo>
                <a:cubicBezTo>
                  <a:pt x="152621" y="174993"/>
                  <a:pt x="174993" y="152621"/>
                  <a:pt x="175022" y="125016"/>
                </a:cubicBezTo>
                <a:close/>
                <a:moveTo>
                  <a:pt x="52444" y="64237"/>
                </a:moveTo>
                <a:cubicBezTo>
                  <a:pt x="55701" y="67494"/>
                  <a:pt x="60981" y="67494"/>
                  <a:pt x="64237" y="64237"/>
                </a:cubicBezTo>
                <a:cubicBezTo>
                  <a:pt x="67494" y="60981"/>
                  <a:pt x="67494" y="55701"/>
                  <a:pt x="64237" y="52444"/>
                </a:cubicBezTo>
                <a:lnTo>
                  <a:pt x="47568" y="35775"/>
                </a:lnTo>
                <a:cubicBezTo>
                  <a:pt x="44312" y="32519"/>
                  <a:pt x="39032" y="32519"/>
                  <a:pt x="35775" y="35775"/>
                </a:cubicBezTo>
                <a:cubicBezTo>
                  <a:pt x="32519" y="39032"/>
                  <a:pt x="32519" y="44312"/>
                  <a:pt x="35775" y="47568"/>
                </a:cubicBezTo>
                <a:close/>
                <a:moveTo>
                  <a:pt x="52444" y="185794"/>
                </a:moveTo>
                <a:lnTo>
                  <a:pt x="35775" y="202463"/>
                </a:lnTo>
                <a:cubicBezTo>
                  <a:pt x="32519" y="205719"/>
                  <a:pt x="32519" y="210999"/>
                  <a:pt x="35775" y="214256"/>
                </a:cubicBezTo>
                <a:cubicBezTo>
                  <a:pt x="39032" y="217513"/>
                  <a:pt x="44312" y="217513"/>
                  <a:pt x="47568" y="214256"/>
                </a:cubicBezTo>
                <a:lnTo>
                  <a:pt x="64237" y="197587"/>
                </a:lnTo>
                <a:cubicBezTo>
                  <a:pt x="67494" y="194331"/>
                  <a:pt x="67494" y="189051"/>
                  <a:pt x="64237" y="185794"/>
                </a:cubicBezTo>
                <a:cubicBezTo>
                  <a:pt x="60981" y="182537"/>
                  <a:pt x="55701" y="182537"/>
                  <a:pt x="52444" y="185794"/>
                </a:cubicBezTo>
                <a:close/>
                <a:moveTo>
                  <a:pt x="191691" y="66675"/>
                </a:moveTo>
                <a:cubicBezTo>
                  <a:pt x="193902" y="66677"/>
                  <a:pt x="196023" y="65800"/>
                  <a:pt x="197587" y="64237"/>
                </a:cubicBezTo>
                <a:lnTo>
                  <a:pt x="214256" y="47568"/>
                </a:lnTo>
                <a:cubicBezTo>
                  <a:pt x="217513" y="44312"/>
                  <a:pt x="217513" y="39032"/>
                  <a:pt x="214256" y="35775"/>
                </a:cubicBezTo>
                <a:cubicBezTo>
                  <a:pt x="210999" y="32519"/>
                  <a:pt x="205719" y="32519"/>
                  <a:pt x="202463" y="35775"/>
                </a:cubicBezTo>
                <a:lnTo>
                  <a:pt x="185794" y="52444"/>
                </a:lnTo>
                <a:cubicBezTo>
                  <a:pt x="183408" y="54828"/>
                  <a:pt x="182693" y="58415"/>
                  <a:pt x="183984" y="61531"/>
                </a:cubicBezTo>
                <a:cubicBezTo>
                  <a:pt x="185276" y="64647"/>
                  <a:pt x="188318" y="66678"/>
                  <a:pt x="191691" y="66675"/>
                </a:cubicBezTo>
                <a:close/>
                <a:moveTo>
                  <a:pt x="197587" y="185794"/>
                </a:moveTo>
                <a:cubicBezTo>
                  <a:pt x="194331" y="182537"/>
                  <a:pt x="189051" y="182537"/>
                  <a:pt x="185794" y="185794"/>
                </a:cubicBezTo>
                <a:cubicBezTo>
                  <a:pt x="182537" y="189051"/>
                  <a:pt x="182537" y="194331"/>
                  <a:pt x="185794" y="197587"/>
                </a:cubicBezTo>
                <a:lnTo>
                  <a:pt x="202463" y="214256"/>
                </a:lnTo>
                <a:cubicBezTo>
                  <a:pt x="205719" y="217513"/>
                  <a:pt x="210999" y="217513"/>
                  <a:pt x="214256" y="214256"/>
                </a:cubicBezTo>
                <a:cubicBezTo>
                  <a:pt x="217513" y="210999"/>
                  <a:pt x="217513" y="205719"/>
                  <a:pt x="214256" y="202463"/>
                </a:cubicBezTo>
                <a:close/>
                <a:moveTo>
                  <a:pt x="41672" y="125016"/>
                </a:moveTo>
                <a:cubicBezTo>
                  <a:pt x="41672" y="120413"/>
                  <a:pt x="37940" y="116681"/>
                  <a:pt x="33338" y="116681"/>
                </a:cubicBezTo>
                <a:lnTo>
                  <a:pt x="8334" y="116681"/>
                </a:lnTo>
                <a:cubicBezTo>
                  <a:pt x="3731" y="116681"/>
                  <a:pt x="0" y="120413"/>
                  <a:pt x="0" y="125016"/>
                </a:cubicBezTo>
                <a:cubicBezTo>
                  <a:pt x="0" y="129619"/>
                  <a:pt x="3731" y="133350"/>
                  <a:pt x="8334" y="133350"/>
                </a:cubicBezTo>
                <a:lnTo>
                  <a:pt x="33338" y="133350"/>
                </a:lnTo>
                <a:cubicBezTo>
                  <a:pt x="37940" y="133350"/>
                  <a:pt x="41672" y="129619"/>
                  <a:pt x="41672" y="125016"/>
                </a:cubicBezTo>
                <a:close/>
                <a:moveTo>
                  <a:pt x="125016" y="208359"/>
                </a:moveTo>
                <a:cubicBezTo>
                  <a:pt x="120413" y="208359"/>
                  <a:pt x="116681" y="212091"/>
                  <a:pt x="116681" y="216694"/>
                </a:cubicBezTo>
                <a:lnTo>
                  <a:pt x="116681" y="241697"/>
                </a:lnTo>
                <a:cubicBezTo>
                  <a:pt x="116681" y="246300"/>
                  <a:pt x="120413" y="250031"/>
                  <a:pt x="125016" y="250031"/>
                </a:cubicBezTo>
                <a:cubicBezTo>
                  <a:pt x="129619" y="250031"/>
                  <a:pt x="133350" y="246300"/>
                  <a:pt x="133350" y="241697"/>
                </a:cubicBezTo>
                <a:lnTo>
                  <a:pt x="133350" y="216694"/>
                </a:lnTo>
                <a:cubicBezTo>
                  <a:pt x="133350" y="212091"/>
                  <a:pt x="129619" y="208359"/>
                  <a:pt x="125016" y="208359"/>
                </a:cubicBezTo>
                <a:close/>
                <a:moveTo>
                  <a:pt x="241697" y="116681"/>
                </a:moveTo>
                <a:lnTo>
                  <a:pt x="216694" y="116681"/>
                </a:lnTo>
                <a:cubicBezTo>
                  <a:pt x="212091" y="116681"/>
                  <a:pt x="208359" y="120413"/>
                  <a:pt x="208359" y="125016"/>
                </a:cubicBezTo>
                <a:cubicBezTo>
                  <a:pt x="208359" y="129619"/>
                  <a:pt x="212091" y="133350"/>
                  <a:pt x="216694" y="133350"/>
                </a:cubicBezTo>
                <a:lnTo>
                  <a:pt x="241697" y="133350"/>
                </a:lnTo>
                <a:cubicBezTo>
                  <a:pt x="246300" y="133350"/>
                  <a:pt x="250031" y="129619"/>
                  <a:pt x="250031" y="125016"/>
                </a:cubicBezTo>
                <a:cubicBezTo>
                  <a:pt x="250031" y="120413"/>
                  <a:pt x="246300" y="116681"/>
                  <a:pt x="241697" y="116681"/>
                </a:cubicBezTo>
                <a:close/>
              </a:path>
            </a:pathLst>
          </a:custGeom>
          <a:solidFill xmlns:a="http://schemas.openxmlformats.org/drawingml/2006/main">
            <a:srgbClr val="2F80ED"/>
          </a:solidFill>
          <a:ln xmlns:a="http://schemas.openxmlformats.org/drawingml/2006/main">
            <a:noFill/>
          </a:ln>
        </p:spPr>
      </p:sp>
      <p:sp>
        <p:nvSpPr>
          <p:cNvPr id="83" name="TextBox 83">
            <a:extLst xmlns:a="http://schemas.openxmlformats.org/drawingml/2006/main">
              <a:ext uri="{FF2B5EF4-FFF2-40B4-BE49-F238E27FC236}">
                <a16:creationId xmlns:a16="http://schemas.microsoft.com/office/drawing/2014/main" id="{F94BCB76-CC16-46C0-8AA0-E3E5A38BD858}"/>
              </a:ext>
            </a:extLst>
          </p:cNvPr>
          <p:cNvSpPr>
            <a:spLocks xmlns:a="http://schemas.openxmlformats.org/drawingml/2006/main" noGrp="1"/>
          </p:cNvSpPr>
          <p:nvPr/>
        </p:nvSpPr>
        <p:spPr>
          <a:xfrm xmlns:a="http://schemas.openxmlformats.org/drawingml/2006/main" rot="0">
            <a:off x="1032510" y="5280660"/>
            <a:ext cx="197112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Communication</a:t>
            </a:r>
          </a:p>
        </p:txBody>
      </p:sp>
      <p:sp>
        <p:nvSpPr>
          <p:cNvPr id="84" name="TextBox 84">
            <a:extLst xmlns:a="http://schemas.openxmlformats.org/drawingml/2006/main">
              <a:ext uri="{FF2B5EF4-FFF2-40B4-BE49-F238E27FC236}">
                <a16:creationId xmlns:a16="http://schemas.microsoft.com/office/drawing/2014/main" id="{BF7D89FB-0CED-4364-BDBD-82A2F587CDAF}"/>
              </a:ext>
            </a:extLst>
          </p:cNvPr>
          <p:cNvSpPr>
            <a:spLocks xmlns:a="http://schemas.openxmlformats.org/drawingml/2006/main" noGrp="1"/>
          </p:cNvSpPr>
          <p:nvPr/>
        </p:nvSpPr>
        <p:spPr>
          <a:xfrm xmlns:a="http://schemas.openxmlformats.org/drawingml/2006/main" rot="0">
            <a:off x="1035368" y="5504974"/>
            <a:ext cx="248857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USB serial JSON messages</a:t>
            </a:r>
          </a:p>
        </p:txBody>
      </p:sp>
      <p:sp>
        <p:nvSpPr>
          <p:cNvPr id="85" name="TextBox 85">
            <a:extLst xmlns:a="http://schemas.openxmlformats.org/drawingml/2006/main">
              <a:ext uri="{FF2B5EF4-FFF2-40B4-BE49-F238E27FC236}">
                <a16:creationId xmlns:a16="http://schemas.microsoft.com/office/drawing/2014/main" id="{5EEAE0B9-37CE-48F5-85FA-03AE43594002}"/>
              </a:ext>
            </a:extLst>
          </p:cNvPr>
          <p:cNvSpPr>
            <a:spLocks xmlns:a="http://schemas.openxmlformats.org/drawingml/2006/main" noGrp="1"/>
          </p:cNvSpPr>
          <p:nvPr/>
        </p:nvSpPr>
        <p:spPr>
          <a:xfrm xmlns:a="http://schemas.openxmlformats.org/drawingml/2006/main" rot="0">
            <a:off x="4832414" y="5409724"/>
            <a:ext cx="85686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serial</a:t>
            </a:r>
          </a:p>
        </p:txBody>
      </p:sp>
      <p:sp>
        <p:nvSpPr>
          <p:cNvPr id="87" name="Rectangle 87">
            <a:extLst xmlns:a="http://schemas.openxmlformats.org/drawingml/2006/main">
              <a:ext uri="{FF2B5EF4-FFF2-40B4-BE49-F238E27FC236}">
                <a16:creationId xmlns:a16="http://schemas.microsoft.com/office/drawing/2014/main" id="{C6C7689A-1CC5-412C-A7CE-3DD54AC55816}"/>
              </a:ext>
            </a:extLst>
          </p:cNvPr>
          <p:cNvSpPr>
            <a:spLocks xmlns:a="http://schemas.openxmlformats.org/drawingml/2006/main" noGrp="1"/>
          </p:cNvSpPr>
          <p:nvPr/>
        </p:nvSpPr>
        <p:spPr>
          <a:xfrm xmlns:a="http://schemas.openxmlformats.org/drawingml/2006/main" rot="0">
            <a:off x="6096000" y="2647950"/>
            <a:ext cx="5638800" cy="3143250"/>
          </a:xfrm>
          <a:prstGeom xmlns:a="http://schemas.openxmlformats.org/drawingml/2006/main" prst="roundRect">
            <a:avLst>
              <a:gd name="adj" fmla="val 3636"/>
            </a:avLst>
          </a:prstGeom>
          <a:solidFill xmlns:a="http://schemas.openxmlformats.org/drawingml/2006/main">
            <a:srgbClr val="F7F9FC"/>
          </a:solidFill>
          <a:ln xmlns:a="http://schemas.openxmlformats.org/drawingml/2006/main" w="14288">
            <a:solidFill>
              <a:srgbClr val="CED8E4"/>
            </a:solidFill>
          </a:ln>
        </p:spPr>
      </p:sp>
      <p:sp>
        <p:nvSpPr>
          <p:cNvPr id="88" name="TextBox 88">
            <a:extLst xmlns:a="http://schemas.openxmlformats.org/drawingml/2006/main">
              <a:ext uri="{FF2B5EF4-FFF2-40B4-BE49-F238E27FC236}">
                <a16:creationId xmlns:a16="http://schemas.microsoft.com/office/drawing/2014/main" id="{D7F67FB3-D5B8-48FD-AF73-2E0B0E5BBF6A}"/>
              </a:ext>
            </a:extLst>
          </p:cNvPr>
          <p:cNvSpPr>
            <a:spLocks xmlns:a="http://schemas.openxmlformats.org/drawingml/2006/main" noGrp="1"/>
          </p:cNvSpPr>
          <p:nvPr/>
        </p:nvSpPr>
        <p:spPr>
          <a:xfrm xmlns:a="http://schemas.openxmlformats.org/drawingml/2006/main" rot="0">
            <a:off x="6274118" y="2857024"/>
            <a:ext cx="144454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CONTROL / FEEDBACK</a:t>
            </a:r>
          </a:p>
        </p:txBody>
      </p:sp>
      <p:sp>
        <p:nvSpPr>
          <p:cNvPr id="89" name="TextBox 89">
            <a:extLst xmlns:a="http://schemas.openxmlformats.org/drawingml/2006/main">
              <a:ext uri="{FF2B5EF4-FFF2-40B4-BE49-F238E27FC236}">
                <a16:creationId xmlns:a16="http://schemas.microsoft.com/office/drawing/2014/main" id="{43CFFBEC-0B61-4A22-8013-EB6EF86516B2}"/>
              </a:ext>
            </a:extLst>
          </p:cNvPr>
          <p:cNvSpPr>
            <a:spLocks xmlns:a="http://schemas.openxmlformats.org/drawingml/2006/main" noGrp="1"/>
          </p:cNvSpPr>
          <p:nvPr/>
        </p:nvSpPr>
        <p:spPr>
          <a:xfrm xmlns:a="http://schemas.openxmlformats.org/drawingml/2006/main" rot="0">
            <a:off x="11156496" y="2857024"/>
            <a:ext cx="40018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5B6B7A"/>
                </a:solidFill>
                <a:latin typeface="Arial"/>
                <a:ea typeface="Arial"/>
                <a:cs typeface="Arial"/>
              </a:rPr>
              <a:t>ROLE</a:t>
            </a:r>
          </a:p>
        </p:txBody>
      </p:sp>
      <p:sp>
        <p:nvSpPr>
          <p:cNvPr id="90" name="Line 90">
            <a:extLst xmlns:a="http://schemas.openxmlformats.org/drawingml/2006/main">
              <a:ext uri="{FF2B5EF4-FFF2-40B4-BE49-F238E27FC236}">
                <a16:creationId xmlns:a16="http://schemas.microsoft.com/office/drawing/2014/main" id="{39F078CF-A504-4334-9077-3127CC5F1A89}"/>
              </a:ext>
            </a:extLst>
          </p:cNvPr>
          <p:cNvSpPr>
            <a:spLocks xmlns:a="http://schemas.openxmlformats.org/drawingml/2006/main" noGrp="1"/>
          </p:cNvSpPr>
          <p:nvPr/>
        </p:nvSpPr>
        <p:spPr>
          <a:xfrm xmlns:a="http://schemas.openxmlformats.org/drawingml/2006/main" rot="0">
            <a:off x="6286500" y="3105150"/>
            <a:ext cx="5257800" cy="9525"/>
          </a:xfrm>
          <a:custGeom xmlns:a="http://schemas.openxmlformats.org/drawingml/2006/main">
            <a:rect l="l" t="t" r="r" b="b"/>
            <a:pathLst>
              <a:path w="5257800" h="9525">
                <a:moveTo>
                  <a:pt x="0" y="0"/>
                </a:moveTo>
                <a:lnTo>
                  <a:pt x="5257800" y="0"/>
                </a:lnTo>
              </a:path>
            </a:pathLst>
          </a:custGeom>
          <a:noFill xmlns:a="http://schemas.openxmlformats.org/drawingml/2006/main"/>
          <a:ln xmlns:a="http://schemas.openxmlformats.org/drawingml/2006/main" w="9525">
            <a:solidFill>
              <a:srgbClr val="CED8E4"/>
            </a:solidFill>
          </a:ln>
        </p:spPr>
      </p:sp>
      <p:sp>
        <p:nvSpPr>
          <p:cNvPr id="91" name="Freeform 91">
            <a:extLst xmlns:a="http://schemas.openxmlformats.org/drawingml/2006/main">
              <a:ext uri="{FF2B5EF4-FFF2-40B4-BE49-F238E27FC236}">
                <a16:creationId xmlns:a16="http://schemas.microsoft.com/office/drawing/2014/main" id="{F5EF1D10-6E4B-4AE4-A311-B103F0D1C236}"/>
              </a:ext>
            </a:extLst>
          </p:cNvPr>
          <p:cNvSpPr>
            <a:spLocks xmlns:a="http://schemas.openxmlformats.org/drawingml/2006/main" noGrp="1"/>
          </p:cNvSpPr>
          <p:nvPr/>
        </p:nvSpPr>
        <p:spPr>
          <a:xfrm xmlns:a="http://schemas.openxmlformats.org/drawingml/2006/main" rot="0">
            <a:off x="6336506" y="3376612"/>
            <a:ext cx="166688" cy="66675"/>
          </a:xfrm>
          <a:custGeom xmlns:a="http://schemas.openxmlformats.org/drawingml/2006/main">
            <a:rect l="l" t="t" r="r" b="b"/>
            <a:pathLst>
              <a:path w="166688" h="66675">
                <a:moveTo>
                  <a:pt x="166688" y="0"/>
                </a:moveTo>
                <a:lnTo>
                  <a:pt x="166688" y="66675"/>
                </a:lnTo>
                <a:lnTo>
                  <a:pt x="0" y="66675"/>
                </a:lnTo>
                <a:lnTo>
                  <a:pt x="0" y="0"/>
                </a:lnTo>
                <a:close/>
              </a:path>
            </a:pathLst>
          </a:custGeom>
          <a:solidFill xmlns:a="http://schemas.openxmlformats.org/drawingml/2006/main">
            <a:srgbClr val="2F80ED">
              <a:alpha val="20000"/>
            </a:srgbClr>
          </a:solidFill>
          <a:ln xmlns:a="http://schemas.openxmlformats.org/drawingml/2006/main">
            <a:noFill/>
          </a:ln>
        </p:spPr>
      </p:sp>
      <p:sp>
        <p:nvSpPr>
          <p:cNvPr id="92" name="Freeform 92">
            <a:extLst xmlns:a="http://schemas.openxmlformats.org/drawingml/2006/main">
              <a:ext uri="{FF2B5EF4-FFF2-40B4-BE49-F238E27FC236}">
                <a16:creationId xmlns:a16="http://schemas.microsoft.com/office/drawing/2014/main" id="{A64CF425-9114-4C4A-81A3-0C1EC321CBD7}"/>
              </a:ext>
            </a:extLst>
          </p:cNvPr>
          <p:cNvSpPr>
            <a:spLocks xmlns:a="http://schemas.openxmlformats.org/drawingml/2006/main" noGrp="1"/>
          </p:cNvSpPr>
          <p:nvPr/>
        </p:nvSpPr>
        <p:spPr>
          <a:xfrm xmlns:a="http://schemas.openxmlformats.org/drawingml/2006/main" rot="0">
            <a:off x="6328172" y="3301603"/>
            <a:ext cx="183356" cy="216694"/>
          </a:xfrm>
          <a:custGeom xmlns:a="http://schemas.openxmlformats.org/drawingml/2006/main">
            <a:rect l="l" t="t" r="r" b="b"/>
            <a:pathLst>
              <a:path w="183356" h="216694">
                <a:moveTo>
                  <a:pt x="16669" y="75009"/>
                </a:moveTo>
                <a:lnTo>
                  <a:pt x="16669" y="141684"/>
                </a:lnTo>
                <a:cubicBezTo>
                  <a:pt x="16669" y="146287"/>
                  <a:pt x="12937" y="150019"/>
                  <a:pt x="8334" y="150019"/>
                </a:cubicBezTo>
                <a:cubicBezTo>
                  <a:pt x="3731" y="150019"/>
                  <a:pt x="0" y="146287"/>
                  <a:pt x="0" y="141684"/>
                </a:cubicBezTo>
                <a:lnTo>
                  <a:pt x="0" y="75009"/>
                </a:lnTo>
                <a:cubicBezTo>
                  <a:pt x="0" y="70406"/>
                  <a:pt x="3731" y="66675"/>
                  <a:pt x="8334" y="66675"/>
                </a:cubicBezTo>
                <a:cubicBezTo>
                  <a:pt x="12937" y="66675"/>
                  <a:pt x="16669" y="70406"/>
                  <a:pt x="16669" y="75009"/>
                </a:cubicBezTo>
                <a:close/>
                <a:moveTo>
                  <a:pt x="50006" y="0"/>
                </a:moveTo>
                <a:cubicBezTo>
                  <a:pt x="45403" y="0"/>
                  <a:pt x="41672" y="3731"/>
                  <a:pt x="41672" y="8334"/>
                </a:cubicBezTo>
                <a:lnTo>
                  <a:pt x="41672" y="208359"/>
                </a:lnTo>
                <a:cubicBezTo>
                  <a:pt x="41672" y="212962"/>
                  <a:pt x="45403" y="216694"/>
                  <a:pt x="50006" y="216694"/>
                </a:cubicBezTo>
                <a:cubicBezTo>
                  <a:pt x="54609" y="216694"/>
                  <a:pt x="58341" y="212962"/>
                  <a:pt x="58341" y="208359"/>
                </a:cubicBezTo>
                <a:lnTo>
                  <a:pt x="58341" y="8334"/>
                </a:lnTo>
                <a:cubicBezTo>
                  <a:pt x="58341" y="3731"/>
                  <a:pt x="54609" y="0"/>
                  <a:pt x="50006" y="0"/>
                </a:cubicBezTo>
                <a:close/>
                <a:moveTo>
                  <a:pt x="91678" y="33338"/>
                </a:moveTo>
                <a:cubicBezTo>
                  <a:pt x="87075" y="33338"/>
                  <a:pt x="83344" y="37069"/>
                  <a:pt x="83344" y="41672"/>
                </a:cubicBezTo>
                <a:lnTo>
                  <a:pt x="83344" y="175022"/>
                </a:lnTo>
                <a:cubicBezTo>
                  <a:pt x="83344" y="179625"/>
                  <a:pt x="87075" y="183356"/>
                  <a:pt x="91678" y="183356"/>
                </a:cubicBezTo>
                <a:cubicBezTo>
                  <a:pt x="96281" y="183356"/>
                  <a:pt x="100012" y="179625"/>
                  <a:pt x="100012" y="175022"/>
                </a:cubicBezTo>
                <a:lnTo>
                  <a:pt x="100012" y="41672"/>
                </a:lnTo>
                <a:cubicBezTo>
                  <a:pt x="100012" y="37069"/>
                  <a:pt x="96281" y="33338"/>
                  <a:pt x="91678" y="33338"/>
                </a:cubicBezTo>
                <a:close/>
                <a:moveTo>
                  <a:pt x="133350" y="66675"/>
                </a:moveTo>
                <a:cubicBezTo>
                  <a:pt x="128747" y="66675"/>
                  <a:pt x="125016" y="70406"/>
                  <a:pt x="125016" y="75009"/>
                </a:cubicBezTo>
                <a:lnTo>
                  <a:pt x="125016" y="141684"/>
                </a:lnTo>
                <a:cubicBezTo>
                  <a:pt x="125016" y="146287"/>
                  <a:pt x="128747" y="150019"/>
                  <a:pt x="133350" y="150019"/>
                </a:cubicBezTo>
                <a:cubicBezTo>
                  <a:pt x="137953" y="150019"/>
                  <a:pt x="141684" y="146287"/>
                  <a:pt x="141684" y="141684"/>
                </a:cubicBezTo>
                <a:lnTo>
                  <a:pt x="141684" y="75009"/>
                </a:lnTo>
                <a:cubicBezTo>
                  <a:pt x="141684" y="70406"/>
                  <a:pt x="137953" y="66675"/>
                  <a:pt x="133350" y="66675"/>
                </a:cubicBezTo>
                <a:close/>
                <a:moveTo>
                  <a:pt x="175022" y="50006"/>
                </a:moveTo>
                <a:cubicBezTo>
                  <a:pt x="170419" y="50006"/>
                  <a:pt x="166688" y="53738"/>
                  <a:pt x="166688" y="58341"/>
                </a:cubicBezTo>
                <a:lnTo>
                  <a:pt x="166688" y="158353"/>
                </a:lnTo>
                <a:cubicBezTo>
                  <a:pt x="166688" y="162956"/>
                  <a:pt x="170419" y="166688"/>
                  <a:pt x="175022" y="166688"/>
                </a:cubicBezTo>
                <a:cubicBezTo>
                  <a:pt x="179625" y="166688"/>
                  <a:pt x="183356" y="162956"/>
                  <a:pt x="183356" y="158353"/>
                </a:cubicBezTo>
                <a:lnTo>
                  <a:pt x="183356" y="58341"/>
                </a:lnTo>
                <a:cubicBezTo>
                  <a:pt x="183356" y="53738"/>
                  <a:pt x="179625" y="50006"/>
                  <a:pt x="175022" y="50006"/>
                </a:cubicBezTo>
                <a:close/>
              </a:path>
            </a:pathLst>
          </a:custGeom>
          <a:solidFill xmlns:a="http://schemas.openxmlformats.org/drawingml/2006/main">
            <a:srgbClr val="2F80ED"/>
          </a:solidFill>
          <a:ln xmlns:a="http://schemas.openxmlformats.org/drawingml/2006/main">
            <a:noFill/>
          </a:ln>
        </p:spPr>
      </p:sp>
      <p:sp>
        <p:nvSpPr>
          <p:cNvPr id="94" name="TextBox 94">
            <a:extLst xmlns:a="http://schemas.openxmlformats.org/drawingml/2006/main">
              <a:ext uri="{FF2B5EF4-FFF2-40B4-BE49-F238E27FC236}">
                <a16:creationId xmlns:a16="http://schemas.microsoft.com/office/drawing/2014/main" id="{18FCCB8B-9DCE-4CBB-981C-EA6FF5950600}"/>
              </a:ext>
            </a:extLst>
          </p:cNvPr>
          <p:cNvSpPr>
            <a:spLocks xmlns:a="http://schemas.openxmlformats.org/drawingml/2006/main" noGrp="1"/>
          </p:cNvSpPr>
          <p:nvPr/>
        </p:nvSpPr>
        <p:spPr>
          <a:xfrm xmlns:a="http://schemas.openxmlformats.org/drawingml/2006/main" rot="0">
            <a:off x="6671310" y="3280410"/>
            <a:ext cx="1509065"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Drive base</a:t>
            </a:r>
          </a:p>
        </p:txBody>
      </p:sp>
      <p:sp>
        <p:nvSpPr>
          <p:cNvPr id="95" name="TextBox 95">
            <a:extLst xmlns:a="http://schemas.openxmlformats.org/drawingml/2006/main">
              <a:ext uri="{FF2B5EF4-FFF2-40B4-BE49-F238E27FC236}">
                <a16:creationId xmlns:a16="http://schemas.microsoft.com/office/drawing/2014/main" id="{E0B6093A-B331-41C8-9070-20DA08F4FDF8}"/>
              </a:ext>
            </a:extLst>
          </p:cNvPr>
          <p:cNvSpPr>
            <a:spLocks xmlns:a="http://schemas.openxmlformats.org/drawingml/2006/main" noGrp="1"/>
          </p:cNvSpPr>
          <p:nvPr/>
        </p:nvSpPr>
        <p:spPr>
          <a:xfrm xmlns:a="http://schemas.openxmlformats.org/drawingml/2006/main" rot="0">
            <a:off x="6674168" y="3504724"/>
            <a:ext cx="253407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4 TT motors + HW-130 driver</a:t>
            </a:r>
          </a:p>
        </p:txBody>
      </p:sp>
      <p:sp>
        <p:nvSpPr>
          <p:cNvPr id="96" name="TextBox 96">
            <a:extLst xmlns:a="http://schemas.openxmlformats.org/drawingml/2006/main">
              <a:ext uri="{FF2B5EF4-FFF2-40B4-BE49-F238E27FC236}">
                <a16:creationId xmlns:a16="http://schemas.microsoft.com/office/drawing/2014/main" id="{98AB756F-D79F-4743-B762-F6796FD981A6}"/>
              </a:ext>
            </a:extLst>
          </p:cNvPr>
          <p:cNvSpPr>
            <a:spLocks xmlns:a="http://schemas.openxmlformats.org/drawingml/2006/main" noGrp="1"/>
          </p:cNvSpPr>
          <p:nvPr/>
        </p:nvSpPr>
        <p:spPr>
          <a:xfrm xmlns:a="http://schemas.openxmlformats.org/drawingml/2006/main" rot="0">
            <a:off x="10595800" y="3409474"/>
            <a:ext cx="96088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motion</a:t>
            </a:r>
          </a:p>
        </p:txBody>
      </p:sp>
      <p:sp>
        <p:nvSpPr>
          <p:cNvPr id="97" name="Line 97">
            <a:extLst xmlns:a="http://schemas.openxmlformats.org/drawingml/2006/main">
              <a:ext uri="{FF2B5EF4-FFF2-40B4-BE49-F238E27FC236}">
                <a16:creationId xmlns:a16="http://schemas.microsoft.com/office/drawing/2014/main" id="{E1A3615A-6869-40CF-A8C6-47CABE907DC0}"/>
              </a:ext>
            </a:extLst>
          </p:cNvPr>
          <p:cNvSpPr>
            <a:spLocks xmlns:a="http://schemas.openxmlformats.org/drawingml/2006/main" noGrp="1"/>
          </p:cNvSpPr>
          <p:nvPr/>
        </p:nvSpPr>
        <p:spPr>
          <a:xfrm xmlns:a="http://schemas.openxmlformats.org/drawingml/2006/main" rot="0">
            <a:off x="6286500" y="3771900"/>
            <a:ext cx="5257800" cy="9525"/>
          </a:xfrm>
          <a:custGeom xmlns:a="http://schemas.openxmlformats.org/drawingml/2006/main">
            <a:rect l="l" t="t" r="r" b="b"/>
            <a:pathLst>
              <a:path w="5257800" h="9525">
                <a:moveTo>
                  <a:pt x="0" y="0"/>
                </a:moveTo>
                <a:lnTo>
                  <a:pt x="5257800" y="0"/>
                </a:lnTo>
              </a:path>
            </a:pathLst>
          </a:custGeom>
          <a:noFill xmlns:a="http://schemas.openxmlformats.org/drawingml/2006/main"/>
          <a:ln xmlns:a="http://schemas.openxmlformats.org/drawingml/2006/main" w="9525">
            <a:solidFill>
              <a:srgbClr val="CED8E4"/>
            </a:solidFill>
          </a:ln>
        </p:spPr>
      </p:sp>
      <p:sp>
        <p:nvSpPr>
          <p:cNvPr id="98" name="Freeform 98">
            <a:extLst xmlns:a="http://schemas.openxmlformats.org/drawingml/2006/main">
              <a:ext uri="{FF2B5EF4-FFF2-40B4-BE49-F238E27FC236}">
                <a16:creationId xmlns:a16="http://schemas.microsoft.com/office/drawing/2014/main" id="{748B8A25-797E-41C0-A9DC-77CDA41939BD}"/>
              </a:ext>
            </a:extLst>
          </p:cNvPr>
          <p:cNvSpPr>
            <a:spLocks xmlns:a="http://schemas.openxmlformats.org/drawingml/2006/main" noGrp="1"/>
          </p:cNvSpPr>
          <p:nvPr/>
        </p:nvSpPr>
        <p:spPr>
          <a:xfrm xmlns:a="http://schemas.openxmlformats.org/drawingml/2006/main" rot="0">
            <a:off x="6316969" y="3968353"/>
            <a:ext cx="186225" cy="216694"/>
          </a:xfrm>
          <a:custGeom xmlns:a="http://schemas.openxmlformats.org/drawingml/2006/main">
            <a:rect l="l" t="t" r="r" b="b"/>
            <a:pathLst>
              <a:path w="186225" h="216694">
                <a:moveTo>
                  <a:pt x="186225" y="54173"/>
                </a:moveTo>
                <a:lnTo>
                  <a:pt x="186225" y="133350"/>
                </a:lnTo>
                <a:cubicBezTo>
                  <a:pt x="186225" y="179379"/>
                  <a:pt x="148911" y="216694"/>
                  <a:pt x="102881" y="216694"/>
                </a:cubicBezTo>
                <a:cubicBezTo>
                  <a:pt x="56855" y="216694"/>
                  <a:pt x="39592" y="194524"/>
                  <a:pt x="5661" y="122932"/>
                </a:cubicBezTo>
                <a:cubicBezTo>
                  <a:pt x="0" y="112975"/>
                  <a:pt x="3437" y="100316"/>
                  <a:pt x="13356" y="94589"/>
                </a:cubicBezTo>
                <a:cubicBezTo>
                  <a:pt x="23275" y="88863"/>
                  <a:pt x="35956" y="92215"/>
                  <a:pt x="41749" y="102096"/>
                </a:cubicBezTo>
                <a:lnTo>
                  <a:pt x="61210" y="133350"/>
                </a:lnTo>
                <a:lnTo>
                  <a:pt x="61210" y="37505"/>
                </a:lnTo>
                <a:cubicBezTo>
                  <a:pt x="61210" y="25997"/>
                  <a:pt x="70538" y="16669"/>
                  <a:pt x="82045" y="16669"/>
                </a:cubicBezTo>
                <a:cubicBezTo>
                  <a:pt x="93553" y="16669"/>
                  <a:pt x="102881" y="25997"/>
                  <a:pt x="102881" y="37505"/>
                </a:cubicBezTo>
                <a:lnTo>
                  <a:pt x="102881" y="20836"/>
                </a:lnTo>
                <a:cubicBezTo>
                  <a:pt x="102881" y="9329"/>
                  <a:pt x="112210" y="0"/>
                  <a:pt x="123717" y="0"/>
                </a:cubicBezTo>
                <a:cubicBezTo>
                  <a:pt x="135225" y="0"/>
                  <a:pt x="144553" y="9329"/>
                  <a:pt x="144553" y="20836"/>
                </a:cubicBezTo>
                <a:lnTo>
                  <a:pt x="144553" y="54173"/>
                </a:lnTo>
                <a:cubicBezTo>
                  <a:pt x="144553" y="42666"/>
                  <a:pt x="153882" y="33338"/>
                  <a:pt x="165389" y="33338"/>
                </a:cubicBezTo>
                <a:cubicBezTo>
                  <a:pt x="176897" y="33338"/>
                  <a:pt x="186225" y="42666"/>
                  <a:pt x="186225" y="54173"/>
                </a:cubicBezTo>
                <a:close/>
              </a:path>
            </a:pathLst>
          </a:custGeom>
          <a:solidFill xmlns:a="http://schemas.openxmlformats.org/drawingml/2006/main">
            <a:srgbClr val="2F80ED">
              <a:alpha val="20000"/>
            </a:srgbClr>
          </a:solidFill>
          <a:ln xmlns:a="http://schemas.openxmlformats.org/drawingml/2006/main">
            <a:noFill/>
          </a:ln>
        </p:spPr>
      </p:sp>
      <p:sp>
        <p:nvSpPr>
          <p:cNvPr id="99" name="Freeform 99">
            <a:extLst xmlns:a="http://schemas.openxmlformats.org/drawingml/2006/main">
              <a:ext uri="{FF2B5EF4-FFF2-40B4-BE49-F238E27FC236}">
                <a16:creationId xmlns:a16="http://schemas.microsoft.com/office/drawing/2014/main" id="{9D943B8E-A89F-417F-ACBB-97F1BF0F7620}"/>
              </a:ext>
            </a:extLst>
          </p:cNvPr>
          <p:cNvSpPr>
            <a:spLocks xmlns:a="http://schemas.openxmlformats.org/drawingml/2006/main" noGrp="1"/>
          </p:cNvSpPr>
          <p:nvPr/>
        </p:nvSpPr>
        <p:spPr>
          <a:xfrm xmlns:a="http://schemas.openxmlformats.org/drawingml/2006/main" rot="0">
            <a:off x="6307333" y="3958129"/>
            <a:ext cx="204195" cy="235252"/>
          </a:xfrm>
          <a:custGeom xmlns:a="http://schemas.openxmlformats.org/drawingml/2006/main">
            <a:rect l="l" t="t" r="r" b="b"/>
            <a:pathLst>
              <a:path w="204195" h="235252">
                <a:moveTo>
                  <a:pt x="175025" y="35227"/>
                </a:moveTo>
                <a:cubicBezTo>
                  <a:pt x="170699" y="35221"/>
                  <a:pt x="166427" y="36186"/>
                  <a:pt x="162523" y="38050"/>
                </a:cubicBezTo>
                <a:lnTo>
                  <a:pt x="162523" y="31060"/>
                </a:lnTo>
                <a:cubicBezTo>
                  <a:pt x="162529" y="16696"/>
                  <a:pt x="152077" y="4466"/>
                  <a:pt x="137888" y="2233"/>
                </a:cubicBezTo>
                <a:cubicBezTo>
                  <a:pt x="123698" y="0"/>
                  <a:pt x="109995" y="8429"/>
                  <a:pt x="105589" y="22100"/>
                </a:cubicBezTo>
                <a:cubicBezTo>
                  <a:pt x="96552" y="17199"/>
                  <a:pt x="85602" y="17416"/>
                  <a:pt x="76767" y="22672"/>
                </a:cubicBezTo>
                <a:cubicBezTo>
                  <a:pt x="67932" y="27928"/>
                  <a:pt x="62515" y="37448"/>
                  <a:pt x="62511" y="47728"/>
                </a:cubicBezTo>
                <a:lnTo>
                  <a:pt x="62511" y="114403"/>
                </a:lnTo>
                <a:lnTo>
                  <a:pt x="58531" y="108017"/>
                </a:lnTo>
                <a:cubicBezTo>
                  <a:pt x="50484" y="94130"/>
                  <a:pt x="32730" y="89353"/>
                  <a:pt x="18801" y="97326"/>
                </a:cubicBezTo>
                <a:cubicBezTo>
                  <a:pt x="4871" y="105300"/>
                  <a:pt x="0" y="123029"/>
                  <a:pt x="7900" y="137000"/>
                </a:cubicBezTo>
                <a:cubicBezTo>
                  <a:pt x="24569" y="172181"/>
                  <a:pt x="38039" y="197132"/>
                  <a:pt x="53447" y="212728"/>
                </a:cubicBezTo>
                <a:cubicBezTo>
                  <a:pt x="69012" y="228522"/>
                  <a:pt x="86681" y="235252"/>
                  <a:pt x="112517" y="235252"/>
                </a:cubicBezTo>
                <a:cubicBezTo>
                  <a:pt x="163126" y="235194"/>
                  <a:pt x="204138" y="194182"/>
                  <a:pt x="204195" y="143574"/>
                </a:cubicBezTo>
                <a:lnTo>
                  <a:pt x="204195" y="64397"/>
                </a:lnTo>
                <a:cubicBezTo>
                  <a:pt x="204195" y="48287"/>
                  <a:pt x="191135" y="35227"/>
                  <a:pt x="175025" y="35227"/>
                </a:cubicBezTo>
                <a:close/>
                <a:moveTo>
                  <a:pt x="187526" y="143574"/>
                </a:moveTo>
                <a:cubicBezTo>
                  <a:pt x="187481" y="184981"/>
                  <a:pt x="153925" y="218537"/>
                  <a:pt x="112517" y="218583"/>
                </a:cubicBezTo>
                <a:cubicBezTo>
                  <a:pt x="91285" y="218583"/>
                  <a:pt x="77606" y="213499"/>
                  <a:pt x="65292" y="201029"/>
                </a:cubicBezTo>
                <a:cubicBezTo>
                  <a:pt x="51509" y="187058"/>
                  <a:pt x="38820" y="163368"/>
                  <a:pt x="22818" y="129593"/>
                </a:cubicBezTo>
                <a:cubicBezTo>
                  <a:pt x="22725" y="129386"/>
                  <a:pt x="22620" y="129184"/>
                  <a:pt x="22506" y="128989"/>
                </a:cubicBezTo>
                <a:cubicBezTo>
                  <a:pt x="19054" y="123008"/>
                  <a:pt x="21104" y="115361"/>
                  <a:pt x="27085" y="111908"/>
                </a:cubicBezTo>
                <a:cubicBezTo>
                  <a:pt x="33066" y="108456"/>
                  <a:pt x="40713" y="110506"/>
                  <a:pt x="44165" y="116487"/>
                </a:cubicBezTo>
                <a:cubicBezTo>
                  <a:pt x="44207" y="116570"/>
                  <a:pt x="44256" y="116651"/>
                  <a:pt x="44311" y="116727"/>
                </a:cubicBezTo>
                <a:lnTo>
                  <a:pt x="63761" y="147981"/>
                </a:lnTo>
                <a:cubicBezTo>
                  <a:pt x="65724" y="151148"/>
                  <a:pt x="69552" y="152628"/>
                  <a:pt x="73136" y="151604"/>
                </a:cubicBezTo>
                <a:cubicBezTo>
                  <a:pt x="76719" y="150579"/>
                  <a:pt x="79187" y="147301"/>
                  <a:pt x="79180" y="143574"/>
                </a:cubicBezTo>
                <a:lnTo>
                  <a:pt x="79180" y="47728"/>
                </a:lnTo>
                <a:cubicBezTo>
                  <a:pt x="79180" y="40824"/>
                  <a:pt x="84777" y="35227"/>
                  <a:pt x="91681" y="35227"/>
                </a:cubicBezTo>
                <a:cubicBezTo>
                  <a:pt x="98586" y="35227"/>
                  <a:pt x="104183" y="40824"/>
                  <a:pt x="104183" y="47728"/>
                </a:cubicBezTo>
                <a:lnTo>
                  <a:pt x="104183" y="110236"/>
                </a:lnTo>
                <a:cubicBezTo>
                  <a:pt x="104183" y="114839"/>
                  <a:pt x="107914" y="118571"/>
                  <a:pt x="112517" y="118571"/>
                </a:cubicBezTo>
                <a:cubicBezTo>
                  <a:pt x="117120" y="118571"/>
                  <a:pt x="120851" y="114839"/>
                  <a:pt x="120851" y="110236"/>
                </a:cubicBezTo>
                <a:lnTo>
                  <a:pt x="120851" y="31060"/>
                </a:lnTo>
                <a:cubicBezTo>
                  <a:pt x="120851" y="24155"/>
                  <a:pt x="126449" y="18558"/>
                  <a:pt x="133353" y="18558"/>
                </a:cubicBezTo>
                <a:cubicBezTo>
                  <a:pt x="140257" y="18558"/>
                  <a:pt x="145855" y="24155"/>
                  <a:pt x="145855" y="31060"/>
                </a:cubicBezTo>
                <a:lnTo>
                  <a:pt x="145855" y="110236"/>
                </a:lnTo>
                <a:cubicBezTo>
                  <a:pt x="145855" y="114839"/>
                  <a:pt x="149586" y="118571"/>
                  <a:pt x="154189" y="118571"/>
                </a:cubicBezTo>
                <a:cubicBezTo>
                  <a:pt x="158792" y="118571"/>
                  <a:pt x="162523" y="114839"/>
                  <a:pt x="162523" y="110236"/>
                </a:cubicBezTo>
                <a:lnTo>
                  <a:pt x="162523" y="64397"/>
                </a:lnTo>
                <a:cubicBezTo>
                  <a:pt x="162523" y="57493"/>
                  <a:pt x="168120" y="51896"/>
                  <a:pt x="175025" y="51896"/>
                </a:cubicBezTo>
                <a:cubicBezTo>
                  <a:pt x="181929" y="51896"/>
                  <a:pt x="187526" y="57493"/>
                  <a:pt x="187526" y="64397"/>
                </a:cubicBezTo>
                <a:close/>
              </a:path>
            </a:pathLst>
          </a:custGeom>
          <a:solidFill xmlns:a="http://schemas.openxmlformats.org/drawingml/2006/main">
            <a:srgbClr val="2F80ED"/>
          </a:solidFill>
          <a:ln xmlns:a="http://schemas.openxmlformats.org/drawingml/2006/main">
            <a:noFill/>
          </a:ln>
        </p:spPr>
      </p:sp>
      <p:sp>
        <p:nvSpPr>
          <p:cNvPr id="101" name="TextBox 101">
            <a:extLst xmlns:a="http://schemas.openxmlformats.org/drawingml/2006/main">
              <a:ext uri="{FF2B5EF4-FFF2-40B4-BE49-F238E27FC236}">
                <a16:creationId xmlns:a16="http://schemas.microsoft.com/office/drawing/2014/main" id="{4A62A141-6C5B-41DB-97DF-99E8D473F860}"/>
              </a:ext>
            </a:extLst>
          </p:cNvPr>
          <p:cNvSpPr>
            <a:spLocks xmlns:a="http://schemas.openxmlformats.org/drawingml/2006/main" noGrp="1"/>
          </p:cNvSpPr>
          <p:nvPr/>
        </p:nvSpPr>
        <p:spPr>
          <a:xfrm xmlns:a="http://schemas.openxmlformats.org/drawingml/2006/main" rot="0">
            <a:off x="6671310" y="3947160"/>
            <a:ext cx="123183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Interaction</a:t>
            </a:r>
          </a:p>
        </p:txBody>
      </p:sp>
      <p:sp>
        <p:nvSpPr>
          <p:cNvPr id="102" name="TextBox 102">
            <a:extLst xmlns:a="http://schemas.openxmlformats.org/drawingml/2006/main">
              <a:ext uri="{FF2B5EF4-FFF2-40B4-BE49-F238E27FC236}">
                <a16:creationId xmlns:a16="http://schemas.microsoft.com/office/drawing/2014/main" id="{2273FDF2-7295-4342-9F80-12CAB0BEA7D5}"/>
              </a:ext>
            </a:extLst>
          </p:cNvPr>
          <p:cNvSpPr>
            <a:spLocks xmlns:a="http://schemas.openxmlformats.org/drawingml/2006/main" noGrp="1"/>
          </p:cNvSpPr>
          <p:nvPr/>
        </p:nvSpPr>
        <p:spPr>
          <a:xfrm xmlns:a="http://schemas.openxmlformats.org/drawingml/2006/main" rot="0">
            <a:off x="6674168" y="4171474"/>
            <a:ext cx="25145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64×48 display + two servos</a:t>
            </a:r>
          </a:p>
        </p:txBody>
      </p:sp>
      <p:sp>
        <p:nvSpPr>
          <p:cNvPr id="103" name="TextBox 103">
            <a:extLst xmlns:a="http://schemas.openxmlformats.org/drawingml/2006/main">
              <a:ext uri="{FF2B5EF4-FFF2-40B4-BE49-F238E27FC236}">
                <a16:creationId xmlns:a16="http://schemas.microsoft.com/office/drawing/2014/main" id="{FCB2DED8-DCE2-4B19-958A-9240DA6D529C}"/>
              </a:ext>
            </a:extLst>
          </p:cNvPr>
          <p:cNvSpPr>
            <a:spLocks xmlns:a="http://schemas.openxmlformats.org/drawingml/2006/main" noGrp="1"/>
          </p:cNvSpPr>
          <p:nvPr/>
        </p:nvSpPr>
        <p:spPr>
          <a:xfrm xmlns:a="http://schemas.openxmlformats.org/drawingml/2006/main" rot="0">
            <a:off x="10387774" y="4076224"/>
            <a:ext cx="116890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feedback</a:t>
            </a:r>
          </a:p>
        </p:txBody>
      </p:sp>
      <p:sp>
        <p:nvSpPr>
          <p:cNvPr id="104" name="Line 104">
            <a:extLst xmlns:a="http://schemas.openxmlformats.org/drawingml/2006/main">
              <a:ext uri="{FF2B5EF4-FFF2-40B4-BE49-F238E27FC236}">
                <a16:creationId xmlns:a16="http://schemas.microsoft.com/office/drawing/2014/main" id="{6CF5CD01-EBC1-4926-BA2F-FDF6A4053D1D}"/>
              </a:ext>
            </a:extLst>
          </p:cNvPr>
          <p:cNvSpPr>
            <a:spLocks xmlns:a="http://schemas.openxmlformats.org/drawingml/2006/main" noGrp="1"/>
          </p:cNvSpPr>
          <p:nvPr/>
        </p:nvSpPr>
        <p:spPr>
          <a:xfrm xmlns:a="http://schemas.openxmlformats.org/drawingml/2006/main" rot="0">
            <a:off x="6286500" y="4438650"/>
            <a:ext cx="5257800" cy="9525"/>
          </a:xfrm>
          <a:custGeom xmlns:a="http://schemas.openxmlformats.org/drawingml/2006/main">
            <a:rect l="l" t="t" r="r" b="b"/>
            <a:pathLst>
              <a:path w="5257800" h="9525">
                <a:moveTo>
                  <a:pt x="0" y="0"/>
                </a:moveTo>
                <a:lnTo>
                  <a:pt x="5257800" y="0"/>
                </a:lnTo>
              </a:path>
            </a:pathLst>
          </a:custGeom>
          <a:noFill xmlns:a="http://schemas.openxmlformats.org/drawingml/2006/main"/>
          <a:ln xmlns:a="http://schemas.openxmlformats.org/drawingml/2006/main" w="9525">
            <a:solidFill>
              <a:srgbClr val="CED8E4"/>
            </a:solidFill>
          </a:ln>
        </p:spPr>
      </p:sp>
      <p:sp>
        <p:nvSpPr>
          <p:cNvPr id="105" name="Freeform 105">
            <a:extLst xmlns:a="http://schemas.openxmlformats.org/drawingml/2006/main">
              <a:ext uri="{FF2B5EF4-FFF2-40B4-BE49-F238E27FC236}">
                <a16:creationId xmlns:a16="http://schemas.microsoft.com/office/drawing/2014/main" id="{47D280B0-D5DF-4C3B-A32F-08617DADF98E}"/>
              </a:ext>
            </a:extLst>
          </p:cNvPr>
          <p:cNvSpPr>
            <a:spLocks xmlns:a="http://schemas.openxmlformats.org/drawingml/2006/main" noGrp="1"/>
          </p:cNvSpPr>
          <p:nvPr/>
        </p:nvSpPr>
        <p:spPr>
          <a:xfrm xmlns:a="http://schemas.openxmlformats.org/drawingml/2006/main" rot="0">
            <a:off x="6327849" y="4651772"/>
            <a:ext cx="184022" cy="158353"/>
          </a:xfrm>
          <a:custGeom xmlns:a="http://schemas.openxmlformats.org/drawingml/2006/main">
            <a:rect l="l" t="t" r="r" b="b"/>
            <a:pathLst>
              <a:path w="184022" h="158353">
                <a:moveTo>
                  <a:pt x="175344" y="158353"/>
                </a:moveTo>
                <a:lnTo>
                  <a:pt x="8657" y="158353"/>
                </a:lnTo>
                <a:cubicBezTo>
                  <a:pt x="5688" y="158335"/>
                  <a:pt x="2953" y="156740"/>
                  <a:pt x="1477" y="154164"/>
                </a:cubicBezTo>
                <a:cubicBezTo>
                  <a:pt x="0" y="151589"/>
                  <a:pt x="5" y="148422"/>
                  <a:pt x="1489" y="145852"/>
                </a:cubicBezTo>
                <a:cubicBezTo>
                  <a:pt x="8355" y="133975"/>
                  <a:pt x="16991" y="112316"/>
                  <a:pt x="16991" y="75009"/>
                </a:cubicBezTo>
                <a:cubicBezTo>
                  <a:pt x="16991" y="33583"/>
                  <a:pt x="50574" y="0"/>
                  <a:pt x="92001" y="0"/>
                </a:cubicBezTo>
                <a:cubicBezTo>
                  <a:pt x="133427" y="0"/>
                  <a:pt x="167010" y="33583"/>
                  <a:pt x="167010" y="75009"/>
                </a:cubicBezTo>
                <a:cubicBezTo>
                  <a:pt x="167010" y="112327"/>
                  <a:pt x="175657" y="133975"/>
                  <a:pt x="182533" y="145852"/>
                </a:cubicBezTo>
                <a:cubicBezTo>
                  <a:pt x="184019" y="148426"/>
                  <a:pt x="184022" y="151596"/>
                  <a:pt x="182540" y="154173"/>
                </a:cubicBezTo>
                <a:cubicBezTo>
                  <a:pt x="181058" y="156750"/>
                  <a:pt x="178317" y="158343"/>
                  <a:pt x="175344" y="158353"/>
                </a:cubicBezTo>
                <a:close/>
              </a:path>
            </a:pathLst>
          </a:custGeom>
          <a:solidFill xmlns:a="http://schemas.openxmlformats.org/drawingml/2006/main">
            <a:srgbClr val="2F80ED">
              <a:alpha val="20000"/>
            </a:srgbClr>
          </a:solidFill>
          <a:ln xmlns:a="http://schemas.openxmlformats.org/drawingml/2006/main">
            <a:noFill/>
          </a:ln>
        </p:spPr>
      </p:sp>
      <p:sp>
        <p:nvSpPr>
          <p:cNvPr id="106" name="Freeform 106">
            <a:extLst xmlns:a="http://schemas.openxmlformats.org/drawingml/2006/main">
              <a:ext uri="{FF2B5EF4-FFF2-40B4-BE49-F238E27FC236}">
                <a16:creationId xmlns:a16="http://schemas.microsoft.com/office/drawing/2014/main" id="{65C55945-AEE9-4C44-BACF-3AEC8CA5C760}"/>
              </a:ext>
            </a:extLst>
          </p:cNvPr>
          <p:cNvSpPr>
            <a:spLocks xmlns:a="http://schemas.openxmlformats.org/drawingml/2006/main" noGrp="1"/>
          </p:cNvSpPr>
          <p:nvPr/>
        </p:nvSpPr>
        <p:spPr>
          <a:xfrm xmlns:a="http://schemas.openxmlformats.org/drawingml/2006/main" rot="0">
            <a:off x="6314968" y="4626337"/>
            <a:ext cx="210573" cy="225502"/>
          </a:xfrm>
          <a:custGeom xmlns:a="http://schemas.openxmlformats.org/drawingml/2006/main">
            <a:rect l="l" t="t" r="r" b="b"/>
            <a:pathLst>
              <a:path w="210573" h="225502">
                <a:moveTo>
                  <a:pt x="204895" y="57835"/>
                </a:moveTo>
                <a:cubicBezTo>
                  <a:pt x="200810" y="59951"/>
                  <a:pt x="195783" y="58356"/>
                  <a:pt x="193664" y="54272"/>
                </a:cubicBezTo>
                <a:cubicBezTo>
                  <a:pt x="185709" y="38557"/>
                  <a:pt x="173668" y="25274"/>
                  <a:pt x="158806" y="15819"/>
                </a:cubicBezTo>
                <a:cubicBezTo>
                  <a:pt x="156286" y="14230"/>
                  <a:pt x="154806" y="11417"/>
                  <a:pt x="154922" y="8441"/>
                </a:cubicBezTo>
                <a:cubicBezTo>
                  <a:pt x="155038" y="5464"/>
                  <a:pt x="156734" y="2775"/>
                  <a:pt x="159370" y="1388"/>
                </a:cubicBezTo>
                <a:cubicBezTo>
                  <a:pt x="162007" y="0"/>
                  <a:pt x="165183" y="124"/>
                  <a:pt x="167703" y="1714"/>
                </a:cubicBezTo>
                <a:cubicBezTo>
                  <a:pt x="185024" y="12804"/>
                  <a:pt x="199088" y="28296"/>
                  <a:pt x="208458" y="46605"/>
                </a:cubicBezTo>
                <a:cubicBezTo>
                  <a:pt x="210573" y="50690"/>
                  <a:pt x="208979" y="55717"/>
                  <a:pt x="204895" y="57835"/>
                </a:cubicBezTo>
                <a:close/>
                <a:moveTo>
                  <a:pt x="8735" y="58773"/>
                </a:moveTo>
                <a:cubicBezTo>
                  <a:pt x="11848" y="58771"/>
                  <a:pt x="14700" y="57036"/>
                  <a:pt x="16132" y="54272"/>
                </a:cubicBezTo>
                <a:cubicBezTo>
                  <a:pt x="24087" y="38557"/>
                  <a:pt x="36128" y="25274"/>
                  <a:pt x="50990" y="15819"/>
                </a:cubicBezTo>
                <a:cubicBezTo>
                  <a:pt x="53510" y="14230"/>
                  <a:pt x="54991" y="11417"/>
                  <a:pt x="54874" y="8441"/>
                </a:cubicBezTo>
                <a:cubicBezTo>
                  <a:pt x="54758" y="5464"/>
                  <a:pt x="53062" y="2775"/>
                  <a:pt x="50426" y="1388"/>
                </a:cubicBezTo>
                <a:cubicBezTo>
                  <a:pt x="47789" y="0"/>
                  <a:pt x="44613" y="124"/>
                  <a:pt x="42093" y="1714"/>
                </a:cubicBezTo>
                <a:cubicBezTo>
                  <a:pt x="24772" y="12804"/>
                  <a:pt x="10708" y="28296"/>
                  <a:pt x="1338" y="46605"/>
                </a:cubicBezTo>
                <a:cubicBezTo>
                  <a:pt x="0" y="49188"/>
                  <a:pt x="106" y="52282"/>
                  <a:pt x="1617" y="54768"/>
                </a:cubicBezTo>
                <a:cubicBezTo>
                  <a:pt x="3128" y="57253"/>
                  <a:pt x="5826" y="58772"/>
                  <a:pt x="8735" y="58773"/>
                </a:cubicBezTo>
                <a:close/>
                <a:moveTo>
                  <a:pt x="202613" y="167057"/>
                </a:moveTo>
                <a:cubicBezTo>
                  <a:pt x="205619" y="172211"/>
                  <a:pt x="205641" y="178578"/>
                  <a:pt x="202671" y="183752"/>
                </a:cubicBezTo>
                <a:cubicBezTo>
                  <a:pt x="199701" y="188926"/>
                  <a:pt x="194192" y="192118"/>
                  <a:pt x="188226" y="192123"/>
                </a:cubicBezTo>
                <a:lnTo>
                  <a:pt x="145721" y="192123"/>
                </a:lnTo>
                <a:cubicBezTo>
                  <a:pt x="141777" y="211545"/>
                  <a:pt x="124701" y="225502"/>
                  <a:pt x="104882" y="225502"/>
                </a:cubicBezTo>
                <a:cubicBezTo>
                  <a:pt x="85064" y="225502"/>
                  <a:pt x="67988" y="211545"/>
                  <a:pt x="64044" y="192123"/>
                </a:cubicBezTo>
                <a:lnTo>
                  <a:pt x="21539" y="192123"/>
                </a:lnTo>
                <a:cubicBezTo>
                  <a:pt x="15576" y="192111"/>
                  <a:pt x="10075" y="188916"/>
                  <a:pt x="7110" y="183743"/>
                </a:cubicBezTo>
                <a:cubicBezTo>
                  <a:pt x="4145" y="178570"/>
                  <a:pt x="4169" y="172208"/>
                  <a:pt x="7172" y="167057"/>
                </a:cubicBezTo>
                <a:cubicBezTo>
                  <a:pt x="16559" y="150857"/>
                  <a:pt x="21539" y="127823"/>
                  <a:pt x="21539" y="100445"/>
                </a:cubicBezTo>
                <a:cubicBezTo>
                  <a:pt x="21539" y="54415"/>
                  <a:pt x="58853" y="17101"/>
                  <a:pt x="104882" y="17101"/>
                </a:cubicBezTo>
                <a:cubicBezTo>
                  <a:pt x="150912" y="17101"/>
                  <a:pt x="188226" y="54415"/>
                  <a:pt x="188226" y="100445"/>
                </a:cubicBezTo>
                <a:cubicBezTo>
                  <a:pt x="188226" y="127813"/>
                  <a:pt x="193206" y="150847"/>
                  <a:pt x="202613" y="167057"/>
                </a:cubicBezTo>
                <a:close/>
                <a:moveTo>
                  <a:pt x="128448" y="192123"/>
                </a:moveTo>
                <a:lnTo>
                  <a:pt x="81317" y="192123"/>
                </a:lnTo>
                <a:cubicBezTo>
                  <a:pt x="84855" y="202101"/>
                  <a:pt x="94295" y="208770"/>
                  <a:pt x="104882" y="208770"/>
                </a:cubicBezTo>
                <a:cubicBezTo>
                  <a:pt x="115470" y="208770"/>
                  <a:pt x="124909" y="202101"/>
                  <a:pt x="128448" y="192123"/>
                </a:cubicBezTo>
                <a:close/>
                <a:moveTo>
                  <a:pt x="188226" y="175454"/>
                </a:moveTo>
                <a:cubicBezTo>
                  <a:pt x="177141" y="156420"/>
                  <a:pt x="171557" y="131188"/>
                  <a:pt x="171557" y="100445"/>
                </a:cubicBezTo>
                <a:cubicBezTo>
                  <a:pt x="171557" y="63621"/>
                  <a:pt x="141706" y="33770"/>
                  <a:pt x="104882" y="33770"/>
                </a:cubicBezTo>
                <a:cubicBezTo>
                  <a:pt x="68059" y="33770"/>
                  <a:pt x="38207" y="63621"/>
                  <a:pt x="38207" y="100445"/>
                </a:cubicBezTo>
                <a:cubicBezTo>
                  <a:pt x="38207" y="131198"/>
                  <a:pt x="32603" y="156431"/>
                  <a:pt x="21539" y="175454"/>
                </a:cubicBezTo>
                <a:close/>
              </a:path>
            </a:pathLst>
          </a:custGeom>
          <a:solidFill xmlns:a="http://schemas.openxmlformats.org/drawingml/2006/main">
            <a:srgbClr val="2F80ED"/>
          </a:solidFill>
          <a:ln xmlns:a="http://schemas.openxmlformats.org/drawingml/2006/main">
            <a:noFill/>
          </a:ln>
        </p:spPr>
      </p:sp>
      <p:sp>
        <p:nvSpPr>
          <p:cNvPr id="108" name="TextBox 108">
            <a:extLst xmlns:a="http://schemas.openxmlformats.org/drawingml/2006/main">
              <a:ext uri="{FF2B5EF4-FFF2-40B4-BE49-F238E27FC236}">
                <a16:creationId xmlns:a16="http://schemas.microsoft.com/office/drawing/2014/main" id="{073A2D2E-B7A4-46F4-93A9-AF8FD94FAB6D}"/>
              </a:ext>
            </a:extLst>
          </p:cNvPr>
          <p:cNvSpPr>
            <a:spLocks xmlns:a="http://schemas.openxmlformats.org/drawingml/2006/main" noGrp="1"/>
          </p:cNvSpPr>
          <p:nvPr/>
        </p:nvSpPr>
        <p:spPr>
          <a:xfrm xmlns:a="http://schemas.openxmlformats.org/drawingml/2006/main" rot="0">
            <a:off x="6671310" y="4613910"/>
            <a:ext cx="192911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Safety sensors</a:t>
            </a:r>
          </a:p>
        </p:txBody>
      </p:sp>
      <p:sp>
        <p:nvSpPr>
          <p:cNvPr id="109" name="TextBox 109">
            <a:extLst xmlns:a="http://schemas.openxmlformats.org/drawingml/2006/main">
              <a:ext uri="{FF2B5EF4-FFF2-40B4-BE49-F238E27FC236}">
                <a16:creationId xmlns:a16="http://schemas.microsoft.com/office/drawing/2014/main" id="{98D2EDF5-DC89-4C6E-B0FE-12DDE974F331}"/>
              </a:ext>
            </a:extLst>
          </p:cNvPr>
          <p:cNvSpPr>
            <a:spLocks xmlns:a="http://schemas.openxmlformats.org/drawingml/2006/main" noGrp="1"/>
          </p:cNvSpPr>
          <p:nvPr/>
        </p:nvSpPr>
        <p:spPr>
          <a:xfrm xmlns:a="http://schemas.openxmlformats.org/drawingml/2006/main" rot="0">
            <a:off x="6674168" y="4838224"/>
            <a:ext cx="14939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Ultrasonic + tracking modules</a:t>
            </a:r>
          </a:p>
        </p:txBody>
      </p:sp>
      <p:sp>
        <p:nvSpPr>
          <p:cNvPr id="110" name="TextBox 110">
            <a:extLst xmlns:a="http://schemas.openxmlformats.org/drawingml/2006/main">
              <a:ext uri="{FF2B5EF4-FFF2-40B4-BE49-F238E27FC236}">
                <a16:creationId xmlns:a16="http://schemas.microsoft.com/office/drawing/2014/main" id="{76642379-DEB4-4661-8803-6DAC8FE825C9}"/>
              </a:ext>
            </a:extLst>
          </p:cNvPr>
          <p:cNvSpPr>
            <a:spLocks xmlns:a="http://schemas.openxmlformats.org/drawingml/2006/main" noGrp="1"/>
          </p:cNvSpPr>
          <p:nvPr/>
        </p:nvSpPr>
        <p:spPr>
          <a:xfrm xmlns:a="http://schemas.openxmlformats.org/drawingml/2006/main" rot="0">
            <a:off x="10751820" y="4742974"/>
            <a:ext cx="80486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a:solidFill>
                  <a:srgbClr val="123B5D"/>
                </a:solidFill>
                <a:latin typeface="Consolas"/>
                <a:ea typeface="Consolas"/>
                <a:cs typeface="Consolas"/>
              </a:rPr>
              <a:t>safety</a:t>
            </a:r>
          </a:p>
        </p:txBody>
      </p:sp>
      <p:sp>
        <p:nvSpPr>
          <p:cNvPr id="111" name="Line 111">
            <a:extLst xmlns:a="http://schemas.openxmlformats.org/drawingml/2006/main">
              <a:ext uri="{FF2B5EF4-FFF2-40B4-BE49-F238E27FC236}">
                <a16:creationId xmlns:a16="http://schemas.microsoft.com/office/drawing/2014/main" id="{D19DADDF-FF69-48E2-B8CF-88825B38120A}"/>
              </a:ext>
            </a:extLst>
          </p:cNvPr>
          <p:cNvSpPr>
            <a:spLocks xmlns:a="http://schemas.openxmlformats.org/drawingml/2006/main" noGrp="1"/>
          </p:cNvSpPr>
          <p:nvPr/>
        </p:nvSpPr>
        <p:spPr>
          <a:xfrm xmlns:a="http://schemas.openxmlformats.org/drawingml/2006/main" rot="0">
            <a:off x="6286500" y="5105400"/>
            <a:ext cx="5257800" cy="9525"/>
          </a:xfrm>
          <a:custGeom xmlns:a="http://schemas.openxmlformats.org/drawingml/2006/main">
            <a:rect l="l" t="t" r="r" b="b"/>
            <a:pathLst>
              <a:path w="5257800" h="9525">
                <a:moveTo>
                  <a:pt x="0" y="0"/>
                </a:moveTo>
                <a:lnTo>
                  <a:pt x="5257800" y="0"/>
                </a:lnTo>
              </a:path>
            </a:pathLst>
          </a:custGeom>
          <a:noFill xmlns:a="http://schemas.openxmlformats.org/drawingml/2006/main"/>
          <a:ln xmlns:a="http://schemas.openxmlformats.org/drawingml/2006/main" w="9525">
            <a:solidFill>
              <a:srgbClr val="CED8E4"/>
            </a:solidFill>
          </a:ln>
        </p:spPr>
      </p:sp>
      <p:sp>
        <p:nvSpPr>
          <p:cNvPr id="112" name="TextBox 112">
            <a:extLst xmlns:a="http://schemas.openxmlformats.org/drawingml/2006/main">
              <a:ext uri="{FF2B5EF4-FFF2-40B4-BE49-F238E27FC236}">
                <a16:creationId xmlns:a16="http://schemas.microsoft.com/office/drawing/2014/main" id="{EF8FAE61-5E1A-49BD-B8B2-A48A755EF821}"/>
              </a:ext>
            </a:extLst>
          </p:cNvPr>
          <p:cNvSpPr>
            <a:spLocks xmlns:a="http://schemas.openxmlformats.org/drawingml/2006/main" noGrp="1"/>
          </p:cNvSpPr>
          <p:nvPr/>
        </p:nvSpPr>
        <p:spPr>
          <a:xfrm xmlns:a="http://schemas.openxmlformats.org/drawingml/2006/main" rot="0">
            <a:off x="6271260" y="5280660"/>
            <a:ext cx="221475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Scope boundary</a:t>
            </a:r>
          </a:p>
        </p:txBody>
      </p:sp>
      <p:sp>
        <p:nvSpPr>
          <p:cNvPr id="113" name="TextBox 113">
            <a:extLst xmlns:a="http://schemas.openxmlformats.org/drawingml/2006/main">
              <a:ext uri="{FF2B5EF4-FFF2-40B4-BE49-F238E27FC236}">
                <a16:creationId xmlns:a16="http://schemas.microsoft.com/office/drawing/2014/main" id="{F64918FD-A93C-40E1-B0ED-433BA1FA0F37}"/>
              </a:ext>
            </a:extLst>
          </p:cNvPr>
          <p:cNvSpPr>
            <a:spLocks xmlns:a="http://schemas.openxmlformats.org/drawingml/2006/main" noGrp="1"/>
          </p:cNvSpPr>
          <p:nvPr/>
        </p:nvSpPr>
        <p:spPr>
          <a:xfrm xmlns:a="http://schemas.openxmlformats.org/drawingml/2006/main" rot="0">
            <a:off x="6274118" y="5514499"/>
            <a:ext cx="406177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Two-wheel + caster and a mechanical arm remain optional mechanical extensions</a:t>
            </a:r>
          </a:p>
        </p:txBody>
      </p:sp>
      <p:sp>
        <p:nvSpPr>
          <p:cNvPr id="115" name="TextBox 115">
            <a:extLst xmlns:a="http://schemas.openxmlformats.org/drawingml/2006/main">
              <a:ext uri="{FF2B5EF4-FFF2-40B4-BE49-F238E27FC236}">
                <a16:creationId xmlns:a16="http://schemas.microsoft.com/office/drawing/2014/main" id="{4B87C1A3-103B-4148-B62F-E6A58675B4CA}"/>
              </a:ext>
            </a:extLst>
          </p:cNvPr>
          <p:cNvSpPr>
            <a:spLocks xmlns:a="http://schemas.openxmlformats.org/drawingml/2006/main" noGrp="1"/>
          </p:cNvSpPr>
          <p:nvPr/>
        </p:nvSpPr>
        <p:spPr>
          <a:xfrm xmlns:a="http://schemas.openxmlformats.org/drawingml/2006/main">
            <a:off x="11630811" y="6502241"/>
            <a:ext cx="114467"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04</a:t>
            </a:r>
          </a:p>
        </p:txBody>
      </p:sp>
    </p:spTree>
    <p:extLst>
      <p:ext uri="{BB962C8B-B14F-4D97-AF65-F5344CB8AC3E}">
        <p14:creationId xmlns:p14="http://schemas.microsoft.com/office/powerpoint/2010/main" val="175921333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16F9B1AB-2FFA-4224-B691-158B8F634DF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07A995FB-0C5D-46C8-BBE9-D140C22618EC}"/>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BAA31281-34D4-48A2-B52A-381F64FCF914}"/>
              </a:ext>
            </a:extLst>
          </p:cNvPr>
          <p:cNvSpPr>
            <a:spLocks xmlns:a="http://schemas.openxmlformats.org/drawingml/2006/main" noGrp="1"/>
          </p:cNvSpPr>
          <p:nvPr/>
        </p:nvSpPr>
        <p:spPr>
          <a:xfrm xmlns:a="http://schemas.openxmlformats.org/drawingml/2006/main" rot="0">
            <a:off x="659130" y="411480"/>
            <a:ext cx="1802859"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DEEP LEARNING CORE</a:t>
            </a:r>
          </a:p>
        </p:txBody>
      </p:sp>
      <p:sp>
        <p:nvSpPr>
          <p:cNvPr id="5" name="Freeform 5">
            <a:extLst xmlns:a="http://schemas.openxmlformats.org/drawingml/2006/main">
              <a:ext uri="{FF2B5EF4-FFF2-40B4-BE49-F238E27FC236}">
                <a16:creationId xmlns:a16="http://schemas.microsoft.com/office/drawing/2014/main" id="{36B51F03-E79C-49E5-BB99-29FDFE7F7F75}"/>
              </a:ext>
            </a:extLst>
          </p:cNvPr>
          <p:cNvSpPr>
            <a:spLocks xmlns:a="http://schemas.openxmlformats.org/drawingml/2006/main" noGrp="1"/>
          </p:cNvSpPr>
          <p:nvPr/>
        </p:nvSpPr>
        <p:spPr>
          <a:xfrm xmlns:a="http://schemas.openxmlformats.org/drawingml/2006/main" rot="0">
            <a:off x="9742884" y="456009"/>
            <a:ext cx="154781" cy="154781"/>
          </a:xfrm>
          <a:custGeom xmlns:a="http://schemas.openxmlformats.org/drawingml/2006/main">
            <a:rect l="l" t="t" r="r" b="b"/>
            <a:pathLst>
              <a:path w="154781" h="154781">
                <a:moveTo>
                  <a:pt x="147042" y="0"/>
                </a:moveTo>
                <a:lnTo>
                  <a:pt x="7739" y="0"/>
                </a:lnTo>
                <a:cubicBezTo>
                  <a:pt x="3465" y="0"/>
                  <a:pt x="0" y="3465"/>
                  <a:pt x="0" y="7739"/>
                </a:cubicBezTo>
                <a:lnTo>
                  <a:pt x="0" y="147042"/>
                </a:lnTo>
                <a:cubicBezTo>
                  <a:pt x="0" y="151316"/>
                  <a:pt x="3465" y="154781"/>
                  <a:pt x="7739" y="154781"/>
                </a:cubicBezTo>
                <a:lnTo>
                  <a:pt x="147042" y="154781"/>
                </a:lnTo>
                <a:cubicBezTo>
                  <a:pt x="151316" y="154781"/>
                  <a:pt x="154781" y="151316"/>
                  <a:pt x="154781" y="147042"/>
                </a:cubicBezTo>
                <a:lnTo>
                  <a:pt x="154781" y="7739"/>
                </a:lnTo>
                <a:cubicBezTo>
                  <a:pt x="154781" y="3465"/>
                  <a:pt x="151316" y="0"/>
                  <a:pt x="147042" y="0"/>
                </a:cubicBezTo>
                <a:close/>
                <a:moveTo>
                  <a:pt x="100608" y="100608"/>
                </a:moveTo>
                <a:lnTo>
                  <a:pt x="54173" y="100608"/>
                </a:lnTo>
                <a:lnTo>
                  <a:pt x="54173" y="54173"/>
                </a:lnTo>
                <a:lnTo>
                  <a:pt x="100608" y="54173"/>
                </a:lnTo>
                <a:close/>
              </a:path>
            </a:pathLst>
          </a:custGeom>
          <a:solidFill xmlns:a="http://schemas.openxmlformats.org/drawingml/2006/main">
            <a:srgbClr val="2A9D68">
              <a:alpha val="20000"/>
            </a:srgbClr>
          </a:solidFill>
          <a:ln xmlns:a="http://schemas.openxmlformats.org/drawingml/2006/main">
            <a:noFill/>
          </a:ln>
        </p:spPr>
      </p:sp>
      <p:sp>
        <p:nvSpPr>
          <p:cNvPr id="6" name="Freeform 6">
            <a:extLst xmlns:a="http://schemas.openxmlformats.org/drawingml/2006/main">
              <a:ext uri="{FF2B5EF4-FFF2-40B4-BE49-F238E27FC236}">
                <a16:creationId xmlns:a16="http://schemas.microsoft.com/office/drawing/2014/main" id="{3DDA3545-6225-4F27-B88B-15D7BCFCDB11}"/>
              </a:ext>
            </a:extLst>
          </p:cNvPr>
          <p:cNvSpPr>
            <a:spLocks xmlns:a="http://schemas.openxmlformats.org/drawingml/2006/main" noGrp="1"/>
          </p:cNvSpPr>
          <p:nvPr/>
        </p:nvSpPr>
        <p:spPr>
          <a:xfrm xmlns:a="http://schemas.openxmlformats.org/drawingml/2006/main" rot="0">
            <a:off x="9711928" y="425053"/>
            <a:ext cx="216694" cy="216694"/>
          </a:xfrm>
          <a:custGeom xmlns:a="http://schemas.openxmlformats.org/drawingml/2006/main">
            <a:rect l="l" t="t" r="r" b="b"/>
            <a:pathLst>
              <a:path w="216694" h="216694">
                <a:moveTo>
                  <a:pt x="131564" y="77391"/>
                </a:moveTo>
                <a:lnTo>
                  <a:pt x="85130" y="77391"/>
                </a:lnTo>
                <a:cubicBezTo>
                  <a:pt x="80856" y="77391"/>
                  <a:pt x="77391" y="80856"/>
                  <a:pt x="77391" y="85130"/>
                </a:cubicBezTo>
                <a:lnTo>
                  <a:pt x="77391" y="131564"/>
                </a:lnTo>
                <a:cubicBezTo>
                  <a:pt x="77391" y="135838"/>
                  <a:pt x="80856" y="139303"/>
                  <a:pt x="85130" y="139303"/>
                </a:cubicBezTo>
                <a:lnTo>
                  <a:pt x="131564" y="139303"/>
                </a:lnTo>
                <a:cubicBezTo>
                  <a:pt x="135838" y="139303"/>
                  <a:pt x="139303" y="135838"/>
                  <a:pt x="139303" y="131564"/>
                </a:cubicBezTo>
                <a:lnTo>
                  <a:pt x="139303" y="85130"/>
                </a:lnTo>
                <a:cubicBezTo>
                  <a:pt x="139303" y="80856"/>
                  <a:pt x="135838" y="77391"/>
                  <a:pt x="131564" y="77391"/>
                </a:cubicBezTo>
                <a:close/>
                <a:moveTo>
                  <a:pt x="123825" y="123825"/>
                </a:moveTo>
                <a:lnTo>
                  <a:pt x="92869" y="123825"/>
                </a:lnTo>
                <a:lnTo>
                  <a:pt x="92869" y="92869"/>
                </a:lnTo>
                <a:lnTo>
                  <a:pt x="123825" y="92869"/>
                </a:lnTo>
                <a:close/>
                <a:moveTo>
                  <a:pt x="208955" y="123825"/>
                </a:moveTo>
                <a:lnTo>
                  <a:pt x="193477" y="123825"/>
                </a:lnTo>
                <a:lnTo>
                  <a:pt x="193477" y="92869"/>
                </a:lnTo>
                <a:lnTo>
                  <a:pt x="208955" y="92869"/>
                </a:lnTo>
                <a:cubicBezTo>
                  <a:pt x="213229" y="92869"/>
                  <a:pt x="216694" y="89404"/>
                  <a:pt x="216694" y="85130"/>
                </a:cubicBezTo>
                <a:cubicBezTo>
                  <a:pt x="216694" y="80856"/>
                  <a:pt x="213229" y="77391"/>
                  <a:pt x="208955" y="77391"/>
                </a:cubicBezTo>
                <a:lnTo>
                  <a:pt x="193477" y="77391"/>
                </a:lnTo>
                <a:lnTo>
                  <a:pt x="193477" y="38695"/>
                </a:lnTo>
                <a:cubicBezTo>
                  <a:pt x="193477" y="30147"/>
                  <a:pt x="186547" y="23217"/>
                  <a:pt x="177998" y="23217"/>
                </a:cubicBezTo>
                <a:lnTo>
                  <a:pt x="139303" y="23217"/>
                </a:lnTo>
                <a:lnTo>
                  <a:pt x="139303" y="7739"/>
                </a:lnTo>
                <a:cubicBezTo>
                  <a:pt x="139303" y="3465"/>
                  <a:pt x="135838" y="0"/>
                  <a:pt x="131564" y="0"/>
                </a:cubicBezTo>
                <a:cubicBezTo>
                  <a:pt x="127290" y="0"/>
                  <a:pt x="123825" y="3465"/>
                  <a:pt x="123825" y="7739"/>
                </a:cubicBezTo>
                <a:lnTo>
                  <a:pt x="123825" y="23217"/>
                </a:lnTo>
                <a:lnTo>
                  <a:pt x="92869" y="23217"/>
                </a:lnTo>
                <a:lnTo>
                  <a:pt x="92869" y="7739"/>
                </a:lnTo>
                <a:cubicBezTo>
                  <a:pt x="92869" y="3465"/>
                  <a:pt x="89404" y="0"/>
                  <a:pt x="85130" y="0"/>
                </a:cubicBezTo>
                <a:cubicBezTo>
                  <a:pt x="80856" y="0"/>
                  <a:pt x="77391" y="3465"/>
                  <a:pt x="77391" y="7739"/>
                </a:cubicBezTo>
                <a:lnTo>
                  <a:pt x="77391" y="23217"/>
                </a:lnTo>
                <a:lnTo>
                  <a:pt x="38695" y="23217"/>
                </a:lnTo>
                <a:cubicBezTo>
                  <a:pt x="30147" y="23217"/>
                  <a:pt x="23217" y="30147"/>
                  <a:pt x="23217" y="38695"/>
                </a:cubicBezTo>
                <a:lnTo>
                  <a:pt x="23217" y="77391"/>
                </a:lnTo>
                <a:lnTo>
                  <a:pt x="7739" y="77391"/>
                </a:lnTo>
                <a:cubicBezTo>
                  <a:pt x="3465" y="77391"/>
                  <a:pt x="0" y="80856"/>
                  <a:pt x="0" y="85130"/>
                </a:cubicBezTo>
                <a:cubicBezTo>
                  <a:pt x="0" y="89404"/>
                  <a:pt x="3465" y="92869"/>
                  <a:pt x="7739" y="92869"/>
                </a:cubicBezTo>
                <a:lnTo>
                  <a:pt x="23217" y="92869"/>
                </a:lnTo>
                <a:lnTo>
                  <a:pt x="23217" y="123825"/>
                </a:lnTo>
                <a:lnTo>
                  <a:pt x="7739" y="123825"/>
                </a:lnTo>
                <a:cubicBezTo>
                  <a:pt x="3465" y="123825"/>
                  <a:pt x="0" y="127290"/>
                  <a:pt x="0" y="131564"/>
                </a:cubicBezTo>
                <a:cubicBezTo>
                  <a:pt x="0" y="135838"/>
                  <a:pt x="3465" y="139303"/>
                  <a:pt x="7739" y="139303"/>
                </a:cubicBezTo>
                <a:lnTo>
                  <a:pt x="23217" y="139303"/>
                </a:lnTo>
                <a:lnTo>
                  <a:pt x="23217" y="177998"/>
                </a:lnTo>
                <a:cubicBezTo>
                  <a:pt x="23217" y="186547"/>
                  <a:pt x="30147" y="193477"/>
                  <a:pt x="38695" y="193477"/>
                </a:cubicBezTo>
                <a:lnTo>
                  <a:pt x="77391" y="193477"/>
                </a:lnTo>
                <a:lnTo>
                  <a:pt x="77391" y="208955"/>
                </a:lnTo>
                <a:cubicBezTo>
                  <a:pt x="77391" y="213229"/>
                  <a:pt x="80856" y="216694"/>
                  <a:pt x="85130" y="216694"/>
                </a:cubicBezTo>
                <a:cubicBezTo>
                  <a:pt x="89404" y="216694"/>
                  <a:pt x="92869" y="213229"/>
                  <a:pt x="92869" y="208955"/>
                </a:cubicBezTo>
                <a:lnTo>
                  <a:pt x="92869" y="193477"/>
                </a:lnTo>
                <a:lnTo>
                  <a:pt x="123825" y="193477"/>
                </a:lnTo>
                <a:lnTo>
                  <a:pt x="123825" y="208955"/>
                </a:lnTo>
                <a:cubicBezTo>
                  <a:pt x="123825" y="213229"/>
                  <a:pt x="127290" y="216694"/>
                  <a:pt x="131564" y="216694"/>
                </a:cubicBezTo>
                <a:cubicBezTo>
                  <a:pt x="135838" y="216694"/>
                  <a:pt x="139303" y="213229"/>
                  <a:pt x="139303" y="208955"/>
                </a:cubicBezTo>
                <a:lnTo>
                  <a:pt x="139303" y="193477"/>
                </a:lnTo>
                <a:lnTo>
                  <a:pt x="177998" y="193477"/>
                </a:lnTo>
                <a:cubicBezTo>
                  <a:pt x="186547" y="193477"/>
                  <a:pt x="193477" y="186547"/>
                  <a:pt x="193477" y="177998"/>
                </a:cubicBezTo>
                <a:lnTo>
                  <a:pt x="193477" y="139303"/>
                </a:lnTo>
                <a:lnTo>
                  <a:pt x="208955" y="139303"/>
                </a:lnTo>
                <a:cubicBezTo>
                  <a:pt x="213229" y="139303"/>
                  <a:pt x="216694" y="135838"/>
                  <a:pt x="216694" y="131564"/>
                </a:cubicBezTo>
                <a:cubicBezTo>
                  <a:pt x="216694" y="127290"/>
                  <a:pt x="213229" y="123825"/>
                  <a:pt x="208955" y="123825"/>
                </a:cubicBezTo>
                <a:close/>
                <a:moveTo>
                  <a:pt x="177998" y="177998"/>
                </a:moveTo>
                <a:lnTo>
                  <a:pt x="38695" y="177998"/>
                </a:lnTo>
                <a:lnTo>
                  <a:pt x="38695" y="38695"/>
                </a:lnTo>
                <a:lnTo>
                  <a:pt x="177998" y="38695"/>
                </a:lnTo>
                <a:lnTo>
                  <a:pt x="177998" y="131438"/>
                </a:lnTo>
                <a:cubicBezTo>
                  <a:pt x="177998" y="131438"/>
                  <a:pt x="177998" y="131525"/>
                  <a:pt x="177998" y="131564"/>
                </a:cubicBezTo>
                <a:cubicBezTo>
                  <a:pt x="177998" y="131603"/>
                  <a:pt x="177998" y="131651"/>
                  <a:pt x="177998" y="131690"/>
                </a:cubicBezTo>
                <a:lnTo>
                  <a:pt x="177998" y="177998"/>
                </a:lnTo>
                <a:close/>
              </a:path>
            </a:pathLst>
          </a:custGeom>
          <a:solidFill xmlns:a="http://schemas.openxmlformats.org/drawingml/2006/main">
            <a:srgbClr val="2A9D68"/>
          </a:solidFill>
          <a:ln xmlns:a="http://schemas.openxmlformats.org/drawingml/2006/main">
            <a:noFill/>
          </a:ln>
        </p:spPr>
      </p:sp>
      <p:sp>
        <p:nvSpPr>
          <p:cNvPr id="8" name="TextBox 8">
            <a:extLst xmlns:a="http://schemas.openxmlformats.org/drawingml/2006/main">
              <a:ext uri="{FF2B5EF4-FFF2-40B4-BE49-F238E27FC236}">
                <a16:creationId xmlns:a16="http://schemas.microsoft.com/office/drawing/2014/main" id="{32FA4308-B1A1-479F-BA28-A06D77EA2D68}"/>
              </a:ext>
            </a:extLst>
          </p:cNvPr>
          <p:cNvSpPr>
            <a:spLocks xmlns:a="http://schemas.openxmlformats.org/drawingml/2006/main" noGrp="1"/>
          </p:cNvSpPr>
          <p:nvPr/>
        </p:nvSpPr>
        <p:spPr>
          <a:xfrm xmlns:a="http://schemas.openxmlformats.org/drawingml/2006/main" rot="0">
            <a:off x="10026968" y="485299"/>
            <a:ext cx="170392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2A9D68"/>
                </a:solidFill>
                <a:latin typeface="Arial"/>
                <a:ea typeface="Arial"/>
                <a:cs typeface="Arial"/>
              </a:rPr>
              <a:t>PRE-TRAINED MODELS · EDGE / PC</a:t>
            </a:r>
          </a:p>
        </p:txBody>
      </p:sp>
      <p:sp>
        <p:nvSpPr>
          <p:cNvPr id="10" name="Line 10">
            <a:extLst xmlns:a="http://schemas.openxmlformats.org/drawingml/2006/main">
              <a:ext uri="{FF2B5EF4-FFF2-40B4-BE49-F238E27FC236}">
                <a16:creationId xmlns:a16="http://schemas.microsoft.com/office/drawing/2014/main" id="{35CB68D9-E5B2-412D-8E68-18662D79F39E}"/>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12" name="Rectangle 12">
            <a:extLst xmlns:a="http://schemas.openxmlformats.org/drawingml/2006/main">
              <a:ext uri="{FF2B5EF4-FFF2-40B4-BE49-F238E27FC236}">
                <a16:creationId xmlns:a16="http://schemas.microsoft.com/office/drawing/2014/main" id="{513C7C19-3C4D-473B-ADDB-AC7EC96B6517}"/>
              </a:ext>
            </a:extLst>
          </p:cNvPr>
          <p:cNvSpPr>
            <a:spLocks xmlns:a="http://schemas.openxmlformats.org/drawingml/2006/main" noGrp="1"/>
          </p:cNvSpPr>
          <p:nvPr/>
        </p:nvSpPr>
        <p:spPr>
          <a:xfrm xmlns:a="http://schemas.openxmlformats.org/drawingml/2006/main" rot="0">
            <a:off x="457200" y="1066800"/>
            <a:ext cx="112776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13" name="Rectangle 13">
            <a:extLst xmlns:a="http://schemas.openxmlformats.org/drawingml/2006/main">
              <a:ext uri="{FF2B5EF4-FFF2-40B4-BE49-F238E27FC236}">
                <a16:creationId xmlns:a16="http://schemas.microsoft.com/office/drawing/2014/main" id="{AC92FBED-33A0-43D9-8A11-9538500431D9}"/>
              </a:ext>
            </a:extLst>
          </p:cNvPr>
          <p:cNvSpPr>
            <a:spLocks xmlns:a="http://schemas.openxmlformats.org/drawingml/2006/main" noGrp="1"/>
          </p:cNvSpPr>
          <p:nvPr/>
        </p:nvSpPr>
        <p:spPr>
          <a:xfrm xmlns:a="http://schemas.openxmlformats.org/drawingml/2006/main" rot="0">
            <a:off x="457200" y="1066800"/>
            <a:ext cx="1524000" cy="1257300"/>
          </a:xfrm>
          <a:prstGeom xmlns:a="http://schemas.openxmlformats.org/drawingml/2006/main" prst="roundRect">
            <a:avLst>
              <a:gd name="adj" fmla="val 9091"/>
            </a:avLst>
          </a:prstGeom>
          <a:solidFill xmlns:a="http://schemas.openxmlformats.org/drawingml/2006/main">
            <a:srgbClr val="123B5D"/>
          </a:solidFill>
          <a:ln xmlns:a="http://schemas.openxmlformats.org/drawingml/2006/main">
            <a:noFill/>
          </a:ln>
        </p:spPr>
      </p:sp>
      <p:sp>
        <p:nvSpPr>
          <p:cNvPr id="14" name="TextBox 14">
            <a:extLst xmlns:a="http://schemas.openxmlformats.org/drawingml/2006/main">
              <a:ext uri="{FF2B5EF4-FFF2-40B4-BE49-F238E27FC236}">
                <a16:creationId xmlns:a16="http://schemas.microsoft.com/office/drawing/2014/main" id="{B805FD7B-371B-4F57-99DF-2364FFE3CBF8}"/>
              </a:ext>
            </a:extLst>
          </p:cNvPr>
          <p:cNvSpPr>
            <a:spLocks xmlns:a="http://schemas.openxmlformats.org/drawingml/2006/main" noGrp="1"/>
          </p:cNvSpPr>
          <p:nvPr/>
        </p:nvSpPr>
        <p:spPr>
          <a:xfrm xmlns:a="http://schemas.openxmlformats.org/drawingml/2006/main" rot="0">
            <a:off x="635318" y="1323499"/>
            <a:ext cx="55718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LAYER 01</a:t>
            </a:r>
          </a:p>
        </p:txBody>
      </p:sp>
      <p:sp>
        <p:nvSpPr>
          <p:cNvPr id="15" name="TextBox 15">
            <a:extLst xmlns:a="http://schemas.openxmlformats.org/drawingml/2006/main">
              <a:ext uri="{FF2B5EF4-FFF2-40B4-BE49-F238E27FC236}">
                <a16:creationId xmlns:a16="http://schemas.microsoft.com/office/drawing/2014/main" id="{7E9E850F-28ED-4C60-B236-3B96AE642DE7}"/>
              </a:ext>
            </a:extLst>
          </p:cNvPr>
          <p:cNvSpPr>
            <a:spLocks xmlns:a="http://schemas.openxmlformats.org/drawingml/2006/main" noGrp="1"/>
          </p:cNvSpPr>
          <p:nvPr/>
        </p:nvSpPr>
        <p:spPr>
          <a:xfrm xmlns:a="http://schemas.openxmlformats.org/drawingml/2006/main" rot="0">
            <a:off x="630555" y="1568768"/>
            <a:ext cx="113062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PRE-TRAINED</a:t>
            </a:r>
          </a:p>
        </p:txBody>
      </p:sp>
      <p:sp>
        <p:nvSpPr>
          <p:cNvPr id="16" name="TextBox 16">
            <a:extLst xmlns:a="http://schemas.openxmlformats.org/drawingml/2006/main">
              <a:ext uri="{FF2B5EF4-FFF2-40B4-BE49-F238E27FC236}">
                <a16:creationId xmlns:a16="http://schemas.microsoft.com/office/drawing/2014/main" id="{C568229A-85B5-4428-A428-7DF3CC1D7B5F}"/>
              </a:ext>
            </a:extLst>
          </p:cNvPr>
          <p:cNvSpPr>
            <a:spLocks xmlns:a="http://schemas.openxmlformats.org/drawingml/2006/main" noGrp="1"/>
          </p:cNvSpPr>
          <p:nvPr/>
        </p:nvSpPr>
        <p:spPr>
          <a:xfrm xmlns:a="http://schemas.openxmlformats.org/drawingml/2006/main" rot="0">
            <a:off x="630555" y="1787842"/>
            <a:ext cx="106446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PERCEPTION</a:t>
            </a:r>
          </a:p>
        </p:txBody>
      </p:sp>
      <p:sp>
        <p:nvSpPr>
          <p:cNvPr id="17" name="Rectangle 17">
            <a:extLst xmlns:a="http://schemas.openxmlformats.org/drawingml/2006/main">
              <a:ext uri="{FF2B5EF4-FFF2-40B4-BE49-F238E27FC236}">
                <a16:creationId xmlns:a16="http://schemas.microsoft.com/office/drawing/2014/main" id="{6E00AC8F-81D6-41B0-AD17-B77CCCDAAAC8}"/>
              </a:ext>
            </a:extLst>
          </p:cNvPr>
          <p:cNvSpPr>
            <a:spLocks xmlns:a="http://schemas.openxmlformats.org/drawingml/2006/main" noGrp="1"/>
          </p:cNvSpPr>
          <p:nvPr/>
        </p:nvSpPr>
        <p:spPr>
          <a:xfrm xmlns:a="http://schemas.openxmlformats.org/drawingml/2006/main" rot="0">
            <a:off x="2190750" y="1238250"/>
            <a:ext cx="1790700" cy="914400"/>
          </a:xfrm>
          <a:prstGeom xmlns:a="http://schemas.openxmlformats.org/drawingml/2006/main" prst="roundRect">
            <a:avLst>
              <a:gd name="adj" fmla="val 10417"/>
            </a:avLst>
          </a:prstGeom>
          <a:solidFill xmlns:a="http://schemas.openxmlformats.org/drawingml/2006/main">
            <a:srgbClr val="F7F9FC"/>
          </a:solidFill>
          <a:ln xmlns:a="http://schemas.openxmlformats.org/drawingml/2006/main">
            <a:noFill/>
          </a:ln>
        </p:spPr>
      </p:sp>
      <p:sp>
        <p:nvSpPr>
          <p:cNvPr id="18" name="Freeform 18">
            <a:extLst xmlns:a="http://schemas.openxmlformats.org/drawingml/2006/main">
              <a:ext uri="{FF2B5EF4-FFF2-40B4-BE49-F238E27FC236}">
                <a16:creationId xmlns:a16="http://schemas.microsoft.com/office/drawing/2014/main" id="{EFC47992-E879-4700-BAB9-EB53A207F883}"/>
              </a:ext>
            </a:extLst>
          </p:cNvPr>
          <p:cNvSpPr>
            <a:spLocks xmlns:a="http://schemas.openxmlformats.org/drawingml/2006/main" noGrp="1"/>
          </p:cNvSpPr>
          <p:nvPr/>
        </p:nvSpPr>
        <p:spPr>
          <a:xfrm xmlns:a="http://schemas.openxmlformats.org/drawingml/2006/main" rot="0">
            <a:off x="2386476" y="1398984"/>
            <a:ext cx="199120" cy="242768"/>
          </a:xfrm>
          <a:custGeom xmlns:a="http://schemas.openxmlformats.org/drawingml/2006/main">
            <a:rect l="l" t="t" r="r" b="b"/>
            <a:pathLst>
              <a:path w="199120" h="242768">
                <a:moveTo>
                  <a:pt x="72760" y="26789"/>
                </a:moveTo>
                <a:cubicBezTo>
                  <a:pt x="72760" y="11994"/>
                  <a:pt x="84753" y="0"/>
                  <a:pt x="99549" y="0"/>
                </a:cubicBezTo>
                <a:cubicBezTo>
                  <a:pt x="114344" y="0"/>
                  <a:pt x="126338" y="11994"/>
                  <a:pt x="126338" y="26789"/>
                </a:cubicBezTo>
                <a:cubicBezTo>
                  <a:pt x="126338" y="41584"/>
                  <a:pt x="114344" y="53578"/>
                  <a:pt x="99549" y="53578"/>
                </a:cubicBezTo>
                <a:cubicBezTo>
                  <a:pt x="84753" y="53578"/>
                  <a:pt x="72760" y="41584"/>
                  <a:pt x="72760" y="26789"/>
                </a:cubicBezTo>
                <a:close/>
                <a:moveTo>
                  <a:pt x="193857" y="137863"/>
                </a:moveTo>
                <a:lnTo>
                  <a:pt x="143271" y="80512"/>
                </a:lnTo>
                <a:cubicBezTo>
                  <a:pt x="138186" y="74744"/>
                  <a:pt x="130868" y="71439"/>
                  <a:pt x="123179" y="71438"/>
                </a:cubicBezTo>
                <a:lnTo>
                  <a:pt x="75918" y="71438"/>
                </a:lnTo>
                <a:cubicBezTo>
                  <a:pt x="68229" y="71439"/>
                  <a:pt x="60911" y="74744"/>
                  <a:pt x="55827" y="80512"/>
                </a:cubicBezTo>
                <a:lnTo>
                  <a:pt x="5240" y="137863"/>
                </a:lnTo>
                <a:cubicBezTo>
                  <a:pt x="0" y="143103"/>
                  <a:pt x="0" y="151599"/>
                  <a:pt x="5240" y="156839"/>
                </a:cubicBezTo>
                <a:cubicBezTo>
                  <a:pt x="10480" y="162079"/>
                  <a:pt x="18976" y="162079"/>
                  <a:pt x="24216" y="156839"/>
                </a:cubicBezTo>
                <a:lnTo>
                  <a:pt x="63830" y="125016"/>
                </a:lnTo>
                <a:lnTo>
                  <a:pt x="38302" y="222048"/>
                </a:lnTo>
                <a:cubicBezTo>
                  <a:pt x="35303" y="228728"/>
                  <a:pt x="38225" y="236579"/>
                  <a:pt x="44862" y="239673"/>
                </a:cubicBezTo>
                <a:cubicBezTo>
                  <a:pt x="51499" y="242768"/>
                  <a:pt x="59391" y="239958"/>
                  <a:pt x="62580" y="233366"/>
                </a:cubicBezTo>
                <a:lnTo>
                  <a:pt x="99549" y="169664"/>
                </a:lnTo>
                <a:lnTo>
                  <a:pt x="136518" y="233366"/>
                </a:lnTo>
                <a:cubicBezTo>
                  <a:pt x="139706" y="239958"/>
                  <a:pt x="147598" y="242768"/>
                  <a:pt x="154235" y="239673"/>
                </a:cubicBezTo>
                <a:cubicBezTo>
                  <a:pt x="160872" y="236579"/>
                  <a:pt x="163794" y="228728"/>
                  <a:pt x="160795" y="222048"/>
                </a:cubicBezTo>
                <a:lnTo>
                  <a:pt x="135267" y="125016"/>
                </a:lnTo>
                <a:lnTo>
                  <a:pt x="174904" y="156816"/>
                </a:lnTo>
                <a:cubicBezTo>
                  <a:pt x="180144" y="162056"/>
                  <a:pt x="188640" y="162056"/>
                  <a:pt x="193880" y="156816"/>
                </a:cubicBezTo>
                <a:cubicBezTo>
                  <a:pt x="199120" y="151577"/>
                  <a:pt x="199120" y="143081"/>
                  <a:pt x="193880" y="137841"/>
                </a:cubicBezTo>
                <a:close/>
              </a:path>
            </a:pathLst>
          </a:custGeom>
          <a:solidFill xmlns:a="http://schemas.openxmlformats.org/drawingml/2006/main">
            <a:srgbClr val="2F80ED">
              <a:alpha val="20000"/>
            </a:srgbClr>
          </a:solidFill>
          <a:ln xmlns:a="http://schemas.openxmlformats.org/drawingml/2006/main">
            <a:noFill/>
          </a:ln>
        </p:spPr>
      </p:sp>
      <p:sp>
        <p:nvSpPr>
          <p:cNvPr id="19" name="Freeform 19">
            <a:extLst xmlns:a="http://schemas.openxmlformats.org/drawingml/2006/main">
              <a:ext uri="{FF2B5EF4-FFF2-40B4-BE49-F238E27FC236}">
                <a16:creationId xmlns:a16="http://schemas.microsoft.com/office/drawing/2014/main" id="{9B31D942-46AD-4B03-81F7-38D2EDB20BD5}"/>
              </a:ext>
            </a:extLst>
          </p:cNvPr>
          <p:cNvSpPr>
            <a:spLocks xmlns:a="http://schemas.openxmlformats.org/drawingml/2006/main" noGrp="1"/>
          </p:cNvSpPr>
          <p:nvPr/>
        </p:nvSpPr>
        <p:spPr>
          <a:xfrm xmlns:a="http://schemas.openxmlformats.org/drawingml/2006/main" rot="0">
            <a:off x="2376668" y="1390055"/>
            <a:ext cx="218715" cy="262674"/>
          </a:xfrm>
          <a:custGeom xmlns:a="http://schemas.openxmlformats.org/drawingml/2006/main">
            <a:rect l="l" t="t" r="r" b="b"/>
            <a:pathLst>
              <a:path w="218715" h="262674">
                <a:moveTo>
                  <a:pt x="145076" y="35719"/>
                </a:moveTo>
                <a:cubicBezTo>
                  <a:pt x="145076" y="15992"/>
                  <a:pt x="129084" y="0"/>
                  <a:pt x="109357" y="0"/>
                </a:cubicBezTo>
                <a:cubicBezTo>
                  <a:pt x="89630" y="0"/>
                  <a:pt x="73639" y="15992"/>
                  <a:pt x="73639" y="35719"/>
                </a:cubicBezTo>
                <a:cubicBezTo>
                  <a:pt x="73639" y="55446"/>
                  <a:pt x="89630" y="71438"/>
                  <a:pt x="109357" y="71438"/>
                </a:cubicBezTo>
                <a:cubicBezTo>
                  <a:pt x="129084" y="71438"/>
                  <a:pt x="145076" y="55446"/>
                  <a:pt x="145076" y="35719"/>
                </a:cubicBezTo>
                <a:close/>
                <a:moveTo>
                  <a:pt x="109357" y="53578"/>
                </a:moveTo>
                <a:cubicBezTo>
                  <a:pt x="99494" y="53578"/>
                  <a:pt x="91498" y="45582"/>
                  <a:pt x="91498" y="35719"/>
                </a:cubicBezTo>
                <a:cubicBezTo>
                  <a:pt x="91498" y="25855"/>
                  <a:pt x="99494" y="17859"/>
                  <a:pt x="109357" y="17859"/>
                </a:cubicBezTo>
                <a:cubicBezTo>
                  <a:pt x="119221" y="17859"/>
                  <a:pt x="127217" y="25855"/>
                  <a:pt x="127217" y="35719"/>
                </a:cubicBezTo>
                <a:cubicBezTo>
                  <a:pt x="127217" y="45582"/>
                  <a:pt x="119221" y="53578"/>
                  <a:pt x="109357" y="53578"/>
                </a:cubicBezTo>
                <a:close/>
                <a:moveTo>
                  <a:pt x="210196" y="140698"/>
                </a:moveTo>
                <a:lnTo>
                  <a:pt x="159777" y="83526"/>
                </a:lnTo>
                <a:cubicBezTo>
                  <a:pt x="152995" y="75839"/>
                  <a:pt x="143238" y="71436"/>
                  <a:pt x="132988" y="71438"/>
                </a:cubicBezTo>
                <a:lnTo>
                  <a:pt x="85727" y="71438"/>
                </a:lnTo>
                <a:cubicBezTo>
                  <a:pt x="75477" y="71436"/>
                  <a:pt x="65720" y="75839"/>
                  <a:pt x="58938" y="83526"/>
                </a:cubicBezTo>
                <a:lnTo>
                  <a:pt x="8519" y="140698"/>
                </a:lnTo>
                <a:cubicBezTo>
                  <a:pt x="0" y="149411"/>
                  <a:pt x="41" y="163345"/>
                  <a:pt x="8612" y="172007"/>
                </a:cubicBezTo>
                <a:cubicBezTo>
                  <a:pt x="17182" y="180669"/>
                  <a:pt x="31115" y="180858"/>
                  <a:pt x="39918" y="172432"/>
                </a:cubicBezTo>
                <a:lnTo>
                  <a:pt x="58112" y="157832"/>
                </a:lnTo>
                <a:lnTo>
                  <a:pt x="39650" y="228020"/>
                </a:lnTo>
                <a:cubicBezTo>
                  <a:pt x="34558" y="239255"/>
                  <a:pt x="39538" y="252490"/>
                  <a:pt x="50773" y="257582"/>
                </a:cubicBezTo>
                <a:cubicBezTo>
                  <a:pt x="62008" y="262674"/>
                  <a:pt x="75244" y="257694"/>
                  <a:pt x="80336" y="246459"/>
                </a:cubicBezTo>
                <a:lnTo>
                  <a:pt x="109357" y="196375"/>
                </a:lnTo>
                <a:lnTo>
                  <a:pt x="138379" y="246459"/>
                </a:lnTo>
                <a:cubicBezTo>
                  <a:pt x="143690" y="257300"/>
                  <a:pt x="156657" y="261955"/>
                  <a:pt x="167650" y="256967"/>
                </a:cubicBezTo>
                <a:cubicBezTo>
                  <a:pt x="178644" y="251979"/>
                  <a:pt x="183680" y="239156"/>
                  <a:pt x="179020" y="228020"/>
                </a:cubicBezTo>
                <a:lnTo>
                  <a:pt x="160603" y="157832"/>
                </a:lnTo>
                <a:lnTo>
                  <a:pt x="178797" y="172432"/>
                </a:lnTo>
                <a:cubicBezTo>
                  <a:pt x="187599" y="180858"/>
                  <a:pt x="201532" y="180669"/>
                  <a:pt x="210103" y="172007"/>
                </a:cubicBezTo>
                <a:cubicBezTo>
                  <a:pt x="218673" y="163345"/>
                  <a:pt x="218715" y="149411"/>
                  <a:pt x="210196" y="140698"/>
                </a:cubicBezTo>
                <a:close/>
                <a:moveTo>
                  <a:pt x="197348" y="159417"/>
                </a:moveTo>
                <a:cubicBezTo>
                  <a:pt x="196511" y="160256"/>
                  <a:pt x="195374" y="160727"/>
                  <a:pt x="194189" y="160727"/>
                </a:cubicBezTo>
                <a:cubicBezTo>
                  <a:pt x="193004" y="160727"/>
                  <a:pt x="191868" y="160256"/>
                  <a:pt x="191031" y="159417"/>
                </a:cubicBezTo>
                <a:cubicBezTo>
                  <a:pt x="190796" y="159194"/>
                  <a:pt x="190562" y="158971"/>
                  <a:pt x="190305" y="158770"/>
                </a:cubicBezTo>
                <a:lnTo>
                  <a:pt x="150657" y="126980"/>
                </a:lnTo>
                <a:cubicBezTo>
                  <a:pt x="147656" y="124585"/>
                  <a:pt x="143461" y="124376"/>
                  <a:pt x="140237" y="126461"/>
                </a:cubicBezTo>
                <a:cubicBezTo>
                  <a:pt x="137013" y="128546"/>
                  <a:pt x="135483" y="132459"/>
                  <a:pt x="136437" y="136178"/>
                </a:cubicBezTo>
                <a:lnTo>
                  <a:pt x="161976" y="233288"/>
                </a:lnTo>
                <a:cubicBezTo>
                  <a:pt x="162107" y="233806"/>
                  <a:pt x="162286" y="234310"/>
                  <a:pt x="162511" y="234795"/>
                </a:cubicBezTo>
                <a:cubicBezTo>
                  <a:pt x="163213" y="236245"/>
                  <a:pt x="163079" y="237960"/>
                  <a:pt x="162161" y="239283"/>
                </a:cubicBezTo>
                <a:cubicBezTo>
                  <a:pt x="161244" y="240606"/>
                  <a:pt x="159685" y="241333"/>
                  <a:pt x="158081" y="241185"/>
                </a:cubicBezTo>
                <a:cubicBezTo>
                  <a:pt x="156478" y="241037"/>
                  <a:pt x="155078" y="240037"/>
                  <a:pt x="154419" y="238568"/>
                </a:cubicBezTo>
                <a:cubicBezTo>
                  <a:pt x="154309" y="238327"/>
                  <a:pt x="154186" y="238092"/>
                  <a:pt x="154050" y="237865"/>
                </a:cubicBezTo>
                <a:lnTo>
                  <a:pt x="117082" y="174129"/>
                </a:lnTo>
                <a:cubicBezTo>
                  <a:pt x="115484" y="171375"/>
                  <a:pt x="112541" y="169680"/>
                  <a:pt x="109357" y="169680"/>
                </a:cubicBezTo>
                <a:cubicBezTo>
                  <a:pt x="106174" y="169680"/>
                  <a:pt x="103231" y="171375"/>
                  <a:pt x="101633" y="174129"/>
                </a:cubicBezTo>
                <a:lnTo>
                  <a:pt x="64709" y="237809"/>
                </a:lnTo>
                <a:cubicBezTo>
                  <a:pt x="64573" y="238036"/>
                  <a:pt x="64450" y="238271"/>
                  <a:pt x="64341" y="238512"/>
                </a:cubicBezTo>
                <a:cubicBezTo>
                  <a:pt x="63840" y="239587"/>
                  <a:pt x="62932" y="240418"/>
                  <a:pt x="61818" y="240823"/>
                </a:cubicBezTo>
                <a:cubicBezTo>
                  <a:pt x="60120" y="241445"/>
                  <a:pt x="58214" y="240981"/>
                  <a:pt x="56991" y="239649"/>
                </a:cubicBezTo>
                <a:cubicBezTo>
                  <a:pt x="55769" y="238316"/>
                  <a:pt x="55471" y="236377"/>
                  <a:pt x="56237" y="234739"/>
                </a:cubicBezTo>
                <a:cubicBezTo>
                  <a:pt x="56462" y="234255"/>
                  <a:pt x="56641" y="233750"/>
                  <a:pt x="56773" y="233232"/>
                </a:cubicBezTo>
                <a:lnTo>
                  <a:pt x="82278" y="136178"/>
                </a:lnTo>
                <a:cubicBezTo>
                  <a:pt x="83232" y="132459"/>
                  <a:pt x="81702" y="128546"/>
                  <a:pt x="78478" y="126461"/>
                </a:cubicBezTo>
                <a:cubicBezTo>
                  <a:pt x="75254" y="124376"/>
                  <a:pt x="71058" y="124585"/>
                  <a:pt x="68058" y="126980"/>
                </a:cubicBezTo>
                <a:lnTo>
                  <a:pt x="28410" y="158770"/>
                </a:lnTo>
                <a:cubicBezTo>
                  <a:pt x="28153" y="158971"/>
                  <a:pt x="27919" y="159194"/>
                  <a:pt x="27684" y="159417"/>
                </a:cubicBezTo>
                <a:cubicBezTo>
                  <a:pt x="26568" y="160594"/>
                  <a:pt x="24901" y="161073"/>
                  <a:pt x="23330" y="160668"/>
                </a:cubicBezTo>
                <a:cubicBezTo>
                  <a:pt x="21759" y="160263"/>
                  <a:pt x="20531" y="159038"/>
                  <a:pt x="20123" y="157467"/>
                </a:cubicBezTo>
                <a:cubicBezTo>
                  <a:pt x="19715" y="155897"/>
                  <a:pt x="20191" y="154229"/>
                  <a:pt x="21366" y="153111"/>
                </a:cubicBezTo>
                <a:cubicBezTo>
                  <a:pt x="21500" y="152977"/>
                  <a:pt x="21623" y="152843"/>
                  <a:pt x="21746" y="152698"/>
                </a:cubicBezTo>
                <a:lnTo>
                  <a:pt x="72333" y="95336"/>
                </a:lnTo>
                <a:cubicBezTo>
                  <a:pt x="75724" y="91494"/>
                  <a:pt x="80603" y="89295"/>
                  <a:pt x="85727" y="89297"/>
                </a:cubicBezTo>
                <a:lnTo>
                  <a:pt x="132988" y="89297"/>
                </a:lnTo>
                <a:cubicBezTo>
                  <a:pt x="138112" y="89295"/>
                  <a:pt x="142990" y="91494"/>
                  <a:pt x="146382" y="95336"/>
                </a:cubicBezTo>
                <a:lnTo>
                  <a:pt x="196969" y="152698"/>
                </a:lnTo>
                <a:cubicBezTo>
                  <a:pt x="197092" y="152843"/>
                  <a:pt x="197214" y="152977"/>
                  <a:pt x="197348" y="153111"/>
                </a:cubicBezTo>
                <a:cubicBezTo>
                  <a:pt x="199087" y="154853"/>
                  <a:pt x="199087" y="157674"/>
                  <a:pt x="197348" y="159417"/>
                </a:cubicBezTo>
                <a:close/>
              </a:path>
            </a:pathLst>
          </a:custGeom>
          <a:solidFill xmlns:a="http://schemas.openxmlformats.org/drawingml/2006/main">
            <a:srgbClr val="2F80ED"/>
          </a:solidFill>
          <a:ln xmlns:a="http://schemas.openxmlformats.org/drawingml/2006/main">
            <a:noFill/>
          </a:ln>
        </p:spPr>
      </p:sp>
      <p:sp>
        <p:nvSpPr>
          <p:cNvPr id="21" name="TextBox 21">
            <a:extLst xmlns:a="http://schemas.openxmlformats.org/drawingml/2006/main">
              <a:ext uri="{FF2B5EF4-FFF2-40B4-BE49-F238E27FC236}">
                <a16:creationId xmlns:a16="http://schemas.microsoft.com/office/drawing/2014/main" id="{0B4D4830-962F-43E6-9744-718D7BC9FD58}"/>
              </a:ext>
            </a:extLst>
          </p:cNvPr>
          <p:cNvSpPr>
            <a:spLocks xmlns:a="http://schemas.openxmlformats.org/drawingml/2006/main" noGrp="1"/>
          </p:cNvSpPr>
          <p:nvPr/>
        </p:nvSpPr>
        <p:spPr>
          <a:xfrm xmlns:a="http://schemas.openxmlformats.org/drawingml/2006/main" rot="0">
            <a:off x="2708910" y="1403985"/>
            <a:ext cx="43373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POSE</a:t>
            </a:r>
          </a:p>
        </p:txBody>
      </p:sp>
      <p:sp>
        <p:nvSpPr>
          <p:cNvPr id="22" name="TextBox 22">
            <a:extLst xmlns:a="http://schemas.openxmlformats.org/drawingml/2006/main">
              <a:ext uri="{FF2B5EF4-FFF2-40B4-BE49-F238E27FC236}">
                <a16:creationId xmlns:a16="http://schemas.microsoft.com/office/drawing/2014/main" id="{CC156255-E3E1-4E66-B4E2-730CE459548E}"/>
              </a:ext>
            </a:extLst>
          </p:cNvPr>
          <p:cNvSpPr>
            <a:spLocks xmlns:a="http://schemas.openxmlformats.org/drawingml/2006/main" noGrp="1"/>
          </p:cNvSpPr>
          <p:nvPr/>
        </p:nvSpPr>
        <p:spPr>
          <a:xfrm xmlns:a="http://schemas.openxmlformats.org/drawingml/2006/main" rot="0">
            <a:off x="2330768" y="1742599"/>
            <a:ext cx="95438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MediaPipe Pose</a:t>
            </a:r>
          </a:p>
        </p:txBody>
      </p:sp>
      <p:sp>
        <p:nvSpPr>
          <p:cNvPr id="23" name="TextBox 23">
            <a:extLst xmlns:a="http://schemas.openxmlformats.org/drawingml/2006/main">
              <a:ext uri="{FF2B5EF4-FFF2-40B4-BE49-F238E27FC236}">
                <a16:creationId xmlns:a16="http://schemas.microsoft.com/office/drawing/2014/main" id="{5E87DDDA-9999-4D37-BF82-43DF7F97D274}"/>
              </a:ext>
            </a:extLst>
          </p:cNvPr>
          <p:cNvSpPr>
            <a:spLocks xmlns:a="http://schemas.openxmlformats.org/drawingml/2006/main" noGrp="1"/>
          </p:cNvSpPr>
          <p:nvPr/>
        </p:nvSpPr>
        <p:spPr>
          <a:xfrm xmlns:a="http://schemas.openxmlformats.org/drawingml/2006/main" rot="0">
            <a:off x="2330768" y="1914049"/>
            <a:ext cx="76585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Landmarker</a:t>
            </a:r>
          </a:p>
        </p:txBody>
      </p:sp>
      <p:sp>
        <p:nvSpPr>
          <p:cNvPr id="24" name="Rectangle 24">
            <a:extLst xmlns:a="http://schemas.openxmlformats.org/drawingml/2006/main">
              <a:ext uri="{FF2B5EF4-FFF2-40B4-BE49-F238E27FC236}">
                <a16:creationId xmlns:a16="http://schemas.microsoft.com/office/drawing/2014/main" id="{23593677-8265-401A-9109-06958F5D8153}"/>
              </a:ext>
            </a:extLst>
          </p:cNvPr>
          <p:cNvSpPr>
            <a:spLocks xmlns:a="http://schemas.openxmlformats.org/drawingml/2006/main" noGrp="1"/>
          </p:cNvSpPr>
          <p:nvPr/>
        </p:nvSpPr>
        <p:spPr>
          <a:xfrm xmlns:a="http://schemas.openxmlformats.org/drawingml/2006/main" rot="0">
            <a:off x="4095750" y="1238250"/>
            <a:ext cx="1790700" cy="914400"/>
          </a:xfrm>
          <a:prstGeom xmlns:a="http://schemas.openxmlformats.org/drawingml/2006/main" prst="roundRect">
            <a:avLst>
              <a:gd name="adj" fmla="val 10417"/>
            </a:avLst>
          </a:prstGeom>
          <a:solidFill xmlns:a="http://schemas.openxmlformats.org/drawingml/2006/main">
            <a:srgbClr val="F7F9FC"/>
          </a:solidFill>
          <a:ln xmlns:a="http://schemas.openxmlformats.org/drawingml/2006/main">
            <a:noFill/>
          </a:ln>
        </p:spPr>
      </p:sp>
      <p:sp>
        <p:nvSpPr>
          <p:cNvPr id="25" name="Freeform 25">
            <a:extLst xmlns:a="http://schemas.openxmlformats.org/drawingml/2006/main">
              <a:ext uri="{FF2B5EF4-FFF2-40B4-BE49-F238E27FC236}">
                <a16:creationId xmlns:a16="http://schemas.microsoft.com/office/drawing/2014/main" id="{51C42711-6716-42F7-A3C0-523CDE960F77}"/>
              </a:ext>
            </a:extLst>
          </p:cNvPr>
          <p:cNvSpPr>
            <a:spLocks xmlns:a="http://schemas.openxmlformats.org/drawingml/2006/main" noGrp="1"/>
          </p:cNvSpPr>
          <p:nvPr/>
        </p:nvSpPr>
        <p:spPr>
          <a:xfrm xmlns:a="http://schemas.openxmlformats.org/drawingml/2006/main" rot="0">
            <a:off x="4266009" y="1443633"/>
            <a:ext cx="250031" cy="160734"/>
          </a:xfrm>
          <a:custGeom xmlns:a="http://schemas.openxmlformats.org/drawingml/2006/main">
            <a:rect l="l" t="t" r="r" b="b"/>
            <a:pathLst>
              <a:path w="250031" h="160734">
                <a:moveTo>
                  <a:pt x="125016" y="0"/>
                </a:moveTo>
                <a:cubicBezTo>
                  <a:pt x="35719" y="0"/>
                  <a:pt x="0" y="80367"/>
                  <a:pt x="0" y="80367"/>
                </a:cubicBezTo>
                <a:cubicBezTo>
                  <a:pt x="0" y="80367"/>
                  <a:pt x="35719" y="160734"/>
                  <a:pt x="125016" y="160734"/>
                </a:cubicBezTo>
                <a:cubicBezTo>
                  <a:pt x="214312" y="160734"/>
                  <a:pt x="250031" y="80367"/>
                  <a:pt x="250031" y="80367"/>
                </a:cubicBezTo>
                <a:cubicBezTo>
                  <a:pt x="250031" y="80367"/>
                  <a:pt x="214312" y="0"/>
                  <a:pt x="125016" y="0"/>
                </a:cubicBezTo>
                <a:close/>
                <a:moveTo>
                  <a:pt x="125016" y="125016"/>
                </a:moveTo>
                <a:cubicBezTo>
                  <a:pt x="100357" y="125016"/>
                  <a:pt x="80367" y="105026"/>
                  <a:pt x="80367" y="80367"/>
                </a:cubicBezTo>
                <a:cubicBezTo>
                  <a:pt x="80367" y="55709"/>
                  <a:pt x="100357" y="35719"/>
                  <a:pt x="125016" y="35719"/>
                </a:cubicBezTo>
                <a:cubicBezTo>
                  <a:pt x="149674" y="35719"/>
                  <a:pt x="169664" y="55709"/>
                  <a:pt x="169664" y="80367"/>
                </a:cubicBezTo>
                <a:cubicBezTo>
                  <a:pt x="169664" y="105026"/>
                  <a:pt x="149674" y="125016"/>
                  <a:pt x="125016" y="125016"/>
                </a:cubicBezTo>
                <a:close/>
              </a:path>
            </a:pathLst>
          </a:custGeom>
          <a:solidFill xmlns:a="http://schemas.openxmlformats.org/drawingml/2006/main">
            <a:srgbClr val="2F80ED">
              <a:alpha val="20000"/>
            </a:srgbClr>
          </a:solidFill>
          <a:ln xmlns:a="http://schemas.openxmlformats.org/drawingml/2006/main">
            <a:noFill/>
          </a:ln>
        </p:spPr>
      </p:sp>
      <p:sp>
        <p:nvSpPr>
          <p:cNvPr id="26" name="Freeform 26">
            <a:extLst xmlns:a="http://schemas.openxmlformats.org/drawingml/2006/main">
              <a:ext uri="{FF2B5EF4-FFF2-40B4-BE49-F238E27FC236}">
                <a16:creationId xmlns:a16="http://schemas.microsoft.com/office/drawing/2014/main" id="{B0F91765-352C-4724-AE54-771ECB34E6C6}"/>
              </a:ext>
            </a:extLst>
          </p:cNvPr>
          <p:cNvSpPr>
            <a:spLocks xmlns:a="http://schemas.openxmlformats.org/drawingml/2006/main" noGrp="1"/>
          </p:cNvSpPr>
          <p:nvPr/>
        </p:nvSpPr>
        <p:spPr>
          <a:xfrm xmlns:a="http://schemas.openxmlformats.org/drawingml/2006/main" rot="0">
            <a:off x="4256823" y="1434703"/>
            <a:ext cx="268404" cy="178594"/>
          </a:xfrm>
          <a:custGeom xmlns:a="http://schemas.openxmlformats.org/drawingml/2006/main">
            <a:rect l="l" t="t" r="r" b="b"/>
            <a:pathLst>
              <a:path w="268404" h="178594">
                <a:moveTo>
                  <a:pt x="267377" y="85680"/>
                </a:moveTo>
                <a:cubicBezTo>
                  <a:pt x="266986" y="84799"/>
                  <a:pt x="257532" y="63825"/>
                  <a:pt x="236514" y="42807"/>
                </a:cubicBezTo>
                <a:cubicBezTo>
                  <a:pt x="208508" y="14801"/>
                  <a:pt x="173135" y="0"/>
                  <a:pt x="134202" y="0"/>
                </a:cubicBezTo>
                <a:cubicBezTo>
                  <a:pt x="95268" y="0"/>
                  <a:pt x="59896" y="14801"/>
                  <a:pt x="31890" y="42807"/>
                </a:cubicBezTo>
                <a:cubicBezTo>
                  <a:pt x="10872" y="63825"/>
                  <a:pt x="1373" y="84832"/>
                  <a:pt x="1027" y="85680"/>
                </a:cubicBezTo>
                <a:cubicBezTo>
                  <a:pt x="0" y="87990"/>
                  <a:pt x="0" y="90626"/>
                  <a:pt x="1027" y="92936"/>
                </a:cubicBezTo>
                <a:cubicBezTo>
                  <a:pt x="1417" y="93818"/>
                  <a:pt x="10872" y="114780"/>
                  <a:pt x="31890" y="135798"/>
                </a:cubicBezTo>
                <a:cubicBezTo>
                  <a:pt x="59896" y="163793"/>
                  <a:pt x="95268" y="178594"/>
                  <a:pt x="134202" y="178594"/>
                </a:cubicBezTo>
                <a:cubicBezTo>
                  <a:pt x="173135" y="178594"/>
                  <a:pt x="208508" y="163793"/>
                  <a:pt x="236514" y="135798"/>
                </a:cubicBezTo>
                <a:cubicBezTo>
                  <a:pt x="257532" y="114780"/>
                  <a:pt x="266986" y="93818"/>
                  <a:pt x="267377" y="92936"/>
                </a:cubicBezTo>
                <a:cubicBezTo>
                  <a:pt x="268404" y="90626"/>
                  <a:pt x="268404" y="87990"/>
                  <a:pt x="267377" y="85680"/>
                </a:cubicBezTo>
                <a:close/>
                <a:moveTo>
                  <a:pt x="134202" y="160734"/>
                </a:moveTo>
                <a:cubicBezTo>
                  <a:pt x="99845" y="160734"/>
                  <a:pt x="69830" y="148244"/>
                  <a:pt x="44983" y="123620"/>
                </a:cubicBezTo>
                <a:cubicBezTo>
                  <a:pt x="34788" y="113482"/>
                  <a:pt x="26115" y="101921"/>
                  <a:pt x="19232" y="89297"/>
                </a:cubicBezTo>
                <a:cubicBezTo>
                  <a:pt x="26113" y="76672"/>
                  <a:pt x="34787" y="65111"/>
                  <a:pt x="44983" y="54973"/>
                </a:cubicBezTo>
                <a:cubicBezTo>
                  <a:pt x="69830" y="30350"/>
                  <a:pt x="99845" y="17859"/>
                  <a:pt x="134202" y="17859"/>
                </a:cubicBezTo>
                <a:cubicBezTo>
                  <a:pt x="168559" y="17859"/>
                  <a:pt x="198574" y="30350"/>
                  <a:pt x="223421" y="54973"/>
                </a:cubicBezTo>
                <a:cubicBezTo>
                  <a:pt x="233635" y="65108"/>
                  <a:pt x="242328" y="76669"/>
                  <a:pt x="249227" y="89297"/>
                </a:cubicBezTo>
                <a:cubicBezTo>
                  <a:pt x="241180" y="104321"/>
                  <a:pt x="206119" y="160734"/>
                  <a:pt x="134202" y="160734"/>
                </a:cubicBezTo>
                <a:close/>
                <a:moveTo>
                  <a:pt x="134202" y="35719"/>
                </a:moveTo>
                <a:cubicBezTo>
                  <a:pt x="104612" y="35719"/>
                  <a:pt x="80624" y="59706"/>
                  <a:pt x="80624" y="89297"/>
                </a:cubicBezTo>
                <a:cubicBezTo>
                  <a:pt x="80624" y="118887"/>
                  <a:pt x="104612" y="142875"/>
                  <a:pt x="134202" y="142875"/>
                </a:cubicBezTo>
                <a:cubicBezTo>
                  <a:pt x="163792" y="142875"/>
                  <a:pt x="187780" y="118887"/>
                  <a:pt x="187780" y="89297"/>
                </a:cubicBezTo>
                <a:cubicBezTo>
                  <a:pt x="187749" y="59719"/>
                  <a:pt x="163780" y="35750"/>
                  <a:pt x="134202" y="35719"/>
                </a:cubicBezTo>
                <a:close/>
                <a:moveTo>
                  <a:pt x="134202" y="125016"/>
                </a:moveTo>
                <a:cubicBezTo>
                  <a:pt x="114475" y="125016"/>
                  <a:pt x="98483" y="109024"/>
                  <a:pt x="98483" y="89297"/>
                </a:cubicBezTo>
                <a:cubicBezTo>
                  <a:pt x="98483" y="69570"/>
                  <a:pt x="114475" y="53578"/>
                  <a:pt x="134202" y="53578"/>
                </a:cubicBezTo>
                <a:cubicBezTo>
                  <a:pt x="153929" y="53578"/>
                  <a:pt x="169921" y="69570"/>
                  <a:pt x="169921" y="89297"/>
                </a:cubicBezTo>
                <a:cubicBezTo>
                  <a:pt x="169921" y="109024"/>
                  <a:pt x="153929" y="125016"/>
                  <a:pt x="134202" y="125016"/>
                </a:cubicBezTo>
                <a:close/>
              </a:path>
            </a:pathLst>
          </a:cu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6734760F-0281-4023-AA01-7C9857525029}"/>
              </a:ext>
            </a:extLst>
          </p:cNvPr>
          <p:cNvSpPr>
            <a:spLocks xmlns:a="http://schemas.openxmlformats.org/drawingml/2006/main" noGrp="1"/>
          </p:cNvSpPr>
          <p:nvPr/>
        </p:nvSpPr>
        <p:spPr>
          <a:xfrm xmlns:a="http://schemas.openxmlformats.org/drawingml/2006/main" rot="0">
            <a:off x="4613910" y="1403985"/>
            <a:ext cx="870585"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FACE / EYE</a:t>
            </a:r>
          </a:p>
        </p:txBody>
      </p:sp>
      <p:sp>
        <p:nvSpPr>
          <p:cNvPr id="29" name="TextBox 29">
            <a:extLst xmlns:a="http://schemas.openxmlformats.org/drawingml/2006/main">
              <a:ext uri="{FF2B5EF4-FFF2-40B4-BE49-F238E27FC236}">
                <a16:creationId xmlns:a16="http://schemas.microsoft.com/office/drawing/2014/main" id="{AA807F55-DFE3-4C8F-A846-896128697477}"/>
              </a:ext>
            </a:extLst>
          </p:cNvPr>
          <p:cNvSpPr>
            <a:spLocks xmlns:a="http://schemas.openxmlformats.org/drawingml/2006/main" noGrp="1"/>
          </p:cNvSpPr>
          <p:nvPr/>
        </p:nvSpPr>
        <p:spPr>
          <a:xfrm xmlns:a="http://schemas.openxmlformats.org/drawingml/2006/main" rot="0">
            <a:off x="4235768" y="1742599"/>
            <a:ext cx="95438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MediaPipe Face</a:t>
            </a:r>
          </a:p>
        </p:txBody>
      </p:sp>
      <p:sp>
        <p:nvSpPr>
          <p:cNvPr id="30" name="TextBox 30">
            <a:extLst xmlns:a="http://schemas.openxmlformats.org/drawingml/2006/main">
              <a:ext uri="{FF2B5EF4-FFF2-40B4-BE49-F238E27FC236}">
                <a16:creationId xmlns:a16="http://schemas.microsoft.com/office/drawing/2014/main" id="{33CE1B31-69FD-4081-B619-08CB72C194D4}"/>
              </a:ext>
            </a:extLst>
          </p:cNvPr>
          <p:cNvSpPr>
            <a:spLocks xmlns:a="http://schemas.openxmlformats.org/drawingml/2006/main" noGrp="1"/>
          </p:cNvSpPr>
          <p:nvPr/>
        </p:nvSpPr>
        <p:spPr>
          <a:xfrm xmlns:a="http://schemas.openxmlformats.org/drawingml/2006/main" rot="0">
            <a:off x="4235768" y="1914049"/>
            <a:ext cx="76585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Landmarker</a:t>
            </a:r>
          </a:p>
        </p:txBody>
      </p:sp>
      <p:sp>
        <p:nvSpPr>
          <p:cNvPr id="31" name="Rectangle 31">
            <a:extLst xmlns:a="http://schemas.openxmlformats.org/drawingml/2006/main">
              <a:ext uri="{FF2B5EF4-FFF2-40B4-BE49-F238E27FC236}">
                <a16:creationId xmlns:a16="http://schemas.microsoft.com/office/drawing/2014/main" id="{4764AD75-B696-4734-AD71-B784445AE146}"/>
              </a:ext>
            </a:extLst>
          </p:cNvPr>
          <p:cNvSpPr>
            <a:spLocks xmlns:a="http://schemas.openxmlformats.org/drawingml/2006/main" noGrp="1"/>
          </p:cNvSpPr>
          <p:nvPr/>
        </p:nvSpPr>
        <p:spPr>
          <a:xfrm xmlns:a="http://schemas.openxmlformats.org/drawingml/2006/main" rot="0">
            <a:off x="6000750" y="1238250"/>
            <a:ext cx="1790700" cy="914400"/>
          </a:xfrm>
          <a:prstGeom xmlns:a="http://schemas.openxmlformats.org/drawingml/2006/main" prst="roundRect">
            <a:avLst>
              <a:gd name="adj" fmla="val 10417"/>
            </a:avLst>
          </a:prstGeom>
          <a:solidFill xmlns:a="http://schemas.openxmlformats.org/drawingml/2006/main">
            <a:srgbClr val="F7F9FC"/>
          </a:solidFill>
          <a:ln xmlns:a="http://schemas.openxmlformats.org/drawingml/2006/main">
            <a:noFill/>
          </a:ln>
        </p:spPr>
      </p:sp>
      <p:sp>
        <p:nvSpPr>
          <p:cNvPr id="32" name="Freeform 32">
            <a:extLst xmlns:a="http://schemas.openxmlformats.org/drawingml/2006/main">
              <a:ext uri="{FF2B5EF4-FFF2-40B4-BE49-F238E27FC236}">
                <a16:creationId xmlns:a16="http://schemas.microsoft.com/office/drawing/2014/main" id="{68135674-280C-4900-9CCE-FF0719008606}"/>
              </a:ext>
            </a:extLst>
          </p:cNvPr>
          <p:cNvSpPr>
            <a:spLocks xmlns:a="http://schemas.openxmlformats.org/drawingml/2006/main" noGrp="1"/>
          </p:cNvSpPr>
          <p:nvPr/>
        </p:nvSpPr>
        <p:spPr>
          <a:xfrm xmlns:a="http://schemas.openxmlformats.org/drawingml/2006/main" rot="0">
            <a:off x="6185795" y="1407914"/>
            <a:ext cx="199527" cy="232172"/>
          </a:xfrm>
          <a:custGeom xmlns:a="http://schemas.openxmlformats.org/drawingml/2006/main">
            <a:rect l="l" t="t" r="r" b="b"/>
            <a:pathLst>
              <a:path w="199527" h="232172">
                <a:moveTo>
                  <a:pt x="199527" y="58043"/>
                </a:moveTo>
                <a:lnTo>
                  <a:pt x="199527" y="142875"/>
                </a:lnTo>
                <a:cubicBezTo>
                  <a:pt x="199527" y="192192"/>
                  <a:pt x="159547" y="232172"/>
                  <a:pt x="110230" y="232172"/>
                </a:cubicBezTo>
                <a:cubicBezTo>
                  <a:pt x="60916" y="232172"/>
                  <a:pt x="42420" y="208419"/>
                  <a:pt x="6065" y="131713"/>
                </a:cubicBezTo>
                <a:cubicBezTo>
                  <a:pt x="0" y="121045"/>
                  <a:pt x="3682" y="107482"/>
                  <a:pt x="14310" y="101346"/>
                </a:cubicBezTo>
                <a:cubicBezTo>
                  <a:pt x="24937" y="95210"/>
                  <a:pt x="38525" y="98802"/>
                  <a:pt x="44731" y="109389"/>
                </a:cubicBezTo>
                <a:lnTo>
                  <a:pt x="65582" y="142875"/>
                </a:lnTo>
                <a:lnTo>
                  <a:pt x="65582" y="40184"/>
                </a:lnTo>
                <a:cubicBezTo>
                  <a:pt x="65582" y="27854"/>
                  <a:pt x="75577" y="17859"/>
                  <a:pt x="87906" y="17859"/>
                </a:cubicBezTo>
                <a:cubicBezTo>
                  <a:pt x="100235" y="17859"/>
                  <a:pt x="110230" y="27854"/>
                  <a:pt x="110230" y="40184"/>
                </a:cubicBezTo>
                <a:lnTo>
                  <a:pt x="110230" y="22324"/>
                </a:lnTo>
                <a:cubicBezTo>
                  <a:pt x="110230" y="9995"/>
                  <a:pt x="120225" y="0"/>
                  <a:pt x="132554" y="0"/>
                </a:cubicBezTo>
                <a:cubicBezTo>
                  <a:pt x="144884" y="0"/>
                  <a:pt x="154879" y="9995"/>
                  <a:pt x="154879" y="22324"/>
                </a:cubicBezTo>
                <a:lnTo>
                  <a:pt x="154879" y="58043"/>
                </a:lnTo>
                <a:cubicBezTo>
                  <a:pt x="154879" y="45714"/>
                  <a:pt x="164873" y="35719"/>
                  <a:pt x="177203" y="35719"/>
                </a:cubicBezTo>
                <a:cubicBezTo>
                  <a:pt x="189532" y="35719"/>
                  <a:pt x="199527" y="45714"/>
                  <a:pt x="199527" y="58043"/>
                </a:cubicBezTo>
                <a:close/>
              </a:path>
            </a:pathLst>
          </a:custGeom>
          <a:solidFill xmlns:a="http://schemas.openxmlformats.org/drawingml/2006/main">
            <a:srgbClr val="2F80ED">
              <a:alpha val="20000"/>
            </a:srgbClr>
          </a:solidFill>
          <a:ln xmlns:a="http://schemas.openxmlformats.org/drawingml/2006/main">
            <a:noFill/>
          </a:ln>
        </p:spPr>
      </p:sp>
      <p:sp>
        <p:nvSpPr>
          <p:cNvPr id="33" name="Freeform 33">
            <a:extLst xmlns:a="http://schemas.openxmlformats.org/drawingml/2006/main">
              <a:ext uri="{FF2B5EF4-FFF2-40B4-BE49-F238E27FC236}">
                <a16:creationId xmlns:a16="http://schemas.microsoft.com/office/drawing/2014/main" id="{47CCFF9B-285B-428C-944D-73ACC9FBD8AE}"/>
              </a:ext>
            </a:extLst>
          </p:cNvPr>
          <p:cNvSpPr>
            <a:spLocks xmlns:a="http://schemas.openxmlformats.org/drawingml/2006/main" noGrp="1"/>
          </p:cNvSpPr>
          <p:nvPr/>
        </p:nvSpPr>
        <p:spPr>
          <a:xfrm xmlns:a="http://schemas.openxmlformats.org/drawingml/2006/main" rot="0">
            <a:off x="6175471" y="1396960"/>
            <a:ext cx="218781" cy="252056"/>
          </a:xfrm>
          <a:custGeom xmlns:a="http://schemas.openxmlformats.org/drawingml/2006/main">
            <a:rect l="l" t="t" r="r" b="b"/>
            <a:pathLst>
              <a:path w="218781" h="252056">
                <a:moveTo>
                  <a:pt x="187527" y="37743"/>
                </a:moveTo>
                <a:cubicBezTo>
                  <a:pt x="182892" y="37737"/>
                  <a:pt x="178314" y="38770"/>
                  <a:pt x="174132" y="40768"/>
                </a:cubicBezTo>
                <a:lnTo>
                  <a:pt x="174132" y="33278"/>
                </a:lnTo>
                <a:cubicBezTo>
                  <a:pt x="174138" y="17888"/>
                  <a:pt x="162939" y="4785"/>
                  <a:pt x="147737" y="2392"/>
                </a:cubicBezTo>
                <a:cubicBezTo>
                  <a:pt x="132534" y="0"/>
                  <a:pt x="117852" y="9031"/>
                  <a:pt x="113131" y="23679"/>
                </a:cubicBezTo>
                <a:cubicBezTo>
                  <a:pt x="103449" y="18427"/>
                  <a:pt x="91717" y="18660"/>
                  <a:pt x="82250" y="24292"/>
                </a:cubicBezTo>
                <a:cubicBezTo>
                  <a:pt x="72784" y="29923"/>
                  <a:pt x="66981" y="40123"/>
                  <a:pt x="66976" y="51138"/>
                </a:cubicBezTo>
                <a:lnTo>
                  <a:pt x="66976" y="122575"/>
                </a:lnTo>
                <a:lnTo>
                  <a:pt x="62712" y="115733"/>
                </a:lnTo>
                <a:cubicBezTo>
                  <a:pt x="54090" y="100854"/>
                  <a:pt x="35068" y="95735"/>
                  <a:pt x="20143" y="104278"/>
                </a:cubicBezTo>
                <a:cubicBezTo>
                  <a:pt x="5219" y="112821"/>
                  <a:pt x="0" y="131816"/>
                  <a:pt x="8464" y="146786"/>
                </a:cubicBezTo>
                <a:cubicBezTo>
                  <a:pt x="26324" y="184480"/>
                  <a:pt x="40756" y="211213"/>
                  <a:pt x="57265" y="227923"/>
                </a:cubicBezTo>
                <a:cubicBezTo>
                  <a:pt x="73941" y="244845"/>
                  <a:pt x="92872" y="252056"/>
                  <a:pt x="120554" y="252056"/>
                </a:cubicBezTo>
                <a:cubicBezTo>
                  <a:pt x="174778" y="251994"/>
                  <a:pt x="218719" y="208053"/>
                  <a:pt x="218781" y="153829"/>
                </a:cubicBezTo>
                <a:lnTo>
                  <a:pt x="218781" y="68997"/>
                </a:lnTo>
                <a:cubicBezTo>
                  <a:pt x="218781" y="51736"/>
                  <a:pt x="204788" y="37743"/>
                  <a:pt x="187527" y="37743"/>
                </a:cubicBezTo>
                <a:close/>
                <a:moveTo>
                  <a:pt x="200921" y="153829"/>
                </a:moveTo>
                <a:cubicBezTo>
                  <a:pt x="200872" y="198194"/>
                  <a:pt x="164919" y="234147"/>
                  <a:pt x="120554" y="234196"/>
                </a:cubicBezTo>
                <a:cubicBezTo>
                  <a:pt x="97806" y="234196"/>
                  <a:pt x="83150" y="228749"/>
                  <a:pt x="69956" y="215388"/>
                </a:cubicBezTo>
                <a:cubicBezTo>
                  <a:pt x="55189" y="200420"/>
                  <a:pt x="41593" y="175037"/>
                  <a:pt x="24448" y="138849"/>
                </a:cubicBezTo>
                <a:cubicBezTo>
                  <a:pt x="24348" y="138628"/>
                  <a:pt x="24236" y="138412"/>
                  <a:pt x="24113" y="138202"/>
                </a:cubicBezTo>
                <a:cubicBezTo>
                  <a:pt x="20415" y="131794"/>
                  <a:pt x="22611" y="123601"/>
                  <a:pt x="29019" y="119902"/>
                </a:cubicBezTo>
                <a:cubicBezTo>
                  <a:pt x="35427" y="116203"/>
                  <a:pt x="43621" y="118399"/>
                  <a:pt x="47319" y="124808"/>
                </a:cubicBezTo>
                <a:cubicBezTo>
                  <a:pt x="47365" y="124897"/>
                  <a:pt x="47417" y="124983"/>
                  <a:pt x="47476" y="125064"/>
                </a:cubicBezTo>
                <a:lnTo>
                  <a:pt x="68315" y="158551"/>
                </a:lnTo>
                <a:cubicBezTo>
                  <a:pt x="70419" y="161945"/>
                  <a:pt x="74520" y="163530"/>
                  <a:pt x="78360" y="162432"/>
                </a:cubicBezTo>
                <a:cubicBezTo>
                  <a:pt x="82199" y="161335"/>
                  <a:pt x="84843" y="157822"/>
                  <a:pt x="84835" y="153829"/>
                </a:cubicBezTo>
                <a:lnTo>
                  <a:pt x="84835" y="51138"/>
                </a:lnTo>
                <a:cubicBezTo>
                  <a:pt x="84835" y="43740"/>
                  <a:pt x="90832" y="37743"/>
                  <a:pt x="98230" y="37743"/>
                </a:cubicBezTo>
                <a:cubicBezTo>
                  <a:pt x="105627" y="37743"/>
                  <a:pt x="111624" y="43740"/>
                  <a:pt x="111624" y="51138"/>
                </a:cubicBezTo>
                <a:lnTo>
                  <a:pt x="111624" y="118110"/>
                </a:lnTo>
                <a:cubicBezTo>
                  <a:pt x="111624" y="123042"/>
                  <a:pt x="115622" y="127040"/>
                  <a:pt x="120554" y="127040"/>
                </a:cubicBezTo>
                <a:cubicBezTo>
                  <a:pt x="125486" y="127040"/>
                  <a:pt x="129484" y="123042"/>
                  <a:pt x="129484" y="118110"/>
                </a:cubicBezTo>
                <a:lnTo>
                  <a:pt x="129484" y="33278"/>
                </a:lnTo>
                <a:cubicBezTo>
                  <a:pt x="129484" y="25881"/>
                  <a:pt x="135481" y="19884"/>
                  <a:pt x="142878" y="19884"/>
                </a:cubicBezTo>
                <a:cubicBezTo>
                  <a:pt x="150276" y="19884"/>
                  <a:pt x="156273" y="25881"/>
                  <a:pt x="156273" y="33278"/>
                </a:cubicBezTo>
                <a:lnTo>
                  <a:pt x="156273" y="118110"/>
                </a:lnTo>
                <a:cubicBezTo>
                  <a:pt x="156273" y="123042"/>
                  <a:pt x="160271" y="127040"/>
                  <a:pt x="165202" y="127040"/>
                </a:cubicBezTo>
                <a:cubicBezTo>
                  <a:pt x="170134" y="127040"/>
                  <a:pt x="174132" y="123042"/>
                  <a:pt x="174132" y="118110"/>
                </a:cubicBezTo>
                <a:lnTo>
                  <a:pt x="174132" y="68997"/>
                </a:lnTo>
                <a:cubicBezTo>
                  <a:pt x="174132" y="61599"/>
                  <a:pt x="180129" y="55602"/>
                  <a:pt x="187527" y="55602"/>
                </a:cubicBezTo>
                <a:cubicBezTo>
                  <a:pt x="194924" y="55602"/>
                  <a:pt x="200921" y="61599"/>
                  <a:pt x="200921" y="68997"/>
                </a:cubicBezTo>
                <a:close/>
              </a:path>
            </a:pathLst>
          </a:custGeom>
          <a:solidFill xmlns:a="http://schemas.openxmlformats.org/drawingml/2006/main">
            <a:srgbClr val="2F80ED"/>
          </a:solidFill>
          <a:ln xmlns:a="http://schemas.openxmlformats.org/drawingml/2006/main">
            <a:noFill/>
          </a:ln>
        </p:spPr>
      </p:sp>
      <p:sp>
        <p:nvSpPr>
          <p:cNvPr id="35" name="TextBox 35">
            <a:extLst xmlns:a="http://schemas.openxmlformats.org/drawingml/2006/main">
              <a:ext uri="{FF2B5EF4-FFF2-40B4-BE49-F238E27FC236}">
                <a16:creationId xmlns:a16="http://schemas.microsoft.com/office/drawing/2014/main" id="{3BEC6D39-C617-4CD0-BD19-725819C92453}"/>
              </a:ext>
            </a:extLst>
          </p:cNvPr>
          <p:cNvSpPr>
            <a:spLocks xmlns:a="http://schemas.openxmlformats.org/drawingml/2006/main" noGrp="1"/>
          </p:cNvSpPr>
          <p:nvPr/>
        </p:nvSpPr>
        <p:spPr>
          <a:xfrm xmlns:a="http://schemas.openxmlformats.org/drawingml/2006/main" rot="0">
            <a:off x="6518910" y="1403985"/>
            <a:ext cx="400126"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HAND</a:t>
            </a:r>
          </a:p>
        </p:txBody>
      </p:sp>
      <p:sp>
        <p:nvSpPr>
          <p:cNvPr id="36" name="TextBox 36">
            <a:extLst xmlns:a="http://schemas.openxmlformats.org/drawingml/2006/main">
              <a:ext uri="{FF2B5EF4-FFF2-40B4-BE49-F238E27FC236}">
                <a16:creationId xmlns:a16="http://schemas.microsoft.com/office/drawing/2014/main" id="{D3FA93AF-827E-47A4-9F56-4E812D6D08B6}"/>
              </a:ext>
            </a:extLst>
          </p:cNvPr>
          <p:cNvSpPr>
            <a:spLocks xmlns:a="http://schemas.openxmlformats.org/drawingml/2006/main" noGrp="1"/>
          </p:cNvSpPr>
          <p:nvPr/>
        </p:nvSpPr>
        <p:spPr>
          <a:xfrm xmlns:a="http://schemas.openxmlformats.org/drawingml/2006/main" rot="0">
            <a:off x="6140768" y="1742599"/>
            <a:ext cx="120791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MediaPipe / cvzone</a:t>
            </a:r>
          </a:p>
        </p:txBody>
      </p:sp>
      <p:sp>
        <p:nvSpPr>
          <p:cNvPr id="37" name="TextBox 37">
            <a:extLst xmlns:a="http://schemas.openxmlformats.org/drawingml/2006/main">
              <a:ext uri="{FF2B5EF4-FFF2-40B4-BE49-F238E27FC236}">
                <a16:creationId xmlns:a16="http://schemas.microsoft.com/office/drawing/2014/main" id="{6C439995-9E3D-4886-8CD7-079655A7359C}"/>
              </a:ext>
            </a:extLst>
          </p:cNvPr>
          <p:cNvSpPr>
            <a:spLocks xmlns:a="http://schemas.openxmlformats.org/drawingml/2006/main" noGrp="1"/>
          </p:cNvSpPr>
          <p:nvPr/>
        </p:nvSpPr>
        <p:spPr>
          <a:xfrm xmlns:a="http://schemas.openxmlformats.org/drawingml/2006/main" rot="0">
            <a:off x="6140768" y="1914049"/>
            <a:ext cx="81136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21 landmarks</a:t>
            </a:r>
          </a:p>
        </p:txBody>
      </p:sp>
      <p:sp>
        <p:nvSpPr>
          <p:cNvPr id="38" name="Rectangle 38">
            <a:extLst xmlns:a="http://schemas.openxmlformats.org/drawingml/2006/main">
              <a:ext uri="{FF2B5EF4-FFF2-40B4-BE49-F238E27FC236}">
                <a16:creationId xmlns:a16="http://schemas.microsoft.com/office/drawing/2014/main" id="{E1C021CD-35A3-4D44-A8C9-F0D7FAF3E9EA}"/>
              </a:ext>
            </a:extLst>
          </p:cNvPr>
          <p:cNvSpPr>
            <a:spLocks xmlns:a="http://schemas.openxmlformats.org/drawingml/2006/main" noGrp="1"/>
          </p:cNvSpPr>
          <p:nvPr/>
        </p:nvSpPr>
        <p:spPr>
          <a:xfrm xmlns:a="http://schemas.openxmlformats.org/drawingml/2006/main" rot="0">
            <a:off x="7905750" y="1238250"/>
            <a:ext cx="1790700" cy="914400"/>
          </a:xfrm>
          <a:prstGeom xmlns:a="http://schemas.openxmlformats.org/drawingml/2006/main" prst="roundRect">
            <a:avLst>
              <a:gd name="adj" fmla="val 10417"/>
            </a:avLst>
          </a:prstGeom>
          <a:solidFill xmlns:a="http://schemas.openxmlformats.org/drawingml/2006/main">
            <a:srgbClr val="F7F9FC"/>
          </a:solidFill>
          <a:ln xmlns:a="http://schemas.openxmlformats.org/drawingml/2006/main">
            <a:noFill/>
          </a:ln>
        </p:spPr>
      </p:sp>
      <p:sp>
        <p:nvSpPr>
          <p:cNvPr id="39" name="Freeform 39">
            <a:extLst xmlns:a="http://schemas.openxmlformats.org/drawingml/2006/main">
              <a:ext uri="{FF2B5EF4-FFF2-40B4-BE49-F238E27FC236}">
                <a16:creationId xmlns:a16="http://schemas.microsoft.com/office/drawing/2014/main" id="{0368AFFD-2DD6-4EF4-8A25-92D0F12BDE69}"/>
              </a:ext>
            </a:extLst>
          </p:cNvPr>
          <p:cNvSpPr>
            <a:spLocks xmlns:a="http://schemas.openxmlformats.org/drawingml/2006/main" noGrp="1"/>
          </p:cNvSpPr>
          <p:nvPr/>
        </p:nvSpPr>
        <p:spPr>
          <a:xfrm xmlns:a="http://schemas.openxmlformats.org/drawingml/2006/main" rot="0">
            <a:off x="8102778" y="1416443"/>
            <a:ext cx="205804" cy="205804"/>
          </a:xfrm>
          <a:custGeom xmlns:a="http://schemas.openxmlformats.org/drawingml/2006/main">
            <a:rect l="l" t="t" r="r" b="b"/>
            <a:pathLst>
              <a:path w="205804" h="205804">
                <a:moveTo>
                  <a:pt x="205337" y="158992"/>
                </a:moveTo>
                <a:cubicBezTo>
                  <a:pt x="201750" y="185797"/>
                  <a:pt x="178870" y="205804"/>
                  <a:pt x="151825" y="205783"/>
                </a:cubicBezTo>
                <a:cubicBezTo>
                  <a:pt x="67986" y="205783"/>
                  <a:pt x="21" y="137818"/>
                  <a:pt x="21" y="53979"/>
                </a:cubicBezTo>
                <a:cubicBezTo>
                  <a:pt x="0" y="26934"/>
                  <a:pt x="20007" y="4054"/>
                  <a:pt x="46812" y="467"/>
                </a:cubicBezTo>
                <a:cubicBezTo>
                  <a:pt x="50747" y="0"/>
                  <a:pt x="54519" y="2182"/>
                  <a:pt x="56077" y="5825"/>
                </a:cubicBezTo>
                <a:lnTo>
                  <a:pt x="79662" y="58510"/>
                </a:lnTo>
                <a:cubicBezTo>
                  <a:pt x="80839" y="61259"/>
                  <a:pt x="80563" y="64414"/>
                  <a:pt x="78926" y="66915"/>
                </a:cubicBezTo>
                <a:lnTo>
                  <a:pt x="55072" y="95278"/>
                </a:lnTo>
                <a:cubicBezTo>
                  <a:pt x="53351" y="97876"/>
                  <a:pt x="53122" y="101187"/>
                  <a:pt x="54469" y="103996"/>
                </a:cubicBezTo>
                <a:cubicBezTo>
                  <a:pt x="63701" y="122893"/>
                  <a:pt x="83234" y="142193"/>
                  <a:pt x="102187" y="151335"/>
                </a:cubicBezTo>
                <a:cubicBezTo>
                  <a:pt x="105012" y="152676"/>
                  <a:pt x="108336" y="152426"/>
                  <a:pt x="110927" y="150676"/>
                </a:cubicBezTo>
                <a:lnTo>
                  <a:pt x="138833" y="126901"/>
                </a:lnTo>
                <a:cubicBezTo>
                  <a:pt x="141345" y="125229"/>
                  <a:pt x="144532" y="124939"/>
                  <a:pt x="147305" y="126130"/>
                </a:cubicBezTo>
                <a:lnTo>
                  <a:pt x="199945" y="149716"/>
                </a:lnTo>
                <a:cubicBezTo>
                  <a:pt x="203606" y="151263"/>
                  <a:pt x="205804" y="155045"/>
                  <a:pt x="205337" y="158992"/>
                </a:cubicBezTo>
                <a:close/>
              </a:path>
            </a:pathLst>
          </a:custGeom>
          <a:solidFill xmlns:a="http://schemas.openxmlformats.org/drawingml/2006/main">
            <a:srgbClr val="2F80ED">
              <a:alpha val="20000"/>
            </a:srgbClr>
          </a:solidFill>
          <a:ln xmlns:a="http://schemas.openxmlformats.org/drawingml/2006/main">
            <a:noFill/>
          </a:ln>
        </p:spPr>
      </p:sp>
      <p:sp>
        <p:nvSpPr>
          <p:cNvPr id="40" name="Freeform 40">
            <a:extLst xmlns:a="http://schemas.openxmlformats.org/drawingml/2006/main">
              <a:ext uri="{FF2B5EF4-FFF2-40B4-BE49-F238E27FC236}">
                <a16:creationId xmlns:a16="http://schemas.microsoft.com/office/drawing/2014/main" id="{A414C679-DCD3-4E0D-A762-CA2652D1D9B6}"/>
              </a:ext>
            </a:extLst>
          </p:cNvPr>
          <p:cNvSpPr>
            <a:spLocks xmlns:a="http://schemas.openxmlformats.org/drawingml/2006/main" noGrp="1"/>
          </p:cNvSpPr>
          <p:nvPr/>
        </p:nvSpPr>
        <p:spPr>
          <a:xfrm xmlns:a="http://schemas.openxmlformats.org/drawingml/2006/main" rot="0">
            <a:off x="8093812" y="1407089"/>
            <a:ext cx="224126" cy="224124"/>
          </a:xfrm>
          <a:custGeom xmlns:a="http://schemas.openxmlformats.org/drawingml/2006/main">
            <a:rect l="l" t="t" r="r" b="b"/>
            <a:pathLst>
              <a:path w="224126" h="224124">
                <a:moveTo>
                  <a:pt x="212550" y="150911"/>
                </a:moveTo>
                <a:lnTo>
                  <a:pt x="159965" y="127348"/>
                </a:lnTo>
                <a:lnTo>
                  <a:pt x="159820" y="127281"/>
                </a:lnTo>
                <a:cubicBezTo>
                  <a:pt x="154274" y="124909"/>
                  <a:pt x="147905" y="125496"/>
                  <a:pt x="142887" y="128843"/>
                </a:cubicBezTo>
                <a:cubicBezTo>
                  <a:pt x="142596" y="129036"/>
                  <a:pt x="142317" y="129244"/>
                  <a:pt x="142050" y="129469"/>
                </a:cubicBezTo>
                <a:lnTo>
                  <a:pt x="114881" y="152630"/>
                </a:lnTo>
                <a:cubicBezTo>
                  <a:pt x="97669" y="144269"/>
                  <a:pt x="79899" y="126633"/>
                  <a:pt x="71539" y="109645"/>
                </a:cubicBezTo>
                <a:lnTo>
                  <a:pt x="94734" y="82063"/>
                </a:lnTo>
                <a:cubicBezTo>
                  <a:pt x="94957" y="81784"/>
                  <a:pt x="95169" y="81505"/>
                  <a:pt x="95370" y="81204"/>
                </a:cubicBezTo>
                <a:cubicBezTo>
                  <a:pt x="98644" y="76200"/>
                  <a:pt x="99197" y="69890"/>
                  <a:pt x="96843" y="64393"/>
                </a:cubicBezTo>
                <a:lnTo>
                  <a:pt x="96843" y="64259"/>
                </a:lnTo>
                <a:lnTo>
                  <a:pt x="73213" y="11585"/>
                </a:lnTo>
                <a:cubicBezTo>
                  <a:pt x="70066" y="4324"/>
                  <a:pt x="62517" y="0"/>
                  <a:pt x="54662" y="959"/>
                </a:cubicBezTo>
                <a:cubicBezTo>
                  <a:pt x="23373" y="5076"/>
                  <a:pt x="0" y="31775"/>
                  <a:pt x="57" y="63333"/>
                </a:cubicBezTo>
                <a:cubicBezTo>
                  <a:pt x="57" y="151960"/>
                  <a:pt x="72164" y="224067"/>
                  <a:pt x="160791" y="224067"/>
                </a:cubicBezTo>
                <a:cubicBezTo>
                  <a:pt x="192349" y="224124"/>
                  <a:pt x="219048" y="200751"/>
                  <a:pt x="223165" y="169462"/>
                </a:cubicBezTo>
                <a:cubicBezTo>
                  <a:pt x="224126" y="161610"/>
                  <a:pt x="219806" y="154061"/>
                  <a:pt x="212550" y="150911"/>
                </a:cubicBezTo>
                <a:close/>
                <a:moveTo>
                  <a:pt x="160791" y="206208"/>
                </a:moveTo>
                <a:cubicBezTo>
                  <a:pt x="81919" y="206122"/>
                  <a:pt x="18002" y="142205"/>
                  <a:pt x="17916" y="63333"/>
                </a:cubicBezTo>
                <a:cubicBezTo>
                  <a:pt x="17829" y="40785"/>
                  <a:pt x="34489" y="21674"/>
                  <a:pt x="56838" y="18685"/>
                </a:cubicBezTo>
                <a:cubicBezTo>
                  <a:pt x="56834" y="18729"/>
                  <a:pt x="56834" y="18774"/>
                  <a:pt x="56838" y="18819"/>
                </a:cubicBezTo>
                <a:lnTo>
                  <a:pt x="80279" y="71280"/>
                </a:lnTo>
                <a:lnTo>
                  <a:pt x="57207" y="98895"/>
                </a:lnTo>
                <a:cubicBezTo>
                  <a:pt x="56972" y="99165"/>
                  <a:pt x="56760" y="99452"/>
                  <a:pt x="56570" y="99755"/>
                </a:cubicBezTo>
                <a:cubicBezTo>
                  <a:pt x="53154" y="104998"/>
                  <a:pt x="52730" y="111646"/>
                  <a:pt x="55454" y="117279"/>
                </a:cubicBezTo>
                <a:cubicBezTo>
                  <a:pt x="65567" y="137963"/>
                  <a:pt x="86407" y="158646"/>
                  <a:pt x="107313" y="168748"/>
                </a:cubicBezTo>
                <a:cubicBezTo>
                  <a:pt x="112989" y="171447"/>
                  <a:pt x="119666" y="170963"/>
                  <a:pt x="124894" y="167475"/>
                </a:cubicBezTo>
                <a:cubicBezTo>
                  <a:pt x="125180" y="167282"/>
                  <a:pt x="125456" y="167074"/>
                  <a:pt x="125720" y="166850"/>
                </a:cubicBezTo>
                <a:lnTo>
                  <a:pt x="152855" y="143700"/>
                </a:lnTo>
                <a:lnTo>
                  <a:pt x="205317" y="167196"/>
                </a:lnTo>
                <a:lnTo>
                  <a:pt x="205317" y="167196"/>
                </a:lnTo>
                <a:cubicBezTo>
                  <a:pt x="205317" y="167196"/>
                  <a:pt x="205406" y="167196"/>
                  <a:pt x="205439" y="167196"/>
                </a:cubicBezTo>
                <a:cubicBezTo>
                  <a:pt x="202486" y="189579"/>
                  <a:pt x="183367" y="206284"/>
                  <a:pt x="160791" y="206208"/>
                </a:cubicBezTo>
                <a:close/>
              </a:path>
            </a:pathLst>
          </a:custGeom>
          <a:solidFill xmlns:a="http://schemas.openxmlformats.org/drawingml/2006/main">
            <a:srgbClr val="2F80ED"/>
          </a:solidFill>
          <a:ln xmlns:a="http://schemas.openxmlformats.org/drawingml/2006/main">
            <a:noFill/>
          </a:ln>
        </p:spPr>
      </p:sp>
      <p:sp>
        <p:nvSpPr>
          <p:cNvPr id="42" name="TextBox 42">
            <a:extLst xmlns:a="http://schemas.openxmlformats.org/drawingml/2006/main">
              <a:ext uri="{FF2B5EF4-FFF2-40B4-BE49-F238E27FC236}">
                <a16:creationId xmlns:a16="http://schemas.microsoft.com/office/drawing/2014/main" id="{E33D74EA-8D1C-4CEA-9FD2-84C46598823B}"/>
              </a:ext>
            </a:extLst>
          </p:cNvPr>
          <p:cNvSpPr>
            <a:spLocks xmlns:a="http://schemas.openxmlformats.org/drawingml/2006/main" noGrp="1"/>
          </p:cNvSpPr>
          <p:nvPr/>
        </p:nvSpPr>
        <p:spPr>
          <a:xfrm xmlns:a="http://schemas.openxmlformats.org/drawingml/2006/main" rot="0">
            <a:off x="8423910" y="1403985"/>
            <a:ext cx="52614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PHONE</a:t>
            </a:r>
          </a:p>
        </p:txBody>
      </p:sp>
      <p:sp>
        <p:nvSpPr>
          <p:cNvPr id="43" name="TextBox 43">
            <a:extLst xmlns:a="http://schemas.openxmlformats.org/drawingml/2006/main">
              <a:ext uri="{FF2B5EF4-FFF2-40B4-BE49-F238E27FC236}">
                <a16:creationId xmlns:a16="http://schemas.microsoft.com/office/drawing/2014/main" id="{2A67BBC7-D704-4C69-917D-ABBDB155F046}"/>
              </a:ext>
            </a:extLst>
          </p:cNvPr>
          <p:cNvSpPr>
            <a:spLocks xmlns:a="http://schemas.openxmlformats.org/drawingml/2006/main" noGrp="1"/>
          </p:cNvSpPr>
          <p:nvPr/>
        </p:nvSpPr>
        <p:spPr>
          <a:xfrm xmlns:a="http://schemas.openxmlformats.org/drawingml/2006/main" rot="0">
            <a:off x="8045768" y="1742599"/>
            <a:ext cx="116890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Object Detector +</a:t>
            </a:r>
          </a:p>
        </p:txBody>
      </p:sp>
      <p:sp>
        <p:nvSpPr>
          <p:cNvPr id="44" name="TextBox 44">
            <a:extLst xmlns:a="http://schemas.openxmlformats.org/drawingml/2006/main">
              <a:ext uri="{FF2B5EF4-FFF2-40B4-BE49-F238E27FC236}">
                <a16:creationId xmlns:a16="http://schemas.microsoft.com/office/drawing/2014/main" id="{8B3B3471-D302-462B-90F3-890BB648A3B1}"/>
              </a:ext>
            </a:extLst>
          </p:cNvPr>
          <p:cNvSpPr>
            <a:spLocks xmlns:a="http://schemas.openxmlformats.org/drawingml/2006/main" noGrp="1"/>
          </p:cNvSpPr>
          <p:nvPr/>
        </p:nvSpPr>
        <p:spPr>
          <a:xfrm xmlns:a="http://schemas.openxmlformats.org/drawingml/2006/main" rot="0">
            <a:off x="8045768" y="1914049"/>
            <a:ext cx="12144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EfficientDet-Lite0</a:t>
            </a:r>
          </a:p>
        </p:txBody>
      </p:sp>
      <p:sp>
        <p:nvSpPr>
          <p:cNvPr id="45" name="Rectangle 45">
            <a:extLst xmlns:a="http://schemas.openxmlformats.org/drawingml/2006/main">
              <a:ext uri="{FF2B5EF4-FFF2-40B4-BE49-F238E27FC236}">
                <a16:creationId xmlns:a16="http://schemas.microsoft.com/office/drawing/2014/main" id="{974E1568-2E3E-4B1A-AC59-1F3491A478B2}"/>
              </a:ext>
            </a:extLst>
          </p:cNvPr>
          <p:cNvSpPr>
            <a:spLocks xmlns:a="http://schemas.openxmlformats.org/drawingml/2006/main" noGrp="1"/>
          </p:cNvSpPr>
          <p:nvPr/>
        </p:nvSpPr>
        <p:spPr>
          <a:xfrm xmlns:a="http://schemas.openxmlformats.org/drawingml/2006/main" rot="0">
            <a:off x="9810750" y="1238250"/>
            <a:ext cx="1790700" cy="914400"/>
          </a:xfrm>
          <a:prstGeom xmlns:a="http://schemas.openxmlformats.org/drawingml/2006/main" prst="roundRect">
            <a:avLst>
              <a:gd name="adj" fmla="val 10417"/>
            </a:avLst>
          </a:prstGeom>
          <a:solidFill xmlns:a="http://schemas.openxmlformats.org/drawingml/2006/main">
            <a:srgbClr val="F7F9FC"/>
          </a:solidFill>
          <a:ln xmlns:a="http://schemas.openxmlformats.org/drawingml/2006/main">
            <a:noFill/>
          </a:ln>
        </p:spPr>
      </p:sp>
      <p:sp>
        <p:nvSpPr>
          <p:cNvPr id="46" name="Freeform 46">
            <a:extLst xmlns:a="http://schemas.openxmlformats.org/drawingml/2006/main">
              <a:ext uri="{FF2B5EF4-FFF2-40B4-BE49-F238E27FC236}">
                <a16:creationId xmlns:a16="http://schemas.microsoft.com/office/drawing/2014/main" id="{FEB73D6C-1A00-47FA-B828-A9314C654502}"/>
              </a:ext>
            </a:extLst>
          </p:cNvPr>
          <p:cNvSpPr>
            <a:spLocks xmlns:a="http://schemas.openxmlformats.org/drawingml/2006/main" noGrp="1"/>
          </p:cNvSpPr>
          <p:nvPr/>
        </p:nvSpPr>
        <p:spPr>
          <a:xfrm xmlns:a="http://schemas.openxmlformats.org/drawingml/2006/main" rot="0">
            <a:off x="10070306" y="1470422"/>
            <a:ext cx="71438" cy="71438"/>
          </a:xfrm>
          <a:custGeom xmlns:a="http://schemas.openxmlformats.org/drawingml/2006/main">
            <a:rect l="l" t="t" r="r" b="b"/>
            <a:pathLst>
              <a:path w="71438" h="71438">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path>
            </a:pathLst>
          </a:custGeom>
          <a:solidFill xmlns:a="http://schemas.openxmlformats.org/drawingml/2006/main">
            <a:srgbClr val="2F80ED">
              <a:alpha val="20000"/>
            </a:srgbClr>
          </a:solidFill>
          <a:ln xmlns:a="http://schemas.openxmlformats.org/drawingml/2006/main">
            <a:noFill/>
          </a:ln>
        </p:spPr>
      </p:sp>
      <p:sp>
        <p:nvSpPr>
          <p:cNvPr id="47" name="Freeform 47">
            <a:extLst xmlns:a="http://schemas.openxmlformats.org/drawingml/2006/main">
              <a:ext uri="{FF2B5EF4-FFF2-40B4-BE49-F238E27FC236}">
                <a16:creationId xmlns:a16="http://schemas.microsoft.com/office/drawing/2014/main" id="{F2AFA7A1-FE6A-4B1E-A96F-B3E3E2F87287}"/>
              </a:ext>
            </a:extLst>
          </p:cNvPr>
          <p:cNvSpPr>
            <a:spLocks xmlns:a="http://schemas.openxmlformats.org/drawingml/2006/main" noGrp="1"/>
          </p:cNvSpPr>
          <p:nvPr/>
        </p:nvSpPr>
        <p:spPr>
          <a:xfrm xmlns:a="http://schemas.openxmlformats.org/drawingml/2006/main" rot="0">
            <a:off x="9998869" y="1416844"/>
            <a:ext cx="214312" cy="214312"/>
          </a:xfrm>
          <a:custGeom xmlns:a="http://schemas.openxmlformats.org/drawingml/2006/main">
            <a:rect l="l" t="t" r="r" b="b"/>
            <a:pathLst>
              <a:path w="214312" h="214312">
                <a:moveTo>
                  <a:pt x="214312" y="17859"/>
                </a:moveTo>
                <a:lnTo>
                  <a:pt x="214312" y="49113"/>
                </a:lnTo>
                <a:cubicBezTo>
                  <a:pt x="214312" y="54045"/>
                  <a:pt x="210315" y="58043"/>
                  <a:pt x="205383" y="58043"/>
                </a:cubicBezTo>
                <a:cubicBezTo>
                  <a:pt x="200451" y="58043"/>
                  <a:pt x="196453" y="54045"/>
                  <a:pt x="196453" y="49113"/>
                </a:cubicBezTo>
                <a:lnTo>
                  <a:pt x="196453" y="17859"/>
                </a:lnTo>
                <a:lnTo>
                  <a:pt x="165199" y="17859"/>
                </a:lnTo>
                <a:cubicBezTo>
                  <a:pt x="160267" y="17859"/>
                  <a:pt x="156270" y="13861"/>
                  <a:pt x="156270" y="8930"/>
                </a:cubicBezTo>
                <a:cubicBezTo>
                  <a:pt x="156270" y="3998"/>
                  <a:pt x="160267" y="0"/>
                  <a:pt x="165199" y="0"/>
                </a:cubicBezTo>
                <a:lnTo>
                  <a:pt x="196453" y="0"/>
                </a:lnTo>
                <a:cubicBezTo>
                  <a:pt x="206317" y="0"/>
                  <a:pt x="214312" y="7996"/>
                  <a:pt x="214312" y="17859"/>
                </a:cubicBezTo>
                <a:close/>
                <a:moveTo>
                  <a:pt x="205383" y="156270"/>
                </a:moveTo>
                <a:cubicBezTo>
                  <a:pt x="200451" y="156270"/>
                  <a:pt x="196453" y="160267"/>
                  <a:pt x="196453" y="165199"/>
                </a:cubicBezTo>
                <a:lnTo>
                  <a:pt x="196453" y="196453"/>
                </a:lnTo>
                <a:lnTo>
                  <a:pt x="165199" y="196453"/>
                </a:lnTo>
                <a:cubicBezTo>
                  <a:pt x="160267" y="196453"/>
                  <a:pt x="156270" y="200451"/>
                  <a:pt x="156270" y="205383"/>
                </a:cubicBezTo>
                <a:cubicBezTo>
                  <a:pt x="156270" y="210315"/>
                  <a:pt x="160267" y="214312"/>
                  <a:pt x="165199" y="214312"/>
                </a:cubicBezTo>
                <a:lnTo>
                  <a:pt x="196453" y="214312"/>
                </a:lnTo>
                <a:cubicBezTo>
                  <a:pt x="206317" y="214312"/>
                  <a:pt x="214312" y="206317"/>
                  <a:pt x="214312" y="196453"/>
                </a:cubicBezTo>
                <a:lnTo>
                  <a:pt x="214312" y="165199"/>
                </a:lnTo>
                <a:cubicBezTo>
                  <a:pt x="214312" y="160267"/>
                  <a:pt x="210315" y="156270"/>
                  <a:pt x="205383" y="156270"/>
                </a:cubicBezTo>
                <a:close/>
                <a:moveTo>
                  <a:pt x="49113" y="196453"/>
                </a:moveTo>
                <a:lnTo>
                  <a:pt x="17859" y="196453"/>
                </a:lnTo>
                <a:lnTo>
                  <a:pt x="17859" y="165199"/>
                </a:lnTo>
                <a:cubicBezTo>
                  <a:pt x="17859" y="160267"/>
                  <a:pt x="13861" y="156270"/>
                  <a:pt x="8930" y="156270"/>
                </a:cubicBezTo>
                <a:cubicBezTo>
                  <a:pt x="3998" y="156270"/>
                  <a:pt x="0" y="160267"/>
                  <a:pt x="0" y="165199"/>
                </a:cubicBezTo>
                <a:lnTo>
                  <a:pt x="0" y="196453"/>
                </a:lnTo>
                <a:cubicBezTo>
                  <a:pt x="0" y="206317"/>
                  <a:pt x="7996" y="214312"/>
                  <a:pt x="17859" y="214312"/>
                </a:cubicBezTo>
                <a:lnTo>
                  <a:pt x="49113" y="214312"/>
                </a:lnTo>
                <a:cubicBezTo>
                  <a:pt x="54045" y="214312"/>
                  <a:pt x="58043" y="210315"/>
                  <a:pt x="58043" y="205383"/>
                </a:cubicBezTo>
                <a:cubicBezTo>
                  <a:pt x="58043" y="200451"/>
                  <a:pt x="54045" y="196453"/>
                  <a:pt x="49113" y="196453"/>
                </a:cubicBezTo>
                <a:close/>
                <a:moveTo>
                  <a:pt x="8930" y="58043"/>
                </a:moveTo>
                <a:cubicBezTo>
                  <a:pt x="13861" y="58043"/>
                  <a:pt x="17859" y="54045"/>
                  <a:pt x="17859" y="49113"/>
                </a:cubicBezTo>
                <a:lnTo>
                  <a:pt x="17859" y="17859"/>
                </a:lnTo>
                <a:lnTo>
                  <a:pt x="49113" y="17859"/>
                </a:lnTo>
                <a:cubicBezTo>
                  <a:pt x="54045" y="17859"/>
                  <a:pt x="58043" y="13861"/>
                  <a:pt x="58043" y="8930"/>
                </a:cubicBezTo>
                <a:cubicBezTo>
                  <a:pt x="58043" y="3998"/>
                  <a:pt x="54045" y="0"/>
                  <a:pt x="49113" y="0"/>
                </a:cubicBezTo>
                <a:lnTo>
                  <a:pt x="17859" y="0"/>
                </a:lnTo>
                <a:cubicBezTo>
                  <a:pt x="7996" y="0"/>
                  <a:pt x="0" y="7996"/>
                  <a:pt x="0" y="17859"/>
                </a:cubicBezTo>
                <a:lnTo>
                  <a:pt x="0" y="49113"/>
                </a:lnTo>
                <a:cubicBezTo>
                  <a:pt x="0" y="54045"/>
                  <a:pt x="3998" y="58043"/>
                  <a:pt x="8930" y="58043"/>
                </a:cubicBezTo>
                <a:close/>
                <a:moveTo>
                  <a:pt x="160734" y="160734"/>
                </a:moveTo>
                <a:cubicBezTo>
                  <a:pt x="157922" y="160741"/>
                  <a:pt x="155271" y="159421"/>
                  <a:pt x="153579" y="157174"/>
                </a:cubicBezTo>
                <a:cubicBezTo>
                  <a:pt x="142618" y="142558"/>
                  <a:pt x="125415" y="133956"/>
                  <a:pt x="107145" y="133956"/>
                </a:cubicBezTo>
                <a:cubicBezTo>
                  <a:pt x="88876" y="133956"/>
                  <a:pt x="71672" y="142558"/>
                  <a:pt x="60711" y="157174"/>
                </a:cubicBezTo>
                <a:cubicBezTo>
                  <a:pt x="58793" y="159726"/>
                  <a:pt x="55659" y="161061"/>
                  <a:pt x="52489" y="160676"/>
                </a:cubicBezTo>
                <a:cubicBezTo>
                  <a:pt x="49320" y="160291"/>
                  <a:pt x="46597" y="158244"/>
                  <a:pt x="45345" y="155307"/>
                </a:cubicBezTo>
                <a:cubicBezTo>
                  <a:pt x="44094" y="152370"/>
                  <a:pt x="44505" y="148988"/>
                  <a:pt x="46423" y="146436"/>
                </a:cubicBezTo>
                <a:cubicBezTo>
                  <a:pt x="54337" y="135839"/>
                  <a:pt x="64884" y="127497"/>
                  <a:pt x="77019" y="122236"/>
                </a:cubicBezTo>
                <a:cubicBezTo>
                  <a:pt x="63409" y="109811"/>
                  <a:pt x="58832" y="90300"/>
                  <a:pt x="65495" y="73119"/>
                </a:cubicBezTo>
                <a:cubicBezTo>
                  <a:pt x="72159" y="55937"/>
                  <a:pt x="88694" y="44615"/>
                  <a:pt x="107123" y="44615"/>
                </a:cubicBezTo>
                <a:cubicBezTo>
                  <a:pt x="125551" y="44615"/>
                  <a:pt x="142087" y="55937"/>
                  <a:pt x="148750" y="73119"/>
                </a:cubicBezTo>
                <a:cubicBezTo>
                  <a:pt x="155414" y="90300"/>
                  <a:pt x="150837" y="109811"/>
                  <a:pt x="137227" y="122236"/>
                </a:cubicBezTo>
                <a:cubicBezTo>
                  <a:pt x="149369" y="127494"/>
                  <a:pt x="159925" y="135836"/>
                  <a:pt x="167845" y="146436"/>
                </a:cubicBezTo>
                <a:cubicBezTo>
                  <a:pt x="169877" y="149137"/>
                  <a:pt x="170210" y="152754"/>
                  <a:pt x="168705" y="155781"/>
                </a:cubicBezTo>
                <a:cubicBezTo>
                  <a:pt x="167200" y="158807"/>
                  <a:pt x="164115" y="160725"/>
                  <a:pt x="160734" y="160734"/>
                </a:cubicBezTo>
                <a:close/>
                <a:moveTo>
                  <a:pt x="107156" y="116086"/>
                </a:moveTo>
                <a:cubicBezTo>
                  <a:pt x="121951" y="116086"/>
                  <a:pt x="133945" y="104092"/>
                  <a:pt x="133945" y="89297"/>
                </a:cubicBezTo>
                <a:cubicBezTo>
                  <a:pt x="133945" y="74502"/>
                  <a:pt x="121951" y="62508"/>
                  <a:pt x="107156" y="62508"/>
                </a:cubicBezTo>
                <a:cubicBezTo>
                  <a:pt x="92361" y="62508"/>
                  <a:pt x="80367" y="74502"/>
                  <a:pt x="80367" y="89297"/>
                </a:cubicBezTo>
                <a:cubicBezTo>
                  <a:pt x="80367" y="104092"/>
                  <a:pt x="92361" y="116086"/>
                  <a:pt x="107156" y="116086"/>
                </a:cubicBezTo>
                <a:close/>
              </a:path>
            </a:pathLst>
          </a:custGeom>
          <a:solidFill xmlns:a="http://schemas.openxmlformats.org/drawingml/2006/main">
            <a:srgbClr val="2F80ED"/>
          </a:solidFill>
          <a:ln xmlns:a="http://schemas.openxmlformats.org/drawingml/2006/main">
            <a:noFill/>
          </a:ln>
        </p:spPr>
      </p:sp>
      <p:sp>
        <p:nvSpPr>
          <p:cNvPr id="49" name="TextBox 49">
            <a:extLst xmlns:a="http://schemas.openxmlformats.org/drawingml/2006/main">
              <a:ext uri="{FF2B5EF4-FFF2-40B4-BE49-F238E27FC236}">
                <a16:creationId xmlns:a16="http://schemas.microsoft.com/office/drawing/2014/main" id="{2D2970FE-AB94-476E-90ED-28FEF11AA95A}"/>
              </a:ext>
            </a:extLst>
          </p:cNvPr>
          <p:cNvSpPr>
            <a:spLocks xmlns:a="http://schemas.openxmlformats.org/drawingml/2006/main" noGrp="1"/>
          </p:cNvSpPr>
          <p:nvPr/>
        </p:nvSpPr>
        <p:spPr>
          <a:xfrm xmlns:a="http://schemas.openxmlformats.org/drawingml/2006/main" rot="0">
            <a:off x="10328910" y="1403985"/>
            <a:ext cx="68576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62432"/>
                </a:solidFill>
                <a:latin typeface="Arial"/>
                <a:ea typeface="Arial"/>
                <a:cs typeface="Arial"/>
              </a:rPr>
              <a:t>IDENTITY*</a:t>
            </a:r>
          </a:p>
        </p:txBody>
      </p:sp>
      <p:sp>
        <p:nvSpPr>
          <p:cNvPr id="50" name="TextBox 50">
            <a:extLst xmlns:a="http://schemas.openxmlformats.org/drawingml/2006/main">
              <a:ext uri="{FF2B5EF4-FFF2-40B4-BE49-F238E27FC236}">
                <a16:creationId xmlns:a16="http://schemas.microsoft.com/office/drawing/2014/main" id="{A641CCE4-AEDB-4992-A671-91E82A769BC9}"/>
              </a:ext>
            </a:extLst>
          </p:cNvPr>
          <p:cNvSpPr>
            <a:spLocks xmlns:a="http://schemas.openxmlformats.org/drawingml/2006/main" noGrp="1"/>
          </p:cNvSpPr>
          <p:nvPr/>
        </p:nvSpPr>
        <p:spPr>
          <a:xfrm xmlns:a="http://schemas.openxmlformats.org/drawingml/2006/main" rot="0">
            <a:off x="9950768" y="1742599"/>
            <a:ext cx="110390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Optional YuNet +</a:t>
            </a:r>
          </a:p>
        </p:txBody>
      </p:sp>
      <p:sp>
        <p:nvSpPr>
          <p:cNvPr id="51" name="TextBox 51">
            <a:extLst xmlns:a="http://schemas.openxmlformats.org/drawingml/2006/main">
              <a:ext uri="{FF2B5EF4-FFF2-40B4-BE49-F238E27FC236}">
                <a16:creationId xmlns:a16="http://schemas.microsoft.com/office/drawing/2014/main" id="{D9CEE17F-2498-4169-BBE1-606C08DF290C}"/>
              </a:ext>
            </a:extLst>
          </p:cNvPr>
          <p:cNvSpPr>
            <a:spLocks xmlns:a="http://schemas.openxmlformats.org/drawingml/2006/main" noGrp="1"/>
          </p:cNvSpPr>
          <p:nvPr/>
        </p:nvSpPr>
        <p:spPr>
          <a:xfrm xmlns:a="http://schemas.openxmlformats.org/drawingml/2006/main" rot="0">
            <a:off x="9950768" y="1914049"/>
            <a:ext cx="105839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SFace embedding</a:t>
            </a:r>
          </a:p>
        </p:txBody>
      </p:sp>
      <p:sp>
        <p:nvSpPr>
          <p:cNvPr id="53" name="Rectangle 53">
            <a:extLst xmlns:a="http://schemas.openxmlformats.org/drawingml/2006/main">
              <a:ext uri="{FF2B5EF4-FFF2-40B4-BE49-F238E27FC236}">
                <a16:creationId xmlns:a16="http://schemas.microsoft.com/office/drawing/2014/main" id="{2712F82A-FCB4-42B0-8ADD-58C513667404}"/>
              </a:ext>
            </a:extLst>
          </p:cNvPr>
          <p:cNvSpPr>
            <a:spLocks xmlns:a="http://schemas.openxmlformats.org/drawingml/2006/main" noGrp="1"/>
          </p:cNvSpPr>
          <p:nvPr/>
        </p:nvSpPr>
        <p:spPr>
          <a:xfrm xmlns:a="http://schemas.openxmlformats.org/drawingml/2006/main" rot="0">
            <a:off x="457200" y="2457450"/>
            <a:ext cx="112776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54" name="Rectangle 54">
            <a:extLst xmlns:a="http://schemas.openxmlformats.org/drawingml/2006/main">
              <a:ext uri="{FF2B5EF4-FFF2-40B4-BE49-F238E27FC236}">
                <a16:creationId xmlns:a16="http://schemas.microsoft.com/office/drawing/2014/main" id="{E82446DD-8CF5-4319-94A2-89174B86A25F}"/>
              </a:ext>
            </a:extLst>
          </p:cNvPr>
          <p:cNvSpPr>
            <a:spLocks xmlns:a="http://schemas.openxmlformats.org/drawingml/2006/main" noGrp="1"/>
          </p:cNvSpPr>
          <p:nvPr/>
        </p:nvSpPr>
        <p:spPr>
          <a:xfrm xmlns:a="http://schemas.openxmlformats.org/drawingml/2006/main" rot="0">
            <a:off x="457200" y="2457450"/>
            <a:ext cx="1524000" cy="1257300"/>
          </a:xfrm>
          <a:prstGeom xmlns:a="http://schemas.openxmlformats.org/drawingml/2006/main" prst="roundRect">
            <a:avLst>
              <a:gd name="adj" fmla="val 9091"/>
            </a:avLst>
          </a:prstGeom>
          <a:solidFill xmlns:a="http://schemas.openxmlformats.org/drawingml/2006/main">
            <a:srgbClr val="2F80ED"/>
          </a:solidFill>
          <a:ln xmlns:a="http://schemas.openxmlformats.org/drawingml/2006/main">
            <a:noFill/>
          </a:ln>
        </p:spPr>
      </p:sp>
      <p:sp>
        <p:nvSpPr>
          <p:cNvPr id="55" name="TextBox 55">
            <a:extLst xmlns:a="http://schemas.openxmlformats.org/drawingml/2006/main">
              <a:ext uri="{FF2B5EF4-FFF2-40B4-BE49-F238E27FC236}">
                <a16:creationId xmlns:a16="http://schemas.microsoft.com/office/drawing/2014/main" id="{3C051BE5-3791-444C-89BF-916E6067264C}"/>
              </a:ext>
            </a:extLst>
          </p:cNvPr>
          <p:cNvSpPr>
            <a:spLocks xmlns:a="http://schemas.openxmlformats.org/drawingml/2006/main" noGrp="1"/>
          </p:cNvSpPr>
          <p:nvPr/>
        </p:nvSpPr>
        <p:spPr>
          <a:xfrm xmlns:a="http://schemas.openxmlformats.org/drawingml/2006/main" rot="0">
            <a:off x="635318" y="2714149"/>
            <a:ext cx="59131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LAYER 02</a:t>
            </a:r>
          </a:p>
        </p:txBody>
      </p:sp>
      <p:sp>
        <p:nvSpPr>
          <p:cNvPr id="56" name="TextBox 56">
            <a:extLst xmlns:a="http://schemas.openxmlformats.org/drawingml/2006/main">
              <a:ext uri="{FF2B5EF4-FFF2-40B4-BE49-F238E27FC236}">
                <a16:creationId xmlns:a16="http://schemas.microsoft.com/office/drawing/2014/main" id="{B0A5BE2B-317B-4BED-9A17-B8D415788363}"/>
              </a:ext>
            </a:extLst>
          </p:cNvPr>
          <p:cNvSpPr>
            <a:spLocks xmlns:a="http://schemas.openxmlformats.org/drawingml/2006/main" noGrp="1"/>
          </p:cNvSpPr>
          <p:nvPr/>
        </p:nvSpPr>
        <p:spPr>
          <a:xfrm xmlns:a="http://schemas.openxmlformats.org/drawingml/2006/main" rot="0">
            <a:off x="630555" y="2959418"/>
            <a:ext cx="71477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DERIVED</a:t>
            </a:r>
          </a:p>
        </p:txBody>
      </p:sp>
      <p:sp>
        <p:nvSpPr>
          <p:cNvPr id="57" name="TextBox 57">
            <a:extLst xmlns:a="http://schemas.openxmlformats.org/drawingml/2006/main">
              <a:ext uri="{FF2B5EF4-FFF2-40B4-BE49-F238E27FC236}">
                <a16:creationId xmlns:a16="http://schemas.microsoft.com/office/drawing/2014/main" id="{6BEC5E98-19FD-482A-BB52-36FCF32DC772}"/>
              </a:ext>
            </a:extLst>
          </p:cNvPr>
          <p:cNvSpPr>
            <a:spLocks xmlns:a="http://schemas.openxmlformats.org/drawingml/2006/main" noGrp="1"/>
          </p:cNvSpPr>
          <p:nvPr/>
        </p:nvSpPr>
        <p:spPr>
          <a:xfrm xmlns:a="http://schemas.openxmlformats.org/drawingml/2006/main" rot="0">
            <a:off x="630555" y="3178492"/>
            <a:ext cx="86599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FEATURES</a:t>
            </a:r>
          </a:p>
        </p:txBody>
      </p:sp>
      <p:sp>
        <p:nvSpPr>
          <p:cNvPr id="58" name="Rectangle 58">
            <a:extLst xmlns:a="http://schemas.openxmlformats.org/drawingml/2006/main">
              <a:ext uri="{FF2B5EF4-FFF2-40B4-BE49-F238E27FC236}">
                <a16:creationId xmlns:a16="http://schemas.microsoft.com/office/drawing/2014/main" id="{83207061-7BED-4BA2-96CB-4D1B85C54457}"/>
              </a:ext>
            </a:extLst>
          </p:cNvPr>
          <p:cNvSpPr>
            <a:spLocks xmlns:a="http://schemas.openxmlformats.org/drawingml/2006/main" noGrp="1"/>
          </p:cNvSpPr>
          <p:nvPr/>
        </p:nvSpPr>
        <p:spPr>
          <a:xfrm xmlns:a="http://schemas.openxmlformats.org/drawingml/2006/main" rot="0">
            <a:off x="2190750" y="2638425"/>
            <a:ext cx="1790700" cy="895350"/>
          </a:xfrm>
          <a:prstGeom xmlns:a="http://schemas.openxmlformats.org/drawingml/2006/main" prst="roundRect">
            <a:avLst>
              <a:gd name="adj" fmla="val 10638"/>
            </a:avLst>
          </a:prstGeom>
          <a:solidFill xmlns:a="http://schemas.openxmlformats.org/drawingml/2006/main">
            <a:srgbClr val="EAF0F7"/>
          </a:solidFill>
          <a:ln xmlns:a="http://schemas.openxmlformats.org/drawingml/2006/main">
            <a:noFill/>
          </a:ln>
        </p:spPr>
      </p:sp>
      <p:sp>
        <p:nvSpPr>
          <p:cNvPr id="59" name="TextBox 59">
            <a:extLst xmlns:a="http://schemas.openxmlformats.org/drawingml/2006/main">
              <a:ext uri="{FF2B5EF4-FFF2-40B4-BE49-F238E27FC236}">
                <a16:creationId xmlns:a16="http://schemas.microsoft.com/office/drawing/2014/main" id="{631F8350-F656-4A8B-97B7-799240FB4CB6}"/>
              </a:ext>
            </a:extLst>
          </p:cNvPr>
          <p:cNvSpPr>
            <a:spLocks xmlns:a="http://schemas.openxmlformats.org/drawingml/2006/main" noGrp="1"/>
          </p:cNvSpPr>
          <p:nvPr/>
        </p:nvSpPr>
        <p:spPr>
          <a:xfrm xmlns:a="http://schemas.openxmlformats.org/drawingml/2006/main" rot="0">
            <a:off x="2327910" y="2766060"/>
            <a:ext cx="710965"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POSTURE</a:t>
            </a:r>
          </a:p>
        </p:txBody>
      </p:sp>
      <p:sp>
        <p:nvSpPr>
          <p:cNvPr id="60" name="TextBox 60">
            <a:extLst xmlns:a="http://schemas.openxmlformats.org/drawingml/2006/main">
              <a:ext uri="{FF2B5EF4-FFF2-40B4-BE49-F238E27FC236}">
                <a16:creationId xmlns:a16="http://schemas.microsoft.com/office/drawing/2014/main" id="{8727B73C-577F-4E8E-B199-426B5870A599}"/>
              </a:ext>
            </a:extLst>
          </p:cNvPr>
          <p:cNvSpPr>
            <a:spLocks xmlns:a="http://schemas.openxmlformats.org/drawingml/2006/main" noGrp="1"/>
          </p:cNvSpPr>
          <p:nvPr/>
        </p:nvSpPr>
        <p:spPr>
          <a:xfrm xmlns:a="http://schemas.openxmlformats.org/drawingml/2006/main" rot="0">
            <a:off x="2330768" y="3037999"/>
            <a:ext cx="9868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Body landmarks</a:t>
            </a:r>
          </a:p>
        </p:txBody>
      </p:sp>
      <p:sp>
        <p:nvSpPr>
          <p:cNvPr id="61" name="TextBox 61">
            <a:extLst xmlns:a="http://schemas.openxmlformats.org/drawingml/2006/main">
              <a:ext uri="{FF2B5EF4-FFF2-40B4-BE49-F238E27FC236}">
                <a16:creationId xmlns:a16="http://schemas.microsoft.com/office/drawing/2014/main" id="{66002D73-545C-497D-9392-376154C3141F}"/>
              </a:ext>
            </a:extLst>
          </p:cNvPr>
          <p:cNvSpPr>
            <a:spLocks xmlns:a="http://schemas.openxmlformats.org/drawingml/2006/main" noGrp="1"/>
          </p:cNvSpPr>
          <p:nvPr/>
        </p:nvSpPr>
        <p:spPr>
          <a:xfrm xmlns:a="http://schemas.openxmlformats.org/drawingml/2006/main" rot="0">
            <a:off x="2330768" y="3218974"/>
            <a:ext cx="194250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Shoulder / neck / trunk angles</a:t>
            </a:r>
          </a:p>
        </p:txBody>
      </p:sp>
      <p:sp>
        <p:nvSpPr>
          <p:cNvPr id="62" name="Rectangle 62">
            <a:extLst xmlns:a="http://schemas.openxmlformats.org/drawingml/2006/main">
              <a:ext uri="{FF2B5EF4-FFF2-40B4-BE49-F238E27FC236}">
                <a16:creationId xmlns:a16="http://schemas.microsoft.com/office/drawing/2014/main" id="{DA4F07A0-1121-4787-AA3E-EE71BC5C30EA}"/>
              </a:ext>
            </a:extLst>
          </p:cNvPr>
          <p:cNvSpPr>
            <a:spLocks xmlns:a="http://schemas.openxmlformats.org/drawingml/2006/main" noGrp="1"/>
          </p:cNvSpPr>
          <p:nvPr/>
        </p:nvSpPr>
        <p:spPr>
          <a:xfrm xmlns:a="http://schemas.openxmlformats.org/drawingml/2006/main" rot="0">
            <a:off x="4095750" y="2638425"/>
            <a:ext cx="1790700" cy="895350"/>
          </a:xfrm>
          <a:prstGeom xmlns:a="http://schemas.openxmlformats.org/drawingml/2006/main" prst="roundRect">
            <a:avLst>
              <a:gd name="adj" fmla="val 10638"/>
            </a:avLst>
          </a:prstGeom>
          <a:solidFill xmlns:a="http://schemas.openxmlformats.org/drawingml/2006/main">
            <a:srgbClr val="EAF0F7"/>
          </a:solidFill>
          <a:ln xmlns:a="http://schemas.openxmlformats.org/drawingml/2006/main">
            <a:noFill/>
          </a:ln>
        </p:spPr>
      </p:sp>
      <p:sp>
        <p:nvSpPr>
          <p:cNvPr id="63" name="TextBox 63">
            <a:extLst xmlns:a="http://schemas.openxmlformats.org/drawingml/2006/main">
              <a:ext uri="{FF2B5EF4-FFF2-40B4-BE49-F238E27FC236}">
                <a16:creationId xmlns:a16="http://schemas.microsoft.com/office/drawing/2014/main" id="{12FC0D80-187C-4E9C-9B0F-04475B39D5FD}"/>
              </a:ext>
            </a:extLst>
          </p:cNvPr>
          <p:cNvSpPr>
            <a:spLocks xmlns:a="http://schemas.openxmlformats.org/drawingml/2006/main" noGrp="1"/>
          </p:cNvSpPr>
          <p:nvPr/>
        </p:nvSpPr>
        <p:spPr>
          <a:xfrm xmlns:a="http://schemas.openxmlformats.org/drawingml/2006/main" rot="0">
            <a:off x="4232910" y="2766060"/>
            <a:ext cx="64375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MOTION</a:t>
            </a:r>
          </a:p>
        </p:txBody>
      </p:sp>
      <p:sp>
        <p:nvSpPr>
          <p:cNvPr id="64" name="TextBox 64">
            <a:extLst xmlns:a="http://schemas.openxmlformats.org/drawingml/2006/main">
              <a:ext uri="{FF2B5EF4-FFF2-40B4-BE49-F238E27FC236}">
                <a16:creationId xmlns:a16="http://schemas.microsoft.com/office/drawing/2014/main" id="{7ECEA1EF-33AB-4D63-A47F-AA8E3E4C88F9}"/>
              </a:ext>
            </a:extLst>
          </p:cNvPr>
          <p:cNvSpPr>
            <a:spLocks xmlns:a="http://schemas.openxmlformats.org/drawingml/2006/main" noGrp="1"/>
          </p:cNvSpPr>
          <p:nvPr/>
        </p:nvSpPr>
        <p:spPr>
          <a:xfrm xmlns:a="http://schemas.openxmlformats.org/drawingml/2006/main" rot="0">
            <a:off x="4235768" y="3037999"/>
            <a:ext cx="148094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Landmark displacement</a:t>
            </a:r>
          </a:p>
        </p:txBody>
      </p:sp>
      <p:sp>
        <p:nvSpPr>
          <p:cNvPr id="65" name="TextBox 65">
            <a:extLst xmlns:a="http://schemas.openxmlformats.org/drawingml/2006/main">
              <a:ext uri="{FF2B5EF4-FFF2-40B4-BE49-F238E27FC236}">
                <a16:creationId xmlns:a16="http://schemas.microsoft.com/office/drawing/2014/main" id="{B3F21B83-98E0-4F4C-B781-066BF860E152}"/>
              </a:ext>
            </a:extLst>
          </p:cNvPr>
          <p:cNvSpPr>
            <a:spLocks xmlns:a="http://schemas.openxmlformats.org/drawingml/2006/main" noGrp="1"/>
          </p:cNvSpPr>
          <p:nvPr/>
        </p:nvSpPr>
        <p:spPr>
          <a:xfrm xmlns:a="http://schemas.openxmlformats.org/drawingml/2006/main" rot="0">
            <a:off x="4235768" y="3218974"/>
            <a:ext cx="168897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Variance + static duration</a:t>
            </a:r>
          </a:p>
        </p:txBody>
      </p:sp>
      <p:sp>
        <p:nvSpPr>
          <p:cNvPr id="66" name="Rectangle 66">
            <a:extLst xmlns:a="http://schemas.openxmlformats.org/drawingml/2006/main">
              <a:ext uri="{FF2B5EF4-FFF2-40B4-BE49-F238E27FC236}">
                <a16:creationId xmlns:a16="http://schemas.microsoft.com/office/drawing/2014/main" id="{D725708A-EAF9-41A2-9A8A-EF85A5789754}"/>
              </a:ext>
            </a:extLst>
          </p:cNvPr>
          <p:cNvSpPr>
            <a:spLocks xmlns:a="http://schemas.openxmlformats.org/drawingml/2006/main" noGrp="1"/>
          </p:cNvSpPr>
          <p:nvPr/>
        </p:nvSpPr>
        <p:spPr>
          <a:xfrm xmlns:a="http://schemas.openxmlformats.org/drawingml/2006/main" rot="0">
            <a:off x="6000750" y="2638425"/>
            <a:ext cx="1790700" cy="895350"/>
          </a:xfrm>
          <a:prstGeom xmlns:a="http://schemas.openxmlformats.org/drawingml/2006/main" prst="roundRect">
            <a:avLst>
              <a:gd name="adj" fmla="val 10638"/>
            </a:avLst>
          </a:prstGeom>
          <a:solidFill xmlns:a="http://schemas.openxmlformats.org/drawingml/2006/main">
            <a:srgbClr val="EAF0F7"/>
          </a:solidFill>
          <a:ln xmlns:a="http://schemas.openxmlformats.org/drawingml/2006/main">
            <a:noFill/>
          </a:ln>
        </p:spPr>
      </p:sp>
      <p:sp>
        <p:nvSpPr>
          <p:cNvPr id="67" name="TextBox 67">
            <a:extLst xmlns:a="http://schemas.openxmlformats.org/drawingml/2006/main">
              <a:ext uri="{FF2B5EF4-FFF2-40B4-BE49-F238E27FC236}">
                <a16:creationId xmlns:a16="http://schemas.microsoft.com/office/drawing/2014/main" id="{28E314A0-5425-4F6E-A23C-156C9D5AD5ED}"/>
              </a:ext>
            </a:extLst>
          </p:cNvPr>
          <p:cNvSpPr>
            <a:spLocks xmlns:a="http://schemas.openxmlformats.org/drawingml/2006/main" noGrp="1"/>
          </p:cNvSpPr>
          <p:nvPr/>
        </p:nvSpPr>
        <p:spPr>
          <a:xfrm xmlns:a="http://schemas.openxmlformats.org/drawingml/2006/main" rot="0">
            <a:off x="6137910" y="2766060"/>
            <a:ext cx="870585"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EYE / HEAD</a:t>
            </a:r>
          </a:p>
        </p:txBody>
      </p:sp>
      <p:sp>
        <p:nvSpPr>
          <p:cNvPr id="68" name="TextBox 68">
            <a:extLst xmlns:a="http://schemas.openxmlformats.org/drawingml/2006/main">
              <a:ext uri="{FF2B5EF4-FFF2-40B4-BE49-F238E27FC236}">
                <a16:creationId xmlns:a16="http://schemas.microsoft.com/office/drawing/2014/main" id="{59200035-A996-49CA-A959-3AB9487E3A3D}"/>
              </a:ext>
            </a:extLst>
          </p:cNvPr>
          <p:cNvSpPr>
            <a:spLocks xmlns:a="http://schemas.openxmlformats.org/drawingml/2006/main" noGrp="1"/>
          </p:cNvSpPr>
          <p:nvPr/>
        </p:nvSpPr>
        <p:spPr>
          <a:xfrm xmlns:a="http://schemas.openxmlformats.org/drawingml/2006/main" rot="0">
            <a:off x="6140768" y="3037999"/>
            <a:ext cx="174748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Eye landmarks + blendshape</a:t>
            </a:r>
          </a:p>
        </p:txBody>
      </p:sp>
      <p:sp>
        <p:nvSpPr>
          <p:cNvPr id="69" name="TextBox 69">
            <a:extLst xmlns:a="http://schemas.openxmlformats.org/drawingml/2006/main">
              <a:ext uri="{FF2B5EF4-FFF2-40B4-BE49-F238E27FC236}">
                <a16:creationId xmlns:a16="http://schemas.microsoft.com/office/drawing/2014/main" id="{38159A7D-64FD-48AC-B5AB-03C1667A46C6}"/>
              </a:ext>
            </a:extLst>
          </p:cNvPr>
          <p:cNvSpPr>
            <a:spLocks xmlns:a="http://schemas.openxmlformats.org/drawingml/2006/main" noGrp="1"/>
          </p:cNvSpPr>
          <p:nvPr/>
        </p:nvSpPr>
        <p:spPr>
          <a:xfrm xmlns:a="http://schemas.openxmlformats.org/drawingml/2006/main" rot="0">
            <a:off x="6140768" y="3218974"/>
            <a:ext cx="165646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Head pose + distance level</a:t>
            </a:r>
          </a:p>
        </p:txBody>
      </p:sp>
      <p:sp>
        <p:nvSpPr>
          <p:cNvPr id="70" name="Rectangle 70">
            <a:extLst xmlns:a="http://schemas.openxmlformats.org/drawingml/2006/main">
              <a:ext uri="{FF2B5EF4-FFF2-40B4-BE49-F238E27FC236}">
                <a16:creationId xmlns:a16="http://schemas.microsoft.com/office/drawing/2014/main" id="{E5DE4E71-3BCB-4BEB-9EA9-BE4160E653BC}"/>
              </a:ext>
            </a:extLst>
          </p:cNvPr>
          <p:cNvSpPr>
            <a:spLocks xmlns:a="http://schemas.openxmlformats.org/drawingml/2006/main" noGrp="1"/>
          </p:cNvSpPr>
          <p:nvPr/>
        </p:nvSpPr>
        <p:spPr>
          <a:xfrm xmlns:a="http://schemas.openxmlformats.org/drawingml/2006/main" rot="0">
            <a:off x="7905750" y="2638425"/>
            <a:ext cx="1790700" cy="895350"/>
          </a:xfrm>
          <a:prstGeom xmlns:a="http://schemas.openxmlformats.org/drawingml/2006/main" prst="roundRect">
            <a:avLst>
              <a:gd name="adj" fmla="val 10638"/>
            </a:avLst>
          </a:prstGeom>
          <a:solidFill xmlns:a="http://schemas.openxmlformats.org/drawingml/2006/main">
            <a:srgbClr val="EAF0F7"/>
          </a:solidFill>
          <a:ln xmlns:a="http://schemas.openxmlformats.org/drawingml/2006/main">
            <a:noFill/>
          </a:ln>
        </p:spPr>
      </p:sp>
      <p:sp>
        <p:nvSpPr>
          <p:cNvPr id="71" name="TextBox 71">
            <a:extLst xmlns:a="http://schemas.openxmlformats.org/drawingml/2006/main">
              <a:ext uri="{FF2B5EF4-FFF2-40B4-BE49-F238E27FC236}">
                <a16:creationId xmlns:a16="http://schemas.microsoft.com/office/drawing/2014/main" id="{060D3958-2C2E-47FC-992E-B98D9C70EDDD}"/>
              </a:ext>
            </a:extLst>
          </p:cNvPr>
          <p:cNvSpPr>
            <a:spLocks xmlns:a="http://schemas.openxmlformats.org/drawingml/2006/main" noGrp="1"/>
          </p:cNvSpPr>
          <p:nvPr/>
        </p:nvSpPr>
        <p:spPr>
          <a:xfrm xmlns:a="http://schemas.openxmlformats.org/drawingml/2006/main" rot="0">
            <a:off x="8042910" y="2766060"/>
            <a:ext cx="677361"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GESTURE</a:t>
            </a:r>
          </a:p>
        </p:txBody>
      </p:sp>
      <p:sp>
        <p:nvSpPr>
          <p:cNvPr id="72" name="TextBox 72">
            <a:extLst xmlns:a="http://schemas.openxmlformats.org/drawingml/2006/main">
              <a:ext uri="{FF2B5EF4-FFF2-40B4-BE49-F238E27FC236}">
                <a16:creationId xmlns:a16="http://schemas.microsoft.com/office/drawing/2014/main" id="{A3ED32FF-6449-4056-8A71-C5B3AE8BDA1A}"/>
              </a:ext>
            </a:extLst>
          </p:cNvPr>
          <p:cNvSpPr>
            <a:spLocks xmlns:a="http://schemas.openxmlformats.org/drawingml/2006/main" noGrp="1"/>
          </p:cNvSpPr>
          <p:nvPr/>
        </p:nvSpPr>
        <p:spPr>
          <a:xfrm xmlns:a="http://schemas.openxmlformats.org/drawingml/2006/main" rot="0">
            <a:off x="8045768" y="3037999"/>
            <a:ext cx="114290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Five-finger state</a:t>
            </a:r>
          </a:p>
        </p:txBody>
      </p:sp>
      <p:sp>
        <p:nvSpPr>
          <p:cNvPr id="73" name="TextBox 73">
            <a:extLst xmlns:a="http://schemas.openxmlformats.org/drawingml/2006/main">
              <a:ext uri="{FF2B5EF4-FFF2-40B4-BE49-F238E27FC236}">
                <a16:creationId xmlns:a16="http://schemas.microsoft.com/office/drawing/2014/main" id="{26854A0B-972B-44C3-BA45-D04B5F13E5DE}"/>
              </a:ext>
            </a:extLst>
          </p:cNvPr>
          <p:cNvSpPr>
            <a:spLocks xmlns:a="http://schemas.openxmlformats.org/drawingml/2006/main" noGrp="1"/>
          </p:cNvSpPr>
          <p:nvPr/>
        </p:nvSpPr>
        <p:spPr>
          <a:xfrm xmlns:a="http://schemas.openxmlformats.org/drawingml/2006/main" rot="0">
            <a:off x="8045768" y="3218974"/>
            <a:ext cx="186449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Direction, speed, trajectory</a:t>
            </a:r>
          </a:p>
        </p:txBody>
      </p:sp>
      <p:sp>
        <p:nvSpPr>
          <p:cNvPr id="74" name="Rectangle 74">
            <a:extLst xmlns:a="http://schemas.openxmlformats.org/drawingml/2006/main">
              <a:ext uri="{FF2B5EF4-FFF2-40B4-BE49-F238E27FC236}">
                <a16:creationId xmlns:a16="http://schemas.microsoft.com/office/drawing/2014/main" id="{337CCE02-4A28-49CD-A2CD-A95506F02E7F}"/>
              </a:ext>
            </a:extLst>
          </p:cNvPr>
          <p:cNvSpPr>
            <a:spLocks xmlns:a="http://schemas.openxmlformats.org/drawingml/2006/main" noGrp="1"/>
          </p:cNvSpPr>
          <p:nvPr/>
        </p:nvSpPr>
        <p:spPr>
          <a:xfrm xmlns:a="http://schemas.openxmlformats.org/drawingml/2006/main" rot="0">
            <a:off x="9810750" y="2638425"/>
            <a:ext cx="1790700" cy="895350"/>
          </a:xfrm>
          <a:prstGeom xmlns:a="http://schemas.openxmlformats.org/drawingml/2006/main" prst="roundRect">
            <a:avLst>
              <a:gd name="adj" fmla="val 10638"/>
            </a:avLst>
          </a:prstGeom>
          <a:solidFill xmlns:a="http://schemas.openxmlformats.org/drawingml/2006/main">
            <a:srgbClr val="EAF0F7"/>
          </a:solidFill>
          <a:ln xmlns:a="http://schemas.openxmlformats.org/drawingml/2006/main">
            <a:noFill/>
          </a:ln>
        </p:spPr>
      </p:sp>
      <p:sp>
        <p:nvSpPr>
          <p:cNvPr id="75" name="TextBox 75">
            <a:extLst xmlns:a="http://schemas.openxmlformats.org/drawingml/2006/main">
              <a:ext uri="{FF2B5EF4-FFF2-40B4-BE49-F238E27FC236}">
                <a16:creationId xmlns:a16="http://schemas.microsoft.com/office/drawing/2014/main" id="{58F79996-EF3C-48EF-83EE-5325111715BC}"/>
              </a:ext>
            </a:extLst>
          </p:cNvPr>
          <p:cNvSpPr>
            <a:spLocks xmlns:a="http://schemas.openxmlformats.org/drawingml/2006/main" noGrp="1"/>
          </p:cNvSpPr>
          <p:nvPr/>
        </p:nvSpPr>
        <p:spPr>
          <a:xfrm xmlns:a="http://schemas.openxmlformats.org/drawingml/2006/main" rot="0">
            <a:off x="9947910" y="2766060"/>
            <a:ext cx="85378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DETECTION</a:t>
            </a:r>
          </a:p>
        </p:txBody>
      </p:sp>
      <p:sp>
        <p:nvSpPr>
          <p:cNvPr id="76" name="TextBox 76">
            <a:extLst xmlns:a="http://schemas.openxmlformats.org/drawingml/2006/main">
              <a:ext uri="{FF2B5EF4-FFF2-40B4-BE49-F238E27FC236}">
                <a16:creationId xmlns:a16="http://schemas.microsoft.com/office/drawing/2014/main" id="{4D7B8120-E18B-4FF7-A427-30384A7078EC}"/>
              </a:ext>
            </a:extLst>
          </p:cNvPr>
          <p:cNvSpPr>
            <a:spLocks xmlns:a="http://schemas.openxmlformats.org/drawingml/2006/main" noGrp="1"/>
          </p:cNvSpPr>
          <p:nvPr/>
        </p:nvSpPr>
        <p:spPr>
          <a:xfrm xmlns:a="http://schemas.openxmlformats.org/drawingml/2006/main" rot="0">
            <a:off x="9950768" y="3037999"/>
            <a:ext cx="146794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Phone box + confidence</a:t>
            </a:r>
          </a:p>
        </p:txBody>
      </p:sp>
      <p:sp>
        <p:nvSpPr>
          <p:cNvPr id="77" name="TextBox 77">
            <a:extLst xmlns:a="http://schemas.openxmlformats.org/drawingml/2006/main">
              <a:ext uri="{FF2B5EF4-FFF2-40B4-BE49-F238E27FC236}">
                <a16:creationId xmlns:a16="http://schemas.microsoft.com/office/drawing/2014/main" id="{EF8C3142-6D3B-4C49-969B-5136D8993542}"/>
              </a:ext>
            </a:extLst>
          </p:cNvPr>
          <p:cNvSpPr>
            <a:spLocks xmlns:a="http://schemas.openxmlformats.org/drawingml/2006/main" noGrp="1"/>
          </p:cNvSpPr>
          <p:nvPr/>
        </p:nvSpPr>
        <p:spPr>
          <a:xfrm xmlns:a="http://schemas.openxmlformats.org/drawingml/2006/main" rot="0">
            <a:off x="9950768" y="3218974"/>
            <a:ext cx="139643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Identity similarity (optional)</a:t>
            </a:r>
          </a:p>
        </p:txBody>
      </p:sp>
      <p:sp>
        <p:nvSpPr>
          <p:cNvPr id="79" name="Rectangle 79">
            <a:extLst xmlns:a="http://schemas.openxmlformats.org/drawingml/2006/main">
              <a:ext uri="{FF2B5EF4-FFF2-40B4-BE49-F238E27FC236}">
                <a16:creationId xmlns:a16="http://schemas.microsoft.com/office/drawing/2014/main" id="{877F6753-20DD-4BDC-A283-11EA7B10DCB6}"/>
              </a:ext>
            </a:extLst>
          </p:cNvPr>
          <p:cNvSpPr>
            <a:spLocks xmlns:a="http://schemas.openxmlformats.org/drawingml/2006/main" noGrp="1"/>
          </p:cNvSpPr>
          <p:nvPr/>
        </p:nvSpPr>
        <p:spPr>
          <a:xfrm xmlns:a="http://schemas.openxmlformats.org/drawingml/2006/main" rot="0">
            <a:off x="457200" y="3848100"/>
            <a:ext cx="112776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80" name="Rectangle 80">
            <a:extLst xmlns:a="http://schemas.openxmlformats.org/drawingml/2006/main">
              <a:ext uri="{FF2B5EF4-FFF2-40B4-BE49-F238E27FC236}">
                <a16:creationId xmlns:a16="http://schemas.microsoft.com/office/drawing/2014/main" id="{963ED694-8B6F-41CC-983D-9B8E0CDFEBC3}"/>
              </a:ext>
            </a:extLst>
          </p:cNvPr>
          <p:cNvSpPr>
            <a:spLocks xmlns:a="http://schemas.openxmlformats.org/drawingml/2006/main" noGrp="1"/>
          </p:cNvSpPr>
          <p:nvPr/>
        </p:nvSpPr>
        <p:spPr>
          <a:xfrm xmlns:a="http://schemas.openxmlformats.org/drawingml/2006/main" rot="0">
            <a:off x="457200" y="3848100"/>
            <a:ext cx="1524000" cy="1257300"/>
          </a:xfrm>
          <a:prstGeom xmlns:a="http://schemas.openxmlformats.org/drawingml/2006/main" prst="roundRect">
            <a:avLst>
              <a:gd name="adj" fmla="val 9091"/>
            </a:avLst>
          </a:prstGeom>
          <a:solidFill xmlns:a="http://schemas.openxmlformats.org/drawingml/2006/main">
            <a:srgbClr val="2AB7A9"/>
          </a:solidFill>
          <a:ln xmlns:a="http://schemas.openxmlformats.org/drawingml/2006/main">
            <a:noFill/>
          </a:ln>
        </p:spPr>
      </p:sp>
      <p:sp>
        <p:nvSpPr>
          <p:cNvPr id="81" name="TextBox 81">
            <a:extLst xmlns:a="http://schemas.openxmlformats.org/drawingml/2006/main">
              <a:ext uri="{FF2B5EF4-FFF2-40B4-BE49-F238E27FC236}">
                <a16:creationId xmlns:a16="http://schemas.microsoft.com/office/drawing/2014/main" id="{650D693B-6939-4A3A-9D40-425773D758E4}"/>
              </a:ext>
            </a:extLst>
          </p:cNvPr>
          <p:cNvSpPr>
            <a:spLocks xmlns:a="http://schemas.openxmlformats.org/drawingml/2006/main" noGrp="1"/>
          </p:cNvSpPr>
          <p:nvPr/>
        </p:nvSpPr>
        <p:spPr>
          <a:xfrm xmlns:a="http://schemas.openxmlformats.org/drawingml/2006/main" rot="0">
            <a:off x="635318" y="4104799"/>
            <a:ext cx="59131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LAYER 03</a:t>
            </a:r>
          </a:p>
        </p:txBody>
      </p:sp>
      <p:sp>
        <p:nvSpPr>
          <p:cNvPr id="82" name="TextBox 82">
            <a:extLst xmlns:a="http://schemas.openxmlformats.org/drawingml/2006/main">
              <a:ext uri="{FF2B5EF4-FFF2-40B4-BE49-F238E27FC236}">
                <a16:creationId xmlns:a16="http://schemas.microsoft.com/office/drawing/2014/main" id="{162F7A2E-936C-488D-B82D-055282599777}"/>
              </a:ext>
            </a:extLst>
          </p:cNvPr>
          <p:cNvSpPr>
            <a:spLocks xmlns:a="http://schemas.openxmlformats.org/drawingml/2006/main" noGrp="1"/>
          </p:cNvSpPr>
          <p:nvPr/>
        </p:nvSpPr>
        <p:spPr>
          <a:xfrm xmlns:a="http://schemas.openxmlformats.org/drawingml/2006/main" rot="0">
            <a:off x="630555" y="4350068"/>
            <a:ext cx="110227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TEMPORAL +</a:t>
            </a:r>
          </a:p>
        </p:txBody>
      </p:sp>
      <p:sp>
        <p:nvSpPr>
          <p:cNvPr id="83" name="TextBox 83">
            <a:extLst xmlns:a="http://schemas.openxmlformats.org/drawingml/2006/main">
              <a:ext uri="{FF2B5EF4-FFF2-40B4-BE49-F238E27FC236}">
                <a16:creationId xmlns:a16="http://schemas.microsoft.com/office/drawing/2014/main" id="{F87C885D-9412-4226-8704-DA2DEC177453}"/>
              </a:ext>
            </a:extLst>
          </p:cNvPr>
          <p:cNvSpPr>
            <a:spLocks xmlns:a="http://schemas.openxmlformats.org/drawingml/2006/main" noGrp="1"/>
          </p:cNvSpPr>
          <p:nvPr/>
        </p:nvSpPr>
        <p:spPr>
          <a:xfrm xmlns:a="http://schemas.openxmlformats.org/drawingml/2006/main" rot="0">
            <a:off x="630555" y="4569142"/>
            <a:ext cx="101721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RULE LOGIC</a:t>
            </a:r>
          </a:p>
        </p:txBody>
      </p:sp>
      <p:sp>
        <p:nvSpPr>
          <p:cNvPr id="84" name="Rectangle 84">
            <a:extLst xmlns:a="http://schemas.openxmlformats.org/drawingml/2006/main">
              <a:ext uri="{FF2B5EF4-FFF2-40B4-BE49-F238E27FC236}">
                <a16:creationId xmlns:a16="http://schemas.microsoft.com/office/drawing/2014/main" id="{B9B7D321-E6E4-497C-B440-C001B3536F59}"/>
              </a:ext>
            </a:extLst>
          </p:cNvPr>
          <p:cNvSpPr>
            <a:spLocks xmlns:a="http://schemas.openxmlformats.org/drawingml/2006/main" noGrp="1"/>
          </p:cNvSpPr>
          <p:nvPr/>
        </p:nvSpPr>
        <p:spPr>
          <a:xfrm xmlns:a="http://schemas.openxmlformats.org/drawingml/2006/main" rot="0">
            <a:off x="2190750" y="4076700"/>
            <a:ext cx="2247900" cy="800100"/>
          </a:xfrm>
          <a:prstGeom xmlns:a="http://schemas.openxmlformats.org/drawingml/2006/main" prst="roundRect">
            <a:avLst>
              <a:gd name="adj" fmla="val 11905"/>
            </a:avLst>
          </a:prstGeom>
          <a:solidFill xmlns:a="http://schemas.openxmlformats.org/drawingml/2006/main">
            <a:srgbClr val="F7F9FC"/>
          </a:solidFill>
          <a:ln xmlns:a="http://schemas.openxmlformats.org/drawingml/2006/main">
            <a:noFill/>
          </a:ln>
        </p:spPr>
      </p:sp>
      <p:sp>
        <p:nvSpPr>
          <p:cNvPr id="85" name="TextBox 85">
            <a:extLst xmlns:a="http://schemas.openxmlformats.org/drawingml/2006/main">
              <a:ext uri="{FF2B5EF4-FFF2-40B4-BE49-F238E27FC236}">
                <a16:creationId xmlns:a16="http://schemas.microsoft.com/office/drawing/2014/main" id="{328936AD-8B00-4838-BAF0-C3C5F157396B}"/>
              </a:ext>
            </a:extLst>
          </p:cNvPr>
          <p:cNvSpPr>
            <a:spLocks xmlns:a="http://schemas.openxmlformats.org/drawingml/2006/main" noGrp="1"/>
          </p:cNvSpPr>
          <p:nvPr/>
        </p:nvSpPr>
        <p:spPr>
          <a:xfrm xmlns:a="http://schemas.openxmlformats.org/drawingml/2006/main" rot="0">
            <a:off x="2346960" y="4251960"/>
            <a:ext cx="1307440"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MOVING AVERAGE</a:t>
            </a:r>
          </a:p>
        </p:txBody>
      </p:sp>
      <p:sp>
        <p:nvSpPr>
          <p:cNvPr id="86" name="TextBox 86">
            <a:extLst xmlns:a="http://schemas.openxmlformats.org/drawingml/2006/main">
              <a:ext uri="{FF2B5EF4-FFF2-40B4-BE49-F238E27FC236}">
                <a16:creationId xmlns:a16="http://schemas.microsoft.com/office/drawing/2014/main" id="{AE5A5712-E499-4D5B-811D-B1E859AD6FE3}"/>
              </a:ext>
            </a:extLst>
          </p:cNvPr>
          <p:cNvSpPr>
            <a:spLocks xmlns:a="http://schemas.openxmlformats.org/drawingml/2006/main" noGrp="1"/>
          </p:cNvSpPr>
          <p:nvPr/>
        </p:nvSpPr>
        <p:spPr>
          <a:xfrm xmlns:a="http://schemas.openxmlformats.org/drawingml/2006/main" rot="0">
            <a:off x="2349818" y="4523899"/>
            <a:ext cx="187749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Smooth frame-level features</a:t>
            </a:r>
          </a:p>
        </p:txBody>
      </p:sp>
      <p:sp>
        <p:nvSpPr>
          <p:cNvPr id="87" name="Rectangle 87">
            <a:extLst xmlns:a="http://schemas.openxmlformats.org/drawingml/2006/main">
              <a:ext uri="{FF2B5EF4-FFF2-40B4-BE49-F238E27FC236}">
                <a16:creationId xmlns:a16="http://schemas.microsoft.com/office/drawing/2014/main" id="{BA56A0BE-B90A-4702-B8AD-549DC0B4C706}"/>
              </a:ext>
            </a:extLst>
          </p:cNvPr>
          <p:cNvSpPr>
            <a:spLocks xmlns:a="http://schemas.openxmlformats.org/drawingml/2006/main" noGrp="1"/>
          </p:cNvSpPr>
          <p:nvPr/>
        </p:nvSpPr>
        <p:spPr>
          <a:xfrm xmlns:a="http://schemas.openxmlformats.org/drawingml/2006/main" rot="0">
            <a:off x="4572000" y="4076700"/>
            <a:ext cx="2247900" cy="800100"/>
          </a:xfrm>
          <a:prstGeom xmlns:a="http://schemas.openxmlformats.org/drawingml/2006/main" prst="roundRect">
            <a:avLst>
              <a:gd name="adj" fmla="val 11905"/>
            </a:avLst>
          </a:prstGeom>
          <a:solidFill xmlns:a="http://schemas.openxmlformats.org/drawingml/2006/main">
            <a:srgbClr val="F7F9FC"/>
          </a:solidFill>
          <a:ln xmlns:a="http://schemas.openxmlformats.org/drawingml/2006/main">
            <a:noFill/>
          </a:ln>
        </p:spPr>
      </p:sp>
      <p:sp>
        <p:nvSpPr>
          <p:cNvPr id="88" name="TextBox 88">
            <a:extLst xmlns:a="http://schemas.openxmlformats.org/drawingml/2006/main">
              <a:ext uri="{FF2B5EF4-FFF2-40B4-BE49-F238E27FC236}">
                <a16:creationId xmlns:a16="http://schemas.microsoft.com/office/drawing/2014/main" id="{91F8023C-5319-4489-8446-95A2241A62B6}"/>
              </a:ext>
            </a:extLst>
          </p:cNvPr>
          <p:cNvSpPr>
            <a:spLocks xmlns:a="http://schemas.openxmlformats.org/drawingml/2006/main" noGrp="1"/>
          </p:cNvSpPr>
          <p:nvPr/>
        </p:nvSpPr>
        <p:spPr>
          <a:xfrm xmlns:a="http://schemas.openxmlformats.org/drawingml/2006/main" rot="0">
            <a:off x="4728210" y="4251960"/>
            <a:ext cx="1668685"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MULTI-FRAME VOTING</a:t>
            </a:r>
          </a:p>
        </p:txBody>
      </p:sp>
      <p:sp>
        <p:nvSpPr>
          <p:cNvPr id="89" name="TextBox 89">
            <a:extLst xmlns:a="http://schemas.openxmlformats.org/drawingml/2006/main">
              <a:ext uri="{FF2B5EF4-FFF2-40B4-BE49-F238E27FC236}">
                <a16:creationId xmlns:a16="http://schemas.microsoft.com/office/drawing/2014/main" id="{3654508D-25E8-45F2-9F35-8E5BB2242862}"/>
              </a:ext>
            </a:extLst>
          </p:cNvPr>
          <p:cNvSpPr>
            <a:spLocks xmlns:a="http://schemas.openxmlformats.org/drawingml/2006/main" noGrp="1"/>
          </p:cNvSpPr>
          <p:nvPr/>
        </p:nvSpPr>
        <p:spPr>
          <a:xfrm xmlns:a="http://schemas.openxmlformats.org/drawingml/2006/main" rot="0">
            <a:off x="4731068" y="4523899"/>
            <a:ext cx="196850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Confirm stable state decisions</a:t>
            </a:r>
          </a:p>
        </p:txBody>
      </p:sp>
      <p:sp>
        <p:nvSpPr>
          <p:cNvPr id="90" name="Rectangle 90">
            <a:extLst xmlns:a="http://schemas.openxmlformats.org/drawingml/2006/main">
              <a:ext uri="{FF2B5EF4-FFF2-40B4-BE49-F238E27FC236}">
                <a16:creationId xmlns:a16="http://schemas.microsoft.com/office/drawing/2014/main" id="{D1A75E51-708E-4073-81D4-CF628928D58D}"/>
              </a:ext>
            </a:extLst>
          </p:cNvPr>
          <p:cNvSpPr>
            <a:spLocks xmlns:a="http://schemas.openxmlformats.org/drawingml/2006/main" noGrp="1"/>
          </p:cNvSpPr>
          <p:nvPr/>
        </p:nvSpPr>
        <p:spPr>
          <a:xfrm xmlns:a="http://schemas.openxmlformats.org/drawingml/2006/main" rot="0">
            <a:off x="6953250" y="4076700"/>
            <a:ext cx="2247900" cy="800100"/>
          </a:xfrm>
          <a:prstGeom xmlns:a="http://schemas.openxmlformats.org/drawingml/2006/main" prst="roundRect">
            <a:avLst>
              <a:gd name="adj" fmla="val 11905"/>
            </a:avLst>
          </a:prstGeom>
          <a:solidFill xmlns:a="http://schemas.openxmlformats.org/drawingml/2006/main">
            <a:srgbClr val="F7F9FC"/>
          </a:solidFill>
          <a:ln xmlns:a="http://schemas.openxmlformats.org/drawingml/2006/main">
            <a:noFill/>
          </a:ln>
        </p:spPr>
      </p:sp>
      <p:sp>
        <p:nvSpPr>
          <p:cNvPr id="91" name="TextBox 91">
            <a:extLst xmlns:a="http://schemas.openxmlformats.org/drawingml/2006/main">
              <a:ext uri="{FF2B5EF4-FFF2-40B4-BE49-F238E27FC236}">
                <a16:creationId xmlns:a16="http://schemas.microsoft.com/office/drawing/2014/main" id="{563C25CC-4DD7-4EFB-B14E-8A91DEA23098}"/>
              </a:ext>
            </a:extLst>
          </p:cNvPr>
          <p:cNvSpPr>
            <a:spLocks xmlns:a="http://schemas.openxmlformats.org/drawingml/2006/main" noGrp="1"/>
          </p:cNvSpPr>
          <p:nvPr/>
        </p:nvSpPr>
        <p:spPr>
          <a:xfrm xmlns:a="http://schemas.openxmlformats.org/drawingml/2006/main" rot="0">
            <a:off x="7109460" y="4251960"/>
            <a:ext cx="1677086"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DURATION THRESHOLD</a:t>
            </a:r>
          </a:p>
        </p:txBody>
      </p:sp>
      <p:sp>
        <p:nvSpPr>
          <p:cNvPr id="92" name="TextBox 92">
            <a:extLst xmlns:a="http://schemas.openxmlformats.org/drawingml/2006/main">
              <a:ext uri="{FF2B5EF4-FFF2-40B4-BE49-F238E27FC236}">
                <a16:creationId xmlns:a16="http://schemas.microsoft.com/office/drawing/2014/main" id="{90D03707-A8D7-4E17-9C8B-231FF07E43DF}"/>
              </a:ext>
            </a:extLst>
          </p:cNvPr>
          <p:cNvSpPr>
            <a:spLocks xmlns:a="http://schemas.openxmlformats.org/drawingml/2006/main" noGrp="1"/>
          </p:cNvSpPr>
          <p:nvPr/>
        </p:nvSpPr>
        <p:spPr>
          <a:xfrm xmlns:a="http://schemas.openxmlformats.org/drawingml/2006/main" rot="0">
            <a:off x="7112318" y="4523899"/>
            <a:ext cx="17864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Emit only persistent states</a:t>
            </a:r>
          </a:p>
        </p:txBody>
      </p:sp>
      <p:sp>
        <p:nvSpPr>
          <p:cNvPr id="93" name="Rectangle 93">
            <a:extLst xmlns:a="http://schemas.openxmlformats.org/drawingml/2006/main">
              <a:ext uri="{FF2B5EF4-FFF2-40B4-BE49-F238E27FC236}">
                <a16:creationId xmlns:a16="http://schemas.microsoft.com/office/drawing/2014/main" id="{9AFBF235-74FA-44B5-892B-56E40782EDAB}"/>
              </a:ext>
            </a:extLst>
          </p:cNvPr>
          <p:cNvSpPr>
            <a:spLocks xmlns:a="http://schemas.openxmlformats.org/drawingml/2006/main" noGrp="1"/>
          </p:cNvSpPr>
          <p:nvPr/>
        </p:nvSpPr>
        <p:spPr>
          <a:xfrm xmlns:a="http://schemas.openxmlformats.org/drawingml/2006/main" rot="0">
            <a:off x="9334500" y="4076700"/>
            <a:ext cx="2247900" cy="800100"/>
          </a:xfrm>
          <a:prstGeom xmlns:a="http://schemas.openxmlformats.org/drawingml/2006/main" prst="roundRect">
            <a:avLst>
              <a:gd name="adj" fmla="val 11905"/>
            </a:avLst>
          </a:prstGeom>
          <a:solidFill xmlns:a="http://schemas.openxmlformats.org/drawingml/2006/main">
            <a:srgbClr val="F7F9FC"/>
          </a:solidFill>
          <a:ln xmlns:a="http://schemas.openxmlformats.org/drawingml/2006/main">
            <a:noFill/>
          </a:ln>
        </p:spPr>
      </p:sp>
      <p:sp>
        <p:nvSpPr>
          <p:cNvPr id="94" name="TextBox 94">
            <a:extLst xmlns:a="http://schemas.openxmlformats.org/drawingml/2006/main">
              <a:ext uri="{FF2B5EF4-FFF2-40B4-BE49-F238E27FC236}">
                <a16:creationId xmlns:a16="http://schemas.microsoft.com/office/drawing/2014/main" id="{F0DAFFC3-24CC-444E-AD83-B50CC6825A9A}"/>
              </a:ext>
            </a:extLst>
          </p:cNvPr>
          <p:cNvSpPr>
            <a:spLocks xmlns:a="http://schemas.openxmlformats.org/drawingml/2006/main" noGrp="1"/>
          </p:cNvSpPr>
          <p:nvPr/>
        </p:nvSpPr>
        <p:spPr>
          <a:xfrm xmlns:a="http://schemas.openxmlformats.org/drawingml/2006/main" rot="0">
            <a:off x="9490710" y="4251960"/>
            <a:ext cx="168548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REMINDER COOLDOWN</a:t>
            </a:r>
          </a:p>
        </p:txBody>
      </p:sp>
      <p:sp>
        <p:nvSpPr>
          <p:cNvPr id="95" name="TextBox 95">
            <a:extLst xmlns:a="http://schemas.openxmlformats.org/drawingml/2006/main">
              <a:ext uri="{FF2B5EF4-FFF2-40B4-BE49-F238E27FC236}">
                <a16:creationId xmlns:a16="http://schemas.microsoft.com/office/drawing/2014/main" id="{3F42A8A4-EE40-410D-9344-C99839DDF262}"/>
              </a:ext>
            </a:extLst>
          </p:cNvPr>
          <p:cNvSpPr>
            <a:spLocks xmlns:a="http://schemas.openxmlformats.org/drawingml/2006/main" noGrp="1"/>
          </p:cNvSpPr>
          <p:nvPr/>
        </p:nvSpPr>
        <p:spPr>
          <a:xfrm xmlns:a="http://schemas.openxmlformats.org/drawingml/2006/main" rot="0">
            <a:off x="9493568" y="4523899"/>
            <a:ext cx="186449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Avoid repeated interruptions</a:t>
            </a:r>
          </a:p>
        </p:txBody>
      </p:sp>
      <p:sp>
        <p:nvSpPr>
          <p:cNvPr id="97" name="Rectangle 97">
            <a:extLst xmlns:a="http://schemas.openxmlformats.org/drawingml/2006/main">
              <a:ext uri="{FF2B5EF4-FFF2-40B4-BE49-F238E27FC236}">
                <a16:creationId xmlns:a16="http://schemas.microsoft.com/office/drawing/2014/main" id="{FE315256-3690-4D2C-9745-05F217A3B260}"/>
              </a:ext>
            </a:extLst>
          </p:cNvPr>
          <p:cNvSpPr>
            <a:spLocks xmlns:a="http://schemas.openxmlformats.org/drawingml/2006/main" noGrp="1"/>
          </p:cNvSpPr>
          <p:nvPr/>
        </p:nvSpPr>
        <p:spPr>
          <a:xfrm xmlns:a="http://schemas.openxmlformats.org/drawingml/2006/main" rot="0">
            <a:off x="457200" y="5334000"/>
            <a:ext cx="11277600" cy="876300"/>
          </a:xfrm>
          <a:prstGeom xmlns:a="http://schemas.openxmlformats.org/drawingml/2006/main" prst="roundRect">
            <a:avLst>
              <a:gd name="adj" fmla="val 13043"/>
            </a:avLst>
          </a:prstGeom>
          <a:solidFill xmlns:a="http://schemas.openxmlformats.org/drawingml/2006/main">
            <a:srgbClr val="123B5D"/>
          </a:solidFill>
          <a:ln xmlns:a="http://schemas.openxmlformats.org/drawingml/2006/main">
            <a:noFill/>
          </a:ln>
        </p:spPr>
      </p:sp>
      <p:sp>
        <p:nvSpPr>
          <p:cNvPr id="98" name="TextBox 98">
            <a:extLst xmlns:a="http://schemas.openxmlformats.org/drawingml/2006/main">
              <a:ext uri="{FF2B5EF4-FFF2-40B4-BE49-F238E27FC236}">
                <a16:creationId xmlns:a16="http://schemas.microsoft.com/office/drawing/2014/main" id="{07941D57-49D4-4738-A758-8168CF5DBB96}"/>
              </a:ext>
            </a:extLst>
          </p:cNvPr>
          <p:cNvSpPr>
            <a:spLocks xmlns:a="http://schemas.openxmlformats.org/drawingml/2006/main" noGrp="1"/>
          </p:cNvSpPr>
          <p:nvPr/>
        </p:nvSpPr>
        <p:spPr>
          <a:xfrm xmlns:a="http://schemas.openxmlformats.org/drawingml/2006/main" rot="0">
            <a:off x="635318" y="5543074"/>
            <a:ext cx="50257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SUPPORT</a:t>
            </a:r>
          </a:p>
        </p:txBody>
      </p:sp>
      <p:sp>
        <p:nvSpPr>
          <p:cNvPr id="99" name="TextBox 99">
            <a:extLst xmlns:a="http://schemas.openxmlformats.org/drawingml/2006/main">
              <a:ext uri="{FF2B5EF4-FFF2-40B4-BE49-F238E27FC236}">
                <a16:creationId xmlns:a16="http://schemas.microsoft.com/office/drawing/2014/main" id="{1F0FA0C3-FD25-4F8B-AC39-F325CBED07B3}"/>
              </a:ext>
            </a:extLst>
          </p:cNvPr>
          <p:cNvSpPr>
            <a:spLocks xmlns:a="http://schemas.openxmlformats.org/drawingml/2006/main" noGrp="1"/>
          </p:cNvSpPr>
          <p:nvPr/>
        </p:nvSpPr>
        <p:spPr>
          <a:xfrm xmlns:a="http://schemas.openxmlformats.org/drawingml/2006/main" rot="0">
            <a:off x="632460" y="5775960"/>
            <a:ext cx="124863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F7F9FC"/>
                </a:solidFill>
                <a:latin typeface="Arial"/>
                <a:ea typeface="Arial"/>
                <a:cs typeface="Arial"/>
              </a:rPr>
              <a:t>PROGRAM LOGIC</a:t>
            </a:r>
          </a:p>
        </p:txBody>
      </p:sp>
      <p:sp>
        <p:nvSpPr>
          <p:cNvPr id="100" name="Freeform 100">
            <a:extLst xmlns:a="http://schemas.openxmlformats.org/drawingml/2006/main">
              <a:ext uri="{FF2B5EF4-FFF2-40B4-BE49-F238E27FC236}">
                <a16:creationId xmlns:a16="http://schemas.microsoft.com/office/drawing/2014/main" id="{89553AC3-FD94-42A4-AC0F-7227017C33B6}"/>
              </a:ext>
            </a:extLst>
          </p:cNvPr>
          <p:cNvSpPr>
            <a:spLocks xmlns:a="http://schemas.openxmlformats.org/drawingml/2006/main" noGrp="1"/>
          </p:cNvSpPr>
          <p:nvPr/>
        </p:nvSpPr>
        <p:spPr>
          <a:xfrm xmlns:a="http://schemas.openxmlformats.org/drawingml/2006/main" rot="0">
            <a:off x="2423517" y="5614392"/>
            <a:ext cx="125016" cy="125016"/>
          </a:xfrm>
          <a:custGeom xmlns:a="http://schemas.openxmlformats.org/drawingml/2006/main">
            <a:rect l="l" t="t" r="r" b="b"/>
            <a:pathLst>
              <a:path w="125016" h="125016">
                <a:moveTo>
                  <a:pt x="125016" y="62508"/>
                </a:moveTo>
                <a:cubicBezTo>
                  <a:pt x="125016" y="97030"/>
                  <a:pt x="97030" y="125016"/>
                  <a:pt x="62508" y="125016"/>
                </a:cubicBezTo>
                <a:cubicBezTo>
                  <a:pt x="27986" y="125016"/>
                  <a:pt x="0" y="97030"/>
                  <a:pt x="0" y="62508"/>
                </a:cubicBezTo>
                <a:cubicBezTo>
                  <a:pt x="0" y="27986"/>
                  <a:pt x="27986" y="0"/>
                  <a:pt x="62508" y="0"/>
                </a:cubicBezTo>
                <a:cubicBezTo>
                  <a:pt x="97030" y="0"/>
                  <a:pt x="125016" y="27986"/>
                  <a:pt x="125016" y="62508"/>
                </a:cubicBezTo>
                <a:close/>
              </a:path>
            </a:pathLst>
          </a:custGeom>
          <a:solidFill xmlns:a="http://schemas.openxmlformats.org/drawingml/2006/main">
            <a:srgbClr val="F7F9FC">
              <a:alpha val="20000"/>
            </a:srgbClr>
          </a:solidFill>
          <a:ln xmlns:a="http://schemas.openxmlformats.org/drawingml/2006/main">
            <a:noFill/>
          </a:ln>
        </p:spPr>
      </p:sp>
      <p:sp>
        <p:nvSpPr>
          <p:cNvPr id="101" name="Freeform 101">
            <a:extLst xmlns:a="http://schemas.openxmlformats.org/drawingml/2006/main">
              <a:ext uri="{FF2B5EF4-FFF2-40B4-BE49-F238E27FC236}">
                <a16:creationId xmlns:a16="http://schemas.microsoft.com/office/drawing/2014/main" id="{248E7C79-4D3F-4ACA-8E52-934AAC84B2C2}"/>
              </a:ext>
            </a:extLst>
          </p:cNvPr>
          <p:cNvSpPr>
            <a:spLocks xmlns:a="http://schemas.openxmlformats.org/drawingml/2006/main" noGrp="1"/>
          </p:cNvSpPr>
          <p:nvPr/>
        </p:nvSpPr>
        <p:spPr>
          <a:xfrm xmlns:a="http://schemas.openxmlformats.org/drawingml/2006/main" rot="0">
            <a:off x="2352080" y="5542955"/>
            <a:ext cx="267891" cy="267891"/>
          </a:xfrm>
          <a:custGeom xmlns:a="http://schemas.openxmlformats.org/drawingml/2006/main">
            <a:rect l="l" t="t" r="r" b="b"/>
            <a:pathLst>
              <a:path w="267891" h="267891">
                <a:moveTo>
                  <a:pt x="125016" y="35719"/>
                </a:moveTo>
                <a:lnTo>
                  <a:pt x="125016" y="8930"/>
                </a:lnTo>
                <a:cubicBezTo>
                  <a:pt x="125016" y="3998"/>
                  <a:pt x="129014" y="0"/>
                  <a:pt x="133945" y="0"/>
                </a:cubicBezTo>
                <a:cubicBezTo>
                  <a:pt x="138877" y="0"/>
                  <a:pt x="142875" y="3998"/>
                  <a:pt x="142875" y="8930"/>
                </a:cubicBezTo>
                <a:lnTo>
                  <a:pt x="142875" y="35719"/>
                </a:lnTo>
                <a:cubicBezTo>
                  <a:pt x="142875" y="40650"/>
                  <a:pt x="138877" y="44648"/>
                  <a:pt x="133945" y="44648"/>
                </a:cubicBezTo>
                <a:cubicBezTo>
                  <a:pt x="129014" y="44648"/>
                  <a:pt x="125016" y="40650"/>
                  <a:pt x="125016" y="35719"/>
                </a:cubicBezTo>
                <a:close/>
                <a:moveTo>
                  <a:pt x="205383" y="133945"/>
                </a:moveTo>
                <a:cubicBezTo>
                  <a:pt x="205383" y="173399"/>
                  <a:pt x="173399" y="205383"/>
                  <a:pt x="133945" y="205383"/>
                </a:cubicBezTo>
                <a:cubicBezTo>
                  <a:pt x="94491" y="205383"/>
                  <a:pt x="62508" y="173399"/>
                  <a:pt x="62508" y="133945"/>
                </a:cubicBezTo>
                <a:cubicBezTo>
                  <a:pt x="62508" y="94491"/>
                  <a:pt x="94491" y="62508"/>
                  <a:pt x="133945" y="62508"/>
                </a:cubicBezTo>
                <a:cubicBezTo>
                  <a:pt x="173381" y="62551"/>
                  <a:pt x="205340" y="94509"/>
                  <a:pt x="205383" y="133945"/>
                </a:cubicBezTo>
                <a:close/>
                <a:moveTo>
                  <a:pt x="187523" y="133945"/>
                </a:moveTo>
                <a:cubicBezTo>
                  <a:pt x="187523" y="104355"/>
                  <a:pt x="163536" y="80367"/>
                  <a:pt x="133945" y="80367"/>
                </a:cubicBezTo>
                <a:cubicBezTo>
                  <a:pt x="104355" y="80367"/>
                  <a:pt x="80367" y="104355"/>
                  <a:pt x="80367" y="133945"/>
                </a:cubicBezTo>
                <a:cubicBezTo>
                  <a:pt x="80367" y="163536"/>
                  <a:pt x="104355" y="187523"/>
                  <a:pt x="133945" y="187523"/>
                </a:cubicBezTo>
                <a:cubicBezTo>
                  <a:pt x="163523" y="187493"/>
                  <a:pt x="187493" y="163523"/>
                  <a:pt x="187523" y="133945"/>
                </a:cubicBezTo>
                <a:close/>
                <a:moveTo>
                  <a:pt x="56190" y="68826"/>
                </a:moveTo>
                <a:cubicBezTo>
                  <a:pt x="59679" y="72315"/>
                  <a:pt x="65336" y="72315"/>
                  <a:pt x="68826" y="68826"/>
                </a:cubicBezTo>
                <a:cubicBezTo>
                  <a:pt x="72315" y="65336"/>
                  <a:pt x="72315" y="59679"/>
                  <a:pt x="68826" y="56190"/>
                </a:cubicBezTo>
                <a:lnTo>
                  <a:pt x="50966" y="38331"/>
                </a:lnTo>
                <a:cubicBezTo>
                  <a:pt x="47477" y="34841"/>
                  <a:pt x="41820" y="34841"/>
                  <a:pt x="38331" y="38331"/>
                </a:cubicBezTo>
                <a:cubicBezTo>
                  <a:pt x="34841" y="41820"/>
                  <a:pt x="34841" y="47477"/>
                  <a:pt x="38331" y="50966"/>
                </a:cubicBezTo>
                <a:close/>
                <a:moveTo>
                  <a:pt x="56190" y="199065"/>
                </a:moveTo>
                <a:lnTo>
                  <a:pt x="38331" y="216924"/>
                </a:lnTo>
                <a:cubicBezTo>
                  <a:pt x="34841" y="220414"/>
                  <a:pt x="34841" y="226071"/>
                  <a:pt x="38331" y="229560"/>
                </a:cubicBezTo>
                <a:cubicBezTo>
                  <a:pt x="41820" y="233049"/>
                  <a:pt x="47477" y="233049"/>
                  <a:pt x="50966" y="229560"/>
                </a:cubicBezTo>
                <a:lnTo>
                  <a:pt x="68826" y="211701"/>
                </a:lnTo>
                <a:cubicBezTo>
                  <a:pt x="72315" y="208211"/>
                  <a:pt x="72315" y="202554"/>
                  <a:pt x="68826" y="199065"/>
                </a:cubicBezTo>
                <a:cubicBezTo>
                  <a:pt x="65336" y="195576"/>
                  <a:pt x="59679" y="195576"/>
                  <a:pt x="56190" y="199065"/>
                </a:cubicBezTo>
                <a:close/>
                <a:moveTo>
                  <a:pt x="205383" y="71438"/>
                </a:moveTo>
                <a:cubicBezTo>
                  <a:pt x="207752" y="71439"/>
                  <a:pt x="210024" y="70500"/>
                  <a:pt x="211701" y="68826"/>
                </a:cubicBezTo>
                <a:lnTo>
                  <a:pt x="229560" y="50966"/>
                </a:lnTo>
                <a:cubicBezTo>
                  <a:pt x="233049" y="47477"/>
                  <a:pt x="233049" y="41820"/>
                  <a:pt x="229560" y="38331"/>
                </a:cubicBezTo>
                <a:cubicBezTo>
                  <a:pt x="226071" y="34841"/>
                  <a:pt x="220414" y="34841"/>
                  <a:pt x="216924" y="38331"/>
                </a:cubicBezTo>
                <a:lnTo>
                  <a:pt x="199065" y="56190"/>
                </a:lnTo>
                <a:cubicBezTo>
                  <a:pt x="196508" y="58744"/>
                  <a:pt x="195743" y="62587"/>
                  <a:pt x="197126" y="65926"/>
                </a:cubicBezTo>
                <a:cubicBezTo>
                  <a:pt x="198510" y="69265"/>
                  <a:pt x="201769" y="71440"/>
                  <a:pt x="205383" y="71438"/>
                </a:cubicBezTo>
                <a:close/>
                <a:moveTo>
                  <a:pt x="211701" y="199065"/>
                </a:moveTo>
                <a:cubicBezTo>
                  <a:pt x="208211" y="195576"/>
                  <a:pt x="202554" y="195576"/>
                  <a:pt x="199065" y="199065"/>
                </a:cubicBezTo>
                <a:cubicBezTo>
                  <a:pt x="195576" y="202554"/>
                  <a:pt x="195576" y="208211"/>
                  <a:pt x="199065" y="211701"/>
                </a:cubicBezTo>
                <a:lnTo>
                  <a:pt x="216924" y="229560"/>
                </a:lnTo>
                <a:cubicBezTo>
                  <a:pt x="220414" y="233049"/>
                  <a:pt x="226071" y="233049"/>
                  <a:pt x="229560" y="229560"/>
                </a:cubicBezTo>
                <a:cubicBezTo>
                  <a:pt x="233049" y="226071"/>
                  <a:pt x="233049" y="220414"/>
                  <a:pt x="229560" y="216924"/>
                </a:cubicBezTo>
                <a:close/>
                <a:moveTo>
                  <a:pt x="44648" y="133945"/>
                </a:moveTo>
                <a:cubicBezTo>
                  <a:pt x="44648" y="129014"/>
                  <a:pt x="40650" y="125016"/>
                  <a:pt x="35719" y="125016"/>
                </a:cubicBezTo>
                <a:lnTo>
                  <a:pt x="8930" y="125016"/>
                </a:lnTo>
                <a:cubicBezTo>
                  <a:pt x="3998" y="125016"/>
                  <a:pt x="0" y="129014"/>
                  <a:pt x="0" y="133945"/>
                </a:cubicBezTo>
                <a:cubicBezTo>
                  <a:pt x="0" y="138877"/>
                  <a:pt x="3998" y="142875"/>
                  <a:pt x="8930" y="142875"/>
                </a:cubicBezTo>
                <a:lnTo>
                  <a:pt x="35719" y="142875"/>
                </a:lnTo>
                <a:cubicBezTo>
                  <a:pt x="40650" y="142875"/>
                  <a:pt x="44648" y="138877"/>
                  <a:pt x="44648" y="133945"/>
                </a:cubicBezTo>
                <a:close/>
                <a:moveTo>
                  <a:pt x="133945" y="223242"/>
                </a:moveTo>
                <a:cubicBezTo>
                  <a:pt x="129014" y="223242"/>
                  <a:pt x="125016" y="227240"/>
                  <a:pt x="125016" y="232172"/>
                </a:cubicBezTo>
                <a:lnTo>
                  <a:pt x="125016" y="258961"/>
                </a:lnTo>
                <a:cubicBezTo>
                  <a:pt x="125016" y="263893"/>
                  <a:pt x="129014" y="267891"/>
                  <a:pt x="133945" y="267891"/>
                </a:cubicBezTo>
                <a:cubicBezTo>
                  <a:pt x="138877" y="267891"/>
                  <a:pt x="142875" y="263893"/>
                  <a:pt x="142875" y="258961"/>
                </a:cubicBezTo>
                <a:lnTo>
                  <a:pt x="142875" y="232172"/>
                </a:lnTo>
                <a:cubicBezTo>
                  <a:pt x="142875" y="227240"/>
                  <a:pt x="138877" y="223242"/>
                  <a:pt x="133945" y="223242"/>
                </a:cubicBezTo>
                <a:close/>
                <a:moveTo>
                  <a:pt x="258961" y="125016"/>
                </a:moveTo>
                <a:lnTo>
                  <a:pt x="232172" y="125016"/>
                </a:lnTo>
                <a:cubicBezTo>
                  <a:pt x="227240" y="125016"/>
                  <a:pt x="223242" y="129014"/>
                  <a:pt x="223242" y="133945"/>
                </a:cubicBezTo>
                <a:cubicBezTo>
                  <a:pt x="223242" y="138877"/>
                  <a:pt x="227240" y="142875"/>
                  <a:pt x="232172" y="142875"/>
                </a:cubicBezTo>
                <a:lnTo>
                  <a:pt x="258961" y="142875"/>
                </a:lnTo>
                <a:cubicBezTo>
                  <a:pt x="263893" y="142875"/>
                  <a:pt x="267891" y="138877"/>
                  <a:pt x="267891" y="133945"/>
                </a:cubicBezTo>
                <a:cubicBezTo>
                  <a:pt x="267891" y="129014"/>
                  <a:pt x="263893" y="125016"/>
                  <a:pt x="258961" y="125016"/>
                </a:cubicBezTo>
                <a:close/>
              </a:path>
            </a:pathLst>
          </a:custGeom>
          <a:solidFill xmlns:a="http://schemas.openxmlformats.org/drawingml/2006/main">
            <a:srgbClr val="F7F9FC"/>
          </a:solidFill>
          <a:ln xmlns:a="http://schemas.openxmlformats.org/drawingml/2006/main">
            <a:noFill/>
          </a:ln>
        </p:spPr>
      </p:sp>
      <p:sp>
        <p:nvSpPr>
          <p:cNvPr id="103" name="TextBox 103">
            <a:extLst xmlns:a="http://schemas.openxmlformats.org/drawingml/2006/main">
              <a:ext uri="{FF2B5EF4-FFF2-40B4-BE49-F238E27FC236}">
                <a16:creationId xmlns:a16="http://schemas.microsoft.com/office/drawing/2014/main" id="{5A8FDFCA-5A24-4335-A5BF-C281997D5D87}"/>
              </a:ext>
            </a:extLst>
          </p:cNvPr>
          <p:cNvSpPr>
            <a:spLocks xmlns:a="http://schemas.openxmlformats.org/drawingml/2006/main" noGrp="1"/>
          </p:cNvSpPr>
          <p:nvPr/>
        </p:nvSpPr>
        <p:spPr>
          <a:xfrm xmlns:a="http://schemas.openxmlformats.org/drawingml/2006/main" rot="0">
            <a:off x="2709862" y="5612606"/>
            <a:ext cx="16904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Brightness statistics</a:t>
            </a:r>
          </a:p>
        </p:txBody>
      </p:sp>
      <p:sp>
        <p:nvSpPr>
          <p:cNvPr id="104" name="Freeform 104">
            <a:extLst xmlns:a="http://schemas.openxmlformats.org/drawingml/2006/main">
              <a:ext uri="{FF2B5EF4-FFF2-40B4-BE49-F238E27FC236}">
                <a16:creationId xmlns:a16="http://schemas.microsoft.com/office/drawing/2014/main" id="{E7E44D4B-0D39-4F1A-9ABD-E86A6E08B9B1}"/>
              </a:ext>
            </a:extLst>
          </p:cNvPr>
          <p:cNvSpPr>
            <a:spLocks xmlns:a="http://schemas.openxmlformats.org/drawingml/2006/main" noGrp="1"/>
          </p:cNvSpPr>
          <p:nvPr/>
        </p:nvSpPr>
        <p:spPr>
          <a:xfrm xmlns:a="http://schemas.openxmlformats.org/drawingml/2006/main" rot="0">
            <a:off x="4835128" y="5641181"/>
            <a:ext cx="178594" cy="71438"/>
          </a:xfrm>
          <a:custGeom xmlns:a="http://schemas.openxmlformats.org/drawingml/2006/main">
            <a:rect l="l" t="t" r="r" b="b"/>
            <a:pathLst>
              <a:path w="178594" h="71438">
                <a:moveTo>
                  <a:pt x="178594" y="0"/>
                </a:moveTo>
                <a:lnTo>
                  <a:pt x="178594" y="71438"/>
                </a:lnTo>
                <a:lnTo>
                  <a:pt x="0" y="71438"/>
                </a:lnTo>
                <a:lnTo>
                  <a:pt x="0" y="0"/>
                </a:lnTo>
                <a:close/>
              </a:path>
            </a:pathLst>
          </a:custGeom>
          <a:solidFill xmlns:a="http://schemas.openxmlformats.org/drawingml/2006/main">
            <a:srgbClr val="F7F9FC">
              <a:alpha val="20000"/>
            </a:srgbClr>
          </a:solidFill>
          <a:ln xmlns:a="http://schemas.openxmlformats.org/drawingml/2006/main">
            <a:noFill/>
          </a:ln>
        </p:spPr>
      </p:sp>
      <p:sp>
        <p:nvSpPr>
          <p:cNvPr id="105" name="Freeform 105">
            <a:extLst xmlns:a="http://schemas.openxmlformats.org/drawingml/2006/main">
              <a:ext uri="{FF2B5EF4-FFF2-40B4-BE49-F238E27FC236}">
                <a16:creationId xmlns:a16="http://schemas.microsoft.com/office/drawing/2014/main" id="{BC823E44-948E-4044-A4B6-9AE2DC1CB8D2}"/>
              </a:ext>
            </a:extLst>
          </p:cNvPr>
          <p:cNvSpPr>
            <a:spLocks xmlns:a="http://schemas.openxmlformats.org/drawingml/2006/main" noGrp="1"/>
          </p:cNvSpPr>
          <p:nvPr/>
        </p:nvSpPr>
        <p:spPr>
          <a:xfrm xmlns:a="http://schemas.openxmlformats.org/drawingml/2006/main" rot="0">
            <a:off x="4826198" y="5560814"/>
            <a:ext cx="196453" cy="232172"/>
          </a:xfrm>
          <a:custGeom xmlns:a="http://schemas.openxmlformats.org/drawingml/2006/main">
            <a:rect l="l" t="t" r="r" b="b"/>
            <a:pathLst>
              <a:path w="196453" h="232172">
                <a:moveTo>
                  <a:pt x="17859" y="80367"/>
                </a:moveTo>
                <a:lnTo>
                  <a:pt x="17859" y="151805"/>
                </a:lnTo>
                <a:cubicBezTo>
                  <a:pt x="17859" y="156736"/>
                  <a:pt x="13861" y="160734"/>
                  <a:pt x="8930" y="160734"/>
                </a:cubicBezTo>
                <a:cubicBezTo>
                  <a:pt x="3998" y="160734"/>
                  <a:pt x="0" y="156736"/>
                  <a:pt x="0" y="151805"/>
                </a:cubicBezTo>
                <a:lnTo>
                  <a:pt x="0" y="80367"/>
                </a:lnTo>
                <a:cubicBezTo>
                  <a:pt x="0" y="75435"/>
                  <a:pt x="3998" y="71438"/>
                  <a:pt x="8930" y="71438"/>
                </a:cubicBezTo>
                <a:cubicBezTo>
                  <a:pt x="13861" y="71438"/>
                  <a:pt x="17859" y="75435"/>
                  <a:pt x="17859" y="80367"/>
                </a:cubicBezTo>
                <a:close/>
                <a:moveTo>
                  <a:pt x="53578" y="0"/>
                </a:moveTo>
                <a:cubicBezTo>
                  <a:pt x="48646" y="0"/>
                  <a:pt x="44648" y="3998"/>
                  <a:pt x="44648" y="8930"/>
                </a:cubicBezTo>
                <a:lnTo>
                  <a:pt x="44648" y="223242"/>
                </a:lnTo>
                <a:cubicBezTo>
                  <a:pt x="44648" y="228174"/>
                  <a:pt x="48646" y="232172"/>
                  <a:pt x="53578" y="232172"/>
                </a:cubicBezTo>
                <a:cubicBezTo>
                  <a:pt x="58510" y="232172"/>
                  <a:pt x="62508" y="228174"/>
                  <a:pt x="62508" y="223242"/>
                </a:cubicBezTo>
                <a:lnTo>
                  <a:pt x="62508" y="8930"/>
                </a:lnTo>
                <a:cubicBezTo>
                  <a:pt x="62508" y="3998"/>
                  <a:pt x="58510" y="0"/>
                  <a:pt x="53578" y="0"/>
                </a:cubicBezTo>
                <a:close/>
                <a:moveTo>
                  <a:pt x="98227" y="35719"/>
                </a:moveTo>
                <a:cubicBezTo>
                  <a:pt x="93295" y="35719"/>
                  <a:pt x="89297" y="39717"/>
                  <a:pt x="89297" y="44648"/>
                </a:cubicBezTo>
                <a:lnTo>
                  <a:pt x="89297" y="187523"/>
                </a:lnTo>
                <a:cubicBezTo>
                  <a:pt x="89297" y="192455"/>
                  <a:pt x="93295" y="196453"/>
                  <a:pt x="98227" y="196453"/>
                </a:cubicBezTo>
                <a:cubicBezTo>
                  <a:pt x="103158" y="196453"/>
                  <a:pt x="107156" y="192455"/>
                  <a:pt x="107156" y="187523"/>
                </a:cubicBezTo>
                <a:lnTo>
                  <a:pt x="107156" y="44648"/>
                </a:lnTo>
                <a:cubicBezTo>
                  <a:pt x="107156" y="39717"/>
                  <a:pt x="103158" y="35719"/>
                  <a:pt x="98227" y="35719"/>
                </a:cubicBezTo>
                <a:close/>
                <a:moveTo>
                  <a:pt x="142875" y="71438"/>
                </a:moveTo>
                <a:cubicBezTo>
                  <a:pt x="137943" y="71438"/>
                  <a:pt x="133945" y="75435"/>
                  <a:pt x="133945" y="80367"/>
                </a:cubicBezTo>
                <a:lnTo>
                  <a:pt x="133945" y="151805"/>
                </a:lnTo>
                <a:cubicBezTo>
                  <a:pt x="133945" y="156736"/>
                  <a:pt x="137943" y="160734"/>
                  <a:pt x="142875" y="160734"/>
                </a:cubicBezTo>
                <a:cubicBezTo>
                  <a:pt x="147807" y="160734"/>
                  <a:pt x="151805" y="156736"/>
                  <a:pt x="151805" y="151805"/>
                </a:cubicBezTo>
                <a:lnTo>
                  <a:pt x="151805" y="80367"/>
                </a:lnTo>
                <a:cubicBezTo>
                  <a:pt x="151805" y="75435"/>
                  <a:pt x="147807" y="71438"/>
                  <a:pt x="142875" y="71438"/>
                </a:cubicBezTo>
                <a:close/>
                <a:moveTo>
                  <a:pt x="187523" y="53578"/>
                </a:moveTo>
                <a:cubicBezTo>
                  <a:pt x="182592" y="53578"/>
                  <a:pt x="178594" y="57576"/>
                  <a:pt x="178594" y="62508"/>
                </a:cubicBezTo>
                <a:lnTo>
                  <a:pt x="178594" y="169664"/>
                </a:lnTo>
                <a:cubicBezTo>
                  <a:pt x="178594" y="174596"/>
                  <a:pt x="182592" y="178594"/>
                  <a:pt x="187523" y="178594"/>
                </a:cubicBezTo>
                <a:cubicBezTo>
                  <a:pt x="192455" y="178594"/>
                  <a:pt x="196453" y="174596"/>
                  <a:pt x="196453" y="169664"/>
                </a:cubicBezTo>
                <a:lnTo>
                  <a:pt x="196453" y="62508"/>
                </a:lnTo>
                <a:cubicBezTo>
                  <a:pt x="196453" y="57576"/>
                  <a:pt x="192455" y="53578"/>
                  <a:pt x="187523" y="53578"/>
                </a:cubicBezTo>
                <a:close/>
              </a:path>
            </a:pathLst>
          </a:custGeom>
          <a:solidFill xmlns:a="http://schemas.openxmlformats.org/drawingml/2006/main">
            <a:srgbClr val="F7F9FC"/>
          </a:solidFill>
          <a:ln xmlns:a="http://schemas.openxmlformats.org/drawingml/2006/main">
            <a:noFill/>
          </a:ln>
        </p:spPr>
      </p:sp>
      <p:sp>
        <p:nvSpPr>
          <p:cNvPr id="107" name="TextBox 107">
            <a:extLst xmlns:a="http://schemas.openxmlformats.org/drawingml/2006/main">
              <a:ext uri="{FF2B5EF4-FFF2-40B4-BE49-F238E27FC236}">
                <a16:creationId xmlns:a16="http://schemas.microsoft.com/office/drawing/2014/main" id="{F8CBB03C-4FBE-42C3-B642-65B47DF3743A}"/>
              </a:ext>
            </a:extLst>
          </p:cNvPr>
          <p:cNvSpPr>
            <a:spLocks xmlns:a="http://schemas.openxmlformats.org/drawingml/2006/main" noGrp="1"/>
          </p:cNvSpPr>
          <p:nvPr/>
        </p:nvSpPr>
        <p:spPr>
          <a:xfrm xmlns:a="http://schemas.openxmlformats.org/drawingml/2006/main" rot="0">
            <a:off x="5148262" y="5612606"/>
            <a:ext cx="142262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Audio level / SPL</a:t>
            </a:r>
          </a:p>
        </p:txBody>
      </p:sp>
      <p:sp>
        <p:nvSpPr>
          <p:cNvPr id="108" name="Freeform 108">
            <a:extLst xmlns:a="http://schemas.openxmlformats.org/drawingml/2006/main">
              <a:ext uri="{FF2B5EF4-FFF2-40B4-BE49-F238E27FC236}">
                <a16:creationId xmlns:a16="http://schemas.microsoft.com/office/drawing/2014/main" id="{B804F7BD-821E-43FF-8FEA-AE86351F7AC8}"/>
              </a:ext>
            </a:extLst>
          </p:cNvPr>
          <p:cNvSpPr>
            <a:spLocks xmlns:a="http://schemas.openxmlformats.org/drawingml/2006/main" noGrp="1"/>
          </p:cNvSpPr>
          <p:nvPr/>
        </p:nvSpPr>
        <p:spPr>
          <a:xfrm xmlns:a="http://schemas.openxmlformats.org/drawingml/2006/main" rot="0">
            <a:off x="7150298" y="5587603"/>
            <a:ext cx="196453" cy="196453"/>
          </a:xfrm>
          <a:custGeom xmlns:a="http://schemas.openxmlformats.org/drawingml/2006/main">
            <a:rect l="l" t="t" r="r" b="b"/>
            <a:pathLst>
              <a:path w="196453" h="196453">
                <a:moveTo>
                  <a:pt x="196453" y="98227"/>
                </a:moveTo>
                <a:cubicBezTo>
                  <a:pt x="196453" y="152476"/>
                  <a:pt x="152476" y="196453"/>
                  <a:pt x="98227" y="196453"/>
                </a:cubicBezTo>
                <a:cubicBezTo>
                  <a:pt x="43978" y="196453"/>
                  <a:pt x="0" y="152476"/>
                  <a:pt x="0" y="98227"/>
                </a:cubicBezTo>
                <a:cubicBezTo>
                  <a:pt x="0" y="43978"/>
                  <a:pt x="43978" y="0"/>
                  <a:pt x="98227" y="0"/>
                </a:cubicBezTo>
                <a:cubicBezTo>
                  <a:pt x="152476" y="0"/>
                  <a:pt x="196453" y="43978"/>
                  <a:pt x="196453" y="98227"/>
                </a:cubicBezTo>
                <a:close/>
              </a:path>
            </a:pathLst>
          </a:custGeom>
          <a:solidFill xmlns:a="http://schemas.openxmlformats.org/drawingml/2006/main">
            <a:srgbClr val="F7F9FC">
              <a:alpha val="20000"/>
            </a:srgbClr>
          </a:solidFill>
          <a:ln xmlns:a="http://schemas.openxmlformats.org/drawingml/2006/main">
            <a:noFill/>
          </a:ln>
        </p:spPr>
      </p:sp>
      <p:sp>
        <p:nvSpPr>
          <p:cNvPr id="109" name="Freeform 109">
            <a:extLst xmlns:a="http://schemas.openxmlformats.org/drawingml/2006/main">
              <a:ext uri="{FF2B5EF4-FFF2-40B4-BE49-F238E27FC236}">
                <a16:creationId xmlns:a16="http://schemas.microsoft.com/office/drawing/2014/main" id="{037AA2C7-658F-4591-A8C9-8C5B5A35AE2C}"/>
              </a:ext>
            </a:extLst>
          </p:cNvPr>
          <p:cNvSpPr>
            <a:spLocks xmlns:a="http://schemas.openxmlformats.org/drawingml/2006/main" noGrp="1"/>
          </p:cNvSpPr>
          <p:nvPr/>
        </p:nvSpPr>
        <p:spPr>
          <a:xfrm xmlns:a="http://schemas.openxmlformats.org/drawingml/2006/main" rot="0">
            <a:off x="7141369" y="5542955"/>
            <a:ext cx="214312" cy="250031"/>
          </a:xfrm>
          <a:custGeom xmlns:a="http://schemas.openxmlformats.org/drawingml/2006/main">
            <a:rect l="l" t="t" r="r" b="b"/>
            <a:pathLst>
              <a:path w="214312" h="250031">
                <a:moveTo>
                  <a:pt x="107156" y="35719"/>
                </a:moveTo>
                <a:cubicBezTo>
                  <a:pt x="47975" y="35719"/>
                  <a:pt x="0" y="83694"/>
                  <a:pt x="0" y="142875"/>
                </a:cubicBezTo>
                <a:cubicBezTo>
                  <a:pt x="0" y="202056"/>
                  <a:pt x="47975" y="250031"/>
                  <a:pt x="107156" y="250031"/>
                </a:cubicBezTo>
                <a:cubicBezTo>
                  <a:pt x="166337" y="250031"/>
                  <a:pt x="214312" y="202056"/>
                  <a:pt x="214312" y="142875"/>
                </a:cubicBezTo>
                <a:cubicBezTo>
                  <a:pt x="214245" y="83722"/>
                  <a:pt x="166309" y="35786"/>
                  <a:pt x="107156" y="35719"/>
                </a:cubicBezTo>
                <a:close/>
                <a:moveTo>
                  <a:pt x="107156" y="232172"/>
                </a:moveTo>
                <a:cubicBezTo>
                  <a:pt x="57839" y="232172"/>
                  <a:pt x="17859" y="192192"/>
                  <a:pt x="17859" y="142875"/>
                </a:cubicBezTo>
                <a:cubicBezTo>
                  <a:pt x="17859" y="93558"/>
                  <a:pt x="57839" y="53578"/>
                  <a:pt x="107156" y="53578"/>
                </a:cubicBezTo>
                <a:cubicBezTo>
                  <a:pt x="156474" y="53578"/>
                  <a:pt x="196453" y="93558"/>
                  <a:pt x="196453" y="142875"/>
                </a:cubicBezTo>
                <a:cubicBezTo>
                  <a:pt x="196398" y="192169"/>
                  <a:pt x="156451" y="232117"/>
                  <a:pt x="107156" y="232172"/>
                </a:cubicBezTo>
                <a:close/>
                <a:moveTo>
                  <a:pt x="158122" y="91909"/>
                </a:moveTo>
                <a:cubicBezTo>
                  <a:pt x="159799" y="93584"/>
                  <a:pt x="160741" y="95857"/>
                  <a:pt x="160741" y="98227"/>
                </a:cubicBezTo>
                <a:cubicBezTo>
                  <a:pt x="160741" y="100597"/>
                  <a:pt x="159799" y="102869"/>
                  <a:pt x="158122" y="104544"/>
                </a:cubicBezTo>
                <a:lnTo>
                  <a:pt x="113474" y="149193"/>
                </a:lnTo>
                <a:cubicBezTo>
                  <a:pt x="109985" y="152682"/>
                  <a:pt x="104328" y="152682"/>
                  <a:pt x="100838" y="149193"/>
                </a:cubicBezTo>
                <a:cubicBezTo>
                  <a:pt x="97349" y="145704"/>
                  <a:pt x="97349" y="140046"/>
                  <a:pt x="100838" y="136557"/>
                </a:cubicBezTo>
                <a:lnTo>
                  <a:pt x="145487" y="91909"/>
                </a:lnTo>
                <a:cubicBezTo>
                  <a:pt x="147162" y="90232"/>
                  <a:pt x="149435" y="89290"/>
                  <a:pt x="151805" y="89290"/>
                </a:cubicBezTo>
                <a:cubicBezTo>
                  <a:pt x="154175" y="89290"/>
                  <a:pt x="156448" y="90232"/>
                  <a:pt x="158122" y="91909"/>
                </a:cubicBezTo>
                <a:close/>
                <a:moveTo>
                  <a:pt x="71438" y="8930"/>
                </a:moveTo>
                <a:cubicBezTo>
                  <a:pt x="71438" y="3998"/>
                  <a:pt x="75435" y="0"/>
                  <a:pt x="80367" y="0"/>
                </a:cubicBezTo>
                <a:lnTo>
                  <a:pt x="133945" y="0"/>
                </a:lnTo>
                <a:cubicBezTo>
                  <a:pt x="138877" y="0"/>
                  <a:pt x="142875" y="3998"/>
                  <a:pt x="142875" y="8930"/>
                </a:cubicBezTo>
                <a:cubicBezTo>
                  <a:pt x="142875" y="13861"/>
                  <a:pt x="138877" y="17859"/>
                  <a:pt x="133945" y="17859"/>
                </a:cubicBezTo>
                <a:lnTo>
                  <a:pt x="80367" y="17859"/>
                </a:lnTo>
                <a:cubicBezTo>
                  <a:pt x="75435" y="17859"/>
                  <a:pt x="71438" y="13861"/>
                  <a:pt x="71438" y="8930"/>
                </a:cubicBezTo>
                <a:close/>
              </a:path>
            </a:pathLst>
          </a:custGeom>
          <a:solidFill xmlns:a="http://schemas.openxmlformats.org/drawingml/2006/main">
            <a:srgbClr val="F7F9FC"/>
          </a:solidFill>
          <a:ln xmlns:a="http://schemas.openxmlformats.org/drawingml/2006/main">
            <a:noFill/>
          </a:ln>
        </p:spPr>
      </p:sp>
      <p:sp>
        <p:nvSpPr>
          <p:cNvPr id="111" name="TextBox 111">
            <a:extLst xmlns:a="http://schemas.openxmlformats.org/drawingml/2006/main">
              <a:ext uri="{FF2B5EF4-FFF2-40B4-BE49-F238E27FC236}">
                <a16:creationId xmlns:a16="http://schemas.microsoft.com/office/drawing/2014/main" id="{95DA6513-E33B-4BDF-8864-9D24EE660AC1}"/>
              </a:ext>
            </a:extLst>
          </p:cNvPr>
          <p:cNvSpPr>
            <a:spLocks xmlns:a="http://schemas.openxmlformats.org/drawingml/2006/main" noGrp="1"/>
          </p:cNvSpPr>
          <p:nvPr/>
        </p:nvSpPr>
        <p:spPr>
          <a:xfrm xmlns:a="http://schemas.openxmlformats.org/drawingml/2006/main" rot="0">
            <a:off x="7472362" y="5612606"/>
            <a:ext cx="15486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Clock and reminders</a:t>
            </a:r>
          </a:p>
        </p:txBody>
      </p:sp>
      <p:sp>
        <p:nvSpPr>
          <p:cNvPr id="112" name="Freeform 112">
            <a:extLst xmlns:a="http://schemas.openxmlformats.org/drawingml/2006/main">
              <a:ext uri="{FF2B5EF4-FFF2-40B4-BE49-F238E27FC236}">
                <a16:creationId xmlns:a16="http://schemas.microsoft.com/office/drawing/2014/main" id="{49974223-9596-40FC-9BA9-D19229FB55F9}"/>
              </a:ext>
            </a:extLst>
          </p:cNvPr>
          <p:cNvSpPr>
            <a:spLocks xmlns:a="http://schemas.openxmlformats.org/drawingml/2006/main" noGrp="1"/>
          </p:cNvSpPr>
          <p:nvPr/>
        </p:nvSpPr>
        <p:spPr>
          <a:xfrm xmlns:a="http://schemas.openxmlformats.org/drawingml/2006/main" rot="0">
            <a:off x="9550253" y="5578673"/>
            <a:ext cx="197166" cy="169664"/>
          </a:xfrm>
          <a:custGeom xmlns:a="http://schemas.openxmlformats.org/drawingml/2006/main">
            <a:rect l="l" t="t" r="r" b="b"/>
            <a:pathLst>
              <a:path w="197166" h="169664">
                <a:moveTo>
                  <a:pt x="187869" y="169664"/>
                </a:moveTo>
                <a:lnTo>
                  <a:pt x="9275" y="169664"/>
                </a:lnTo>
                <a:cubicBezTo>
                  <a:pt x="6094" y="169645"/>
                  <a:pt x="3164" y="167935"/>
                  <a:pt x="1582" y="165176"/>
                </a:cubicBezTo>
                <a:cubicBezTo>
                  <a:pt x="0" y="162417"/>
                  <a:pt x="5" y="159024"/>
                  <a:pt x="1596" y="156270"/>
                </a:cubicBezTo>
                <a:cubicBezTo>
                  <a:pt x="8951" y="143545"/>
                  <a:pt x="18205" y="120339"/>
                  <a:pt x="18205" y="80367"/>
                </a:cubicBezTo>
                <a:cubicBezTo>
                  <a:pt x="18205" y="35982"/>
                  <a:pt x="54186" y="0"/>
                  <a:pt x="98572" y="0"/>
                </a:cubicBezTo>
                <a:cubicBezTo>
                  <a:pt x="142958" y="0"/>
                  <a:pt x="178939" y="35982"/>
                  <a:pt x="178939" y="80367"/>
                </a:cubicBezTo>
                <a:cubicBezTo>
                  <a:pt x="178939" y="120350"/>
                  <a:pt x="188204" y="143545"/>
                  <a:pt x="195571" y="156270"/>
                </a:cubicBezTo>
                <a:cubicBezTo>
                  <a:pt x="197163" y="159028"/>
                  <a:pt x="197166" y="162425"/>
                  <a:pt x="195579" y="165186"/>
                </a:cubicBezTo>
                <a:cubicBezTo>
                  <a:pt x="193991" y="167946"/>
                  <a:pt x="191053" y="169653"/>
                  <a:pt x="187869" y="169664"/>
                </a:cubicBezTo>
                <a:close/>
              </a:path>
            </a:pathLst>
          </a:custGeom>
          <a:solidFill xmlns:a="http://schemas.openxmlformats.org/drawingml/2006/main">
            <a:srgbClr val="F7F9FC">
              <a:alpha val="20000"/>
            </a:srgbClr>
          </a:solidFill>
          <a:ln xmlns:a="http://schemas.openxmlformats.org/drawingml/2006/main">
            <a:noFill/>
          </a:ln>
        </p:spPr>
      </p:sp>
      <p:sp>
        <p:nvSpPr>
          <p:cNvPr id="113" name="Freeform 113">
            <a:extLst xmlns:a="http://schemas.openxmlformats.org/drawingml/2006/main">
              <a:ext uri="{FF2B5EF4-FFF2-40B4-BE49-F238E27FC236}">
                <a16:creationId xmlns:a16="http://schemas.microsoft.com/office/drawing/2014/main" id="{C1350793-AA0D-4ED4-B75D-9A19B66E4218}"/>
              </a:ext>
            </a:extLst>
          </p:cNvPr>
          <p:cNvSpPr>
            <a:spLocks xmlns:a="http://schemas.openxmlformats.org/drawingml/2006/main" noGrp="1"/>
          </p:cNvSpPr>
          <p:nvPr/>
        </p:nvSpPr>
        <p:spPr>
          <a:xfrm xmlns:a="http://schemas.openxmlformats.org/drawingml/2006/main" rot="0">
            <a:off x="9536451" y="5551421"/>
            <a:ext cx="225614" cy="241609"/>
          </a:xfrm>
          <a:custGeom xmlns:a="http://schemas.openxmlformats.org/drawingml/2006/main">
            <a:rect l="l" t="t" r="r" b="b"/>
            <a:pathLst>
              <a:path w="225614" h="241609">
                <a:moveTo>
                  <a:pt x="219530" y="61966"/>
                </a:moveTo>
                <a:cubicBezTo>
                  <a:pt x="215153" y="64233"/>
                  <a:pt x="209767" y="62524"/>
                  <a:pt x="207498" y="58149"/>
                </a:cubicBezTo>
                <a:cubicBezTo>
                  <a:pt x="198974" y="41311"/>
                  <a:pt x="186073" y="27079"/>
                  <a:pt x="170149" y="16949"/>
                </a:cubicBezTo>
                <a:cubicBezTo>
                  <a:pt x="167449" y="15247"/>
                  <a:pt x="165863" y="12233"/>
                  <a:pt x="165988" y="9043"/>
                </a:cubicBezTo>
                <a:cubicBezTo>
                  <a:pt x="166113" y="5854"/>
                  <a:pt x="167930" y="2973"/>
                  <a:pt x="170754" y="1487"/>
                </a:cubicBezTo>
                <a:cubicBezTo>
                  <a:pt x="173579" y="0"/>
                  <a:pt x="176982" y="133"/>
                  <a:pt x="179682" y="1836"/>
                </a:cubicBezTo>
                <a:cubicBezTo>
                  <a:pt x="198240" y="13718"/>
                  <a:pt x="213309" y="30317"/>
                  <a:pt x="223348" y="49933"/>
                </a:cubicBezTo>
                <a:cubicBezTo>
                  <a:pt x="225614" y="54311"/>
                  <a:pt x="223906" y="59696"/>
                  <a:pt x="219530" y="61966"/>
                </a:cubicBezTo>
                <a:close/>
                <a:moveTo>
                  <a:pt x="9359" y="62971"/>
                </a:moveTo>
                <a:cubicBezTo>
                  <a:pt x="12694" y="62969"/>
                  <a:pt x="15750" y="61110"/>
                  <a:pt x="17284" y="58149"/>
                </a:cubicBezTo>
                <a:cubicBezTo>
                  <a:pt x="25807" y="41311"/>
                  <a:pt x="38709" y="27079"/>
                  <a:pt x="54632" y="16949"/>
                </a:cubicBezTo>
                <a:cubicBezTo>
                  <a:pt x="57332" y="15247"/>
                  <a:pt x="58918" y="12233"/>
                  <a:pt x="58794" y="9043"/>
                </a:cubicBezTo>
                <a:cubicBezTo>
                  <a:pt x="58669" y="5854"/>
                  <a:pt x="56852" y="2973"/>
                  <a:pt x="54027" y="1487"/>
                </a:cubicBezTo>
                <a:cubicBezTo>
                  <a:pt x="51203" y="0"/>
                  <a:pt x="47800" y="133"/>
                  <a:pt x="45100" y="1836"/>
                </a:cubicBezTo>
                <a:cubicBezTo>
                  <a:pt x="26542" y="13718"/>
                  <a:pt x="11473" y="30317"/>
                  <a:pt x="1434" y="49933"/>
                </a:cubicBezTo>
                <a:cubicBezTo>
                  <a:pt x="0" y="52701"/>
                  <a:pt x="113" y="56016"/>
                  <a:pt x="1732" y="58680"/>
                </a:cubicBezTo>
                <a:cubicBezTo>
                  <a:pt x="3351" y="61343"/>
                  <a:pt x="6242" y="62970"/>
                  <a:pt x="9359" y="62971"/>
                </a:cubicBezTo>
                <a:close/>
                <a:moveTo>
                  <a:pt x="217086" y="178990"/>
                </a:moveTo>
                <a:cubicBezTo>
                  <a:pt x="220306" y="184512"/>
                  <a:pt x="220329" y="191333"/>
                  <a:pt x="217147" y="196877"/>
                </a:cubicBezTo>
                <a:cubicBezTo>
                  <a:pt x="213965" y="202421"/>
                  <a:pt x="208063" y="205841"/>
                  <a:pt x="201671" y="205846"/>
                </a:cubicBezTo>
                <a:lnTo>
                  <a:pt x="156129" y="205846"/>
                </a:lnTo>
                <a:cubicBezTo>
                  <a:pt x="151904" y="226655"/>
                  <a:pt x="133608" y="241609"/>
                  <a:pt x="112374" y="241609"/>
                </a:cubicBezTo>
                <a:cubicBezTo>
                  <a:pt x="91140" y="241609"/>
                  <a:pt x="72844" y="226655"/>
                  <a:pt x="68619" y="205846"/>
                </a:cubicBezTo>
                <a:lnTo>
                  <a:pt x="23077" y="205846"/>
                </a:lnTo>
                <a:cubicBezTo>
                  <a:pt x="16689" y="205833"/>
                  <a:pt x="10794" y="202410"/>
                  <a:pt x="7618" y="196867"/>
                </a:cubicBezTo>
                <a:cubicBezTo>
                  <a:pt x="4441" y="191325"/>
                  <a:pt x="4467" y="184508"/>
                  <a:pt x="7685" y="178990"/>
                </a:cubicBezTo>
                <a:cubicBezTo>
                  <a:pt x="17742" y="161633"/>
                  <a:pt x="23077" y="136953"/>
                  <a:pt x="23077" y="107619"/>
                </a:cubicBezTo>
                <a:cubicBezTo>
                  <a:pt x="23077" y="58302"/>
                  <a:pt x="63057" y="18322"/>
                  <a:pt x="112374" y="18322"/>
                </a:cubicBezTo>
                <a:cubicBezTo>
                  <a:pt x="161691" y="18322"/>
                  <a:pt x="201671" y="58302"/>
                  <a:pt x="201671" y="107619"/>
                </a:cubicBezTo>
                <a:cubicBezTo>
                  <a:pt x="201671" y="136942"/>
                  <a:pt x="207006" y="161622"/>
                  <a:pt x="217086" y="178990"/>
                </a:cubicBezTo>
                <a:close/>
                <a:moveTo>
                  <a:pt x="137623" y="205846"/>
                </a:moveTo>
                <a:lnTo>
                  <a:pt x="87125" y="205846"/>
                </a:lnTo>
                <a:cubicBezTo>
                  <a:pt x="90916" y="216537"/>
                  <a:pt x="101030" y="223682"/>
                  <a:pt x="112374" y="223682"/>
                </a:cubicBezTo>
                <a:cubicBezTo>
                  <a:pt x="123718" y="223682"/>
                  <a:pt x="133832" y="216537"/>
                  <a:pt x="137623" y="205846"/>
                </a:cubicBezTo>
                <a:close/>
                <a:moveTo>
                  <a:pt x="201671" y="187986"/>
                </a:moveTo>
                <a:cubicBezTo>
                  <a:pt x="189794" y="167593"/>
                  <a:pt x="183812" y="140559"/>
                  <a:pt x="183812" y="107619"/>
                </a:cubicBezTo>
                <a:cubicBezTo>
                  <a:pt x="183812" y="68165"/>
                  <a:pt x="151828" y="36182"/>
                  <a:pt x="112374" y="36182"/>
                </a:cubicBezTo>
                <a:cubicBezTo>
                  <a:pt x="72920" y="36182"/>
                  <a:pt x="40937" y="68165"/>
                  <a:pt x="40937" y="107619"/>
                </a:cubicBezTo>
                <a:cubicBezTo>
                  <a:pt x="40937" y="140570"/>
                  <a:pt x="34931" y="167604"/>
                  <a:pt x="23077" y="187986"/>
                </a:cubicBezTo>
                <a:close/>
              </a:path>
            </a:pathLst>
          </a:custGeom>
          <a:solidFill xmlns:a="http://schemas.openxmlformats.org/drawingml/2006/main">
            <a:srgbClr val="F7F9FC"/>
          </a:solidFill>
          <a:ln xmlns:a="http://schemas.openxmlformats.org/drawingml/2006/main">
            <a:noFill/>
          </a:ln>
        </p:spPr>
      </p:sp>
      <p:sp>
        <p:nvSpPr>
          <p:cNvPr id="115" name="TextBox 115">
            <a:extLst xmlns:a="http://schemas.openxmlformats.org/drawingml/2006/main">
              <a:ext uri="{FF2B5EF4-FFF2-40B4-BE49-F238E27FC236}">
                <a16:creationId xmlns:a16="http://schemas.microsoft.com/office/drawing/2014/main" id="{6E9D3710-584E-47AA-A0F4-6B03D89122D6}"/>
              </a:ext>
            </a:extLst>
          </p:cNvPr>
          <p:cNvSpPr>
            <a:spLocks xmlns:a="http://schemas.openxmlformats.org/drawingml/2006/main" noGrp="1"/>
          </p:cNvSpPr>
          <p:nvPr/>
        </p:nvSpPr>
        <p:spPr>
          <a:xfrm xmlns:a="http://schemas.openxmlformats.org/drawingml/2006/main" rot="0">
            <a:off x="9872662" y="5612606"/>
            <a:ext cx="1162717"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Robot actuation</a:t>
            </a:r>
          </a:p>
        </p:txBody>
      </p:sp>
      <p:sp>
        <p:nvSpPr>
          <p:cNvPr id="117" name="TextBox 117">
            <a:extLst xmlns:a="http://schemas.openxmlformats.org/drawingml/2006/main">
              <a:ext uri="{FF2B5EF4-FFF2-40B4-BE49-F238E27FC236}">
                <a16:creationId xmlns:a16="http://schemas.microsoft.com/office/drawing/2014/main" id="{9BAED29A-44DD-432E-A1BE-93329C381D4D}"/>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05</a:t>
            </a:r>
          </a:p>
        </p:txBody>
      </p:sp>
    </p:spTree>
    <p:extLst>
      <p:ext uri="{BB962C8B-B14F-4D97-AF65-F5344CB8AC3E}">
        <p14:creationId xmlns:p14="http://schemas.microsoft.com/office/powerpoint/2010/main" val="20083307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011449BB-7B76-48E0-81C7-D37C2EC3EDA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70628538-7BAA-4F93-B6E8-4F1689B2ABD5}"/>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BFD03EB1-025D-4B05-AD33-837B250F9D7F}"/>
              </a:ext>
            </a:extLst>
          </p:cNvPr>
          <p:cNvSpPr>
            <a:spLocks xmlns:a="http://schemas.openxmlformats.org/drawingml/2006/main" noGrp="1"/>
          </p:cNvSpPr>
          <p:nvPr/>
        </p:nvSpPr>
        <p:spPr>
          <a:xfrm xmlns:a="http://schemas.openxmlformats.org/drawingml/2006/main" rot="0">
            <a:off x="659130" y="411480"/>
            <a:ext cx="2096895"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UNIFIED EVENT OUTPUT</a:t>
            </a:r>
          </a:p>
        </p:txBody>
      </p:sp>
      <p:sp>
        <p:nvSpPr>
          <p:cNvPr id="5" name="Line 5">
            <a:extLst xmlns:a="http://schemas.openxmlformats.org/drawingml/2006/main">
              <a:ext uri="{FF2B5EF4-FFF2-40B4-BE49-F238E27FC236}">
                <a16:creationId xmlns:a16="http://schemas.microsoft.com/office/drawing/2014/main" id="{A4725BC9-044D-4CAC-975C-3D1B76373969}"/>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7" name="Freeform 7">
            <a:extLst xmlns:a="http://schemas.openxmlformats.org/drawingml/2006/main">
              <a:ext uri="{FF2B5EF4-FFF2-40B4-BE49-F238E27FC236}">
                <a16:creationId xmlns:a16="http://schemas.microsoft.com/office/drawing/2014/main" id="{9C0A5220-37B0-44FA-A668-5A11F30D8AD2}"/>
              </a:ext>
            </a:extLst>
          </p:cNvPr>
          <p:cNvSpPr>
            <a:spLocks xmlns:a="http://schemas.openxmlformats.org/drawingml/2006/main" noGrp="1"/>
          </p:cNvSpPr>
          <p:nvPr/>
        </p:nvSpPr>
        <p:spPr>
          <a:xfrm xmlns:a="http://schemas.openxmlformats.org/drawingml/2006/main" rot="0">
            <a:off x="510778" y="122396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2F80ED">
              <a:alpha val="20000"/>
            </a:srgbClr>
          </a:solidFill>
          <a:ln xmlns:a="http://schemas.openxmlformats.org/drawingml/2006/main">
            <a:noFill/>
          </a:ln>
        </p:spPr>
      </p:sp>
      <p:sp>
        <p:nvSpPr>
          <p:cNvPr id="8" name="Freeform 8">
            <a:extLst xmlns:a="http://schemas.openxmlformats.org/drawingml/2006/main">
              <a:ext uri="{FF2B5EF4-FFF2-40B4-BE49-F238E27FC236}">
                <a16:creationId xmlns:a16="http://schemas.microsoft.com/office/drawing/2014/main" id="{72189FB1-83AE-4873-8C5B-572D59E92A55}"/>
              </a:ext>
            </a:extLst>
          </p:cNvPr>
          <p:cNvSpPr>
            <a:spLocks xmlns:a="http://schemas.openxmlformats.org/drawingml/2006/main" noGrp="1"/>
          </p:cNvSpPr>
          <p:nvPr/>
        </p:nvSpPr>
        <p:spPr>
          <a:xfrm xmlns:a="http://schemas.openxmlformats.org/drawingml/2006/main" rot="0">
            <a:off x="500062" y="121324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2F80ED"/>
          </a:solidFill>
          <a:ln xmlns:a="http://schemas.openxmlformats.org/drawingml/2006/main">
            <a:noFill/>
          </a:ln>
        </p:spPr>
      </p:sp>
      <p:sp>
        <p:nvSpPr>
          <p:cNvPr id="10" name="TextBox 10">
            <a:extLst xmlns:a="http://schemas.openxmlformats.org/drawingml/2006/main">
              <a:ext uri="{FF2B5EF4-FFF2-40B4-BE49-F238E27FC236}">
                <a16:creationId xmlns:a16="http://schemas.microsoft.com/office/drawing/2014/main" id="{1F349FD2-5A3A-4AA4-B095-EE154A8A9AFC}"/>
              </a:ext>
            </a:extLst>
          </p:cNvPr>
          <p:cNvSpPr>
            <a:spLocks xmlns:a="http://schemas.openxmlformats.org/drawingml/2006/main" noGrp="1"/>
          </p:cNvSpPr>
          <p:nvPr/>
        </p:nvSpPr>
        <p:spPr>
          <a:xfrm xmlns:a="http://schemas.openxmlformats.org/drawingml/2006/main" rot="0">
            <a:off x="902018" y="1304449"/>
            <a:ext cx="134215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RAW MODEL OUTPUTS</a:t>
            </a:r>
          </a:p>
        </p:txBody>
      </p:sp>
      <p:sp>
        <p:nvSpPr>
          <p:cNvPr id="11" name="Line 11">
            <a:extLst xmlns:a="http://schemas.openxmlformats.org/drawingml/2006/main">
              <a:ext uri="{FF2B5EF4-FFF2-40B4-BE49-F238E27FC236}">
                <a16:creationId xmlns:a16="http://schemas.microsoft.com/office/drawing/2014/main" id="{1439F272-66A5-41B2-B620-65D91AB7CFC2}"/>
              </a:ext>
            </a:extLst>
          </p:cNvPr>
          <p:cNvSpPr>
            <a:spLocks xmlns:a="http://schemas.openxmlformats.org/drawingml/2006/main" noGrp="1"/>
          </p:cNvSpPr>
          <p:nvPr/>
        </p:nvSpPr>
        <p:spPr>
          <a:xfrm xmlns:a="http://schemas.openxmlformats.org/drawingml/2006/main" rot="0">
            <a:off x="457200" y="1657350"/>
            <a:ext cx="2266950" cy="9525"/>
          </a:xfrm>
          <a:custGeom xmlns:a="http://schemas.openxmlformats.org/drawingml/2006/main">
            <a:rect l="l" t="t" r="r" b="b"/>
            <a:pathLst>
              <a:path w="2266950" h="9525">
                <a:moveTo>
                  <a:pt x="0" y="0"/>
                </a:moveTo>
                <a:lnTo>
                  <a:pt x="2266950" y="0"/>
                </a:lnTo>
              </a:path>
            </a:pathLst>
          </a:custGeom>
          <a:noFill xmlns:a="http://schemas.openxmlformats.org/drawingml/2006/main"/>
          <a:ln xmlns:a="http://schemas.openxmlformats.org/drawingml/2006/main" w="9525">
            <a:solidFill>
              <a:srgbClr val="CED8E4"/>
            </a:solidFill>
          </a:ln>
        </p:spPr>
      </p:sp>
      <p:sp>
        <p:nvSpPr>
          <p:cNvPr id="12" name="TextBox 12">
            <a:extLst xmlns:a="http://schemas.openxmlformats.org/drawingml/2006/main">
              <a:ext uri="{FF2B5EF4-FFF2-40B4-BE49-F238E27FC236}">
                <a16:creationId xmlns:a16="http://schemas.microsoft.com/office/drawing/2014/main" id="{981E8118-DCBA-477F-A1A2-9F55106D52FC}"/>
              </a:ext>
            </a:extLst>
          </p:cNvPr>
          <p:cNvSpPr>
            <a:spLocks xmlns:a="http://schemas.openxmlformats.org/drawingml/2006/main" noGrp="1"/>
          </p:cNvSpPr>
          <p:nvPr/>
        </p:nvSpPr>
        <p:spPr>
          <a:xfrm xmlns:a="http://schemas.openxmlformats.org/drawingml/2006/main" rot="0">
            <a:off x="442912" y="1850231"/>
            <a:ext cx="80042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23B5D"/>
                </a:solidFill>
                <a:latin typeface="Arial"/>
                <a:ea typeface="Arial"/>
                <a:cs typeface="Arial"/>
              </a:rPr>
              <a:t>KEYPOINTS</a:t>
            </a:r>
          </a:p>
        </p:txBody>
      </p:sp>
      <p:sp>
        <p:nvSpPr>
          <p:cNvPr id="13" name="TextBox 13">
            <a:extLst xmlns:a="http://schemas.openxmlformats.org/drawingml/2006/main">
              <a:ext uri="{FF2B5EF4-FFF2-40B4-BE49-F238E27FC236}">
                <a16:creationId xmlns:a16="http://schemas.microsoft.com/office/drawing/2014/main" id="{F76FCE47-840C-493B-8944-3A87975847F9}"/>
              </a:ext>
            </a:extLst>
          </p:cNvPr>
          <p:cNvSpPr>
            <a:spLocks xmlns:a="http://schemas.openxmlformats.org/drawingml/2006/main" noGrp="1"/>
          </p:cNvSpPr>
          <p:nvPr/>
        </p:nvSpPr>
        <p:spPr>
          <a:xfrm xmlns:a="http://schemas.openxmlformats.org/drawingml/2006/main" rot="0">
            <a:off x="444818" y="2075974"/>
            <a:ext cx="118191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Body · face · hand</a:t>
            </a:r>
          </a:p>
        </p:txBody>
      </p:sp>
      <p:sp>
        <p:nvSpPr>
          <p:cNvPr id="14" name="Line 14">
            <a:extLst xmlns:a="http://schemas.openxmlformats.org/drawingml/2006/main">
              <a:ext uri="{FF2B5EF4-FFF2-40B4-BE49-F238E27FC236}">
                <a16:creationId xmlns:a16="http://schemas.microsoft.com/office/drawing/2014/main" id="{6826E00D-DB85-486E-8534-D6C591AD1365}"/>
              </a:ext>
            </a:extLst>
          </p:cNvPr>
          <p:cNvSpPr>
            <a:spLocks xmlns:a="http://schemas.openxmlformats.org/drawingml/2006/main" noGrp="1"/>
          </p:cNvSpPr>
          <p:nvPr/>
        </p:nvSpPr>
        <p:spPr>
          <a:xfrm xmlns:a="http://schemas.openxmlformats.org/drawingml/2006/main" rot="0">
            <a:off x="457200" y="2343150"/>
            <a:ext cx="2266950" cy="9525"/>
          </a:xfrm>
          <a:custGeom xmlns:a="http://schemas.openxmlformats.org/drawingml/2006/main">
            <a:rect l="l" t="t" r="r" b="b"/>
            <a:pathLst>
              <a:path w="2266950" h="9525">
                <a:moveTo>
                  <a:pt x="0" y="0"/>
                </a:moveTo>
                <a:lnTo>
                  <a:pt x="2266950" y="0"/>
                </a:lnTo>
              </a:path>
            </a:pathLst>
          </a:custGeom>
          <a:noFill xmlns:a="http://schemas.openxmlformats.org/drawingml/2006/main"/>
          <a:ln xmlns:a="http://schemas.openxmlformats.org/drawingml/2006/main" w="9525">
            <a:solidFill>
              <a:srgbClr val="CED8E4"/>
            </a:solidFill>
          </a:ln>
        </p:spPr>
      </p:sp>
      <p:sp>
        <p:nvSpPr>
          <p:cNvPr id="15" name="TextBox 15">
            <a:extLst xmlns:a="http://schemas.openxmlformats.org/drawingml/2006/main">
              <a:ext uri="{FF2B5EF4-FFF2-40B4-BE49-F238E27FC236}">
                <a16:creationId xmlns:a16="http://schemas.microsoft.com/office/drawing/2014/main" id="{D33A0924-9754-4C66-8DCF-819D71C0AA7E}"/>
              </a:ext>
            </a:extLst>
          </p:cNvPr>
          <p:cNvSpPr>
            <a:spLocks xmlns:a="http://schemas.openxmlformats.org/drawingml/2006/main" noGrp="1"/>
          </p:cNvSpPr>
          <p:nvPr/>
        </p:nvSpPr>
        <p:spPr>
          <a:xfrm xmlns:a="http://schemas.openxmlformats.org/drawingml/2006/main" rot="0">
            <a:off x="442912" y="2536031"/>
            <a:ext cx="80042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23B5D"/>
                </a:solidFill>
                <a:latin typeface="Arial"/>
                <a:ea typeface="Arial"/>
                <a:cs typeface="Arial"/>
              </a:rPr>
              <a:t>DETECTION</a:t>
            </a:r>
          </a:p>
        </p:txBody>
      </p:sp>
      <p:sp>
        <p:nvSpPr>
          <p:cNvPr id="16" name="TextBox 16">
            <a:extLst xmlns:a="http://schemas.openxmlformats.org/drawingml/2006/main">
              <a:ext uri="{FF2B5EF4-FFF2-40B4-BE49-F238E27FC236}">
                <a16:creationId xmlns:a16="http://schemas.microsoft.com/office/drawing/2014/main" id="{2D13F577-8B98-415B-A356-0DB37996A88D}"/>
              </a:ext>
            </a:extLst>
          </p:cNvPr>
          <p:cNvSpPr>
            <a:spLocks xmlns:a="http://schemas.openxmlformats.org/drawingml/2006/main" noGrp="1"/>
          </p:cNvSpPr>
          <p:nvPr/>
        </p:nvSpPr>
        <p:spPr>
          <a:xfrm xmlns:a="http://schemas.openxmlformats.org/drawingml/2006/main" rot="0">
            <a:off x="444818" y="2761774"/>
            <a:ext cx="154595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Class · box · confidence</a:t>
            </a:r>
          </a:p>
        </p:txBody>
      </p:sp>
      <p:sp>
        <p:nvSpPr>
          <p:cNvPr id="17" name="Line 17">
            <a:extLst xmlns:a="http://schemas.openxmlformats.org/drawingml/2006/main">
              <a:ext uri="{FF2B5EF4-FFF2-40B4-BE49-F238E27FC236}">
                <a16:creationId xmlns:a16="http://schemas.microsoft.com/office/drawing/2014/main" id="{9468F494-26D9-4F1D-A5A7-E06199DA66E1}"/>
              </a:ext>
            </a:extLst>
          </p:cNvPr>
          <p:cNvSpPr>
            <a:spLocks xmlns:a="http://schemas.openxmlformats.org/drawingml/2006/main" noGrp="1"/>
          </p:cNvSpPr>
          <p:nvPr/>
        </p:nvSpPr>
        <p:spPr>
          <a:xfrm xmlns:a="http://schemas.openxmlformats.org/drawingml/2006/main" rot="0">
            <a:off x="457200" y="3028950"/>
            <a:ext cx="2266950" cy="9525"/>
          </a:xfrm>
          <a:custGeom xmlns:a="http://schemas.openxmlformats.org/drawingml/2006/main">
            <a:rect l="l" t="t" r="r" b="b"/>
            <a:pathLst>
              <a:path w="2266950" h="9525">
                <a:moveTo>
                  <a:pt x="0" y="0"/>
                </a:moveTo>
                <a:lnTo>
                  <a:pt x="2266950" y="0"/>
                </a:lnTo>
              </a:path>
            </a:pathLst>
          </a:custGeom>
          <a:noFill xmlns:a="http://schemas.openxmlformats.org/drawingml/2006/main"/>
          <a:ln xmlns:a="http://schemas.openxmlformats.org/drawingml/2006/main" w="9525">
            <a:solidFill>
              <a:srgbClr val="CED8E4"/>
            </a:solidFill>
          </a:ln>
        </p:spPr>
      </p:sp>
      <p:sp>
        <p:nvSpPr>
          <p:cNvPr id="18" name="TextBox 18">
            <a:extLst xmlns:a="http://schemas.openxmlformats.org/drawingml/2006/main">
              <a:ext uri="{FF2B5EF4-FFF2-40B4-BE49-F238E27FC236}">
                <a16:creationId xmlns:a16="http://schemas.microsoft.com/office/drawing/2014/main" id="{E26BBA5B-330E-48FB-BA61-C5E8D6BE1D4E}"/>
              </a:ext>
            </a:extLst>
          </p:cNvPr>
          <p:cNvSpPr>
            <a:spLocks xmlns:a="http://schemas.openxmlformats.org/drawingml/2006/main" noGrp="1"/>
          </p:cNvSpPr>
          <p:nvPr/>
        </p:nvSpPr>
        <p:spPr>
          <a:xfrm xmlns:a="http://schemas.openxmlformats.org/drawingml/2006/main" rot="0">
            <a:off x="442912" y="3221831"/>
            <a:ext cx="64290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23B5D"/>
                </a:solidFill>
                <a:latin typeface="Arial"/>
                <a:ea typeface="Arial"/>
                <a:cs typeface="Arial"/>
              </a:rPr>
              <a:t>IDENTITY</a:t>
            </a:r>
          </a:p>
        </p:txBody>
      </p:sp>
      <p:sp>
        <p:nvSpPr>
          <p:cNvPr id="19" name="TextBox 19">
            <a:extLst xmlns:a="http://schemas.openxmlformats.org/drawingml/2006/main">
              <a:ext uri="{FF2B5EF4-FFF2-40B4-BE49-F238E27FC236}">
                <a16:creationId xmlns:a16="http://schemas.microsoft.com/office/drawing/2014/main" id="{7E8CE46B-09BD-4A51-8330-8361318A1946}"/>
              </a:ext>
            </a:extLst>
          </p:cNvPr>
          <p:cNvSpPr>
            <a:spLocks xmlns:a="http://schemas.openxmlformats.org/drawingml/2006/main" noGrp="1"/>
          </p:cNvSpPr>
          <p:nvPr/>
        </p:nvSpPr>
        <p:spPr>
          <a:xfrm xmlns:a="http://schemas.openxmlformats.org/drawingml/2006/main" rot="0">
            <a:off x="444818" y="3447574"/>
            <a:ext cx="142244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Embedding · similarity</a:t>
            </a:r>
          </a:p>
        </p:txBody>
      </p:sp>
      <p:sp>
        <p:nvSpPr>
          <p:cNvPr id="20" name="Line 20">
            <a:extLst xmlns:a="http://schemas.openxmlformats.org/drawingml/2006/main">
              <a:ext uri="{FF2B5EF4-FFF2-40B4-BE49-F238E27FC236}">
                <a16:creationId xmlns:a16="http://schemas.microsoft.com/office/drawing/2014/main" id="{17FBC752-78F4-4F02-B44C-672C69844E1D}"/>
              </a:ext>
            </a:extLst>
          </p:cNvPr>
          <p:cNvSpPr>
            <a:spLocks xmlns:a="http://schemas.openxmlformats.org/drawingml/2006/main" noGrp="1"/>
          </p:cNvSpPr>
          <p:nvPr/>
        </p:nvSpPr>
        <p:spPr>
          <a:xfrm xmlns:a="http://schemas.openxmlformats.org/drawingml/2006/main" rot="0">
            <a:off x="457200" y="3714750"/>
            <a:ext cx="2266950" cy="9525"/>
          </a:xfrm>
          <a:custGeom xmlns:a="http://schemas.openxmlformats.org/drawingml/2006/main">
            <a:rect l="l" t="t" r="r" b="b"/>
            <a:pathLst>
              <a:path w="2266950" h="9525">
                <a:moveTo>
                  <a:pt x="0" y="0"/>
                </a:moveTo>
                <a:lnTo>
                  <a:pt x="2266950" y="0"/>
                </a:lnTo>
              </a:path>
            </a:pathLst>
          </a:custGeom>
          <a:noFill xmlns:a="http://schemas.openxmlformats.org/drawingml/2006/main"/>
          <a:ln xmlns:a="http://schemas.openxmlformats.org/drawingml/2006/main" w="9525">
            <a:solidFill>
              <a:srgbClr val="CED8E4"/>
            </a:solidFill>
          </a:ln>
        </p:spPr>
      </p:sp>
      <p:sp>
        <p:nvSpPr>
          <p:cNvPr id="21" name="TextBox 21">
            <a:extLst xmlns:a="http://schemas.openxmlformats.org/drawingml/2006/main">
              <a:ext uri="{FF2B5EF4-FFF2-40B4-BE49-F238E27FC236}">
                <a16:creationId xmlns:a16="http://schemas.microsoft.com/office/drawing/2014/main" id="{CE45A340-C8AA-4A61-821F-05BB6955529F}"/>
              </a:ext>
            </a:extLst>
          </p:cNvPr>
          <p:cNvSpPr>
            <a:spLocks xmlns:a="http://schemas.openxmlformats.org/drawingml/2006/main" noGrp="1"/>
          </p:cNvSpPr>
          <p:nvPr/>
        </p:nvSpPr>
        <p:spPr>
          <a:xfrm xmlns:a="http://schemas.openxmlformats.org/drawingml/2006/main" rot="0">
            <a:off x="442912" y="3907631"/>
            <a:ext cx="63502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23B5D"/>
                </a:solidFill>
                <a:latin typeface="Arial"/>
                <a:ea typeface="Arial"/>
                <a:cs typeface="Arial"/>
              </a:rPr>
              <a:t>GESTURE</a:t>
            </a:r>
          </a:p>
        </p:txBody>
      </p:sp>
      <p:sp>
        <p:nvSpPr>
          <p:cNvPr id="22" name="TextBox 22">
            <a:extLst xmlns:a="http://schemas.openxmlformats.org/drawingml/2006/main">
              <a:ext uri="{FF2B5EF4-FFF2-40B4-BE49-F238E27FC236}">
                <a16:creationId xmlns:a16="http://schemas.microsoft.com/office/drawing/2014/main" id="{CE6AB0FB-F1FA-4CD6-9BCF-1E67798AB54A}"/>
              </a:ext>
            </a:extLst>
          </p:cNvPr>
          <p:cNvSpPr>
            <a:spLocks xmlns:a="http://schemas.openxmlformats.org/drawingml/2006/main" noGrp="1"/>
          </p:cNvSpPr>
          <p:nvPr/>
        </p:nvSpPr>
        <p:spPr>
          <a:xfrm xmlns:a="http://schemas.openxmlformats.org/drawingml/2006/main" rot="0">
            <a:off x="444818" y="4133374"/>
            <a:ext cx="118841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Class · probability</a:t>
            </a:r>
          </a:p>
        </p:txBody>
      </p:sp>
      <p:sp>
        <p:nvSpPr>
          <p:cNvPr id="23" name="Line 23">
            <a:extLst xmlns:a="http://schemas.openxmlformats.org/drawingml/2006/main">
              <a:ext uri="{FF2B5EF4-FFF2-40B4-BE49-F238E27FC236}">
                <a16:creationId xmlns:a16="http://schemas.microsoft.com/office/drawing/2014/main" id="{BDB114FB-7E33-4858-9D5B-FAB83411A148}"/>
              </a:ext>
            </a:extLst>
          </p:cNvPr>
          <p:cNvSpPr>
            <a:spLocks xmlns:a="http://schemas.openxmlformats.org/drawingml/2006/main" noGrp="1"/>
          </p:cNvSpPr>
          <p:nvPr/>
        </p:nvSpPr>
        <p:spPr>
          <a:xfrm xmlns:a="http://schemas.openxmlformats.org/drawingml/2006/main" rot="0">
            <a:off x="457200" y="4400550"/>
            <a:ext cx="2266950" cy="9525"/>
          </a:xfrm>
          <a:custGeom xmlns:a="http://schemas.openxmlformats.org/drawingml/2006/main">
            <a:rect l="l" t="t" r="r" b="b"/>
            <a:pathLst>
              <a:path w="2266950" h="9525">
                <a:moveTo>
                  <a:pt x="0" y="0"/>
                </a:moveTo>
                <a:lnTo>
                  <a:pt x="2266950" y="0"/>
                </a:lnTo>
              </a:path>
            </a:pathLst>
          </a:custGeom>
          <a:noFill xmlns:a="http://schemas.openxmlformats.org/drawingml/2006/main"/>
          <a:ln xmlns:a="http://schemas.openxmlformats.org/drawingml/2006/main" w="9525">
            <a:solidFill>
              <a:srgbClr val="CED8E4"/>
            </a:solidFill>
          </a:ln>
        </p:spPr>
      </p:sp>
      <p:sp>
        <p:nvSpPr>
          <p:cNvPr id="24" name="TextBox 24">
            <a:extLst xmlns:a="http://schemas.openxmlformats.org/drawingml/2006/main">
              <a:ext uri="{FF2B5EF4-FFF2-40B4-BE49-F238E27FC236}">
                <a16:creationId xmlns:a16="http://schemas.microsoft.com/office/drawing/2014/main" id="{2FA49740-EC3B-43C9-8028-008AB4BABCCD}"/>
              </a:ext>
            </a:extLst>
          </p:cNvPr>
          <p:cNvSpPr>
            <a:spLocks xmlns:a="http://schemas.openxmlformats.org/drawingml/2006/main" noGrp="1"/>
          </p:cNvSpPr>
          <p:nvPr/>
        </p:nvSpPr>
        <p:spPr>
          <a:xfrm xmlns:a="http://schemas.openxmlformats.org/drawingml/2006/main" rot="0">
            <a:off x="442912" y="4593431"/>
            <a:ext cx="106820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123B5D"/>
                </a:solidFill>
                <a:latin typeface="Arial"/>
                <a:ea typeface="Arial"/>
                <a:cs typeface="Arial"/>
              </a:rPr>
              <a:t>AUDIO / STATE</a:t>
            </a:r>
          </a:p>
        </p:txBody>
      </p:sp>
      <p:sp>
        <p:nvSpPr>
          <p:cNvPr id="25" name="TextBox 25">
            <a:extLst xmlns:a="http://schemas.openxmlformats.org/drawingml/2006/main">
              <a:ext uri="{FF2B5EF4-FFF2-40B4-BE49-F238E27FC236}">
                <a16:creationId xmlns:a16="http://schemas.microsoft.com/office/drawing/2014/main" id="{08F03C68-442B-4E4A-AEC2-21A463B2A8CB}"/>
              </a:ext>
            </a:extLst>
          </p:cNvPr>
          <p:cNvSpPr>
            <a:spLocks xmlns:a="http://schemas.openxmlformats.org/drawingml/2006/main" noGrp="1"/>
          </p:cNvSpPr>
          <p:nvPr/>
        </p:nvSpPr>
        <p:spPr>
          <a:xfrm xmlns:a="http://schemas.openxmlformats.org/drawingml/2006/main" rot="0">
            <a:off x="444818" y="4819174"/>
            <a:ext cx="194250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Laptop noise level · state probability</a:t>
            </a:r>
          </a:p>
        </p:txBody>
      </p:sp>
      <p:sp>
        <p:nvSpPr>
          <p:cNvPr id="27" name="Rectangle 27">
            <a:extLst xmlns:a="http://schemas.openxmlformats.org/drawingml/2006/main">
              <a:ext uri="{FF2B5EF4-FFF2-40B4-BE49-F238E27FC236}">
                <a16:creationId xmlns:a16="http://schemas.microsoft.com/office/drawing/2014/main" id="{B0F3D8AC-0143-4E25-8AEE-03A03BD09297}"/>
              </a:ext>
            </a:extLst>
          </p:cNvPr>
          <p:cNvSpPr>
            <a:spLocks xmlns:a="http://schemas.openxmlformats.org/drawingml/2006/main" noGrp="1"/>
          </p:cNvSpPr>
          <p:nvPr/>
        </p:nvSpPr>
        <p:spPr>
          <a:xfrm xmlns:a="http://schemas.openxmlformats.org/drawingml/2006/main" rot="0">
            <a:off x="3105150" y="1181100"/>
            <a:ext cx="5372100" cy="3857625"/>
          </a:xfrm>
          <a:prstGeom xmlns:a="http://schemas.openxmlformats.org/drawingml/2006/main" prst="roundRect">
            <a:avLst>
              <a:gd name="adj" fmla="val 2963"/>
            </a:avLst>
          </a:prstGeom>
          <a:solidFill xmlns:a="http://schemas.openxmlformats.org/drawingml/2006/main">
            <a:srgbClr val="123B5D"/>
          </a:solidFill>
          <a:ln xmlns:a="http://schemas.openxmlformats.org/drawingml/2006/main">
            <a:noFill/>
          </a:ln>
        </p:spPr>
        <p:txBody>
          <a:bodyPr xmlns:a="http://schemas.openxmlformats.org/drawingml/2006/main"/>
          <a:lstStyle xmlns:a="http://schemas.openxmlformats.org/drawingml/2006/main"/>
          <a:p xmlns:a="http://schemas.openxmlformats.org/drawingml/2006/main"/>
        </p:txBody>
      </p:sp>
      <p:sp>
        <p:nvSpPr>
          <p:cNvPr id="28" name="Freeform 28">
            <a:extLst xmlns:a="http://schemas.openxmlformats.org/drawingml/2006/main">
              <a:ext uri="{FF2B5EF4-FFF2-40B4-BE49-F238E27FC236}">
                <a16:creationId xmlns:a16="http://schemas.microsoft.com/office/drawing/2014/main" id="{5D1002C7-C805-46FF-BCC7-38860C33F31E}"/>
              </a:ext>
            </a:extLst>
          </p:cNvPr>
          <p:cNvSpPr>
            <a:spLocks xmlns:a="http://schemas.openxmlformats.org/drawingml/2006/main" noGrp="1"/>
          </p:cNvSpPr>
          <p:nvPr/>
        </p:nvSpPr>
        <p:spPr>
          <a:xfrm xmlns:a="http://schemas.openxmlformats.org/drawingml/2006/main" rot="0">
            <a:off x="3398044" y="1454944"/>
            <a:ext cx="214312" cy="214312"/>
          </a:xfrm>
          <a:custGeom xmlns:a="http://schemas.openxmlformats.org/drawingml/2006/main">
            <a:rect l="l" t="t" r="r" b="b"/>
            <a:pathLst>
              <a:path w="214312" h="214312">
                <a:moveTo>
                  <a:pt x="214312" y="10716"/>
                </a:moveTo>
                <a:lnTo>
                  <a:pt x="214312" y="203597"/>
                </a:lnTo>
                <a:cubicBezTo>
                  <a:pt x="214312" y="209515"/>
                  <a:pt x="209515" y="214312"/>
                  <a:pt x="203597" y="214312"/>
                </a:cubicBezTo>
                <a:lnTo>
                  <a:pt x="10716" y="214312"/>
                </a:lnTo>
                <a:cubicBezTo>
                  <a:pt x="4798" y="214312"/>
                  <a:pt x="0" y="209515"/>
                  <a:pt x="0" y="203597"/>
                </a:cubicBezTo>
                <a:lnTo>
                  <a:pt x="0" y="10716"/>
                </a:lnTo>
                <a:cubicBezTo>
                  <a:pt x="0" y="4798"/>
                  <a:pt x="4798" y="0"/>
                  <a:pt x="10716" y="0"/>
                </a:cubicBezTo>
                <a:lnTo>
                  <a:pt x="203597" y="0"/>
                </a:lnTo>
                <a:cubicBezTo>
                  <a:pt x="209515" y="0"/>
                  <a:pt x="214312" y="4798"/>
                  <a:pt x="214312" y="10716"/>
                </a:cubicBezTo>
                <a:close/>
              </a:path>
            </a:pathLst>
          </a:custGeom>
          <a:solidFill xmlns:a="http://schemas.openxmlformats.org/drawingml/2006/main">
            <a:srgbClr val="F7F9FC">
              <a:alpha val="20000"/>
            </a:srgbClr>
          </a:solidFill>
          <a:ln xmlns:a="http://schemas.openxmlformats.org/drawingml/2006/main">
            <a:noFill/>
          </a:ln>
        </p:spPr>
      </p:sp>
      <p:sp>
        <p:nvSpPr>
          <p:cNvPr id="29" name="Freeform 29">
            <a:extLst xmlns:a="http://schemas.openxmlformats.org/drawingml/2006/main">
              <a:ext uri="{FF2B5EF4-FFF2-40B4-BE49-F238E27FC236}">
                <a16:creationId xmlns:a16="http://schemas.microsoft.com/office/drawing/2014/main" id="{69509EAE-E07B-43A4-94F7-9BCEB36B945F}"/>
              </a:ext>
            </a:extLst>
          </p:cNvPr>
          <p:cNvSpPr>
            <a:spLocks xmlns:a="http://schemas.openxmlformats.org/drawingml/2006/main" noGrp="1"/>
          </p:cNvSpPr>
          <p:nvPr/>
        </p:nvSpPr>
        <p:spPr>
          <a:xfrm xmlns:a="http://schemas.openxmlformats.org/drawingml/2006/main" rot="0">
            <a:off x="3365888" y="1421744"/>
            <a:ext cx="257183" cy="258228"/>
          </a:xfrm>
          <a:custGeom xmlns:a="http://schemas.openxmlformats.org/drawingml/2006/main">
            <a:rect l="l" t="t" r="r" b="b"/>
            <a:pathLst>
              <a:path w="257183" h="258228">
                <a:moveTo>
                  <a:pt x="46005" y="105075"/>
                </a:moveTo>
                <a:lnTo>
                  <a:pt x="3143" y="62212"/>
                </a:lnTo>
                <a:cubicBezTo>
                  <a:pt x="1131" y="60202"/>
                  <a:pt x="0" y="57475"/>
                  <a:pt x="0" y="54631"/>
                </a:cubicBezTo>
                <a:cubicBezTo>
                  <a:pt x="0" y="51787"/>
                  <a:pt x="1131" y="49059"/>
                  <a:pt x="3143" y="47050"/>
                </a:cubicBezTo>
                <a:lnTo>
                  <a:pt x="46005" y="4187"/>
                </a:lnTo>
                <a:cubicBezTo>
                  <a:pt x="50192" y="0"/>
                  <a:pt x="56981" y="0"/>
                  <a:pt x="61168" y="4187"/>
                </a:cubicBezTo>
                <a:cubicBezTo>
                  <a:pt x="65355" y="8374"/>
                  <a:pt x="65355" y="15163"/>
                  <a:pt x="61168" y="19350"/>
                </a:cubicBezTo>
                <a:lnTo>
                  <a:pt x="25873" y="54631"/>
                </a:lnTo>
                <a:lnTo>
                  <a:pt x="61168" y="89912"/>
                </a:lnTo>
                <a:cubicBezTo>
                  <a:pt x="65355" y="94099"/>
                  <a:pt x="65355" y="100888"/>
                  <a:pt x="61168" y="105075"/>
                </a:cubicBezTo>
                <a:cubicBezTo>
                  <a:pt x="56981" y="109262"/>
                  <a:pt x="50192" y="109262"/>
                  <a:pt x="46005" y="105075"/>
                </a:cubicBezTo>
                <a:close/>
                <a:moveTo>
                  <a:pt x="99583" y="105075"/>
                </a:moveTo>
                <a:cubicBezTo>
                  <a:pt x="101593" y="107087"/>
                  <a:pt x="104321" y="108217"/>
                  <a:pt x="107165" y="108217"/>
                </a:cubicBezTo>
                <a:cubicBezTo>
                  <a:pt x="110009" y="108217"/>
                  <a:pt x="112736" y="107087"/>
                  <a:pt x="114746" y="105075"/>
                </a:cubicBezTo>
                <a:lnTo>
                  <a:pt x="157608" y="62212"/>
                </a:lnTo>
                <a:cubicBezTo>
                  <a:pt x="159621" y="60202"/>
                  <a:pt x="160751" y="57475"/>
                  <a:pt x="160751" y="54631"/>
                </a:cubicBezTo>
                <a:cubicBezTo>
                  <a:pt x="160751" y="51787"/>
                  <a:pt x="159621" y="49059"/>
                  <a:pt x="157608" y="47050"/>
                </a:cubicBezTo>
                <a:lnTo>
                  <a:pt x="114746" y="4187"/>
                </a:lnTo>
                <a:cubicBezTo>
                  <a:pt x="110559" y="0"/>
                  <a:pt x="103770" y="0"/>
                  <a:pt x="99583" y="4187"/>
                </a:cubicBezTo>
                <a:cubicBezTo>
                  <a:pt x="95396" y="8374"/>
                  <a:pt x="95396" y="15163"/>
                  <a:pt x="99583" y="19350"/>
                </a:cubicBezTo>
                <a:lnTo>
                  <a:pt x="134878" y="54631"/>
                </a:lnTo>
                <a:lnTo>
                  <a:pt x="99583" y="89912"/>
                </a:lnTo>
                <a:cubicBezTo>
                  <a:pt x="97571" y="91922"/>
                  <a:pt x="96441" y="94649"/>
                  <a:pt x="96441" y="97493"/>
                </a:cubicBezTo>
                <a:cubicBezTo>
                  <a:pt x="96441" y="100337"/>
                  <a:pt x="97571" y="103065"/>
                  <a:pt x="99583" y="105075"/>
                </a:cubicBezTo>
                <a:close/>
                <a:moveTo>
                  <a:pt x="235752" y="22484"/>
                </a:moveTo>
                <a:lnTo>
                  <a:pt x="203605" y="22484"/>
                </a:lnTo>
                <a:cubicBezTo>
                  <a:pt x="197687" y="22484"/>
                  <a:pt x="192890" y="27282"/>
                  <a:pt x="192890" y="33200"/>
                </a:cubicBezTo>
                <a:cubicBezTo>
                  <a:pt x="192890" y="39118"/>
                  <a:pt x="197687" y="43915"/>
                  <a:pt x="203605" y="43915"/>
                </a:cubicBezTo>
                <a:lnTo>
                  <a:pt x="235752" y="43915"/>
                </a:lnTo>
                <a:lnTo>
                  <a:pt x="235752" y="236796"/>
                </a:lnTo>
                <a:lnTo>
                  <a:pt x="42871" y="236796"/>
                </a:lnTo>
                <a:lnTo>
                  <a:pt x="42871" y="151071"/>
                </a:lnTo>
                <a:cubicBezTo>
                  <a:pt x="42871" y="145153"/>
                  <a:pt x="38073" y="140356"/>
                  <a:pt x="32155" y="140356"/>
                </a:cubicBezTo>
                <a:cubicBezTo>
                  <a:pt x="26237" y="140356"/>
                  <a:pt x="21440" y="145153"/>
                  <a:pt x="21440" y="151071"/>
                </a:cubicBezTo>
                <a:lnTo>
                  <a:pt x="21440" y="236796"/>
                </a:lnTo>
                <a:cubicBezTo>
                  <a:pt x="21440" y="248633"/>
                  <a:pt x="31035" y="258228"/>
                  <a:pt x="42871" y="258228"/>
                </a:cubicBezTo>
                <a:lnTo>
                  <a:pt x="235752" y="258228"/>
                </a:lnTo>
                <a:cubicBezTo>
                  <a:pt x="247588" y="258228"/>
                  <a:pt x="257183" y="248633"/>
                  <a:pt x="257183" y="236796"/>
                </a:cubicBezTo>
                <a:lnTo>
                  <a:pt x="257183" y="43915"/>
                </a:lnTo>
                <a:cubicBezTo>
                  <a:pt x="257183" y="32079"/>
                  <a:pt x="247588" y="22484"/>
                  <a:pt x="235752" y="22484"/>
                </a:cubicBezTo>
                <a:close/>
              </a:path>
            </a:pathLst>
          </a:custGeom>
          <a:solidFill xmlns:a="http://schemas.openxmlformats.org/drawingml/2006/main">
            <a:srgbClr val="F7F9FC"/>
          </a:solidFill>
          <a:ln xmlns:a="http://schemas.openxmlformats.org/drawingml/2006/main">
            <a:noFill/>
          </a:ln>
        </p:spPr>
      </p:sp>
      <p:sp>
        <p:nvSpPr>
          <p:cNvPr id="31" name="TextBox 31">
            <a:extLst xmlns:a="http://schemas.openxmlformats.org/drawingml/2006/main">
              <a:ext uri="{FF2B5EF4-FFF2-40B4-BE49-F238E27FC236}">
                <a16:creationId xmlns:a16="http://schemas.microsoft.com/office/drawing/2014/main" id="{230D7495-72A7-413B-8E0D-B6CCD609CFE7}"/>
              </a:ext>
            </a:extLst>
          </p:cNvPr>
          <p:cNvSpPr>
            <a:spLocks xmlns:a="http://schemas.openxmlformats.org/drawingml/2006/main" noGrp="1"/>
          </p:cNvSpPr>
          <p:nvPr/>
        </p:nvSpPr>
        <p:spPr>
          <a:xfrm xmlns:a="http://schemas.openxmlformats.org/drawingml/2006/main" rot="0">
            <a:off x="3797618" y="1513999"/>
            <a:ext cx="130802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STANDARDIZED EVENT</a:t>
            </a:r>
          </a:p>
        </p:txBody>
      </p:sp>
      <p:sp>
        <p:nvSpPr>
          <p:cNvPr id="32" name="Line 32">
            <a:extLst xmlns:a="http://schemas.openxmlformats.org/drawingml/2006/main">
              <a:ext uri="{FF2B5EF4-FFF2-40B4-BE49-F238E27FC236}">
                <a16:creationId xmlns:a16="http://schemas.microsoft.com/office/drawing/2014/main" id="{1CDC89A9-B966-46F8-8EE1-B6286B15C6BB}"/>
              </a:ext>
            </a:extLst>
          </p:cNvPr>
          <p:cNvSpPr>
            <a:spLocks xmlns:a="http://schemas.openxmlformats.org/drawingml/2006/main" noGrp="1"/>
          </p:cNvSpPr>
          <p:nvPr/>
        </p:nvSpPr>
        <p:spPr>
          <a:xfrm xmlns:a="http://schemas.openxmlformats.org/drawingml/2006/main" rot="0">
            <a:off x="3333750" y="1847850"/>
            <a:ext cx="4914900" cy="9525"/>
          </a:xfrm>
          <a:custGeom xmlns:a="http://schemas.openxmlformats.org/drawingml/2006/main">
            <a:rect l="l" t="t" r="r" b="b"/>
            <a:pathLst>
              <a:path w="4914900" h="9525">
                <a:moveTo>
                  <a:pt x="0" y="0"/>
                </a:moveTo>
                <a:lnTo>
                  <a:pt x="4914900" y="0"/>
                </a:lnTo>
              </a:path>
            </a:pathLst>
          </a:custGeom>
          <a:noFill xmlns:a="http://schemas.openxmlformats.org/drawingml/2006/main"/>
          <a:ln xmlns:a="http://schemas.openxmlformats.org/drawingml/2006/main" w="9525">
            <a:solidFill>
              <a:srgbClr val="F7F9FC">
                <a:alpha val="35000"/>
              </a:srgbClr>
            </a:solidFill>
          </a:ln>
        </p:spPr>
      </p:sp>
      <p:sp>
        <p:nvSpPr>
          <p:cNvPr id="33" name="TextBox 33">
            <a:extLst xmlns:a="http://schemas.openxmlformats.org/drawingml/2006/main">
              <a:ext uri="{FF2B5EF4-FFF2-40B4-BE49-F238E27FC236}">
                <a16:creationId xmlns:a16="http://schemas.microsoft.com/office/drawing/2014/main" id="{82A58EAD-F6E4-4F22-A613-1F3E073CB0F5}"/>
              </a:ext>
            </a:extLst>
          </p:cNvPr>
          <p:cNvSpPr>
            <a:spLocks xmlns:a="http://schemas.openxmlformats.org/drawingml/2006/main" noGrp="1"/>
          </p:cNvSpPr>
          <p:nvPr/>
        </p:nvSpPr>
        <p:spPr>
          <a:xfrm xmlns:a="http://schemas.openxmlformats.org/drawingml/2006/main" rot="0">
            <a:off x="3356610" y="2061210"/>
            <a:ext cx="118491"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a:t>
            </a:r>
          </a:p>
        </p:txBody>
      </p:sp>
      <p:sp>
        <p:nvSpPr>
          <p:cNvPr id="34" name="TextBox 34">
            <a:extLst xmlns:a="http://schemas.openxmlformats.org/drawingml/2006/main">
              <a:ext uri="{FF2B5EF4-FFF2-40B4-BE49-F238E27FC236}">
                <a16:creationId xmlns:a16="http://schemas.microsoft.com/office/drawing/2014/main" id="{4A978ECD-A984-4C94-AEC3-03817F349E5D}"/>
              </a:ext>
            </a:extLst>
          </p:cNvPr>
          <p:cNvSpPr>
            <a:spLocks xmlns:a="http://schemas.openxmlformats.org/drawingml/2006/main" noGrp="1"/>
          </p:cNvSpPr>
          <p:nvPr/>
        </p:nvSpPr>
        <p:spPr>
          <a:xfrm xmlns:a="http://schemas.openxmlformats.org/drawingml/2006/main" rot="0">
            <a:off x="3585210" y="2375535"/>
            <a:ext cx="2014728"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"event": </a:t>
            </a:r>
            <a:r>
              <a:rPr sz="1200">
                <a:solidFill>
                  <a:srgbClr val="2AB7A9"/>
                </a:solidFill>
                <a:latin typeface="Consolas"/>
                <a:ea typeface="Consolas"/>
                <a:cs typeface="Consolas"/>
              </a:rPr>
              <a:t>"bad_posture"</a:t>
            </a:r>
            <a:r>
              <a:rPr sz="1200">
                <a:solidFill>
                  <a:srgbClr val="F7F9FC"/>
                </a:solidFill>
                <a:latin typeface="Consolas"/>
                <a:ea typeface="Consolas"/>
                <a:cs typeface="Consolas"/>
              </a:rPr>
              <a:t>,</a:t>
            </a:r>
          </a:p>
        </p:txBody>
      </p:sp>
      <p:sp>
        <p:nvSpPr>
          <p:cNvPr id="35" name="TextBox 35">
            <a:extLst xmlns:a="http://schemas.openxmlformats.org/drawingml/2006/main">
              <a:ext uri="{FF2B5EF4-FFF2-40B4-BE49-F238E27FC236}">
                <a16:creationId xmlns:a16="http://schemas.microsoft.com/office/drawing/2014/main" id="{2CED3F8D-6F8F-4407-ADD3-0D3CDBC00C06}"/>
              </a:ext>
            </a:extLst>
          </p:cNvPr>
          <p:cNvSpPr>
            <a:spLocks xmlns:a="http://schemas.openxmlformats.org/drawingml/2006/main" noGrp="1"/>
          </p:cNvSpPr>
          <p:nvPr/>
        </p:nvSpPr>
        <p:spPr>
          <a:xfrm xmlns:a="http://schemas.openxmlformats.org/drawingml/2006/main" rot="0">
            <a:off x="3585210" y="2689860"/>
            <a:ext cx="188671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"model_level": </a:t>
            </a:r>
            <a:r>
              <a:rPr sz="1200">
                <a:solidFill>
                  <a:srgbClr val="2AB7A9"/>
                </a:solidFill>
                <a:latin typeface="Consolas"/>
                <a:ea typeface="Consolas"/>
                <a:cs typeface="Consolas"/>
              </a:rPr>
              <a:t>"basic"</a:t>
            </a:r>
            <a:r>
              <a:rPr sz="1200">
                <a:solidFill>
                  <a:srgbClr val="F7F9FC"/>
                </a:solidFill>
                <a:latin typeface="Consolas"/>
                <a:ea typeface="Consolas"/>
                <a:cs typeface="Consolas"/>
              </a:rPr>
              <a:t>,</a:t>
            </a:r>
          </a:p>
        </p:txBody>
      </p:sp>
      <p:sp>
        <p:nvSpPr>
          <p:cNvPr id="36" name="TextBox 36">
            <a:extLst xmlns:a="http://schemas.openxmlformats.org/drawingml/2006/main">
              <a:ext uri="{FF2B5EF4-FFF2-40B4-BE49-F238E27FC236}">
                <a16:creationId xmlns:a16="http://schemas.microsoft.com/office/drawing/2014/main" id="{35351B74-D1D4-4DFC-BB43-CAEA078F98AF}"/>
              </a:ext>
            </a:extLst>
          </p:cNvPr>
          <p:cNvSpPr>
            <a:spLocks xmlns:a="http://schemas.openxmlformats.org/drawingml/2006/main" noGrp="1"/>
          </p:cNvSpPr>
          <p:nvPr/>
        </p:nvSpPr>
        <p:spPr>
          <a:xfrm xmlns:a="http://schemas.openxmlformats.org/drawingml/2006/main" rot="0">
            <a:off x="3585210" y="3004185"/>
            <a:ext cx="158267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"confidence": </a:t>
            </a:r>
            <a:r>
              <a:rPr sz="1200">
                <a:solidFill>
                  <a:srgbClr val="2AB7A9"/>
                </a:solidFill>
                <a:latin typeface="Consolas"/>
                <a:ea typeface="Consolas"/>
                <a:cs typeface="Consolas"/>
              </a:rPr>
              <a:t>0.91</a:t>
            </a:r>
            <a:r>
              <a:rPr sz="1200">
                <a:solidFill>
                  <a:srgbClr val="F7F9FC"/>
                </a:solidFill>
                <a:latin typeface="Consolas"/>
                <a:ea typeface="Consolas"/>
                <a:cs typeface="Consolas"/>
              </a:rPr>
              <a:t>,</a:t>
            </a:r>
          </a:p>
        </p:txBody>
      </p:sp>
      <p:sp>
        <p:nvSpPr>
          <p:cNvPr id="37" name="TextBox 37">
            <a:extLst xmlns:a="http://schemas.openxmlformats.org/drawingml/2006/main">
              <a:ext uri="{FF2B5EF4-FFF2-40B4-BE49-F238E27FC236}">
                <a16:creationId xmlns:a16="http://schemas.microsoft.com/office/drawing/2014/main" id="{239AE9BE-6BCF-42BC-B0F3-C07E00B6AA28}"/>
              </a:ext>
            </a:extLst>
          </p:cNvPr>
          <p:cNvSpPr>
            <a:spLocks xmlns:a="http://schemas.openxmlformats.org/drawingml/2006/main" noGrp="1"/>
          </p:cNvSpPr>
          <p:nvPr/>
        </p:nvSpPr>
        <p:spPr>
          <a:xfrm xmlns:a="http://schemas.openxmlformats.org/drawingml/2006/main" rot="0">
            <a:off x="3585210" y="3318510"/>
            <a:ext cx="144665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"duration_s": </a:t>
            </a:r>
            <a:r>
              <a:rPr sz="1200">
                <a:solidFill>
                  <a:srgbClr val="2AB7A9"/>
                </a:solidFill>
                <a:latin typeface="Consolas"/>
                <a:ea typeface="Consolas"/>
                <a:cs typeface="Consolas"/>
              </a:rPr>
              <a:t>38</a:t>
            </a:r>
            <a:r>
              <a:rPr sz="1200">
                <a:solidFill>
                  <a:srgbClr val="F7F9FC"/>
                </a:solidFill>
                <a:latin typeface="Consolas"/>
                <a:ea typeface="Consolas"/>
                <a:cs typeface="Consolas"/>
              </a:rPr>
              <a:t>,</a:t>
            </a:r>
          </a:p>
        </p:txBody>
      </p:sp>
      <p:sp>
        <p:nvSpPr>
          <p:cNvPr id="38" name="TextBox 38">
            <a:extLst xmlns:a="http://schemas.openxmlformats.org/drawingml/2006/main">
              <a:ext uri="{FF2B5EF4-FFF2-40B4-BE49-F238E27FC236}">
                <a16:creationId xmlns:a16="http://schemas.microsoft.com/office/drawing/2014/main" id="{071F5EE9-C9E9-470D-B0C4-F77E8750DB7A}"/>
              </a:ext>
            </a:extLst>
          </p:cNvPr>
          <p:cNvSpPr>
            <a:spLocks xmlns:a="http://schemas.openxmlformats.org/drawingml/2006/main" noGrp="1"/>
          </p:cNvSpPr>
          <p:nvPr/>
        </p:nvSpPr>
        <p:spPr>
          <a:xfrm xmlns:a="http://schemas.openxmlformats.org/drawingml/2006/main" rot="0">
            <a:off x="3585210" y="3632835"/>
            <a:ext cx="1094613"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"evidence": {</a:t>
            </a:r>
          </a:p>
        </p:txBody>
      </p:sp>
      <p:sp>
        <p:nvSpPr>
          <p:cNvPr id="39" name="TextBox 39">
            <a:extLst xmlns:a="http://schemas.openxmlformats.org/drawingml/2006/main">
              <a:ext uri="{FF2B5EF4-FFF2-40B4-BE49-F238E27FC236}">
                <a16:creationId xmlns:a16="http://schemas.microsoft.com/office/drawing/2014/main" id="{9D5DA687-D16B-4C97-97BF-1E9D869FAE8E}"/>
              </a:ext>
            </a:extLst>
          </p:cNvPr>
          <p:cNvSpPr>
            <a:spLocks xmlns:a="http://schemas.openxmlformats.org/drawingml/2006/main" noGrp="1"/>
          </p:cNvSpPr>
          <p:nvPr/>
        </p:nvSpPr>
        <p:spPr>
          <a:xfrm xmlns:a="http://schemas.openxmlformats.org/drawingml/2006/main" rot="0">
            <a:off x="3813810" y="3947160"/>
            <a:ext cx="188671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"neck_angle_deg": </a:t>
            </a:r>
            <a:r>
              <a:rPr sz="1200">
                <a:solidFill>
                  <a:srgbClr val="2AB7A9"/>
                </a:solidFill>
                <a:latin typeface="Consolas"/>
                <a:ea typeface="Consolas"/>
                <a:cs typeface="Consolas"/>
              </a:rPr>
              <a:t>24.6</a:t>
            </a:r>
          </a:p>
        </p:txBody>
      </p:sp>
      <p:sp>
        <p:nvSpPr>
          <p:cNvPr id="40" name="TextBox 40">
            <a:extLst xmlns:a="http://schemas.openxmlformats.org/drawingml/2006/main">
              <a:ext uri="{FF2B5EF4-FFF2-40B4-BE49-F238E27FC236}">
                <a16:creationId xmlns:a16="http://schemas.microsoft.com/office/drawing/2014/main" id="{3FE4B947-5315-4F0E-999D-CA7FD1D2AEA7}"/>
              </a:ext>
            </a:extLst>
          </p:cNvPr>
          <p:cNvSpPr>
            <a:spLocks xmlns:a="http://schemas.openxmlformats.org/drawingml/2006/main" noGrp="1"/>
          </p:cNvSpPr>
          <p:nvPr/>
        </p:nvSpPr>
        <p:spPr>
          <a:xfrm xmlns:a="http://schemas.openxmlformats.org/drawingml/2006/main" rot="0">
            <a:off x="3585210" y="4261485"/>
            <a:ext cx="206502"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a:t>
            </a:r>
          </a:p>
        </p:txBody>
      </p:sp>
      <p:sp>
        <p:nvSpPr>
          <p:cNvPr id="41" name="TextBox 41">
            <a:extLst xmlns:a="http://schemas.openxmlformats.org/drawingml/2006/main">
              <a:ext uri="{FF2B5EF4-FFF2-40B4-BE49-F238E27FC236}">
                <a16:creationId xmlns:a16="http://schemas.microsoft.com/office/drawing/2014/main" id="{CC1D5AEA-D511-4B0B-A398-749D9A263A0E}"/>
              </a:ext>
            </a:extLst>
          </p:cNvPr>
          <p:cNvSpPr>
            <a:spLocks xmlns:a="http://schemas.openxmlformats.org/drawingml/2006/main" noGrp="1"/>
          </p:cNvSpPr>
          <p:nvPr/>
        </p:nvSpPr>
        <p:spPr>
          <a:xfrm xmlns:a="http://schemas.openxmlformats.org/drawingml/2006/main" rot="0">
            <a:off x="3585210" y="4575810"/>
            <a:ext cx="328688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"suggested_action": "move_and_prompt"</a:t>
            </a:r>
          </a:p>
        </p:txBody>
      </p:sp>
      <p:sp>
        <p:nvSpPr>
          <p:cNvPr id="42" name="TextBox 42">
            <a:extLst xmlns:a="http://schemas.openxmlformats.org/drawingml/2006/main">
              <a:ext uri="{FF2B5EF4-FFF2-40B4-BE49-F238E27FC236}">
                <a16:creationId xmlns:a16="http://schemas.microsoft.com/office/drawing/2014/main" id="{E16478B8-D798-47ED-85D5-24C9A76B905A}"/>
              </a:ext>
            </a:extLst>
          </p:cNvPr>
          <p:cNvSpPr>
            <a:spLocks xmlns:a="http://schemas.openxmlformats.org/drawingml/2006/main" noGrp="1"/>
          </p:cNvSpPr>
          <p:nvPr/>
        </p:nvSpPr>
        <p:spPr>
          <a:xfrm xmlns:a="http://schemas.openxmlformats.org/drawingml/2006/main" rot="0">
            <a:off x="3356610" y="4794885"/>
            <a:ext cx="118491"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a:solidFill>
                  <a:srgbClr val="F7F9FC"/>
                </a:solidFill>
                <a:latin typeface="Consolas"/>
                <a:ea typeface="Consolas"/>
                <a:cs typeface="Consolas"/>
              </a:rPr>
              <a:t>}</a:t>
            </a:r>
          </a:p>
        </p:txBody>
      </p:sp>
      <p:sp>
        <p:nvSpPr>
          <p:cNvPr id="44" name="TextBox 44">
            <a:extLst xmlns:a="http://schemas.openxmlformats.org/drawingml/2006/main">
              <a:ext uri="{FF2B5EF4-FFF2-40B4-BE49-F238E27FC236}">
                <a16:creationId xmlns:a16="http://schemas.microsoft.com/office/drawing/2014/main" id="{E010DA52-FD03-4BC7-8626-AFDA92A244B0}"/>
              </a:ext>
            </a:extLst>
          </p:cNvPr>
          <p:cNvSpPr>
            <a:spLocks xmlns:a="http://schemas.openxmlformats.org/drawingml/2006/main" noGrp="1"/>
          </p:cNvSpPr>
          <p:nvPr/>
        </p:nvSpPr>
        <p:spPr>
          <a:xfrm xmlns:a="http://schemas.openxmlformats.org/drawingml/2006/main" rot="0">
            <a:off x="8845868" y="1304449"/>
            <a:ext cx="121928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EVENT VOCABULARY</a:t>
            </a:r>
          </a:p>
        </p:txBody>
      </p:sp>
      <p:sp>
        <p:nvSpPr>
          <p:cNvPr id="45" name="Line 45">
            <a:extLst xmlns:a="http://schemas.openxmlformats.org/drawingml/2006/main">
              <a:ext uri="{FF2B5EF4-FFF2-40B4-BE49-F238E27FC236}">
                <a16:creationId xmlns:a16="http://schemas.microsoft.com/office/drawing/2014/main" id="{24F57E91-C5DD-48BD-A78D-623B028CFAD0}"/>
              </a:ext>
            </a:extLst>
          </p:cNvPr>
          <p:cNvSpPr>
            <a:spLocks xmlns:a="http://schemas.openxmlformats.org/drawingml/2006/main" noGrp="1"/>
          </p:cNvSpPr>
          <p:nvPr/>
        </p:nvSpPr>
        <p:spPr>
          <a:xfrm xmlns:a="http://schemas.openxmlformats.org/drawingml/2006/main" rot="0">
            <a:off x="8858250" y="1657350"/>
            <a:ext cx="2876550" cy="9525"/>
          </a:xfrm>
          <a:custGeom xmlns:a="http://schemas.openxmlformats.org/drawingml/2006/main">
            <a:rect l="l" t="t" r="r" b="b"/>
            <a:pathLst>
              <a:path w="2876550" h="9525">
                <a:moveTo>
                  <a:pt x="0" y="0"/>
                </a:moveTo>
                <a:lnTo>
                  <a:pt x="2876550" y="0"/>
                </a:lnTo>
              </a:path>
            </a:pathLst>
          </a:custGeom>
          <a:noFill xmlns:a="http://schemas.openxmlformats.org/drawingml/2006/main"/>
          <a:ln xmlns:a="http://schemas.openxmlformats.org/drawingml/2006/main" w="9525">
            <a:solidFill>
              <a:srgbClr val="CED8E4"/>
            </a:solidFill>
          </a:ln>
        </p:spPr>
      </p:sp>
      <p:sp>
        <p:nvSpPr>
          <p:cNvPr id="46" name="TextBox 46">
            <a:extLst xmlns:a="http://schemas.openxmlformats.org/drawingml/2006/main">
              <a:ext uri="{FF2B5EF4-FFF2-40B4-BE49-F238E27FC236}">
                <a16:creationId xmlns:a16="http://schemas.microsoft.com/office/drawing/2014/main" id="{C0CBD517-5002-49A2-A7B3-A540B448A488}"/>
              </a:ext>
            </a:extLst>
          </p:cNvPr>
          <p:cNvSpPr>
            <a:spLocks xmlns:a="http://schemas.openxmlformats.org/drawingml/2006/main" noGrp="1"/>
          </p:cNvSpPr>
          <p:nvPr/>
        </p:nvSpPr>
        <p:spPr>
          <a:xfrm xmlns:a="http://schemas.openxmlformats.org/drawingml/2006/main" rot="0">
            <a:off x="8845868" y="1847374"/>
            <a:ext cx="81136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bad_posture</a:t>
            </a:r>
          </a:p>
        </p:txBody>
      </p:sp>
      <p:sp>
        <p:nvSpPr>
          <p:cNvPr id="47" name="TextBox 47">
            <a:extLst xmlns:a="http://schemas.openxmlformats.org/drawingml/2006/main">
              <a:ext uri="{FF2B5EF4-FFF2-40B4-BE49-F238E27FC236}">
                <a16:creationId xmlns:a16="http://schemas.microsoft.com/office/drawing/2014/main" id="{65C69A8A-1B8B-4D2F-AB52-603BC054EF62}"/>
              </a:ext>
            </a:extLst>
          </p:cNvPr>
          <p:cNvSpPr>
            <a:spLocks xmlns:a="http://schemas.openxmlformats.org/drawingml/2006/main" noGrp="1"/>
          </p:cNvSpPr>
          <p:nvPr/>
        </p:nvSpPr>
        <p:spPr>
          <a:xfrm xmlns:a="http://schemas.openxmlformats.org/drawingml/2006/main" rot="0">
            <a:off x="8845868" y="2085499"/>
            <a:ext cx="103239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static_too_long</a:t>
            </a:r>
          </a:p>
        </p:txBody>
      </p:sp>
      <p:sp>
        <p:nvSpPr>
          <p:cNvPr id="48" name="TextBox 48">
            <a:extLst xmlns:a="http://schemas.openxmlformats.org/drawingml/2006/main">
              <a:ext uri="{FF2B5EF4-FFF2-40B4-BE49-F238E27FC236}">
                <a16:creationId xmlns:a16="http://schemas.microsoft.com/office/drawing/2014/main" id="{7D294936-ED76-4756-96B1-75AE4E4C5A5B}"/>
              </a:ext>
            </a:extLst>
          </p:cNvPr>
          <p:cNvSpPr>
            <a:spLocks xmlns:a="http://schemas.openxmlformats.org/drawingml/2006/main" noGrp="1"/>
          </p:cNvSpPr>
          <p:nvPr/>
        </p:nvSpPr>
        <p:spPr>
          <a:xfrm xmlns:a="http://schemas.openxmlformats.org/drawingml/2006/main" rot="0">
            <a:off x="8845868" y="2323624"/>
            <a:ext cx="113640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screen_too_close</a:t>
            </a:r>
          </a:p>
        </p:txBody>
      </p:sp>
      <p:sp>
        <p:nvSpPr>
          <p:cNvPr id="49" name="TextBox 49">
            <a:extLst xmlns:a="http://schemas.openxmlformats.org/drawingml/2006/main">
              <a:ext uri="{FF2B5EF4-FFF2-40B4-BE49-F238E27FC236}">
                <a16:creationId xmlns:a16="http://schemas.microsoft.com/office/drawing/2014/main" id="{37E98493-EB5D-4636-B4AA-55DDD4164A2D}"/>
              </a:ext>
            </a:extLst>
          </p:cNvPr>
          <p:cNvSpPr>
            <a:spLocks xmlns:a="http://schemas.openxmlformats.org/drawingml/2006/main" noGrp="1"/>
          </p:cNvSpPr>
          <p:nvPr/>
        </p:nvSpPr>
        <p:spPr>
          <a:xfrm xmlns:a="http://schemas.openxmlformats.org/drawingml/2006/main" rot="0">
            <a:off x="8845868" y="2561749"/>
            <a:ext cx="95438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low_blink_rate</a:t>
            </a:r>
          </a:p>
        </p:txBody>
      </p:sp>
      <p:sp>
        <p:nvSpPr>
          <p:cNvPr id="50" name="TextBox 50">
            <a:extLst xmlns:a="http://schemas.openxmlformats.org/drawingml/2006/main">
              <a:ext uri="{FF2B5EF4-FFF2-40B4-BE49-F238E27FC236}">
                <a16:creationId xmlns:a16="http://schemas.microsoft.com/office/drawing/2014/main" id="{1942E1EE-A5E8-41D6-A613-03A2D0EB0012}"/>
              </a:ext>
            </a:extLst>
          </p:cNvPr>
          <p:cNvSpPr>
            <a:spLocks xmlns:a="http://schemas.openxmlformats.org/drawingml/2006/main" noGrp="1"/>
          </p:cNvSpPr>
          <p:nvPr/>
        </p:nvSpPr>
        <p:spPr>
          <a:xfrm xmlns:a="http://schemas.openxmlformats.org/drawingml/2006/main" rot="0">
            <a:off x="8845868" y="2799874"/>
            <a:ext cx="155895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environment_too_bright</a:t>
            </a:r>
          </a:p>
        </p:txBody>
      </p:sp>
      <p:sp>
        <p:nvSpPr>
          <p:cNvPr id="51" name="TextBox 51">
            <a:extLst xmlns:a="http://schemas.openxmlformats.org/drawingml/2006/main">
              <a:ext uri="{FF2B5EF4-FFF2-40B4-BE49-F238E27FC236}">
                <a16:creationId xmlns:a16="http://schemas.microsoft.com/office/drawing/2014/main" id="{00DBC636-D2F9-4D93-A519-A31BCBA85EAD}"/>
              </a:ext>
            </a:extLst>
          </p:cNvPr>
          <p:cNvSpPr>
            <a:spLocks xmlns:a="http://schemas.openxmlformats.org/drawingml/2006/main" noGrp="1"/>
          </p:cNvSpPr>
          <p:nvPr/>
        </p:nvSpPr>
        <p:spPr>
          <a:xfrm xmlns:a="http://schemas.openxmlformats.org/drawingml/2006/main" rot="0">
            <a:off x="8845868" y="3037999"/>
            <a:ext cx="144844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environment_too_dark</a:t>
            </a:r>
          </a:p>
        </p:txBody>
      </p:sp>
      <p:sp>
        <p:nvSpPr>
          <p:cNvPr id="52" name="TextBox 52">
            <a:extLst xmlns:a="http://schemas.openxmlformats.org/drawingml/2006/main">
              <a:ext uri="{FF2B5EF4-FFF2-40B4-BE49-F238E27FC236}">
                <a16:creationId xmlns:a16="http://schemas.microsoft.com/office/drawing/2014/main" id="{B3B20737-656F-4C49-B8B5-A5E10893F489}"/>
              </a:ext>
            </a:extLst>
          </p:cNvPr>
          <p:cNvSpPr>
            <a:spLocks xmlns:a="http://schemas.openxmlformats.org/drawingml/2006/main" noGrp="1"/>
          </p:cNvSpPr>
          <p:nvPr/>
        </p:nvSpPr>
        <p:spPr>
          <a:xfrm xmlns:a="http://schemas.openxmlformats.org/drawingml/2006/main" rot="0">
            <a:off x="8845868" y="3276124"/>
            <a:ext cx="96088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noise_too_high*</a:t>
            </a:r>
          </a:p>
        </p:txBody>
      </p:sp>
      <p:sp>
        <p:nvSpPr>
          <p:cNvPr id="53" name="TextBox 53">
            <a:extLst xmlns:a="http://schemas.openxmlformats.org/drawingml/2006/main">
              <a:ext uri="{FF2B5EF4-FFF2-40B4-BE49-F238E27FC236}">
                <a16:creationId xmlns:a16="http://schemas.microsoft.com/office/drawing/2014/main" id="{3D8EC5F7-1A7C-461D-847C-A080B885C1A7}"/>
              </a:ext>
            </a:extLst>
          </p:cNvPr>
          <p:cNvSpPr>
            <a:spLocks xmlns:a="http://schemas.openxmlformats.org/drawingml/2006/main" noGrp="1"/>
          </p:cNvSpPr>
          <p:nvPr/>
        </p:nvSpPr>
        <p:spPr>
          <a:xfrm xmlns:a="http://schemas.openxmlformats.org/drawingml/2006/main" rot="0">
            <a:off x="8845868" y="3514249"/>
            <a:ext cx="145494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phone_usage_detected</a:t>
            </a:r>
          </a:p>
        </p:txBody>
      </p:sp>
      <p:sp>
        <p:nvSpPr>
          <p:cNvPr id="54" name="TextBox 54">
            <a:extLst xmlns:a="http://schemas.openxmlformats.org/drawingml/2006/main">
              <a:ext uri="{FF2B5EF4-FFF2-40B4-BE49-F238E27FC236}">
                <a16:creationId xmlns:a16="http://schemas.microsoft.com/office/drawing/2014/main" id="{D8402554-F28D-4D2B-A9E5-62B0E4BF72D3}"/>
              </a:ext>
            </a:extLst>
          </p:cNvPr>
          <p:cNvSpPr>
            <a:spLocks xmlns:a="http://schemas.openxmlformats.org/drawingml/2006/main" noGrp="1"/>
          </p:cNvSpPr>
          <p:nvPr/>
        </p:nvSpPr>
        <p:spPr>
          <a:xfrm xmlns:a="http://schemas.openxmlformats.org/drawingml/2006/main" rot="0">
            <a:off x="8845868" y="3752374"/>
            <a:ext cx="127942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off_task_behaviour</a:t>
            </a:r>
          </a:p>
        </p:txBody>
      </p:sp>
      <p:sp>
        <p:nvSpPr>
          <p:cNvPr id="55" name="TextBox 55">
            <a:extLst xmlns:a="http://schemas.openxmlformats.org/drawingml/2006/main">
              <a:ext uri="{FF2B5EF4-FFF2-40B4-BE49-F238E27FC236}">
                <a16:creationId xmlns:a16="http://schemas.microsoft.com/office/drawing/2014/main" id="{7D9242AD-349B-480F-9EB2-27D34B698846}"/>
              </a:ext>
            </a:extLst>
          </p:cNvPr>
          <p:cNvSpPr>
            <a:spLocks xmlns:a="http://schemas.openxmlformats.org/drawingml/2006/main" noGrp="1"/>
          </p:cNvSpPr>
          <p:nvPr/>
        </p:nvSpPr>
        <p:spPr>
          <a:xfrm xmlns:a="http://schemas.openxmlformats.org/drawingml/2006/main" rot="0">
            <a:off x="8845868" y="3990499"/>
            <a:ext cx="106489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user_recognized</a:t>
            </a:r>
          </a:p>
        </p:txBody>
      </p:sp>
      <p:sp>
        <p:nvSpPr>
          <p:cNvPr id="56" name="TextBox 56">
            <a:extLst xmlns:a="http://schemas.openxmlformats.org/drawingml/2006/main">
              <a:ext uri="{FF2B5EF4-FFF2-40B4-BE49-F238E27FC236}">
                <a16:creationId xmlns:a16="http://schemas.microsoft.com/office/drawing/2014/main" id="{68F1DAF2-FF08-4F12-946F-CDA999B44598}"/>
              </a:ext>
            </a:extLst>
          </p:cNvPr>
          <p:cNvSpPr>
            <a:spLocks xmlns:a="http://schemas.openxmlformats.org/drawingml/2006/main" noGrp="1"/>
          </p:cNvSpPr>
          <p:nvPr/>
        </p:nvSpPr>
        <p:spPr>
          <a:xfrm xmlns:a="http://schemas.openxmlformats.org/drawingml/2006/main" rot="0">
            <a:off x="8845868" y="4228624"/>
            <a:ext cx="9088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unknown_user</a:t>
            </a:r>
          </a:p>
        </p:txBody>
      </p:sp>
      <p:sp>
        <p:nvSpPr>
          <p:cNvPr id="57" name="TextBox 57">
            <a:extLst xmlns:a="http://schemas.openxmlformats.org/drawingml/2006/main">
              <a:ext uri="{FF2B5EF4-FFF2-40B4-BE49-F238E27FC236}">
                <a16:creationId xmlns:a16="http://schemas.microsoft.com/office/drawing/2014/main" id="{12606E84-1EC8-4879-B4DE-893B34D7C06C}"/>
              </a:ext>
            </a:extLst>
          </p:cNvPr>
          <p:cNvSpPr>
            <a:spLocks xmlns:a="http://schemas.openxmlformats.org/drawingml/2006/main" noGrp="1"/>
          </p:cNvSpPr>
          <p:nvPr/>
        </p:nvSpPr>
        <p:spPr>
          <a:xfrm xmlns:a="http://schemas.openxmlformats.org/drawingml/2006/main" rot="0">
            <a:off x="8845868" y="4466749"/>
            <a:ext cx="116890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123B5D"/>
                </a:solidFill>
                <a:latin typeface="Consolas"/>
                <a:ea typeface="Consolas"/>
                <a:cs typeface="Consolas"/>
              </a:rPr>
              <a:t>gesture_detected</a:t>
            </a:r>
          </a:p>
        </p:txBody>
      </p:sp>
      <p:sp>
        <p:nvSpPr>
          <p:cNvPr id="59" name="Line 59">
            <a:extLst xmlns:a="http://schemas.openxmlformats.org/drawingml/2006/main">
              <a:ext uri="{FF2B5EF4-FFF2-40B4-BE49-F238E27FC236}">
                <a16:creationId xmlns:a16="http://schemas.microsoft.com/office/drawing/2014/main" id="{66EB0BCB-A1E8-4226-B9DB-B1BFF3EEB914}"/>
              </a:ext>
            </a:extLst>
          </p:cNvPr>
          <p:cNvSpPr>
            <a:spLocks xmlns:a="http://schemas.openxmlformats.org/drawingml/2006/main" noGrp="1"/>
          </p:cNvSpPr>
          <p:nvPr/>
        </p:nvSpPr>
        <p:spPr>
          <a:xfrm xmlns:a="http://schemas.openxmlformats.org/drawingml/2006/main" rot="0">
            <a:off x="457200" y="539115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60" name="Freeform 60">
            <a:extLst xmlns:a="http://schemas.openxmlformats.org/drawingml/2006/main">
              <a:ext uri="{FF2B5EF4-FFF2-40B4-BE49-F238E27FC236}">
                <a16:creationId xmlns:a16="http://schemas.microsoft.com/office/drawing/2014/main" id="{B0D0ACB9-AD16-4E39-9F2D-ED4C223CF1DF}"/>
              </a:ext>
            </a:extLst>
          </p:cNvPr>
          <p:cNvSpPr>
            <a:spLocks xmlns:a="http://schemas.openxmlformats.org/drawingml/2006/main" noGrp="1"/>
          </p:cNvSpPr>
          <p:nvPr/>
        </p:nvSpPr>
        <p:spPr>
          <a:xfrm xmlns:a="http://schemas.openxmlformats.org/drawingml/2006/main" rot="0">
            <a:off x="2163366" y="5763816"/>
            <a:ext cx="226219" cy="226219"/>
          </a:xfrm>
          <a:custGeom xmlns:a="http://schemas.openxmlformats.org/drawingml/2006/main">
            <a:rect l="l" t="t" r="r" b="b"/>
            <a:pathLst>
              <a:path w="226219" h="226219">
                <a:moveTo>
                  <a:pt x="226219" y="11311"/>
                </a:moveTo>
                <a:lnTo>
                  <a:pt x="226219" y="214908"/>
                </a:lnTo>
                <a:cubicBezTo>
                  <a:pt x="226219" y="221155"/>
                  <a:pt x="221155" y="226219"/>
                  <a:pt x="214908" y="226219"/>
                </a:cubicBezTo>
                <a:lnTo>
                  <a:pt x="11311" y="226219"/>
                </a:lnTo>
                <a:cubicBezTo>
                  <a:pt x="5064" y="226219"/>
                  <a:pt x="0" y="221155"/>
                  <a:pt x="0" y="214908"/>
                </a:cubicBezTo>
                <a:lnTo>
                  <a:pt x="0" y="11311"/>
                </a:lnTo>
                <a:cubicBezTo>
                  <a:pt x="0" y="5064"/>
                  <a:pt x="5064" y="0"/>
                  <a:pt x="11311" y="0"/>
                </a:cubicBezTo>
                <a:lnTo>
                  <a:pt x="214908" y="0"/>
                </a:lnTo>
                <a:cubicBezTo>
                  <a:pt x="221155" y="0"/>
                  <a:pt x="226219" y="5064"/>
                  <a:pt x="226219" y="11311"/>
                </a:cubicBezTo>
                <a:close/>
              </a:path>
            </a:pathLst>
          </a:custGeom>
          <a:solidFill xmlns:a="http://schemas.openxmlformats.org/drawingml/2006/main">
            <a:srgbClr val="2F80ED">
              <a:alpha val="20000"/>
            </a:srgbClr>
          </a:solidFill>
          <a:ln xmlns:a="http://schemas.openxmlformats.org/drawingml/2006/main">
            <a:noFill/>
          </a:ln>
        </p:spPr>
      </p:sp>
      <p:sp>
        <p:nvSpPr>
          <p:cNvPr id="61" name="Freeform 61">
            <a:extLst xmlns:a="http://schemas.openxmlformats.org/drawingml/2006/main">
              <a:ext uri="{FF2B5EF4-FFF2-40B4-BE49-F238E27FC236}">
                <a16:creationId xmlns:a16="http://schemas.microsoft.com/office/drawing/2014/main" id="{8263F506-3EAD-4341-9FB7-6FFF4B0ADA65}"/>
              </a:ext>
            </a:extLst>
          </p:cNvPr>
          <p:cNvSpPr>
            <a:spLocks xmlns:a="http://schemas.openxmlformats.org/drawingml/2006/main" noGrp="1"/>
          </p:cNvSpPr>
          <p:nvPr/>
        </p:nvSpPr>
        <p:spPr>
          <a:xfrm xmlns:a="http://schemas.openxmlformats.org/drawingml/2006/main" rot="0">
            <a:off x="2129424" y="5728772"/>
            <a:ext cx="271471" cy="272574"/>
          </a:xfrm>
          <a:custGeom xmlns:a="http://schemas.openxmlformats.org/drawingml/2006/main">
            <a:rect l="l" t="t" r="r" b="b"/>
            <a:pathLst>
              <a:path w="271471" h="272574">
                <a:moveTo>
                  <a:pt x="48561" y="110912"/>
                </a:moveTo>
                <a:lnTo>
                  <a:pt x="3317" y="65668"/>
                </a:lnTo>
                <a:cubicBezTo>
                  <a:pt x="1193" y="63547"/>
                  <a:pt x="0" y="60668"/>
                  <a:pt x="0" y="57666"/>
                </a:cubicBezTo>
                <a:cubicBezTo>
                  <a:pt x="0" y="54664"/>
                  <a:pt x="1193" y="51785"/>
                  <a:pt x="3317" y="49663"/>
                </a:cubicBezTo>
                <a:lnTo>
                  <a:pt x="48561" y="4420"/>
                </a:lnTo>
                <a:cubicBezTo>
                  <a:pt x="52981" y="0"/>
                  <a:pt x="60146" y="0"/>
                  <a:pt x="64566" y="4420"/>
                </a:cubicBezTo>
                <a:cubicBezTo>
                  <a:pt x="68986" y="8839"/>
                  <a:pt x="68986" y="16005"/>
                  <a:pt x="64566" y="20425"/>
                </a:cubicBezTo>
                <a:lnTo>
                  <a:pt x="27311" y="57666"/>
                </a:lnTo>
                <a:lnTo>
                  <a:pt x="64566" y="94907"/>
                </a:lnTo>
                <a:cubicBezTo>
                  <a:pt x="68986" y="99327"/>
                  <a:pt x="68986" y="106492"/>
                  <a:pt x="64566" y="110912"/>
                </a:cubicBezTo>
                <a:cubicBezTo>
                  <a:pt x="60146" y="115332"/>
                  <a:pt x="52981" y="115332"/>
                  <a:pt x="48561" y="110912"/>
                </a:cubicBezTo>
                <a:close/>
                <a:moveTo>
                  <a:pt x="105116" y="110912"/>
                </a:moveTo>
                <a:cubicBezTo>
                  <a:pt x="107237" y="113036"/>
                  <a:pt x="110116" y="114229"/>
                  <a:pt x="113118" y="114229"/>
                </a:cubicBezTo>
                <a:cubicBezTo>
                  <a:pt x="116120" y="114229"/>
                  <a:pt x="118999" y="113036"/>
                  <a:pt x="121121" y="110912"/>
                </a:cubicBezTo>
                <a:lnTo>
                  <a:pt x="166365" y="65668"/>
                </a:lnTo>
                <a:cubicBezTo>
                  <a:pt x="168488" y="63547"/>
                  <a:pt x="169682" y="60668"/>
                  <a:pt x="169682" y="57666"/>
                </a:cubicBezTo>
                <a:cubicBezTo>
                  <a:pt x="169682" y="54664"/>
                  <a:pt x="168488" y="51785"/>
                  <a:pt x="166365" y="49663"/>
                </a:cubicBezTo>
                <a:lnTo>
                  <a:pt x="121121" y="4420"/>
                </a:lnTo>
                <a:cubicBezTo>
                  <a:pt x="116701" y="0"/>
                  <a:pt x="109535" y="0"/>
                  <a:pt x="105116" y="4420"/>
                </a:cubicBezTo>
                <a:cubicBezTo>
                  <a:pt x="100696" y="8839"/>
                  <a:pt x="100696" y="16005"/>
                  <a:pt x="105116" y="20425"/>
                </a:cubicBezTo>
                <a:lnTo>
                  <a:pt x="142371" y="57666"/>
                </a:lnTo>
                <a:lnTo>
                  <a:pt x="105116" y="94907"/>
                </a:lnTo>
                <a:cubicBezTo>
                  <a:pt x="102992" y="97029"/>
                  <a:pt x="101798" y="99908"/>
                  <a:pt x="101798" y="102910"/>
                </a:cubicBezTo>
                <a:cubicBezTo>
                  <a:pt x="101798" y="105912"/>
                  <a:pt x="102992" y="108791"/>
                  <a:pt x="105116" y="110912"/>
                </a:cubicBezTo>
                <a:close/>
                <a:moveTo>
                  <a:pt x="248850" y="23733"/>
                </a:moveTo>
                <a:lnTo>
                  <a:pt x="214917" y="23733"/>
                </a:lnTo>
                <a:cubicBezTo>
                  <a:pt x="208670" y="23733"/>
                  <a:pt x="203606" y="28797"/>
                  <a:pt x="203606" y="35044"/>
                </a:cubicBezTo>
                <a:cubicBezTo>
                  <a:pt x="203606" y="41291"/>
                  <a:pt x="208670" y="46355"/>
                  <a:pt x="214917" y="46355"/>
                </a:cubicBezTo>
                <a:lnTo>
                  <a:pt x="248850" y="46355"/>
                </a:lnTo>
                <a:lnTo>
                  <a:pt x="248850" y="249952"/>
                </a:lnTo>
                <a:lnTo>
                  <a:pt x="45253" y="249952"/>
                </a:lnTo>
                <a:lnTo>
                  <a:pt x="45253" y="159464"/>
                </a:lnTo>
                <a:cubicBezTo>
                  <a:pt x="45253" y="153217"/>
                  <a:pt x="40189" y="148153"/>
                  <a:pt x="33942" y="148153"/>
                </a:cubicBezTo>
                <a:cubicBezTo>
                  <a:pt x="27695" y="148153"/>
                  <a:pt x="22631" y="153217"/>
                  <a:pt x="22631" y="159464"/>
                </a:cubicBezTo>
                <a:lnTo>
                  <a:pt x="22631" y="249952"/>
                </a:lnTo>
                <a:cubicBezTo>
                  <a:pt x="22631" y="262446"/>
                  <a:pt x="32759" y="272574"/>
                  <a:pt x="45253" y="272574"/>
                </a:cubicBezTo>
                <a:lnTo>
                  <a:pt x="248850" y="272574"/>
                </a:lnTo>
                <a:cubicBezTo>
                  <a:pt x="261343" y="272574"/>
                  <a:pt x="271471" y="262446"/>
                  <a:pt x="271471" y="249952"/>
                </a:cubicBezTo>
                <a:lnTo>
                  <a:pt x="271471" y="46355"/>
                </a:lnTo>
                <a:cubicBezTo>
                  <a:pt x="271471" y="33861"/>
                  <a:pt x="261343" y="23733"/>
                  <a:pt x="248850" y="23733"/>
                </a:cubicBezTo>
                <a:close/>
              </a:path>
            </a:pathLst>
          </a:custGeom>
          <a:solidFill xmlns:a="http://schemas.openxmlformats.org/drawingml/2006/main">
            <a:srgbClr val="2F80ED"/>
          </a:solidFill>
          <a:ln xmlns:a="http://schemas.openxmlformats.org/drawingml/2006/main">
            <a:noFill/>
          </a:ln>
        </p:spPr>
      </p:sp>
      <p:sp>
        <p:nvSpPr>
          <p:cNvPr id="63" name="TextBox 63">
            <a:extLst xmlns:a="http://schemas.openxmlformats.org/drawingml/2006/main">
              <a:ext uri="{FF2B5EF4-FFF2-40B4-BE49-F238E27FC236}">
                <a16:creationId xmlns:a16="http://schemas.microsoft.com/office/drawing/2014/main" id="{333AF1A4-4F14-4B34-92B1-068531D51D3A}"/>
              </a:ext>
            </a:extLst>
          </p:cNvPr>
          <p:cNvSpPr>
            <a:spLocks xmlns:a="http://schemas.openxmlformats.org/drawingml/2006/main" noGrp="1"/>
          </p:cNvSpPr>
          <p:nvPr/>
        </p:nvSpPr>
        <p:spPr>
          <a:xfrm xmlns:a="http://schemas.openxmlformats.org/drawingml/2006/main" rot="0">
            <a:off x="2632710" y="5795010"/>
            <a:ext cx="887387"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DL MODULE</a:t>
            </a:r>
          </a:p>
        </p:txBody>
      </p:sp>
      <p:sp>
        <p:nvSpPr>
          <p:cNvPr id="64" name="Line 64">
            <a:extLst xmlns:a="http://schemas.openxmlformats.org/drawingml/2006/main">
              <a:ext uri="{FF2B5EF4-FFF2-40B4-BE49-F238E27FC236}">
                <a16:creationId xmlns:a16="http://schemas.microsoft.com/office/drawing/2014/main" id="{FBD1FC4C-8547-4C8C-BB8C-9EBD015B7254}"/>
              </a:ext>
            </a:extLst>
          </p:cNvPr>
          <p:cNvSpPr>
            <a:spLocks xmlns:a="http://schemas.openxmlformats.org/drawingml/2006/main" noGrp="1"/>
          </p:cNvSpPr>
          <p:nvPr/>
        </p:nvSpPr>
        <p:spPr>
          <a:xfrm xmlns:a="http://schemas.openxmlformats.org/drawingml/2006/main" rot="0">
            <a:off x="3695700" y="5876925"/>
            <a:ext cx="895350" cy="1"/>
          </a:xfrm>
          <a:prstGeom xmlns:a="http://schemas.openxmlformats.org/drawingml/2006/main" prst="line">
            <a:avLst/>
          </a:prstGeom>
          <a:noFill xmlns:a="http://schemas.openxmlformats.org/drawingml/2006/main"/>
          <a:ln xmlns:a="http://schemas.openxmlformats.org/drawingml/2006/main" w="23812">
            <a:solidFill>
              <a:srgbClr val="2F80ED"/>
            </a:solidFill>
            <a:tailEnd type="triangle" w="lg" len="lg"/>
          </a:ln>
        </p:spPr>
      </p:sp>
      <p:sp>
        <p:nvSpPr>
          <p:cNvPr id="65" name="TextBox 65">
            <a:extLst xmlns:a="http://schemas.openxmlformats.org/drawingml/2006/main">
              <a:ext uri="{FF2B5EF4-FFF2-40B4-BE49-F238E27FC236}">
                <a16:creationId xmlns:a16="http://schemas.microsoft.com/office/drawing/2014/main" id="{33A5356F-F7F7-4FF2-8872-E800CD7EA9EF}"/>
              </a:ext>
            </a:extLst>
          </p:cNvPr>
          <p:cNvSpPr>
            <a:spLocks xmlns:a="http://schemas.openxmlformats.org/drawingml/2006/main" noGrp="1"/>
          </p:cNvSpPr>
          <p:nvPr/>
        </p:nvSpPr>
        <p:spPr>
          <a:xfrm xmlns:a="http://schemas.openxmlformats.org/drawingml/2006/main" rot="0">
            <a:off x="4880610" y="5795010"/>
            <a:ext cx="110581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UNIFIED EVENT</a:t>
            </a:r>
          </a:p>
        </p:txBody>
      </p:sp>
      <p:sp>
        <p:nvSpPr>
          <p:cNvPr id="66" name="Line 66">
            <a:extLst xmlns:a="http://schemas.openxmlformats.org/drawingml/2006/main">
              <a:ext uri="{FF2B5EF4-FFF2-40B4-BE49-F238E27FC236}">
                <a16:creationId xmlns:a16="http://schemas.microsoft.com/office/drawing/2014/main" id="{94691EA7-DFD9-4B12-9F0E-602E370F62F8}"/>
              </a:ext>
            </a:extLst>
          </p:cNvPr>
          <p:cNvSpPr>
            <a:spLocks xmlns:a="http://schemas.openxmlformats.org/drawingml/2006/main" noGrp="1"/>
          </p:cNvSpPr>
          <p:nvPr/>
        </p:nvSpPr>
        <p:spPr>
          <a:xfrm xmlns:a="http://schemas.openxmlformats.org/drawingml/2006/main" rot="0">
            <a:off x="6305550" y="5876925"/>
            <a:ext cx="895350" cy="1"/>
          </a:xfrm>
          <a:prstGeom xmlns:a="http://schemas.openxmlformats.org/drawingml/2006/main" prst="line">
            <a:avLst/>
          </a:prstGeom>
          <a:noFill xmlns:a="http://schemas.openxmlformats.org/drawingml/2006/main"/>
          <a:ln xmlns:a="http://schemas.openxmlformats.org/drawingml/2006/main" w="23812">
            <a:solidFill>
              <a:srgbClr val="2F80ED"/>
            </a:solidFill>
            <a:tailEnd type="triangle" w="lg" len="lg"/>
          </a:ln>
        </p:spPr>
      </p:sp>
      <p:sp>
        <p:nvSpPr>
          <p:cNvPr id="67" name="Freeform 67">
            <a:extLst xmlns:a="http://schemas.openxmlformats.org/drawingml/2006/main">
              <a:ext uri="{FF2B5EF4-FFF2-40B4-BE49-F238E27FC236}">
                <a16:creationId xmlns:a16="http://schemas.microsoft.com/office/drawing/2014/main" id="{95013EDB-57A9-4FCB-B6CF-AFCF7721E7C2}"/>
              </a:ext>
            </a:extLst>
          </p:cNvPr>
          <p:cNvSpPr>
            <a:spLocks xmlns:a="http://schemas.openxmlformats.org/drawingml/2006/main" noGrp="1"/>
          </p:cNvSpPr>
          <p:nvPr/>
        </p:nvSpPr>
        <p:spPr>
          <a:xfrm xmlns:a="http://schemas.openxmlformats.org/drawingml/2006/main" rot="0">
            <a:off x="7542767" y="5752505"/>
            <a:ext cx="249744" cy="214908"/>
          </a:xfrm>
          <a:custGeom xmlns:a="http://schemas.openxmlformats.org/drawingml/2006/main">
            <a:rect l="l" t="t" r="r" b="b"/>
            <a:pathLst>
              <a:path w="249744" h="214908">
                <a:moveTo>
                  <a:pt x="237967" y="214908"/>
                </a:moveTo>
                <a:lnTo>
                  <a:pt x="11748" y="214908"/>
                </a:lnTo>
                <a:cubicBezTo>
                  <a:pt x="7720" y="214884"/>
                  <a:pt x="4008" y="212718"/>
                  <a:pt x="2004" y="209223"/>
                </a:cubicBezTo>
                <a:cubicBezTo>
                  <a:pt x="0" y="205728"/>
                  <a:pt x="7" y="201430"/>
                  <a:pt x="2021" y="197941"/>
                </a:cubicBezTo>
                <a:cubicBezTo>
                  <a:pt x="11338" y="181823"/>
                  <a:pt x="23059" y="152429"/>
                  <a:pt x="23059" y="101798"/>
                </a:cubicBezTo>
                <a:cubicBezTo>
                  <a:pt x="23059" y="45577"/>
                  <a:pt x="68636" y="0"/>
                  <a:pt x="124858" y="0"/>
                </a:cubicBezTo>
                <a:cubicBezTo>
                  <a:pt x="181080" y="0"/>
                  <a:pt x="226656" y="45577"/>
                  <a:pt x="226656" y="101798"/>
                </a:cubicBezTo>
                <a:cubicBezTo>
                  <a:pt x="226656" y="152443"/>
                  <a:pt x="238391" y="181823"/>
                  <a:pt x="247723" y="197941"/>
                </a:cubicBezTo>
                <a:cubicBezTo>
                  <a:pt x="249740" y="201435"/>
                  <a:pt x="249744" y="205738"/>
                  <a:pt x="247733" y="209235"/>
                </a:cubicBezTo>
                <a:cubicBezTo>
                  <a:pt x="245722" y="212732"/>
                  <a:pt x="242001" y="214894"/>
                  <a:pt x="237967" y="214908"/>
                </a:cubicBezTo>
                <a:close/>
              </a:path>
            </a:pathLst>
          </a:custGeom>
          <a:solidFill xmlns:a="http://schemas.openxmlformats.org/drawingml/2006/main">
            <a:srgbClr val="2F80ED">
              <a:alpha val="20000"/>
            </a:srgbClr>
          </a:solidFill>
          <a:ln xmlns:a="http://schemas.openxmlformats.org/drawingml/2006/main">
            <a:noFill/>
          </a:ln>
        </p:spPr>
      </p:sp>
      <p:sp>
        <p:nvSpPr>
          <p:cNvPr id="68" name="Freeform 68">
            <a:extLst xmlns:a="http://schemas.openxmlformats.org/drawingml/2006/main">
              <a:ext uri="{FF2B5EF4-FFF2-40B4-BE49-F238E27FC236}">
                <a16:creationId xmlns:a16="http://schemas.microsoft.com/office/drawing/2014/main" id="{EE98948E-7082-4CAC-967E-912F29EFE76C}"/>
              </a:ext>
            </a:extLst>
          </p:cNvPr>
          <p:cNvSpPr>
            <a:spLocks xmlns:a="http://schemas.openxmlformats.org/drawingml/2006/main" noGrp="1"/>
          </p:cNvSpPr>
          <p:nvPr/>
        </p:nvSpPr>
        <p:spPr>
          <a:xfrm xmlns:a="http://schemas.openxmlformats.org/drawingml/2006/main" rot="0">
            <a:off x="7525285" y="5717985"/>
            <a:ext cx="285778" cy="306038"/>
          </a:xfrm>
          <a:custGeom xmlns:a="http://schemas.openxmlformats.org/drawingml/2006/main">
            <a:rect l="l" t="t" r="r" b="b"/>
            <a:pathLst>
              <a:path w="285778" h="306038">
                <a:moveTo>
                  <a:pt x="278072" y="78491"/>
                </a:moveTo>
                <a:cubicBezTo>
                  <a:pt x="272527" y="81362"/>
                  <a:pt x="265705" y="79197"/>
                  <a:pt x="262830" y="73655"/>
                </a:cubicBezTo>
                <a:cubicBezTo>
                  <a:pt x="252034" y="52327"/>
                  <a:pt x="235692" y="34300"/>
                  <a:pt x="215522" y="21469"/>
                </a:cubicBezTo>
                <a:cubicBezTo>
                  <a:pt x="212102" y="19312"/>
                  <a:pt x="210093" y="15495"/>
                  <a:pt x="210251" y="11455"/>
                </a:cubicBezTo>
                <a:cubicBezTo>
                  <a:pt x="210409" y="7415"/>
                  <a:pt x="212711" y="3766"/>
                  <a:pt x="216289" y="1883"/>
                </a:cubicBezTo>
                <a:cubicBezTo>
                  <a:pt x="219866" y="0"/>
                  <a:pt x="224177" y="169"/>
                  <a:pt x="227597" y="2326"/>
                </a:cubicBezTo>
                <a:cubicBezTo>
                  <a:pt x="251104" y="17377"/>
                  <a:pt x="270191" y="38401"/>
                  <a:pt x="282907" y="63249"/>
                </a:cubicBezTo>
                <a:cubicBezTo>
                  <a:pt x="285778" y="68793"/>
                  <a:pt x="283614" y="75615"/>
                  <a:pt x="278072" y="78491"/>
                </a:cubicBezTo>
                <a:close/>
                <a:moveTo>
                  <a:pt x="11855" y="79763"/>
                </a:moveTo>
                <a:cubicBezTo>
                  <a:pt x="16079" y="79761"/>
                  <a:pt x="19950" y="77406"/>
                  <a:pt x="21893" y="73655"/>
                </a:cubicBezTo>
                <a:cubicBezTo>
                  <a:pt x="32689" y="52327"/>
                  <a:pt x="49031" y="34300"/>
                  <a:pt x="69201" y="21469"/>
                </a:cubicBezTo>
                <a:cubicBezTo>
                  <a:pt x="72621" y="19312"/>
                  <a:pt x="74630" y="15495"/>
                  <a:pt x="74472" y="11455"/>
                </a:cubicBezTo>
                <a:cubicBezTo>
                  <a:pt x="74314" y="7415"/>
                  <a:pt x="72013" y="3766"/>
                  <a:pt x="68435" y="1883"/>
                </a:cubicBezTo>
                <a:cubicBezTo>
                  <a:pt x="64857" y="0"/>
                  <a:pt x="60546" y="169"/>
                  <a:pt x="57127" y="2326"/>
                </a:cubicBezTo>
                <a:cubicBezTo>
                  <a:pt x="33620" y="17377"/>
                  <a:pt x="14532" y="38401"/>
                  <a:pt x="1816" y="63249"/>
                </a:cubicBezTo>
                <a:cubicBezTo>
                  <a:pt x="0" y="66755"/>
                  <a:pt x="143" y="70954"/>
                  <a:pt x="2194" y="74327"/>
                </a:cubicBezTo>
                <a:cubicBezTo>
                  <a:pt x="4245" y="77701"/>
                  <a:pt x="7906" y="79761"/>
                  <a:pt x="11855" y="79763"/>
                </a:cubicBezTo>
                <a:close/>
                <a:moveTo>
                  <a:pt x="274975" y="226720"/>
                </a:moveTo>
                <a:cubicBezTo>
                  <a:pt x="279054" y="233715"/>
                  <a:pt x="279084" y="242355"/>
                  <a:pt x="275053" y="249378"/>
                </a:cubicBezTo>
                <a:cubicBezTo>
                  <a:pt x="271023" y="256400"/>
                  <a:pt x="263546" y="260732"/>
                  <a:pt x="255450" y="260738"/>
                </a:cubicBezTo>
                <a:lnTo>
                  <a:pt x="197764" y="260738"/>
                </a:lnTo>
                <a:cubicBezTo>
                  <a:pt x="192412" y="287096"/>
                  <a:pt x="169236" y="306038"/>
                  <a:pt x="142340" y="306038"/>
                </a:cubicBezTo>
                <a:cubicBezTo>
                  <a:pt x="115444" y="306038"/>
                  <a:pt x="92269" y="287096"/>
                  <a:pt x="86917" y="260738"/>
                </a:cubicBezTo>
                <a:lnTo>
                  <a:pt x="29231" y="260738"/>
                </a:lnTo>
                <a:cubicBezTo>
                  <a:pt x="21139" y="260722"/>
                  <a:pt x="13673" y="256386"/>
                  <a:pt x="9649" y="249365"/>
                </a:cubicBezTo>
                <a:cubicBezTo>
                  <a:pt x="5625" y="242345"/>
                  <a:pt x="5658" y="233710"/>
                  <a:pt x="9734" y="226720"/>
                </a:cubicBezTo>
                <a:cubicBezTo>
                  <a:pt x="22473" y="204735"/>
                  <a:pt x="29231" y="173474"/>
                  <a:pt x="29231" y="136318"/>
                </a:cubicBezTo>
                <a:cubicBezTo>
                  <a:pt x="29231" y="73849"/>
                  <a:pt x="79872" y="23208"/>
                  <a:pt x="142340" y="23208"/>
                </a:cubicBezTo>
                <a:cubicBezTo>
                  <a:pt x="204809" y="23208"/>
                  <a:pt x="255450" y="73849"/>
                  <a:pt x="255450" y="136318"/>
                </a:cubicBezTo>
                <a:cubicBezTo>
                  <a:pt x="255450" y="173460"/>
                  <a:pt x="262208" y="204721"/>
                  <a:pt x="274975" y="226720"/>
                </a:cubicBezTo>
                <a:close/>
                <a:moveTo>
                  <a:pt x="174322" y="260738"/>
                </a:moveTo>
                <a:lnTo>
                  <a:pt x="110359" y="260738"/>
                </a:lnTo>
                <a:cubicBezTo>
                  <a:pt x="115161" y="274280"/>
                  <a:pt x="127972" y="283330"/>
                  <a:pt x="142340" y="283330"/>
                </a:cubicBezTo>
                <a:cubicBezTo>
                  <a:pt x="156709" y="283330"/>
                  <a:pt x="169520" y="274280"/>
                  <a:pt x="174322" y="260738"/>
                </a:cubicBezTo>
                <a:close/>
                <a:moveTo>
                  <a:pt x="255450" y="238116"/>
                </a:moveTo>
                <a:cubicBezTo>
                  <a:pt x="240406" y="212285"/>
                  <a:pt x="232828" y="178041"/>
                  <a:pt x="232828" y="136318"/>
                </a:cubicBezTo>
                <a:cubicBezTo>
                  <a:pt x="232828" y="86343"/>
                  <a:pt x="192315" y="45830"/>
                  <a:pt x="142340" y="45830"/>
                </a:cubicBezTo>
                <a:cubicBezTo>
                  <a:pt x="92366" y="45830"/>
                  <a:pt x="51853" y="86343"/>
                  <a:pt x="51853" y="136318"/>
                </a:cubicBezTo>
                <a:cubicBezTo>
                  <a:pt x="51853" y="178055"/>
                  <a:pt x="44246" y="212299"/>
                  <a:pt x="29231" y="238116"/>
                </a:cubicBezTo>
                <a:close/>
              </a:path>
            </a:pathLst>
          </a:custGeom>
          <a:solidFill xmlns:a="http://schemas.openxmlformats.org/drawingml/2006/main">
            <a:srgbClr val="2F80ED"/>
          </a:solidFill>
          <a:ln xmlns:a="http://schemas.openxmlformats.org/drawingml/2006/main">
            <a:noFill/>
          </a:ln>
        </p:spPr>
      </p:sp>
      <p:sp>
        <p:nvSpPr>
          <p:cNvPr id="70" name="TextBox 70">
            <a:extLst xmlns:a="http://schemas.openxmlformats.org/drawingml/2006/main">
              <a:ext uri="{FF2B5EF4-FFF2-40B4-BE49-F238E27FC236}">
                <a16:creationId xmlns:a16="http://schemas.microsoft.com/office/drawing/2014/main" id="{331C4FCB-AFCD-4EBC-9B54-38123A752682}"/>
              </a:ext>
            </a:extLst>
          </p:cNvPr>
          <p:cNvSpPr>
            <a:spLocks xmlns:a="http://schemas.openxmlformats.org/drawingml/2006/main" noGrp="1"/>
          </p:cNvSpPr>
          <p:nvPr/>
        </p:nvSpPr>
        <p:spPr>
          <a:xfrm xmlns:a="http://schemas.openxmlformats.org/drawingml/2006/main" rot="0">
            <a:off x="8004810" y="5795010"/>
            <a:ext cx="1021804"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123B5D"/>
                </a:solidFill>
                <a:latin typeface="Arial"/>
                <a:ea typeface="Arial"/>
                <a:cs typeface="Arial"/>
              </a:rPr>
              <a:t>CONTROLLER</a:t>
            </a:r>
          </a:p>
        </p:txBody>
      </p:sp>
      <p:sp>
        <p:nvSpPr>
          <p:cNvPr id="71" name="Line 71">
            <a:extLst xmlns:a="http://schemas.openxmlformats.org/drawingml/2006/main">
              <a:ext uri="{FF2B5EF4-FFF2-40B4-BE49-F238E27FC236}">
                <a16:creationId xmlns:a16="http://schemas.microsoft.com/office/drawing/2014/main" id="{A792417E-F4EB-4D9B-AC5F-C58F12DC5412}"/>
              </a:ext>
            </a:extLst>
          </p:cNvPr>
          <p:cNvSpPr>
            <a:spLocks xmlns:a="http://schemas.openxmlformats.org/drawingml/2006/main" noGrp="1"/>
          </p:cNvSpPr>
          <p:nvPr/>
        </p:nvSpPr>
        <p:spPr>
          <a:xfrm xmlns:a="http://schemas.openxmlformats.org/drawingml/2006/main" rot="0">
            <a:off x="9067800" y="5876925"/>
            <a:ext cx="762000" cy="1"/>
          </a:xfrm>
          <a:prstGeom xmlns:a="http://schemas.openxmlformats.org/drawingml/2006/main" prst="line">
            <a:avLst/>
          </a:prstGeom>
          <a:noFill xmlns:a="http://schemas.openxmlformats.org/drawingml/2006/main"/>
          <a:ln xmlns:a="http://schemas.openxmlformats.org/drawingml/2006/main" w="23812">
            <a:solidFill>
              <a:srgbClr val="2F80ED"/>
            </a:solidFill>
            <a:tailEnd type="triangle" w="lg" len="lg"/>
          </a:ln>
        </p:spPr>
      </p:sp>
      <p:sp>
        <p:nvSpPr>
          <p:cNvPr id="72" name="Freeform 72">
            <a:extLst xmlns:a="http://schemas.openxmlformats.org/drawingml/2006/main">
              <a:ext uri="{FF2B5EF4-FFF2-40B4-BE49-F238E27FC236}">
                <a16:creationId xmlns:a16="http://schemas.microsoft.com/office/drawing/2014/main" id="{24ECA701-C7AD-42B2-9E08-2C467F48A689}"/>
              </a:ext>
            </a:extLst>
          </p:cNvPr>
          <p:cNvSpPr>
            <a:spLocks xmlns:a="http://schemas.openxmlformats.org/drawingml/2006/main" noGrp="1"/>
          </p:cNvSpPr>
          <p:nvPr/>
        </p:nvSpPr>
        <p:spPr>
          <a:xfrm xmlns:a="http://schemas.openxmlformats.org/drawingml/2006/main" rot="0">
            <a:off x="10170319" y="5753695"/>
            <a:ext cx="328612" cy="273844"/>
          </a:xfrm>
          <a:custGeom xmlns:a="http://schemas.openxmlformats.org/drawingml/2006/main">
            <a:rect l="l" t="t" r="r" b="b"/>
            <a:pathLst>
              <a:path w="328612" h="273844">
                <a:moveTo>
                  <a:pt x="287536" y="0"/>
                </a:moveTo>
                <a:lnTo>
                  <a:pt x="41077" y="0"/>
                </a:lnTo>
                <a:cubicBezTo>
                  <a:pt x="18391" y="0"/>
                  <a:pt x="0" y="18391"/>
                  <a:pt x="0" y="41077"/>
                </a:cubicBezTo>
                <a:lnTo>
                  <a:pt x="0" y="232767"/>
                </a:lnTo>
                <a:cubicBezTo>
                  <a:pt x="0" y="255453"/>
                  <a:pt x="18391" y="273844"/>
                  <a:pt x="41077" y="273844"/>
                </a:cubicBezTo>
                <a:lnTo>
                  <a:pt x="287536" y="273844"/>
                </a:lnTo>
                <a:cubicBezTo>
                  <a:pt x="310222" y="273844"/>
                  <a:pt x="328612" y="255453"/>
                  <a:pt x="328612" y="232767"/>
                </a:cubicBezTo>
                <a:lnTo>
                  <a:pt x="328612" y="41077"/>
                </a:lnTo>
                <a:cubicBezTo>
                  <a:pt x="328612" y="18391"/>
                  <a:pt x="310222" y="0"/>
                  <a:pt x="287536" y="0"/>
                </a:cubicBezTo>
                <a:close/>
                <a:moveTo>
                  <a:pt x="225921" y="219075"/>
                </a:moveTo>
                <a:lnTo>
                  <a:pt x="102691" y="219075"/>
                </a:lnTo>
                <a:cubicBezTo>
                  <a:pt x="83786" y="219075"/>
                  <a:pt x="68461" y="203749"/>
                  <a:pt x="68461" y="184845"/>
                </a:cubicBezTo>
                <a:cubicBezTo>
                  <a:pt x="68461" y="165940"/>
                  <a:pt x="83786" y="150614"/>
                  <a:pt x="102691" y="150614"/>
                </a:cubicBezTo>
                <a:lnTo>
                  <a:pt x="225921" y="150614"/>
                </a:lnTo>
                <a:cubicBezTo>
                  <a:pt x="244826" y="150614"/>
                  <a:pt x="260152" y="165940"/>
                  <a:pt x="260152" y="184845"/>
                </a:cubicBezTo>
                <a:cubicBezTo>
                  <a:pt x="260152" y="203749"/>
                  <a:pt x="244826" y="219075"/>
                  <a:pt x="225921" y="219075"/>
                </a:cubicBezTo>
                <a:close/>
              </a:path>
            </a:pathLst>
          </a:custGeom>
          <a:solidFill xmlns:a="http://schemas.openxmlformats.org/drawingml/2006/main">
            <a:srgbClr val="2F80ED">
              <a:alpha val="20000"/>
            </a:srgbClr>
          </a:solidFill>
          <a:ln xmlns:a="http://schemas.openxmlformats.org/drawingml/2006/main">
            <a:noFill/>
          </a:ln>
        </p:spPr>
      </p:sp>
      <p:sp>
        <p:nvSpPr>
          <p:cNvPr id="73" name="Freeform 73">
            <a:extLst xmlns:a="http://schemas.openxmlformats.org/drawingml/2006/main">
              <a:ext uri="{FF2B5EF4-FFF2-40B4-BE49-F238E27FC236}">
                <a16:creationId xmlns:a16="http://schemas.microsoft.com/office/drawing/2014/main" id="{924EE93C-6849-490B-B592-0E02B6FD1D6B}"/>
              </a:ext>
            </a:extLst>
          </p:cNvPr>
          <p:cNvSpPr>
            <a:spLocks xmlns:a="http://schemas.openxmlformats.org/drawingml/2006/main" noGrp="1"/>
          </p:cNvSpPr>
          <p:nvPr/>
        </p:nvSpPr>
        <p:spPr>
          <a:xfrm xmlns:a="http://schemas.openxmlformats.org/drawingml/2006/main" rot="0">
            <a:off x="10156627" y="5671542"/>
            <a:ext cx="355997" cy="369689"/>
          </a:xfrm>
          <a:custGeom xmlns:a="http://schemas.openxmlformats.org/drawingml/2006/main">
            <a:rect l="l" t="t" r="r" b="b"/>
            <a:pathLst>
              <a:path w="355997" h="369689">
                <a:moveTo>
                  <a:pt x="301228" y="68461"/>
                </a:moveTo>
                <a:lnTo>
                  <a:pt x="191691" y="68461"/>
                </a:lnTo>
                <a:lnTo>
                  <a:pt x="191691" y="13692"/>
                </a:lnTo>
                <a:cubicBezTo>
                  <a:pt x="191691" y="6130"/>
                  <a:pt x="185560" y="0"/>
                  <a:pt x="177998" y="0"/>
                </a:cubicBezTo>
                <a:cubicBezTo>
                  <a:pt x="170436" y="0"/>
                  <a:pt x="164306" y="6130"/>
                  <a:pt x="164306" y="13692"/>
                </a:cubicBezTo>
                <a:lnTo>
                  <a:pt x="164306" y="68461"/>
                </a:lnTo>
                <a:lnTo>
                  <a:pt x="54769" y="68461"/>
                </a:lnTo>
                <a:cubicBezTo>
                  <a:pt x="24521" y="68461"/>
                  <a:pt x="0" y="92982"/>
                  <a:pt x="0" y="123230"/>
                </a:cubicBezTo>
                <a:lnTo>
                  <a:pt x="0" y="314920"/>
                </a:lnTo>
                <a:cubicBezTo>
                  <a:pt x="0" y="345168"/>
                  <a:pt x="24521" y="369689"/>
                  <a:pt x="54769" y="369689"/>
                </a:cubicBezTo>
                <a:lnTo>
                  <a:pt x="301228" y="369689"/>
                </a:lnTo>
                <a:cubicBezTo>
                  <a:pt x="331476" y="369689"/>
                  <a:pt x="355997" y="345168"/>
                  <a:pt x="355997" y="314920"/>
                </a:cubicBezTo>
                <a:lnTo>
                  <a:pt x="355997" y="123230"/>
                </a:lnTo>
                <a:cubicBezTo>
                  <a:pt x="355997" y="92982"/>
                  <a:pt x="331476" y="68461"/>
                  <a:pt x="301228" y="68461"/>
                </a:cubicBezTo>
                <a:close/>
                <a:moveTo>
                  <a:pt x="328612" y="314920"/>
                </a:moveTo>
                <a:cubicBezTo>
                  <a:pt x="328612" y="330044"/>
                  <a:pt x="316352" y="342305"/>
                  <a:pt x="301228" y="342305"/>
                </a:cubicBezTo>
                <a:lnTo>
                  <a:pt x="54769" y="342305"/>
                </a:lnTo>
                <a:cubicBezTo>
                  <a:pt x="39645" y="342305"/>
                  <a:pt x="27384" y="330044"/>
                  <a:pt x="27384" y="314920"/>
                </a:cubicBezTo>
                <a:lnTo>
                  <a:pt x="27384" y="123230"/>
                </a:lnTo>
                <a:cubicBezTo>
                  <a:pt x="27384" y="108106"/>
                  <a:pt x="39645" y="95845"/>
                  <a:pt x="54769" y="95845"/>
                </a:cubicBezTo>
                <a:lnTo>
                  <a:pt x="301228" y="95845"/>
                </a:lnTo>
                <a:cubicBezTo>
                  <a:pt x="316352" y="95845"/>
                  <a:pt x="328612" y="108106"/>
                  <a:pt x="328612" y="123230"/>
                </a:cubicBezTo>
                <a:close/>
                <a:moveTo>
                  <a:pt x="239613" y="219075"/>
                </a:moveTo>
                <a:lnTo>
                  <a:pt x="116384" y="219075"/>
                </a:lnTo>
                <a:cubicBezTo>
                  <a:pt x="89917" y="219075"/>
                  <a:pt x="68461" y="240531"/>
                  <a:pt x="68461" y="266998"/>
                </a:cubicBezTo>
                <a:cubicBezTo>
                  <a:pt x="68461" y="293465"/>
                  <a:pt x="89917" y="314920"/>
                  <a:pt x="116384" y="314920"/>
                </a:cubicBezTo>
                <a:lnTo>
                  <a:pt x="239613" y="314920"/>
                </a:lnTo>
                <a:cubicBezTo>
                  <a:pt x="266080" y="314920"/>
                  <a:pt x="287536" y="293465"/>
                  <a:pt x="287536" y="266998"/>
                </a:cubicBezTo>
                <a:cubicBezTo>
                  <a:pt x="287536" y="240531"/>
                  <a:pt x="266080" y="219075"/>
                  <a:pt x="239613" y="219075"/>
                </a:cubicBezTo>
                <a:close/>
                <a:moveTo>
                  <a:pt x="191691" y="246459"/>
                </a:moveTo>
                <a:lnTo>
                  <a:pt x="191691" y="287536"/>
                </a:lnTo>
                <a:lnTo>
                  <a:pt x="164306" y="287536"/>
                </a:lnTo>
                <a:lnTo>
                  <a:pt x="164306" y="246459"/>
                </a:lnTo>
                <a:close/>
                <a:moveTo>
                  <a:pt x="95845" y="266998"/>
                </a:moveTo>
                <a:cubicBezTo>
                  <a:pt x="95845" y="255655"/>
                  <a:pt x="105041" y="246459"/>
                  <a:pt x="116384" y="246459"/>
                </a:cubicBezTo>
                <a:lnTo>
                  <a:pt x="136922" y="246459"/>
                </a:lnTo>
                <a:lnTo>
                  <a:pt x="136922" y="287536"/>
                </a:lnTo>
                <a:lnTo>
                  <a:pt x="116384" y="287536"/>
                </a:lnTo>
                <a:cubicBezTo>
                  <a:pt x="105041" y="287536"/>
                  <a:pt x="95845" y="278341"/>
                  <a:pt x="95845" y="266998"/>
                </a:cubicBezTo>
                <a:close/>
                <a:moveTo>
                  <a:pt x="239613" y="287536"/>
                </a:moveTo>
                <a:lnTo>
                  <a:pt x="219075" y="287536"/>
                </a:lnTo>
                <a:lnTo>
                  <a:pt x="219075" y="246459"/>
                </a:lnTo>
                <a:lnTo>
                  <a:pt x="239613" y="246459"/>
                </a:lnTo>
                <a:cubicBezTo>
                  <a:pt x="250956" y="246459"/>
                  <a:pt x="260152" y="255655"/>
                  <a:pt x="260152" y="266998"/>
                </a:cubicBezTo>
                <a:cubicBezTo>
                  <a:pt x="260152" y="278341"/>
                  <a:pt x="250956" y="287536"/>
                  <a:pt x="239613" y="287536"/>
                </a:cubicBezTo>
                <a:close/>
                <a:moveTo>
                  <a:pt x="82153" y="171152"/>
                </a:moveTo>
                <a:cubicBezTo>
                  <a:pt x="82153" y="159809"/>
                  <a:pt x="91348" y="150614"/>
                  <a:pt x="102691" y="150614"/>
                </a:cubicBezTo>
                <a:cubicBezTo>
                  <a:pt x="114034" y="150614"/>
                  <a:pt x="123230" y="159809"/>
                  <a:pt x="123230" y="171152"/>
                </a:cubicBezTo>
                <a:cubicBezTo>
                  <a:pt x="123230" y="182495"/>
                  <a:pt x="114034" y="191691"/>
                  <a:pt x="102691" y="191691"/>
                </a:cubicBezTo>
                <a:cubicBezTo>
                  <a:pt x="91348" y="191691"/>
                  <a:pt x="82153" y="182495"/>
                  <a:pt x="82153" y="171152"/>
                </a:cubicBezTo>
                <a:close/>
                <a:moveTo>
                  <a:pt x="232767" y="171152"/>
                </a:moveTo>
                <a:cubicBezTo>
                  <a:pt x="232767" y="159809"/>
                  <a:pt x="241962" y="150614"/>
                  <a:pt x="253305" y="150614"/>
                </a:cubicBezTo>
                <a:cubicBezTo>
                  <a:pt x="264648" y="150614"/>
                  <a:pt x="273844" y="159809"/>
                  <a:pt x="273844" y="171152"/>
                </a:cubicBezTo>
                <a:cubicBezTo>
                  <a:pt x="273844" y="182495"/>
                  <a:pt x="264648" y="191691"/>
                  <a:pt x="253305" y="191691"/>
                </a:cubicBezTo>
                <a:cubicBezTo>
                  <a:pt x="241962" y="191691"/>
                  <a:pt x="232767" y="182495"/>
                  <a:pt x="232767" y="171152"/>
                </a:cubicBezTo>
                <a:close/>
              </a:path>
            </a:pathLst>
          </a:custGeom>
          <a:solidFill xmlns:a="http://schemas.openxmlformats.org/drawingml/2006/main">
            <a:srgbClr val="2F80ED"/>
          </a:solidFill>
          <a:ln xmlns:a="http://schemas.openxmlformats.org/drawingml/2006/main">
            <a:noFill/>
          </a:ln>
        </p:spPr>
      </p:sp>
      <p:sp>
        <p:nvSpPr>
          <p:cNvPr id="76" name="TextBox 76">
            <a:extLst xmlns:a="http://schemas.openxmlformats.org/drawingml/2006/main">
              <a:ext uri="{FF2B5EF4-FFF2-40B4-BE49-F238E27FC236}">
                <a16:creationId xmlns:a16="http://schemas.microsoft.com/office/drawing/2014/main" id="{044CD129-354F-41C5-943A-110A841CD39B}"/>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06</a:t>
            </a:r>
          </a:p>
        </p:txBody>
      </p:sp>
    </p:spTree>
    <p:extLst>
      <p:ext uri="{BB962C8B-B14F-4D97-AF65-F5344CB8AC3E}">
        <p14:creationId xmlns:p14="http://schemas.microsoft.com/office/powerpoint/2010/main" val="109054776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359F19DB-07AD-4BE0-904F-A4ACE4BC582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B90860D2-B300-464C-9DC7-A819E0DDD689}"/>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CBB18365-0000-4268-B890-69ACF2C9B457}"/>
              </a:ext>
            </a:extLst>
          </p:cNvPr>
          <p:cNvSpPr>
            <a:spLocks xmlns:a="http://schemas.openxmlformats.org/drawingml/2006/main" noGrp="1"/>
          </p:cNvSpPr>
          <p:nvPr/>
        </p:nvSpPr>
        <p:spPr>
          <a:xfrm xmlns:a="http://schemas.openxmlformats.org/drawingml/2006/main" rot="0">
            <a:off x="659130" y="411480"/>
            <a:ext cx="2390932"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HARDWARE &amp; CONTROL</a:t>
            </a:r>
          </a:p>
        </p:txBody>
      </p:sp>
      <p:sp>
        <p:nvSpPr>
          <p:cNvPr id="5" name="Line 5">
            <a:extLst xmlns:a="http://schemas.openxmlformats.org/drawingml/2006/main">
              <a:ext uri="{FF2B5EF4-FFF2-40B4-BE49-F238E27FC236}">
                <a16:creationId xmlns:a16="http://schemas.microsoft.com/office/drawing/2014/main" id="{710ACAEA-C3AC-4050-BDAA-744DAC9CF8F0}"/>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7" name="Rectangle 7">
            <a:extLst xmlns:a="http://schemas.openxmlformats.org/drawingml/2006/main">
              <a:ext uri="{FF2B5EF4-FFF2-40B4-BE49-F238E27FC236}">
                <a16:creationId xmlns:a16="http://schemas.microsoft.com/office/drawing/2014/main" id="{B33BC782-B9FB-4D2D-BF84-F6E681FFDED8}"/>
              </a:ext>
            </a:extLst>
          </p:cNvPr>
          <p:cNvSpPr>
            <a:spLocks xmlns:a="http://schemas.openxmlformats.org/drawingml/2006/main" noGrp="1"/>
          </p:cNvSpPr>
          <p:nvPr/>
        </p:nvSpPr>
        <p:spPr>
          <a:xfrm xmlns:a="http://schemas.openxmlformats.org/drawingml/2006/main" rot="0">
            <a:off x="457200" y="1066800"/>
            <a:ext cx="3476625" cy="4381500"/>
          </a:xfrm>
          <a:prstGeom xmlns:a="http://schemas.openxmlformats.org/drawingml/2006/main" prst="roundRect">
            <a:avLst>
              <a:gd name="adj" fmla="val 3288"/>
            </a:avLst>
          </a:prstGeom>
          <a:solidFill xmlns:a="http://schemas.openxmlformats.org/drawingml/2006/main">
            <a:srgbClr val="EAF0F7"/>
          </a:solidFill>
          <a:ln xmlns:a="http://schemas.openxmlformats.org/drawingml/2006/main">
            <a:noFill/>
          </a:ln>
        </p:spPr>
      </p:sp>
      <p:sp>
        <p:nvSpPr>
          <p:cNvPr id="8" name="Rectangle 8">
            <a:extLst xmlns:a="http://schemas.openxmlformats.org/drawingml/2006/main">
              <a:ext uri="{FF2B5EF4-FFF2-40B4-BE49-F238E27FC236}">
                <a16:creationId xmlns:a16="http://schemas.microsoft.com/office/drawing/2014/main" id="{26A32EBB-3C0B-4B03-B6E6-18F983E0B11E}"/>
              </a:ext>
            </a:extLst>
          </p:cNvPr>
          <p:cNvSpPr>
            <a:spLocks xmlns:a="http://schemas.openxmlformats.org/drawingml/2006/main" noGrp="1"/>
          </p:cNvSpPr>
          <p:nvPr/>
        </p:nvSpPr>
        <p:spPr>
          <a:xfrm xmlns:a="http://schemas.openxmlformats.org/drawingml/2006/main" rot="0">
            <a:off x="457200" y="1066800"/>
            <a:ext cx="3476625" cy="781050"/>
          </a:xfrm>
          <a:prstGeom xmlns:a="http://schemas.openxmlformats.org/drawingml/2006/main" prst="roundRect">
            <a:avLst>
              <a:gd name="adj" fmla="val 14634"/>
            </a:avLst>
          </a:prstGeom>
          <a:solidFill xmlns:a="http://schemas.openxmlformats.org/drawingml/2006/main">
            <a:srgbClr val="2F80ED"/>
          </a:solidFill>
          <a:ln xmlns:a="http://schemas.openxmlformats.org/drawingml/2006/main">
            <a:noFill/>
          </a:ln>
        </p:spPr>
      </p:sp>
      <p:sp>
        <p:nvSpPr>
          <p:cNvPr id="9" name="Freeform 9">
            <a:extLst xmlns:a="http://schemas.openxmlformats.org/drawingml/2006/main">
              <a:ext uri="{FF2B5EF4-FFF2-40B4-BE49-F238E27FC236}">
                <a16:creationId xmlns:a16="http://schemas.microsoft.com/office/drawing/2014/main" id="{1EE589FF-F59E-42A2-A013-FA22212C3A52}"/>
              </a:ext>
            </a:extLst>
          </p:cNvPr>
          <p:cNvSpPr>
            <a:spLocks xmlns:a="http://schemas.openxmlformats.org/drawingml/2006/main" noGrp="1"/>
          </p:cNvSpPr>
          <p:nvPr/>
        </p:nvSpPr>
        <p:spPr>
          <a:xfrm xmlns:a="http://schemas.openxmlformats.org/drawingml/2006/main" rot="0">
            <a:off x="733425" y="1326356"/>
            <a:ext cx="285750" cy="250031"/>
          </a:xfrm>
          <a:custGeom xmlns:a="http://schemas.openxmlformats.org/drawingml/2006/main">
            <a:rect l="l" t="t" r="r" b="b"/>
            <a:pathLst>
              <a:path w="285750" h="250031">
                <a:moveTo>
                  <a:pt x="261938" y="35719"/>
                </a:moveTo>
                <a:lnTo>
                  <a:pt x="214312" y="35719"/>
                </a:lnTo>
                <a:lnTo>
                  <a:pt x="190500" y="0"/>
                </a:lnTo>
                <a:lnTo>
                  <a:pt x="95250" y="0"/>
                </a:lnTo>
                <a:lnTo>
                  <a:pt x="71438" y="35719"/>
                </a:lnTo>
                <a:lnTo>
                  <a:pt x="23812" y="35719"/>
                </a:lnTo>
                <a:cubicBezTo>
                  <a:pt x="10661" y="35719"/>
                  <a:pt x="0" y="46380"/>
                  <a:pt x="0" y="59531"/>
                </a:cubicBezTo>
                <a:lnTo>
                  <a:pt x="0" y="226219"/>
                </a:lnTo>
                <a:cubicBezTo>
                  <a:pt x="0" y="239370"/>
                  <a:pt x="10661" y="250031"/>
                  <a:pt x="23812" y="250031"/>
                </a:cubicBezTo>
                <a:lnTo>
                  <a:pt x="261938" y="250031"/>
                </a:lnTo>
                <a:cubicBezTo>
                  <a:pt x="275089" y="250031"/>
                  <a:pt x="285750" y="239370"/>
                  <a:pt x="285750" y="226219"/>
                </a:cubicBezTo>
                <a:lnTo>
                  <a:pt x="285750" y="59531"/>
                </a:lnTo>
                <a:cubicBezTo>
                  <a:pt x="285750" y="46380"/>
                  <a:pt x="275089" y="35719"/>
                  <a:pt x="261938" y="35719"/>
                </a:cubicBezTo>
                <a:close/>
                <a:moveTo>
                  <a:pt x="142875" y="190500"/>
                </a:moveTo>
                <a:cubicBezTo>
                  <a:pt x="113285" y="190500"/>
                  <a:pt x="89297" y="166512"/>
                  <a:pt x="89297" y="136922"/>
                </a:cubicBezTo>
                <a:cubicBezTo>
                  <a:pt x="89297" y="107331"/>
                  <a:pt x="113285" y="83344"/>
                  <a:pt x="142875" y="83344"/>
                </a:cubicBezTo>
                <a:cubicBezTo>
                  <a:pt x="172465" y="83344"/>
                  <a:pt x="196453" y="107331"/>
                  <a:pt x="196453" y="136922"/>
                </a:cubicBezTo>
                <a:cubicBezTo>
                  <a:pt x="196453" y="166512"/>
                  <a:pt x="172465" y="190500"/>
                  <a:pt x="142875" y="190500"/>
                </a:cubicBezTo>
                <a:close/>
              </a:path>
            </a:pathLst>
          </a:custGeom>
          <a:solidFill xmlns:a="http://schemas.openxmlformats.org/drawingml/2006/main">
            <a:srgbClr val="F7F9FC">
              <a:alpha val="20000"/>
            </a:srgbClr>
          </a:solidFill>
          <a:ln xmlns:a="http://schemas.openxmlformats.org/drawingml/2006/main">
            <a:noFill/>
          </a:ln>
        </p:spPr>
      </p:sp>
      <p:sp>
        <p:nvSpPr>
          <p:cNvPr id="10" name="Freeform 10">
            <a:extLst xmlns:a="http://schemas.openxmlformats.org/drawingml/2006/main">
              <a:ext uri="{FF2B5EF4-FFF2-40B4-BE49-F238E27FC236}">
                <a16:creationId xmlns:a16="http://schemas.microsoft.com/office/drawing/2014/main" id="{C9827F28-9362-4812-9857-C33C115712B0}"/>
              </a:ext>
            </a:extLst>
          </p:cNvPr>
          <p:cNvSpPr>
            <a:spLocks xmlns:a="http://schemas.openxmlformats.org/drawingml/2006/main" noGrp="1"/>
          </p:cNvSpPr>
          <p:nvPr/>
        </p:nvSpPr>
        <p:spPr>
          <a:xfrm xmlns:a="http://schemas.openxmlformats.org/drawingml/2006/main" rot="0">
            <a:off x="721519" y="1314450"/>
            <a:ext cx="309562" cy="273844"/>
          </a:xfrm>
          <a:custGeom xmlns:a="http://schemas.openxmlformats.org/drawingml/2006/main">
            <a:rect l="l" t="t" r="r" b="b"/>
            <a:pathLst>
              <a:path w="309562" h="273844">
                <a:moveTo>
                  <a:pt x="273844" y="35719"/>
                </a:moveTo>
                <a:lnTo>
                  <a:pt x="232589" y="35719"/>
                </a:lnTo>
                <a:lnTo>
                  <a:pt x="212303" y="5298"/>
                </a:lnTo>
                <a:cubicBezTo>
                  <a:pt x="210096" y="1990"/>
                  <a:pt x="206383" y="2"/>
                  <a:pt x="202406" y="0"/>
                </a:cubicBezTo>
                <a:lnTo>
                  <a:pt x="107156" y="0"/>
                </a:lnTo>
                <a:cubicBezTo>
                  <a:pt x="103179" y="2"/>
                  <a:pt x="99466" y="1990"/>
                  <a:pt x="97259" y="5298"/>
                </a:cubicBezTo>
                <a:lnTo>
                  <a:pt x="76959" y="35719"/>
                </a:lnTo>
                <a:lnTo>
                  <a:pt x="35719" y="35719"/>
                </a:lnTo>
                <a:cubicBezTo>
                  <a:pt x="15992" y="35719"/>
                  <a:pt x="0" y="51711"/>
                  <a:pt x="0" y="71438"/>
                </a:cubicBezTo>
                <a:lnTo>
                  <a:pt x="0" y="238125"/>
                </a:lnTo>
                <a:cubicBezTo>
                  <a:pt x="0" y="257852"/>
                  <a:pt x="15992" y="273844"/>
                  <a:pt x="35719" y="273844"/>
                </a:cubicBezTo>
                <a:lnTo>
                  <a:pt x="273844" y="273844"/>
                </a:lnTo>
                <a:cubicBezTo>
                  <a:pt x="293571" y="273844"/>
                  <a:pt x="309562" y="257852"/>
                  <a:pt x="309562" y="238125"/>
                </a:cubicBezTo>
                <a:lnTo>
                  <a:pt x="309562" y="71438"/>
                </a:lnTo>
                <a:cubicBezTo>
                  <a:pt x="309562" y="51711"/>
                  <a:pt x="293571" y="35719"/>
                  <a:pt x="273844" y="35719"/>
                </a:cubicBezTo>
                <a:close/>
                <a:moveTo>
                  <a:pt x="285750" y="238125"/>
                </a:moveTo>
                <a:cubicBezTo>
                  <a:pt x="285750" y="244701"/>
                  <a:pt x="280419" y="250031"/>
                  <a:pt x="273844" y="250031"/>
                </a:cubicBezTo>
                <a:lnTo>
                  <a:pt x="35719" y="250031"/>
                </a:lnTo>
                <a:cubicBezTo>
                  <a:pt x="29143" y="250031"/>
                  <a:pt x="23812" y="244701"/>
                  <a:pt x="23812" y="238125"/>
                </a:cubicBezTo>
                <a:lnTo>
                  <a:pt x="23812" y="71438"/>
                </a:lnTo>
                <a:cubicBezTo>
                  <a:pt x="23812" y="64862"/>
                  <a:pt x="29143" y="59531"/>
                  <a:pt x="35719" y="59531"/>
                </a:cubicBezTo>
                <a:lnTo>
                  <a:pt x="83344" y="59531"/>
                </a:lnTo>
                <a:cubicBezTo>
                  <a:pt x="87326" y="59534"/>
                  <a:pt x="91046" y="57545"/>
                  <a:pt x="93256" y="54233"/>
                </a:cubicBezTo>
                <a:lnTo>
                  <a:pt x="113526" y="23812"/>
                </a:lnTo>
                <a:lnTo>
                  <a:pt x="196022" y="23812"/>
                </a:lnTo>
                <a:lnTo>
                  <a:pt x="216307" y="54233"/>
                </a:lnTo>
                <a:cubicBezTo>
                  <a:pt x="218517" y="57545"/>
                  <a:pt x="222237" y="59534"/>
                  <a:pt x="226219" y="59531"/>
                </a:cubicBezTo>
                <a:lnTo>
                  <a:pt x="273844" y="59531"/>
                </a:lnTo>
                <a:cubicBezTo>
                  <a:pt x="280419" y="59531"/>
                  <a:pt x="285750" y="64862"/>
                  <a:pt x="285750" y="71438"/>
                </a:cubicBezTo>
                <a:close/>
                <a:moveTo>
                  <a:pt x="154781" y="83344"/>
                </a:moveTo>
                <a:cubicBezTo>
                  <a:pt x="118615" y="83344"/>
                  <a:pt x="89297" y="112662"/>
                  <a:pt x="89297" y="148828"/>
                </a:cubicBezTo>
                <a:cubicBezTo>
                  <a:pt x="89297" y="184994"/>
                  <a:pt x="118615" y="214312"/>
                  <a:pt x="154781" y="214312"/>
                </a:cubicBezTo>
                <a:cubicBezTo>
                  <a:pt x="190947" y="214312"/>
                  <a:pt x="220266" y="184994"/>
                  <a:pt x="220266" y="148828"/>
                </a:cubicBezTo>
                <a:cubicBezTo>
                  <a:pt x="220225" y="112679"/>
                  <a:pt x="190930" y="83385"/>
                  <a:pt x="154781" y="83344"/>
                </a:cubicBezTo>
                <a:close/>
                <a:moveTo>
                  <a:pt x="154781" y="190500"/>
                </a:moveTo>
                <a:cubicBezTo>
                  <a:pt x="131767" y="190500"/>
                  <a:pt x="113109" y="171843"/>
                  <a:pt x="113109" y="148828"/>
                </a:cubicBezTo>
                <a:cubicBezTo>
                  <a:pt x="113109" y="125813"/>
                  <a:pt x="131767" y="107156"/>
                  <a:pt x="154781" y="107156"/>
                </a:cubicBezTo>
                <a:cubicBezTo>
                  <a:pt x="177796" y="107156"/>
                  <a:pt x="196453" y="125813"/>
                  <a:pt x="196453" y="148828"/>
                </a:cubicBezTo>
                <a:cubicBezTo>
                  <a:pt x="196453" y="171843"/>
                  <a:pt x="177796" y="190500"/>
                  <a:pt x="154781" y="190500"/>
                </a:cubicBezTo>
                <a:close/>
              </a:path>
            </a:pathLst>
          </a:custGeom>
          <a:solidFill xmlns:a="http://schemas.openxmlformats.org/drawingml/2006/main">
            <a:srgbClr val="F7F9FC"/>
          </a:solidFill>
          <a:ln xmlns:a="http://schemas.openxmlformats.org/drawingml/2006/main">
            <a:noFill/>
          </a:ln>
        </p:spPr>
      </p:sp>
      <p:sp>
        <p:nvSpPr>
          <p:cNvPr id="12" name="TextBox 12">
            <a:extLst xmlns:a="http://schemas.openxmlformats.org/drawingml/2006/main">
              <a:ext uri="{FF2B5EF4-FFF2-40B4-BE49-F238E27FC236}">
                <a16:creationId xmlns:a16="http://schemas.microsoft.com/office/drawing/2014/main" id="{A5604BF6-D1D6-4307-A293-70B406DCFF0E}"/>
              </a:ext>
            </a:extLst>
          </p:cNvPr>
          <p:cNvSpPr>
            <a:spLocks xmlns:a="http://schemas.openxmlformats.org/drawingml/2006/main" noGrp="1"/>
          </p:cNvSpPr>
          <p:nvPr/>
        </p:nvSpPr>
        <p:spPr>
          <a:xfrm xmlns:a="http://schemas.openxmlformats.org/drawingml/2006/main" rot="0">
            <a:off x="1198245" y="1336358"/>
            <a:ext cx="665688"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COMPUTE</a:t>
            </a:r>
          </a:p>
        </p:txBody>
      </p:sp>
      <p:sp>
        <p:nvSpPr>
          <p:cNvPr id="13" name="Line 13">
            <a:extLst xmlns:a="http://schemas.openxmlformats.org/drawingml/2006/main">
              <a:ext uri="{FF2B5EF4-FFF2-40B4-BE49-F238E27FC236}">
                <a16:creationId xmlns:a16="http://schemas.microsoft.com/office/drawing/2014/main" id="{1E7FAF06-FB93-4B7A-98E9-14B1BEF3B2E8}"/>
              </a:ext>
            </a:extLst>
          </p:cNvPr>
          <p:cNvSpPr>
            <a:spLocks xmlns:a="http://schemas.openxmlformats.org/drawingml/2006/main" noGrp="1"/>
          </p:cNvSpPr>
          <p:nvPr/>
        </p:nvSpPr>
        <p:spPr>
          <a:xfrm xmlns:a="http://schemas.openxmlformats.org/drawingml/2006/main" rot="0">
            <a:off x="685800" y="2076450"/>
            <a:ext cx="3019425" cy="9525"/>
          </a:xfrm>
          <a:custGeom xmlns:a="http://schemas.openxmlformats.org/drawingml/2006/main">
            <a:rect l="l" t="t" r="r" b="b"/>
            <a:pathLst>
              <a:path w="3019425" h="9525">
                <a:moveTo>
                  <a:pt x="0" y="0"/>
                </a:moveTo>
                <a:lnTo>
                  <a:pt x="3019425" y="0"/>
                </a:lnTo>
              </a:path>
            </a:pathLst>
          </a:custGeom>
          <a:noFill xmlns:a="http://schemas.openxmlformats.org/drawingml/2006/main"/>
          <a:ln xmlns:a="http://schemas.openxmlformats.org/drawingml/2006/main" w="9525">
            <a:solidFill>
              <a:srgbClr val="CED8E4"/>
            </a:solidFill>
          </a:ln>
        </p:spPr>
      </p:sp>
      <p:sp>
        <p:nvSpPr>
          <p:cNvPr id="14" name="Ellipse 14">
            <a:extLst xmlns:a="http://schemas.openxmlformats.org/drawingml/2006/main">
              <a:ext uri="{FF2B5EF4-FFF2-40B4-BE49-F238E27FC236}">
                <a16:creationId xmlns:a16="http://schemas.microsoft.com/office/drawing/2014/main" id="{7346F4D8-DCC9-414A-85C6-A9DD84378400}"/>
              </a:ext>
            </a:extLst>
          </p:cNvPr>
          <p:cNvSpPr>
            <a:spLocks xmlns:a="http://schemas.openxmlformats.org/drawingml/2006/main" noGrp="1"/>
          </p:cNvSpPr>
          <p:nvPr/>
        </p:nvSpPr>
        <p:spPr>
          <a:xfrm xmlns:a="http://schemas.openxmlformats.org/drawingml/2006/main" rot="0">
            <a:off x="666750" y="223837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15" name="TextBox 15">
            <a:extLst xmlns:a="http://schemas.openxmlformats.org/drawingml/2006/main">
              <a:ext uri="{FF2B5EF4-FFF2-40B4-BE49-F238E27FC236}">
                <a16:creationId xmlns:a16="http://schemas.microsoft.com/office/drawing/2014/main" id="{5E1E92C0-8342-4728-B667-C1471828DFFE}"/>
              </a:ext>
            </a:extLst>
          </p:cNvPr>
          <p:cNvSpPr>
            <a:spLocks xmlns:a="http://schemas.openxmlformats.org/drawingml/2006/main" noGrp="1"/>
          </p:cNvSpPr>
          <p:nvPr/>
        </p:nvSpPr>
        <p:spPr>
          <a:xfrm xmlns:a="http://schemas.openxmlformats.org/drawingml/2006/main" rot="0">
            <a:off x="748190" y="2295049"/>
            <a:ext cx="6572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1</a:t>
            </a:r>
          </a:p>
        </p:txBody>
      </p:sp>
      <p:sp>
        <p:nvSpPr>
          <p:cNvPr id="16" name="TextBox 16">
            <a:extLst xmlns:a="http://schemas.openxmlformats.org/drawingml/2006/main">
              <a:ext uri="{FF2B5EF4-FFF2-40B4-BE49-F238E27FC236}">
                <a16:creationId xmlns:a16="http://schemas.microsoft.com/office/drawing/2014/main" id="{CA91A890-1943-43E8-9FA8-2CAB55296C7F}"/>
              </a:ext>
            </a:extLst>
          </p:cNvPr>
          <p:cNvSpPr>
            <a:spLocks xmlns:a="http://schemas.openxmlformats.org/drawingml/2006/main" noGrp="1"/>
          </p:cNvSpPr>
          <p:nvPr/>
        </p:nvSpPr>
        <p:spPr>
          <a:xfrm xmlns:a="http://schemas.openxmlformats.org/drawingml/2006/main" rot="0">
            <a:off x="1014412" y="2278856"/>
            <a:ext cx="177629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Raspberry Pi 5 · high-level compute</a:t>
            </a:r>
          </a:p>
        </p:txBody>
      </p:sp>
      <p:sp>
        <p:nvSpPr>
          <p:cNvPr id="17" name="Ellipse 17">
            <a:extLst xmlns:a="http://schemas.openxmlformats.org/drawingml/2006/main">
              <a:ext uri="{FF2B5EF4-FFF2-40B4-BE49-F238E27FC236}">
                <a16:creationId xmlns:a16="http://schemas.microsoft.com/office/drawing/2014/main" id="{847DE7C5-19C2-4B6D-BD99-E365C16FDB47}"/>
              </a:ext>
            </a:extLst>
          </p:cNvPr>
          <p:cNvSpPr>
            <a:spLocks xmlns:a="http://schemas.openxmlformats.org/drawingml/2006/main" noGrp="1"/>
          </p:cNvSpPr>
          <p:nvPr/>
        </p:nvSpPr>
        <p:spPr>
          <a:xfrm xmlns:a="http://schemas.openxmlformats.org/drawingml/2006/main" rot="0">
            <a:off x="666750" y="265747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4AE1CD2B-AEC4-4639-9120-ED502045682F}"/>
              </a:ext>
            </a:extLst>
          </p:cNvPr>
          <p:cNvSpPr>
            <a:spLocks xmlns:a="http://schemas.openxmlformats.org/drawingml/2006/main" noGrp="1"/>
          </p:cNvSpPr>
          <p:nvPr/>
        </p:nvSpPr>
        <p:spPr>
          <a:xfrm xmlns:a="http://schemas.openxmlformats.org/drawingml/2006/main" rot="0">
            <a:off x="731125" y="27141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2</a:t>
            </a:r>
          </a:p>
        </p:txBody>
      </p:sp>
      <p:sp>
        <p:nvSpPr>
          <p:cNvPr id="19" name="TextBox 19">
            <a:extLst xmlns:a="http://schemas.openxmlformats.org/drawingml/2006/main">
              <a:ext uri="{FF2B5EF4-FFF2-40B4-BE49-F238E27FC236}">
                <a16:creationId xmlns:a16="http://schemas.microsoft.com/office/drawing/2014/main" id="{1B95D770-91EA-44FD-81F1-EEC271EB1FAF}"/>
              </a:ext>
            </a:extLst>
          </p:cNvPr>
          <p:cNvSpPr>
            <a:spLocks xmlns:a="http://schemas.openxmlformats.org/drawingml/2006/main" noGrp="1"/>
          </p:cNvSpPr>
          <p:nvPr/>
        </p:nvSpPr>
        <p:spPr>
          <a:xfrm xmlns:a="http://schemas.openxmlformats.org/drawingml/2006/main" rot="0">
            <a:off x="1014412" y="2697956"/>
            <a:ext cx="152876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Laptop · optional model runtime</a:t>
            </a:r>
          </a:p>
        </p:txBody>
      </p:sp>
      <p:sp>
        <p:nvSpPr>
          <p:cNvPr id="20" name="Ellipse 20">
            <a:extLst xmlns:a="http://schemas.openxmlformats.org/drawingml/2006/main">
              <a:ext uri="{FF2B5EF4-FFF2-40B4-BE49-F238E27FC236}">
                <a16:creationId xmlns:a16="http://schemas.microsoft.com/office/drawing/2014/main" id="{A75BD4F7-3085-4E25-A26C-723F47FCB071}"/>
              </a:ext>
            </a:extLst>
          </p:cNvPr>
          <p:cNvSpPr>
            <a:spLocks xmlns:a="http://schemas.openxmlformats.org/drawingml/2006/main" noGrp="1"/>
          </p:cNvSpPr>
          <p:nvPr/>
        </p:nvSpPr>
        <p:spPr>
          <a:xfrm xmlns:a="http://schemas.openxmlformats.org/drawingml/2006/main" rot="0">
            <a:off x="666750" y="307657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1" name="TextBox 21">
            <a:extLst xmlns:a="http://schemas.openxmlformats.org/drawingml/2006/main">
              <a:ext uri="{FF2B5EF4-FFF2-40B4-BE49-F238E27FC236}">
                <a16:creationId xmlns:a16="http://schemas.microsoft.com/office/drawing/2014/main" id="{C38C1F01-5F8E-4658-91F3-A83F88B00172}"/>
              </a:ext>
            </a:extLst>
          </p:cNvPr>
          <p:cNvSpPr>
            <a:spLocks xmlns:a="http://schemas.openxmlformats.org/drawingml/2006/main" noGrp="1"/>
          </p:cNvSpPr>
          <p:nvPr/>
        </p:nvSpPr>
        <p:spPr>
          <a:xfrm xmlns:a="http://schemas.openxmlformats.org/drawingml/2006/main" rot="0">
            <a:off x="731125" y="31332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3</a:t>
            </a:r>
          </a:p>
        </p:txBody>
      </p:sp>
      <p:sp>
        <p:nvSpPr>
          <p:cNvPr id="22" name="TextBox 22">
            <a:extLst xmlns:a="http://schemas.openxmlformats.org/drawingml/2006/main">
              <a:ext uri="{FF2B5EF4-FFF2-40B4-BE49-F238E27FC236}">
                <a16:creationId xmlns:a16="http://schemas.microsoft.com/office/drawing/2014/main" id="{531CDE79-ED88-43BB-BB8B-C01C1BE8E927}"/>
              </a:ext>
            </a:extLst>
          </p:cNvPr>
          <p:cNvSpPr>
            <a:spLocks xmlns:a="http://schemas.openxmlformats.org/drawingml/2006/main" noGrp="1"/>
          </p:cNvSpPr>
          <p:nvPr/>
        </p:nvSpPr>
        <p:spPr>
          <a:xfrm xmlns:a="http://schemas.openxmlformats.org/drawingml/2006/main" rot="0">
            <a:off x="1014412" y="3117056"/>
            <a:ext cx="154376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IMX219 camera · video input</a:t>
            </a:r>
          </a:p>
        </p:txBody>
      </p:sp>
      <p:sp>
        <p:nvSpPr>
          <p:cNvPr id="23" name="Ellipse 23">
            <a:extLst xmlns:a="http://schemas.openxmlformats.org/drawingml/2006/main">
              <a:ext uri="{FF2B5EF4-FFF2-40B4-BE49-F238E27FC236}">
                <a16:creationId xmlns:a16="http://schemas.microsoft.com/office/drawing/2014/main" id="{FB9BCB95-47E7-4A28-AC62-AA3011D2C32D}"/>
              </a:ext>
            </a:extLst>
          </p:cNvPr>
          <p:cNvSpPr>
            <a:spLocks xmlns:a="http://schemas.openxmlformats.org/drawingml/2006/main" noGrp="1"/>
          </p:cNvSpPr>
          <p:nvPr/>
        </p:nvSpPr>
        <p:spPr>
          <a:xfrm xmlns:a="http://schemas.openxmlformats.org/drawingml/2006/main" rot="0">
            <a:off x="666750" y="349567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4" name="TextBox 24">
            <a:extLst xmlns:a="http://schemas.openxmlformats.org/drawingml/2006/main">
              <a:ext uri="{FF2B5EF4-FFF2-40B4-BE49-F238E27FC236}">
                <a16:creationId xmlns:a16="http://schemas.microsoft.com/office/drawing/2014/main" id="{2C05868E-C3B2-41C6-97AE-EE5C8A4E3D7A}"/>
              </a:ext>
            </a:extLst>
          </p:cNvPr>
          <p:cNvSpPr>
            <a:spLocks xmlns:a="http://schemas.openxmlformats.org/drawingml/2006/main" noGrp="1"/>
          </p:cNvSpPr>
          <p:nvPr/>
        </p:nvSpPr>
        <p:spPr>
          <a:xfrm xmlns:a="http://schemas.openxmlformats.org/drawingml/2006/main" rot="0">
            <a:off x="731125" y="35523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4</a:t>
            </a:r>
          </a:p>
        </p:txBody>
      </p:sp>
      <p:sp>
        <p:nvSpPr>
          <p:cNvPr id="25" name="TextBox 25">
            <a:extLst xmlns:a="http://schemas.openxmlformats.org/drawingml/2006/main">
              <a:ext uri="{FF2B5EF4-FFF2-40B4-BE49-F238E27FC236}">
                <a16:creationId xmlns:a16="http://schemas.microsoft.com/office/drawing/2014/main" id="{84061274-F3B0-48F5-A6E6-ADA884A55EB8}"/>
              </a:ext>
            </a:extLst>
          </p:cNvPr>
          <p:cNvSpPr>
            <a:spLocks xmlns:a="http://schemas.openxmlformats.org/drawingml/2006/main" noGrp="1"/>
          </p:cNvSpPr>
          <p:nvPr/>
        </p:nvSpPr>
        <p:spPr>
          <a:xfrm xmlns:a="http://schemas.openxmlformats.org/drawingml/2006/main" rot="0">
            <a:off x="1014412" y="3459956"/>
            <a:ext cx="164877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Arduino Mega 2560</a:t>
            </a:r>
          </a:p>
        </p:txBody>
      </p:sp>
      <p:sp>
        <p:nvSpPr>
          <p:cNvPr id="26" name="TextBox 26">
            <a:extLst xmlns:a="http://schemas.openxmlformats.org/drawingml/2006/main">
              <a:ext uri="{FF2B5EF4-FFF2-40B4-BE49-F238E27FC236}">
                <a16:creationId xmlns:a16="http://schemas.microsoft.com/office/drawing/2014/main" id="{E2F7ED4A-61C7-4CBA-8307-5992AC1F80AF}"/>
              </a:ext>
            </a:extLst>
          </p:cNvPr>
          <p:cNvSpPr>
            <a:spLocks xmlns:a="http://schemas.openxmlformats.org/drawingml/2006/main" noGrp="1"/>
          </p:cNvSpPr>
          <p:nvPr/>
        </p:nvSpPr>
        <p:spPr>
          <a:xfrm xmlns:a="http://schemas.openxmlformats.org/drawingml/2006/main" rot="0">
            <a:off x="1014412" y="3640931"/>
            <a:ext cx="152876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motor + servo controller</a:t>
            </a:r>
          </a:p>
        </p:txBody>
      </p:sp>
      <p:sp>
        <p:nvSpPr>
          <p:cNvPr id="27" name="Ellipse 27">
            <a:extLst xmlns:a="http://schemas.openxmlformats.org/drawingml/2006/main">
              <a:ext uri="{FF2B5EF4-FFF2-40B4-BE49-F238E27FC236}">
                <a16:creationId xmlns:a16="http://schemas.microsoft.com/office/drawing/2014/main" id="{9D53C417-09C0-4626-A683-587EA57E629D}"/>
              </a:ext>
            </a:extLst>
          </p:cNvPr>
          <p:cNvSpPr>
            <a:spLocks xmlns:a="http://schemas.openxmlformats.org/drawingml/2006/main" noGrp="1"/>
          </p:cNvSpPr>
          <p:nvPr/>
        </p:nvSpPr>
        <p:spPr>
          <a:xfrm xmlns:a="http://schemas.openxmlformats.org/drawingml/2006/main" rot="0">
            <a:off x="666750" y="404812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F8C4D85D-56A1-4FF6-8B09-62F32D191BA2}"/>
              </a:ext>
            </a:extLst>
          </p:cNvPr>
          <p:cNvSpPr>
            <a:spLocks xmlns:a="http://schemas.openxmlformats.org/drawingml/2006/main" noGrp="1"/>
          </p:cNvSpPr>
          <p:nvPr/>
        </p:nvSpPr>
        <p:spPr>
          <a:xfrm xmlns:a="http://schemas.openxmlformats.org/drawingml/2006/main" rot="0">
            <a:off x="731125" y="410479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5</a:t>
            </a:r>
          </a:p>
        </p:txBody>
      </p:sp>
      <p:sp>
        <p:nvSpPr>
          <p:cNvPr id="29" name="TextBox 29">
            <a:extLst xmlns:a="http://schemas.openxmlformats.org/drawingml/2006/main">
              <a:ext uri="{FF2B5EF4-FFF2-40B4-BE49-F238E27FC236}">
                <a16:creationId xmlns:a16="http://schemas.microsoft.com/office/drawing/2014/main" id="{0482EACF-3562-4D6F-A4AE-BC52E74185A5}"/>
              </a:ext>
            </a:extLst>
          </p:cNvPr>
          <p:cNvSpPr>
            <a:spLocks xmlns:a="http://schemas.openxmlformats.org/drawingml/2006/main" noGrp="1"/>
          </p:cNvSpPr>
          <p:nvPr/>
        </p:nvSpPr>
        <p:spPr>
          <a:xfrm xmlns:a="http://schemas.openxmlformats.org/drawingml/2006/main" rot="0">
            <a:off x="1014412" y="4088606"/>
            <a:ext cx="168628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USB serial link</a:t>
            </a:r>
          </a:p>
        </p:txBody>
      </p:sp>
      <p:sp>
        <p:nvSpPr>
          <p:cNvPr id="30" name="Ellipse 30">
            <a:extLst xmlns:a="http://schemas.openxmlformats.org/drawingml/2006/main">
              <a:ext uri="{FF2B5EF4-FFF2-40B4-BE49-F238E27FC236}">
                <a16:creationId xmlns:a16="http://schemas.microsoft.com/office/drawing/2014/main" id="{D55AF81A-5768-4B60-840E-0CBDEF8905C4}"/>
              </a:ext>
            </a:extLst>
          </p:cNvPr>
          <p:cNvSpPr>
            <a:spLocks xmlns:a="http://schemas.openxmlformats.org/drawingml/2006/main" noGrp="1"/>
          </p:cNvSpPr>
          <p:nvPr/>
        </p:nvSpPr>
        <p:spPr>
          <a:xfrm xmlns:a="http://schemas.openxmlformats.org/drawingml/2006/main" rot="0">
            <a:off x="666750" y="446722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1" name="TextBox 31">
            <a:extLst xmlns:a="http://schemas.openxmlformats.org/drawingml/2006/main">
              <a:ext uri="{FF2B5EF4-FFF2-40B4-BE49-F238E27FC236}">
                <a16:creationId xmlns:a16="http://schemas.microsoft.com/office/drawing/2014/main" id="{C521D5C7-F3B7-40C6-8058-4E6FC2B55B99}"/>
              </a:ext>
            </a:extLst>
          </p:cNvPr>
          <p:cNvSpPr>
            <a:spLocks xmlns:a="http://schemas.openxmlformats.org/drawingml/2006/main" noGrp="1"/>
          </p:cNvSpPr>
          <p:nvPr/>
        </p:nvSpPr>
        <p:spPr>
          <a:xfrm xmlns:a="http://schemas.openxmlformats.org/drawingml/2006/main" rot="0">
            <a:off x="731125" y="452389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6</a:t>
            </a:r>
          </a:p>
        </p:txBody>
      </p:sp>
      <p:sp>
        <p:nvSpPr>
          <p:cNvPr id="32" name="TextBox 32">
            <a:extLst xmlns:a="http://schemas.openxmlformats.org/drawingml/2006/main">
              <a:ext uri="{FF2B5EF4-FFF2-40B4-BE49-F238E27FC236}">
                <a16:creationId xmlns:a16="http://schemas.microsoft.com/office/drawing/2014/main" id="{0C9C0376-B89B-484A-AF22-FC6DF26B5D3C}"/>
              </a:ext>
            </a:extLst>
          </p:cNvPr>
          <p:cNvSpPr>
            <a:spLocks xmlns:a="http://schemas.openxmlformats.org/drawingml/2006/main" noGrp="1"/>
          </p:cNvSpPr>
          <p:nvPr/>
        </p:nvSpPr>
        <p:spPr>
          <a:xfrm xmlns:a="http://schemas.openxmlformats.org/drawingml/2006/main" rot="0">
            <a:off x="1014412" y="4431506"/>
            <a:ext cx="201632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Power bank for Raspberry Pi</a:t>
            </a:r>
          </a:p>
        </p:txBody>
      </p:sp>
      <p:sp>
        <p:nvSpPr>
          <p:cNvPr id="33" name="TextBox 33">
            <a:extLst xmlns:a="http://schemas.openxmlformats.org/drawingml/2006/main">
              <a:ext uri="{FF2B5EF4-FFF2-40B4-BE49-F238E27FC236}">
                <a16:creationId xmlns:a16="http://schemas.microsoft.com/office/drawing/2014/main" id="{164F2804-36CF-432F-A7A7-891F294496A2}"/>
              </a:ext>
            </a:extLst>
          </p:cNvPr>
          <p:cNvSpPr>
            <a:spLocks xmlns:a="http://schemas.openxmlformats.org/drawingml/2006/main" noGrp="1"/>
          </p:cNvSpPr>
          <p:nvPr/>
        </p:nvSpPr>
        <p:spPr>
          <a:xfrm xmlns:a="http://schemas.openxmlformats.org/drawingml/2006/main" rot="0">
            <a:off x="1014412" y="4612481"/>
            <a:ext cx="1641277"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separate 3S motor pack</a:t>
            </a:r>
          </a:p>
        </p:txBody>
      </p:sp>
      <p:sp>
        <p:nvSpPr>
          <p:cNvPr id="34" name="Ellipse 34">
            <a:extLst xmlns:a="http://schemas.openxmlformats.org/drawingml/2006/main">
              <a:ext uri="{FF2B5EF4-FFF2-40B4-BE49-F238E27FC236}">
                <a16:creationId xmlns:a16="http://schemas.microsoft.com/office/drawing/2014/main" id="{7AE1D05B-A281-4CA9-B572-461B4C900548}"/>
              </a:ext>
            </a:extLst>
          </p:cNvPr>
          <p:cNvSpPr>
            <a:spLocks xmlns:a="http://schemas.openxmlformats.org/drawingml/2006/main" noGrp="1"/>
          </p:cNvSpPr>
          <p:nvPr/>
        </p:nvSpPr>
        <p:spPr>
          <a:xfrm xmlns:a="http://schemas.openxmlformats.org/drawingml/2006/main" rot="0">
            <a:off x="666750" y="5019675"/>
            <a:ext cx="228600" cy="2286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5" name="TextBox 35">
            <a:extLst xmlns:a="http://schemas.openxmlformats.org/drawingml/2006/main">
              <a:ext uri="{FF2B5EF4-FFF2-40B4-BE49-F238E27FC236}">
                <a16:creationId xmlns:a16="http://schemas.microsoft.com/office/drawing/2014/main" id="{A537C0F0-DF71-4BCC-82E3-E4DF635B8F3F}"/>
              </a:ext>
            </a:extLst>
          </p:cNvPr>
          <p:cNvSpPr>
            <a:spLocks xmlns:a="http://schemas.openxmlformats.org/drawingml/2006/main" noGrp="1"/>
          </p:cNvSpPr>
          <p:nvPr/>
        </p:nvSpPr>
        <p:spPr>
          <a:xfrm xmlns:a="http://schemas.openxmlformats.org/drawingml/2006/main" rot="0">
            <a:off x="731125" y="50763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7</a:t>
            </a:r>
          </a:p>
        </p:txBody>
      </p:sp>
      <p:sp>
        <p:nvSpPr>
          <p:cNvPr id="36" name="TextBox 36">
            <a:extLst xmlns:a="http://schemas.openxmlformats.org/drawingml/2006/main">
              <a:ext uri="{FF2B5EF4-FFF2-40B4-BE49-F238E27FC236}">
                <a16:creationId xmlns:a16="http://schemas.microsoft.com/office/drawing/2014/main" id="{08B7C8C5-1DD0-4B4B-9C23-5F6D9414349D}"/>
              </a:ext>
            </a:extLst>
          </p:cNvPr>
          <p:cNvSpPr>
            <a:spLocks xmlns:a="http://schemas.openxmlformats.org/drawingml/2006/main" noGrp="1"/>
          </p:cNvSpPr>
          <p:nvPr/>
        </p:nvSpPr>
        <p:spPr>
          <a:xfrm xmlns:a="http://schemas.openxmlformats.org/drawingml/2006/main" rot="0">
            <a:off x="1014412" y="5060156"/>
            <a:ext cx="158126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Shared ground + protected wiring</a:t>
            </a:r>
          </a:p>
        </p:txBody>
      </p:sp>
      <p:sp>
        <p:nvSpPr>
          <p:cNvPr id="38" name="Rectangle 38">
            <a:extLst xmlns:a="http://schemas.openxmlformats.org/drawingml/2006/main">
              <a:ext uri="{FF2B5EF4-FFF2-40B4-BE49-F238E27FC236}">
                <a16:creationId xmlns:a16="http://schemas.microsoft.com/office/drawing/2014/main" id="{53F4E9C4-CE35-4714-98AB-85BEA9E1C20A}"/>
              </a:ext>
            </a:extLst>
          </p:cNvPr>
          <p:cNvSpPr>
            <a:spLocks xmlns:a="http://schemas.openxmlformats.org/drawingml/2006/main" noGrp="1"/>
          </p:cNvSpPr>
          <p:nvPr/>
        </p:nvSpPr>
        <p:spPr>
          <a:xfrm xmlns:a="http://schemas.openxmlformats.org/drawingml/2006/main" rot="0">
            <a:off x="4352925" y="1066800"/>
            <a:ext cx="3476625" cy="4381500"/>
          </a:xfrm>
          <a:prstGeom xmlns:a="http://schemas.openxmlformats.org/drawingml/2006/main" prst="roundRect">
            <a:avLst>
              <a:gd name="adj" fmla="val 3288"/>
            </a:avLst>
          </a:prstGeom>
          <a:solidFill xmlns:a="http://schemas.openxmlformats.org/drawingml/2006/main">
            <a:srgbClr val="F7F9FC"/>
          </a:solidFill>
          <a:ln xmlns:a="http://schemas.openxmlformats.org/drawingml/2006/main" w="14288">
            <a:solidFill>
              <a:srgbClr val="CED8E4"/>
            </a:solidFill>
          </a:ln>
        </p:spPr>
      </p:sp>
      <p:sp>
        <p:nvSpPr>
          <p:cNvPr id="39" name="Rectangle 39">
            <a:extLst xmlns:a="http://schemas.openxmlformats.org/drawingml/2006/main">
              <a:ext uri="{FF2B5EF4-FFF2-40B4-BE49-F238E27FC236}">
                <a16:creationId xmlns:a16="http://schemas.microsoft.com/office/drawing/2014/main" id="{A0B989A0-E011-4995-8F00-F67C9AF64C1A}"/>
              </a:ext>
            </a:extLst>
          </p:cNvPr>
          <p:cNvSpPr>
            <a:spLocks xmlns:a="http://schemas.openxmlformats.org/drawingml/2006/main" noGrp="1"/>
          </p:cNvSpPr>
          <p:nvPr/>
        </p:nvSpPr>
        <p:spPr>
          <a:xfrm xmlns:a="http://schemas.openxmlformats.org/drawingml/2006/main" rot="0">
            <a:off x="4352925" y="1066800"/>
            <a:ext cx="3476625" cy="781050"/>
          </a:xfrm>
          <a:prstGeom xmlns:a="http://schemas.openxmlformats.org/drawingml/2006/main" prst="roundRect">
            <a:avLst>
              <a:gd name="adj" fmla="val 14634"/>
            </a:avLst>
          </a:prstGeom>
          <a:solidFill xmlns:a="http://schemas.openxmlformats.org/drawingml/2006/main">
            <a:srgbClr val="2AB7A9"/>
          </a:solidFill>
          <a:ln xmlns:a="http://schemas.openxmlformats.org/drawingml/2006/main">
            <a:noFill/>
          </a:ln>
        </p:spPr>
      </p:sp>
      <p:sp>
        <p:nvSpPr>
          <p:cNvPr id="40" name="Freeform 40">
            <a:extLst xmlns:a="http://schemas.openxmlformats.org/drawingml/2006/main">
              <a:ext uri="{FF2B5EF4-FFF2-40B4-BE49-F238E27FC236}">
                <a16:creationId xmlns:a16="http://schemas.microsoft.com/office/drawing/2014/main" id="{FA2A970C-5D3F-4DA2-BCA1-5EE63DF0CE5B}"/>
              </a:ext>
            </a:extLst>
          </p:cNvPr>
          <p:cNvSpPr>
            <a:spLocks xmlns:a="http://schemas.openxmlformats.org/drawingml/2006/main" noGrp="1"/>
          </p:cNvSpPr>
          <p:nvPr/>
        </p:nvSpPr>
        <p:spPr>
          <a:xfrm xmlns:a="http://schemas.openxmlformats.org/drawingml/2006/main" rot="0">
            <a:off x="4712494" y="1302544"/>
            <a:ext cx="119062" cy="214312"/>
          </a:xfrm>
          <a:custGeom xmlns:a="http://schemas.openxmlformats.org/drawingml/2006/main">
            <a:rect l="l" t="t" r="r" b="b"/>
            <a:pathLst>
              <a:path w="119062" h="214312">
                <a:moveTo>
                  <a:pt x="119062" y="59531"/>
                </a:moveTo>
                <a:lnTo>
                  <a:pt x="119062" y="154781"/>
                </a:lnTo>
                <a:cubicBezTo>
                  <a:pt x="119062" y="187659"/>
                  <a:pt x="92409" y="214312"/>
                  <a:pt x="59531" y="214312"/>
                </a:cubicBezTo>
                <a:lnTo>
                  <a:pt x="59531" y="214312"/>
                </a:lnTo>
                <a:cubicBezTo>
                  <a:pt x="26653" y="214312"/>
                  <a:pt x="0" y="187659"/>
                  <a:pt x="0" y="154781"/>
                </a:cubicBezTo>
                <a:lnTo>
                  <a:pt x="0" y="59531"/>
                </a:lnTo>
                <a:cubicBezTo>
                  <a:pt x="0" y="26653"/>
                  <a:pt x="26653" y="0"/>
                  <a:pt x="59531" y="0"/>
                </a:cubicBezTo>
                <a:lnTo>
                  <a:pt x="59531" y="0"/>
                </a:lnTo>
                <a:cubicBezTo>
                  <a:pt x="92409" y="0"/>
                  <a:pt x="119062" y="26653"/>
                  <a:pt x="119062" y="59531"/>
                </a:cubicBezTo>
                <a:close/>
              </a:path>
            </a:pathLst>
          </a:custGeom>
          <a:solidFill xmlns:a="http://schemas.openxmlformats.org/drawingml/2006/main">
            <a:srgbClr val="F7F9FC">
              <a:alpha val="20000"/>
            </a:srgbClr>
          </a:solidFill>
          <a:ln xmlns:a="http://schemas.openxmlformats.org/drawingml/2006/main">
            <a:noFill/>
          </a:ln>
        </p:spPr>
      </p:sp>
      <p:sp>
        <p:nvSpPr>
          <p:cNvPr id="41" name="Freeform 41">
            <a:extLst xmlns:a="http://schemas.openxmlformats.org/drawingml/2006/main">
              <a:ext uri="{FF2B5EF4-FFF2-40B4-BE49-F238E27FC236}">
                <a16:creationId xmlns:a16="http://schemas.microsoft.com/office/drawing/2014/main" id="{7F1DFAEA-BB7B-49DF-BCCF-08B1362CFAF9}"/>
              </a:ext>
            </a:extLst>
          </p:cNvPr>
          <p:cNvSpPr>
            <a:spLocks xmlns:a="http://schemas.openxmlformats.org/drawingml/2006/main" noGrp="1"/>
          </p:cNvSpPr>
          <p:nvPr/>
        </p:nvSpPr>
        <p:spPr>
          <a:xfrm xmlns:a="http://schemas.openxmlformats.org/drawingml/2006/main" rot="0">
            <a:off x="4652962" y="1290638"/>
            <a:ext cx="238125" cy="333375"/>
          </a:xfrm>
          <a:custGeom xmlns:a="http://schemas.openxmlformats.org/drawingml/2006/main">
            <a:rect l="l" t="t" r="r" b="b"/>
            <a:pathLst>
              <a:path w="238125" h="333375">
                <a:moveTo>
                  <a:pt x="119062" y="238125"/>
                </a:moveTo>
                <a:cubicBezTo>
                  <a:pt x="158499" y="238084"/>
                  <a:pt x="190459" y="206124"/>
                  <a:pt x="190500" y="166688"/>
                </a:cubicBezTo>
                <a:lnTo>
                  <a:pt x="190500" y="71438"/>
                </a:lnTo>
                <a:cubicBezTo>
                  <a:pt x="190500" y="31984"/>
                  <a:pt x="158516" y="0"/>
                  <a:pt x="119062" y="0"/>
                </a:cubicBezTo>
                <a:cubicBezTo>
                  <a:pt x="79609" y="0"/>
                  <a:pt x="47625" y="31984"/>
                  <a:pt x="47625" y="71438"/>
                </a:cubicBezTo>
                <a:lnTo>
                  <a:pt x="47625" y="166688"/>
                </a:lnTo>
                <a:cubicBezTo>
                  <a:pt x="47666" y="206124"/>
                  <a:pt x="79626" y="238084"/>
                  <a:pt x="119062" y="238125"/>
                </a:cubicBezTo>
                <a:close/>
                <a:moveTo>
                  <a:pt x="71438" y="71438"/>
                </a:moveTo>
                <a:cubicBezTo>
                  <a:pt x="71438" y="45135"/>
                  <a:pt x="92760" y="23812"/>
                  <a:pt x="119062" y="23812"/>
                </a:cubicBezTo>
                <a:cubicBezTo>
                  <a:pt x="145365" y="23812"/>
                  <a:pt x="166688" y="45135"/>
                  <a:pt x="166688" y="71438"/>
                </a:cubicBezTo>
                <a:lnTo>
                  <a:pt x="166688" y="166688"/>
                </a:lnTo>
                <a:cubicBezTo>
                  <a:pt x="166688" y="192990"/>
                  <a:pt x="145365" y="214312"/>
                  <a:pt x="119062" y="214312"/>
                </a:cubicBezTo>
                <a:cubicBezTo>
                  <a:pt x="92760" y="214312"/>
                  <a:pt x="71438" y="192990"/>
                  <a:pt x="71438" y="166688"/>
                </a:cubicBezTo>
                <a:close/>
                <a:moveTo>
                  <a:pt x="130969" y="285155"/>
                </a:moveTo>
                <a:lnTo>
                  <a:pt x="130969" y="321469"/>
                </a:lnTo>
                <a:cubicBezTo>
                  <a:pt x="130969" y="328044"/>
                  <a:pt x="125638" y="333375"/>
                  <a:pt x="119062" y="333375"/>
                </a:cubicBezTo>
                <a:cubicBezTo>
                  <a:pt x="112487" y="333375"/>
                  <a:pt x="107156" y="328044"/>
                  <a:pt x="107156" y="321469"/>
                </a:cubicBezTo>
                <a:lnTo>
                  <a:pt x="107156" y="285155"/>
                </a:lnTo>
                <a:cubicBezTo>
                  <a:pt x="46353" y="278967"/>
                  <a:pt x="75" y="227805"/>
                  <a:pt x="0" y="166688"/>
                </a:cubicBezTo>
                <a:cubicBezTo>
                  <a:pt x="0" y="160112"/>
                  <a:pt x="5331" y="154781"/>
                  <a:pt x="11906" y="154781"/>
                </a:cubicBezTo>
                <a:cubicBezTo>
                  <a:pt x="18482" y="154781"/>
                  <a:pt x="23812" y="160112"/>
                  <a:pt x="23812" y="166688"/>
                </a:cubicBezTo>
                <a:cubicBezTo>
                  <a:pt x="23812" y="219293"/>
                  <a:pt x="66457" y="261938"/>
                  <a:pt x="119062" y="261938"/>
                </a:cubicBezTo>
                <a:cubicBezTo>
                  <a:pt x="171668" y="261938"/>
                  <a:pt x="214312" y="219293"/>
                  <a:pt x="214312" y="166688"/>
                </a:cubicBezTo>
                <a:cubicBezTo>
                  <a:pt x="214312" y="160112"/>
                  <a:pt x="219643" y="154781"/>
                  <a:pt x="226219" y="154781"/>
                </a:cubicBezTo>
                <a:cubicBezTo>
                  <a:pt x="232794" y="154781"/>
                  <a:pt x="238125" y="160112"/>
                  <a:pt x="238125" y="166688"/>
                </a:cubicBezTo>
                <a:cubicBezTo>
                  <a:pt x="238050" y="227805"/>
                  <a:pt x="191772" y="278967"/>
                  <a:pt x="130969" y="285155"/>
                </a:cubicBezTo>
                <a:close/>
              </a:path>
            </a:pathLst>
          </a:custGeom>
          <a:solidFill xmlns:a="http://schemas.openxmlformats.org/drawingml/2006/main">
            <a:srgbClr val="F7F9FC"/>
          </a:solidFill>
          <a:ln xmlns:a="http://schemas.openxmlformats.org/drawingml/2006/main">
            <a:noFill/>
          </a:ln>
        </p:spPr>
      </p:sp>
      <p:sp>
        <p:nvSpPr>
          <p:cNvPr id="43" name="TextBox 43">
            <a:extLst xmlns:a="http://schemas.openxmlformats.org/drawingml/2006/main">
              <a:ext uri="{FF2B5EF4-FFF2-40B4-BE49-F238E27FC236}">
                <a16:creationId xmlns:a16="http://schemas.microsoft.com/office/drawing/2014/main" id="{B0FB5B03-BAA3-4875-B131-26B364FA8E7B}"/>
              </a:ext>
            </a:extLst>
          </p:cNvPr>
          <p:cNvSpPr>
            <a:spLocks xmlns:a="http://schemas.openxmlformats.org/drawingml/2006/main" noGrp="1"/>
          </p:cNvSpPr>
          <p:nvPr/>
        </p:nvSpPr>
        <p:spPr>
          <a:xfrm xmlns:a="http://schemas.openxmlformats.org/drawingml/2006/main" rot="0">
            <a:off x="5093970" y="1336358"/>
            <a:ext cx="665688"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MOTION</a:t>
            </a:r>
          </a:p>
        </p:txBody>
      </p:sp>
      <p:sp>
        <p:nvSpPr>
          <p:cNvPr id="44" name="Line 44">
            <a:extLst xmlns:a="http://schemas.openxmlformats.org/drawingml/2006/main">
              <a:ext uri="{FF2B5EF4-FFF2-40B4-BE49-F238E27FC236}">
                <a16:creationId xmlns:a16="http://schemas.microsoft.com/office/drawing/2014/main" id="{D1C9227B-4D70-41A6-ADB9-6DE8955014F2}"/>
              </a:ext>
            </a:extLst>
          </p:cNvPr>
          <p:cNvSpPr>
            <a:spLocks xmlns:a="http://schemas.openxmlformats.org/drawingml/2006/main" noGrp="1"/>
          </p:cNvSpPr>
          <p:nvPr/>
        </p:nvSpPr>
        <p:spPr>
          <a:xfrm xmlns:a="http://schemas.openxmlformats.org/drawingml/2006/main" rot="0">
            <a:off x="4581525" y="2076450"/>
            <a:ext cx="3019425" cy="9525"/>
          </a:xfrm>
          <a:custGeom xmlns:a="http://schemas.openxmlformats.org/drawingml/2006/main">
            <a:rect l="l" t="t" r="r" b="b"/>
            <a:pathLst>
              <a:path w="3019425" h="9525">
                <a:moveTo>
                  <a:pt x="0" y="0"/>
                </a:moveTo>
                <a:lnTo>
                  <a:pt x="3019425" y="0"/>
                </a:lnTo>
              </a:path>
            </a:pathLst>
          </a:custGeom>
          <a:noFill xmlns:a="http://schemas.openxmlformats.org/drawingml/2006/main"/>
          <a:ln xmlns:a="http://schemas.openxmlformats.org/drawingml/2006/main" w="9525">
            <a:solidFill>
              <a:srgbClr val="CED8E4"/>
            </a:solidFill>
          </a:ln>
        </p:spPr>
      </p:sp>
      <p:sp>
        <p:nvSpPr>
          <p:cNvPr id="45" name="Ellipse 45">
            <a:extLst xmlns:a="http://schemas.openxmlformats.org/drawingml/2006/main">
              <a:ext uri="{FF2B5EF4-FFF2-40B4-BE49-F238E27FC236}">
                <a16:creationId xmlns:a16="http://schemas.microsoft.com/office/drawing/2014/main" id="{3D077FAD-65E6-4F6E-AACF-E4D183DF70E6}"/>
              </a:ext>
            </a:extLst>
          </p:cNvPr>
          <p:cNvSpPr>
            <a:spLocks xmlns:a="http://schemas.openxmlformats.org/drawingml/2006/main" noGrp="1"/>
          </p:cNvSpPr>
          <p:nvPr/>
        </p:nvSpPr>
        <p:spPr>
          <a:xfrm xmlns:a="http://schemas.openxmlformats.org/drawingml/2006/main" rot="0">
            <a:off x="4562475" y="2333625"/>
            <a:ext cx="228600" cy="2286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46" name="TextBox 46">
            <a:extLst xmlns:a="http://schemas.openxmlformats.org/drawingml/2006/main">
              <a:ext uri="{FF2B5EF4-FFF2-40B4-BE49-F238E27FC236}">
                <a16:creationId xmlns:a16="http://schemas.microsoft.com/office/drawing/2014/main" id="{81121085-3FEC-499D-9CBC-BBC4C6F13021}"/>
              </a:ext>
            </a:extLst>
          </p:cNvPr>
          <p:cNvSpPr>
            <a:spLocks xmlns:a="http://schemas.openxmlformats.org/drawingml/2006/main" noGrp="1"/>
          </p:cNvSpPr>
          <p:nvPr/>
        </p:nvSpPr>
        <p:spPr>
          <a:xfrm xmlns:a="http://schemas.openxmlformats.org/drawingml/2006/main" rot="0">
            <a:off x="4643915" y="2390299"/>
            <a:ext cx="6572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1</a:t>
            </a:r>
          </a:p>
        </p:txBody>
      </p:sp>
      <p:sp>
        <p:nvSpPr>
          <p:cNvPr id="47" name="TextBox 47">
            <a:extLst xmlns:a="http://schemas.openxmlformats.org/drawingml/2006/main">
              <a:ext uri="{FF2B5EF4-FFF2-40B4-BE49-F238E27FC236}">
                <a16:creationId xmlns:a16="http://schemas.microsoft.com/office/drawing/2014/main" id="{7185BDCC-E88C-4AFD-96DA-656B05A7DADE}"/>
              </a:ext>
            </a:extLst>
          </p:cNvPr>
          <p:cNvSpPr>
            <a:spLocks xmlns:a="http://schemas.openxmlformats.org/drawingml/2006/main" noGrp="1"/>
          </p:cNvSpPr>
          <p:nvPr/>
        </p:nvSpPr>
        <p:spPr>
          <a:xfrm xmlns:a="http://schemas.openxmlformats.org/drawingml/2006/main" rot="0">
            <a:off x="4910138" y="2374106"/>
            <a:ext cx="168628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Four TT geared motors</a:t>
            </a:r>
          </a:p>
        </p:txBody>
      </p:sp>
      <p:sp>
        <p:nvSpPr>
          <p:cNvPr id="48" name="Ellipse 48">
            <a:extLst xmlns:a="http://schemas.openxmlformats.org/drawingml/2006/main">
              <a:ext uri="{FF2B5EF4-FFF2-40B4-BE49-F238E27FC236}">
                <a16:creationId xmlns:a16="http://schemas.microsoft.com/office/drawing/2014/main" id="{C92E7D8B-EB5E-4185-B373-EBC060371E88}"/>
              </a:ext>
            </a:extLst>
          </p:cNvPr>
          <p:cNvSpPr>
            <a:spLocks xmlns:a="http://schemas.openxmlformats.org/drawingml/2006/main" noGrp="1"/>
          </p:cNvSpPr>
          <p:nvPr/>
        </p:nvSpPr>
        <p:spPr>
          <a:xfrm xmlns:a="http://schemas.openxmlformats.org/drawingml/2006/main" rot="0">
            <a:off x="4562475" y="2924175"/>
            <a:ext cx="228600" cy="2286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49" name="TextBox 49">
            <a:extLst xmlns:a="http://schemas.openxmlformats.org/drawingml/2006/main">
              <a:ext uri="{FF2B5EF4-FFF2-40B4-BE49-F238E27FC236}">
                <a16:creationId xmlns:a16="http://schemas.microsoft.com/office/drawing/2014/main" id="{F2EE5854-F1D3-4885-B99C-F0B43F12047A}"/>
              </a:ext>
            </a:extLst>
          </p:cNvPr>
          <p:cNvSpPr>
            <a:spLocks xmlns:a="http://schemas.openxmlformats.org/drawingml/2006/main" noGrp="1"/>
          </p:cNvSpPr>
          <p:nvPr/>
        </p:nvSpPr>
        <p:spPr>
          <a:xfrm xmlns:a="http://schemas.openxmlformats.org/drawingml/2006/main" rot="0">
            <a:off x="4626850" y="29808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2</a:t>
            </a:r>
          </a:p>
        </p:txBody>
      </p:sp>
      <p:sp>
        <p:nvSpPr>
          <p:cNvPr id="50" name="TextBox 50">
            <a:extLst xmlns:a="http://schemas.openxmlformats.org/drawingml/2006/main">
              <a:ext uri="{FF2B5EF4-FFF2-40B4-BE49-F238E27FC236}">
                <a16:creationId xmlns:a16="http://schemas.microsoft.com/office/drawing/2014/main" id="{CBCE1EA9-E3C9-407E-B823-8928861C1F94}"/>
              </a:ext>
            </a:extLst>
          </p:cNvPr>
          <p:cNvSpPr>
            <a:spLocks xmlns:a="http://schemas.openxmlformats.org/drawingml/2006/main" noGrp="1"/>
          </p:cNvSpPr>
          <p:nvPr/>
        </p:nvSpPr>
        <p:spPr>
          <a:xfrm xmlns:a="http://schemas.openxmlformats.org/drawingml/2006/main" rot="0">
            <a:off x="4910138" y="2964656"/>
            <a:ext cx="176879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HW-130 motor driver</a:t>
            </a:r>
          </a:p>
        </p:txBody>
      </p:sp>
      <p:sp>
        <p:nvSpPr>
          <p:cNvPr id="51" name="Ellipse 51">
            <a:extLst xmlns:a="http://schemas.openxmlformats.org/drawingml/2006/main">
              <a:ext uri="{FF2B5EF4-FFF2-40B4-BE49-F238E27FC236}">
                <a16:creationId xmlns:a16="http://schemas.microsoft.com/office/drawing/2014/main" id="{788DEEC1-9088-4A17-9EEE-1FDFEC7B5971}"/>
              </a:ext>
            </a:extLst>
          </p:cNvPr>
          <p:cNvSpPr>
            <a:spLocks xmlns:a="http://schemas.openxmlformats.org/drawingml/2006/main" noGrp="1"/>
          </p:cNvSpPr>
          <p:nvPr/>
        </p:nvSpPr>
        <p:spPr>
          <a:xfrm xmlns:a="http://schemas.openxmlformats.org/drawingml/2006/main" rot="0">
            <a:off x="4562475" y="3514725"/>
            <a:ext cx="228600" cy="2286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D562BA90-BB1F-4004-AD93-49CC330FFCA2}"/>
              </a:ext>
            </a:extLst>
          </p:cNvPr>
          <p:cNvSpPr>
            <a:spLocks xmlns:a="http://schemas.openxmlformats.org/drawingml/2006/main" noGrp="1"/>
          </p:cNvSpPr>
          <p:nvPr/>
        </p:nvSpPr>
        <p:spPr>
          <a:xfrm xmlns:a="http://schemas.openxmlformats.org/drawingml/2006/main" rot="0">
            <a:off x="4626850" y="357139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3</a:t>
            </a:r>
          </a:p>
        </p:txBody>
      </p:sp>
      <p:sp>
        <p:nvSpPr>
          <p:cNvPr id="53" name="TextBox 53">
            <a:extLst xmlns:a="http://schemas.openxmlformats.org/drawingml/2006/main">
              <a:ext uri="{FF2B5EF4-FFF2-40B4-BE49-F238E27FC236}">
                <a16:creationId xmlns:a16="http://schemas.microsoft.com/office/drawing/2014/main" id="{D2941394-3794-430C-B7FB-8E3702CAC310}"/>
              </a:ext>
            </a:extLst>
          </p:cNvPr>
          <p:cNvSpPr>
            <a:spLocks xmlns:a="http://schemas.openxmlformats.org/drawingml/2006/main" noGrp="1"/>
          </p:cNvSpPr>
          <p:nvPr/>
        </p:nvSpPr>
        <p:spPr>
          <a:xfrm xmlns:a="http://schemas.openxmlformats.org/drawingml/2006/main" rot="0">
            <a:off x="4910138" y="3479006"/>
            <a:ext cx="143875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Four-wheel differential drive</a:t>
            </a:r>
          </a:p>
        </p:txBody>
      </p:sp>
      <p:sp>
        <p:nvSpPr>
          <p:cNvPr id="54" name="TextBox 54">
            <a:extLst xmlns:a="http://schemas.openxmlformats.org/drawingml/2006/main">
              <a:ext uri="{FF2B5EF4-FFF2-40B4-BE49-F238E27FC236}">
                <a16:creationId xmlns:a16="http://schemas.microsoft.com/office/drawing/2014/main" id="{031F2B06-E030-4FD8-8A6C-2FE813A8A457}"/>
              </a:ext>
            </a:extLst>
          </p:cNvPr>
          <p:cNvSpPr>
            <a:spLocks xmlns:a="http://schemas.openxmlformats.org/drawingml/2006/main" noGrp="1"/>
          </p:cNvSpPr>
          <p:nvPr/>
        </p:nvSpPr>
        <p:spPr>
          <a:xfrm xmlns:a="http://schemas.openxmlformats.org/drawingml/2006/main" rot="0">
            <a:off x="4910138" y="3669506"/>
            <a:ext cx="155876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primary and safest base</a:t>
            </a:r>
          </a:p>
        </p:txBody>
      </p:sp>
      <p:sp>
        <p:nvSpPr>
          <p:cNvPr id="55" name="Ellipse 55">
            <a:extLst xmlns:a="http://schemas.openxmlformats.org/drawingml/2006/main">
              <a:ext uri="{FF2B5EF4-FFF2-40B4-BE49-F238E27FC236}">
                <a16:creationId xmlns:a16="http://schemas.microsoft.com/office/drawing/2014/main" id="{E85842CC-94C5-4B64-9C5D-77CB4E3C4ECB}"/>
              </a:ext>
            </a:extLst>
          </p:cNvPr>
          <p:cNvSpPr>
            <a:spLocks xmlns:a="http://schemas.openxmlformats.org/drawingml/2006/main" noGrp="1"/>
          </p:cNvSpPr>
          <p:nvPr/>
        </p:nvSpPr>
        <p:spPr>
          <a:xfrm xmlns:a="http://schemas.openxmlformats.org/drawingml/2006/main" rot="0">
            <a:off x="4562475" y="4295775"/>
            <a:ext cx="228600" cy="2286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56" name="TextBox 56">
            <a:extLst xmlns:a="http://schemas.openxmlformats.org/drawingml/2006/main">
              <a:ext uri="{FF2B5EF4-FFF2-40B4-BE49-F238E27FC236}">
                <a16:creationId xmlns:a16="http://schemas.microsoft.com/office/drawing/2014/main" id="{D4953B84-7F69-46A8-B509-C8A46CC805D3}"/>
              </a:ext>
            </a:extLst>
          </p:cNvPr>
          <p:cNvSpPr>
            <a:spLocks xmlns:a="http://schemas.openxmlformats.org/drawingml/2006/main" noGrp="1"/>
          </p:cNvSpPr>
          <p:nvPr/>
        </p:nvSpPr>
        <p:spPr>
          <a:xfrm xmlns:a="http://schemas.openxmlformats.org/drawingml/2006/main" rot="0">
            <a:off x="4626850" y="43524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4</a:t>
            </a:r>
          </a:p>
        </p:txBody>
      </p:sp>
      <p:sp>
        <p:nvSpPr>
          <p:cNvPr id="57" name="TextBox 57">
            <a:extLst xmlns:a="http://schemas.openxmlformats.org/drawingml/2006/main">
              <a:ext uri="{FF2B5EF4-FFF2-40B4-BE49-F238E27FC236}">
                <a16:creationId xmlns:a16="http://schemas.microsoft.com/office/drawing/2014/main" id="{C4D4A034-0D16-471F-8FA3-D9B9AC265F8A}"/>
              </a:ext>
            </a:extLst>
          </p:cNvPr>
          <p:cNvSpPr>
            <a:spLocks xmlns:a="http://schemas.openxmlformats.org/drawingml/2006/main" noGrp="1"/>
          </p:cNvSpPr>
          <p:nvPr/>
        </p:nvSpPr>
        <p:spPr>
          <a:xfrm xmlns:a="http://schemas.openxmlformats.org/drawingml/2006/main" rot="0">
            <a:off x="4910138" y="4183856"/>
            <a:ext cx="125872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Two-wheel + caster</a:t>
            </a:r>
          </a:p>
        </p:txBody>
      </p:sp>
      <p:sp>
        <p:nvSpPr>
          <p:cNvPr id="58" name="TextBox 58">
            <a:extLst xmlns:a="http://schemas.openxmlformats.org/drawingml/2006/main">
              <a:ext uri="{FF2B5EF4-FFF2-40B4-BE49-F238E27FC236}">
                <a16:creationId xmlns:a16="http://schemas.microsoft.com/office/drawing/2014/main" id="{CD43AF98-3A90-445E-83E9-278BD318DA75}"/>
              </a:ext>
            </a:extLst>
          </p:cNvPr>
          <p:cNvSpPr>
            <a:spLocks xmlns:a="http://schemas.openxmlformats.org/drawingml/2006/main" noGrp="1"/>
          </p:cNvSpPr>
          <p:nvPr/>
        </p:nvSpPr>
        <p:spPr>
          <a:xfrm xmlns:a="http://schemas.openxmlformats.org/drawingml/2006/main" rot="0">
            <a:off x="4910138" y="4374356"/>
            <a:ext cx="185130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exploratory configuration</a:t>
            </a:r>
          </a:p>
        </p:txBody>
      </p:sp>
      <p:sp>
        <p:nvSpPr>
          <p:cNvPr id="59" name="Freeform 59">
            <a:extLst xmlns:a="http://schemas.openxmlformats.org/drawingml/2006/main">
              <a:ext uri="{FF2B5EF4-FFF2-40B4-BE49-F238E27FC236}">
                <a16:creationId xmlns:a16="http://schemas.microsoft.com/office/drawing/2014/main" id="{31C0A317-61F3-4428-AF1D-B811CB2B8FC5}"/>
              </a:ext>
            </a:extLst>
          </p:cNvPr>
          <p:cNvSpPr>
            <a:spLocks xmlns:a="http://schemas.openxmlformats.org/drawingml/2006/main" noGrp="1"/>
          </p:cNvSpPr>
          <p:nvPr/>
        </p:nvSpPr>
        <p:spPr>
          <a:xfrm xmlns:a="http://schemas.openxmlformats.org/drawingml/2006/main" rot="0">
            <a:off x="4645819" y="4986338"/>
            <a:ext cx="214312" cy="85725"/>
          </a:xfrm>
          <a:custGeom xmlns:a="http://schemas.openxmlformats.org/drawingml/2006/main">
            <a:rect l="l" t="t" r="r" b="b"/>
            <a:pathLst>
              <a:path w="214312" h="85725">
                <a:moveTo>
                  <a:pt x="214312" y="0"/>
                </a:moveTo>
                <a:lnTo>
                  <a:pt x="214312" y="85725"/>
                </a:lnTo>
                <a:lnTo>
                  <a:pt x="0" y="85725"/>
                </a:lnTo>
                <a:lnTo>
                  <a:pt x="0" y="0"/>
                </a:lnTo>
                <a:close/>
              </a:path>
            </a:pathLst>
          </a:custGeom>
          <a:solidFill xmlns:a="http://schemas.openxmlformats.org/drawingml/2006/main">
            <a:srgbClr val="2AB7A9">
              <a:alpha val="20000"/>
            </a:srgbClr>
          </a:solidFill>
          <a:ln xmlns:a="http://schemas.openxmlformats.org/drawingml/2006/main">
            <a:noFill/>
          </a:ln>
        </p:spPr>
      </p:sp>
      <p:sp>
        <p:nvSpPr>
          <p:cNvPr id="60" name="Freeform 60">
            <a:extLst xmlns:a="http://schemas.openxmlformats.org/drawingml/2006/main">
              <a:ext uri="{FF2B5EF4-FFF2-40B4-BE49-F238E27FC236}">
                <a16:creationId xmlns:a16="http://schemas.microsoft.com/office/drawing/2014/main" id="{2A4D1B4D-14DA-4335-85A4-228D906B3839}"/>
              </a:ext>
            </a:extLst>
          </p:cNvPr>
          <p:cNvSpPr>
            <a:spLocks xmlns:a="http://schemas.openxmlformats.org/drawingml/2006/main" noGrp="1"/>
          </p:cNvSpPr>
          <p:nvPr/>
        </p:nvSpPr>
        <p:spPr>
          <a:xfrm xmlns:a="http://schemas.openxmlformats.org/drawingml/2006/main" rot="0">
            <a:off x="4635103" y="4889897"/>
            <a:ext cx="235744" cy="278606"/>
          </a:xfrm>
          <a:custGeom xmlns:a="http://schemas.openxmlformats.org/drawingml/2006/main">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xmlns:a="http://schemas.openxmlformats.org/drawingml/2006/main">
            <a:srgbClr val="2AB7A9"/>
          </a:solidFill>
          <a:ln xmlns:a="http://schemas.openxmlformats.org/drawingml/2006/main">
            <a:noFill/>
          </a:ln>
        </p:spPr>
      </p:sp>
      <p:sp>
        <p:nvSpPr>
          <p:cNvPr id="62" name="TextBox 62">
            <a:extLst xmlns:a="http://schemas.openxmlformats.org/drawingml/2006/main">
              <a:ext uri="{FF2B5EF4-FFF2-40B4-BE49-F238E27FC236}">
                <a16:creationId xmlns:a16="http://schemas.microsoft.com/office/drawing/2014/main" id="{2C1D6BBC-15B7-4C7A-8308-E117E89CFCF4}"/>
              </a:ext>
            </a:extLst>
          </p:cNvPr>
          <p:cNvSpPr>
            <a:spLocks xmlns:a="http://schemas.openxmlformats.org/drawingml/2006/main" noGrp="1"/>
          </p:cNvSpPr>
          <p:nvPr/>
        </p:nvSpPr>
        <p:spPr>
          <a:xfrm xmlns:a="http://schemas.openxmlformats.org/drawingml/2006/main" rot="0">
            <a:off x="5045392" y="4971574"/>
            <a:ext cx="213102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Primary demo uses four-wheel differential drive</a:t>
            </a:r>
          </a:p>
        </p:txBody>
      </p:sp>
      <p:sp>
        <p:nvSpPr>
          <p:cNvPr id="64" name="Rectangle 64">
            <a:extLst xmlns:a="http://schemas.openxmlformats.org/drawingml/2006/main">
              <a:ext uri="{FF2B5EF4-FFF2-40B4-BE49-F238E27FC236}">
                <a16:creationId xmlns:a16="http://schemas.microsoft.com/office/drawing/2014/main" id="{8772E23D-BB61-4383-A942-124515A2395C}"/>
              </a:ext>
            </a:extLst>
          </p:cNvPr>
          <p:cNvSpPr>
            <a:spLocks xmlns:a="http://schemas.openxmlformats.org/drawingml/2006/main" noGrp="1"/>
          </p:cNvSpPr>
          <p:nvPr/>
        </p:nvSpPr>
        <p:spPr>
          <a:xfrm xmlns:a="http://schemas.openxmlformats.org/drawingml/2006/main" rot="0">
            <a:off x="8248650" y="1066800"/>
            <a:ext cx="3486150" cy="4381500"/>
          </a:xfrm>
          <a:prstGeom xmlns:a="http://schemas.openxmlformats.org/drawingml/2006/main" prst="roundRect">
            <a:avLst>
              <a:gd name="adj" fmla="val 3279"/>
            </a:avLst>
          </a:prstGeom>
          <a:solidFill xmlns:a="http://schemas.openxmlformats.org/drawingml/2006/main">
            <a:srgbClr val="EAF0F7"/>
          </a:solidFill>
          <a:ln xmlns:a="http://schemas.openxmlformats.org/drawingml/2006/main">
            <a:noFill/>
          </a:ln>
        </p:spPr>
      </p:sp>
      <p:sp>
        <p:nvSpPr>
          <p:cNvPr id="65" name="Rectangle 65">
            <a:extLst xmlns:a="http://schemas.openxmlformats.org/drawingml/2006/main">
              <a:ext uri="{FF2B5EF4-FFF2-40B4-BE49-F238E27FC236}">
                <a16:creationId xmlns:a16="http://schemas.microsoft.com/office/drawing/2014/main" id="{F4139324-AE60-40AD-8896-1E05FE6F47C1}"/>
              </a:ext>
            </a:extLst>
          </p:cNvPr>
          <p:cNvSpPr>
            <a:spLocks xmlns:a="http://schemas.openxmlformats.org/drawingml/2006/main" noGrp="1"/>
          </p:cNvSpPr>
          <p:nvPr/>
        </p:nvSpPr>
        <p:spPr>
          <a:xfrm xmlns:a="http://schemas.openxmlformats.org/drawingml/2006/main" rot="0">
            <a:off x="8248650" y="1066800"/>
            <a:ext cx="3486150" cy="781050"/>
          </a:xfrm>
          <a:prstGeom xmlns:a="http://schemas.openxmlformats.org/drawingml/2006/main" prst="roundRect">
            <a:avLst>
              <a:gd name="adj" fmla="val 14634"/>
            </a:avLst>
          </a:prstGeom>
          <a:solidFill xmlns:a="http://schemas.openxmlformats.org/drawingml/2006/main">
            <a:srgbClr val="123B5D"/>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6DB2D43A-D424-4053-A284-EE7DEC60065E}"/>
              </a:ext>
            </a:extLst>
          </p:cNvPr>
          <p:cNvSpPr>
            <a:spLocks xmlns:a="http://schemas.openxmlformats.org/drawingml/2006/main" noGrp="1"/>
          </p:cNvSpPr>
          <p:nvPr/>
        </p:nvSpPr>
        <p:spPr>
          <a:xfrm xmlns:a="http://schemas.openxmlformats.org/drawingml/2006/main" rot="0">
            <a:off x="8620125" y="1385888"/>
            <a:ext cx="95250" cy="95250"/>
          </a:xfrm>
          <a:custGeom xmlns:a="http://schemas.openxmlformats.org/drawingml/2006/main">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F7F9FC">
              <a:alpha val="20000"/>
            </a:srgbClr>
          </a:solidFill>
          <a:ln xmlns:a="http://schemas.openxmlformats.org/drawingml/2006/main">
            <a:noFill/>
          </a:ln>
        </p:spPr>
      </p:sp>
      <p:sp>
        <p:nvSpPr>
          <p:cNvPr id="67" name="Freeform 67">
            <a:extLst xmlns:a="http://schemas.openxmlformats.org/drawingml/2006/main">
              <a:ext uri="{FF2B5EF4-FFF2-40B4-BE49-F238E27FC236}">
                <a16:creationId xmlns:a16="http://schemas.microsoft.com/office/drawing/2014/main" id="{0F7D9E76-BCD7-4E34-8CD8-F81CB28335F7}"/>
              </a:ext>
            </a:extLst>
          </p:cNvPr>
          <p:cNvSpPr>
            <a:spLocks xmlns:a="http://schemas.openxmlformats.org/drawingml/2006/main" noGrp="1"/>
          </p:cNvSpPr>
          <p:nvPr/>
        </p:nvSpPr>
        <p:spPr>
          <a:xfrm xmlns:a="http://schemas.openxmlformats.org/drawingml/2006/main" rot="0">
            <a:off x="8524875" y="1314450"/>
            <a:ext cx="285750" cy="285750"/>
          </a:xfrm>
          <a:custGeom xmlns:a="http://schemas.openxmlformats.org/drawingml/2006/main">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xmlns:a="http://schemas.openxmlformats.org/drawingml/2006/main">
            <a:srgbClr val="F7F9FC"/>
          </a:solidFill>
          <a:ln xmlns:a="http://schemas.openxmlformats.org/drawingml/2006/main">
            <a:noFill/>
          </a:ln>
        </p:spPr>
      </p:sp>
      <p:sp>
        <p:nvSpPr>
          <p:cNvPr id="69" name="TextBox 69">
            <a:extLst xmlns:a="http://schemas.openxmlformats.org/drawingml/2006/main">
              <a:ext uri="{FF2B5EF4-FFF2-40B4-BE49-F238E27FC236}">
                <a16:creationId xmlns:a16="http://schemas.microsoft.com/office/drawing/2014/main" id="{3228899A-65A1-422E-8BFA-E1D8250D64A4}"/>
              </a:ext>
            </a:extLst>
          </p:cNvPr>
          <p:cNvSpPr>
            <a:spLocks xmlns:a="http://schemas.openxmlformats.org/drawingml/2006/main" noGrp="1"/>
          </p:cNvSpPr>
          <p:nvPr/>
        </p:nvSpPr>
        <p:spPr>
          <a:xfrm xmlns:a="http://schemas.openxmlformats.org/drawingml/2006/main" rot="0">
            <a:off x="8989695" y="1336358"/>
            <a:ext cx="550174"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INTERACTION</a:t>
            </a:r>
          </a:p>
        </p:txBody>
      </p:sp>
      <p:sp>
        <p:nvSpPr>
          <p:cNvPr id="70" name="Line 70">
            <a:extLst xmlns:a="http://schemas.openxmlformats.org/drawingml/2006/main">
              <a:ext uri="{FF2B5EF4-FFF2-40B4-BE49-F238E27FC236}">
                <a16:creationId xmlns:a16="http://schemas.microsoft.com/office/drawing/2014/main" id="{66CC6853-643C-4643-925B-C473ACC1181A}"/>
              </a:ext>
            </a:extLst>
          </p:cNvPr>
          <p:cNvSpPr>
            <a:spLocks xmlns:a="http://schemas.openxmlformats.org/drawingml/2006/main" noGrp="1"/>
          </p:cNvSpPr>
          <p:nvPr/>
        </p:nvSpPr>
        <p:spPr>
          <a:xfrm xmlns:a="http://schemas.openxmlformats.org/drawingml/2006/main" rot="0">
            <a:off x="8477250" y="2076450"/>
            <a:ext cx="3028950" cy="9525"/>
          </a:xfrm>
          <a:custGeom xmlns:a="http://schemas.openxmlformats.org/drawingml/2006/main">
            <a:rect l="l" t="t" r="r" b="b"/>
            <a:pathLst>
              <a:path w="3028950" h="9525">
                <a:moveTo>
                  <a:pt x="0" y="0"/>
                </a:moveTo>
                <a:lnTo>
                  <a:pt x="3028950" y="0"/>
                </a:lnTo>
              </a:path>
            </a:pathLst>
          </a:custGeom>
          <a:noFill xmlns:a="http://schemas.openxmlformats.org/drawingml/2006/main"/>
          <a:ln xmlns:a="http://schemas.openxmlformats.org/drawingml/2006/main" w="9525">
            <a:solidFill>
              <a:srgbClr val="CED8E4"/>
            </a:solidFill>
          </a:ln>
        </p:spPr>
      </p:sp>
      <p:sp>
        <p:nvSpPr>
          <p:cNvPr id="71" name="Ellipse 71">
            <a:extLst xmlns:a="http://schemas.openxmlformats.org/drawingml/2006/main">
              <a:ext uri="{FF2B5EF4-FFF2-40B4-BE49-F238E27FC236}">
                <a16:creationId xmlns:a16="http://schemas.microsoft.com/office/drawing/2014/main" id="{D749C30F-16BF-48AD-B2A3-F7EF8DAB42F2}"/>
              </a:ext>
            </a:extLst>
          </p:cNvPr>
          <p:cNvSpPr>
            <a:spLocks xmlns:a="http://schemas.openxmlformats.org/drawingml/2006/main" noGrp="1"/>
          </p:cNvSpPr>
          <p:nvPr/>
        </p:nvSpPr>
        <p:spPr>
          <a:xfrm xmlns:a="http://schemas.openxmlformats.org/drawingml/2006/main" rot="0">
            <a:off x="8458200" y="2333625"/>
            <a:ext cx="228600" cy="228600"/>
          </a:xfrm>
          <a:prstGeom xmlns:a="http://schemas.openxmlformats.org/drawingml/2006/main" prst="ellipse">
            <a:avLst/>
          </a:prstGeom>
          <a:solidFill xmlns:a="http://schemas.openxmlformats.org/drawingml/2006/main">
            <a:srgbClr val="123B5D"/>
          </a:solidFill>
          <a:ln xmlns:a="http://schemas.openxmlformats.org/drawingml/2006/main">
            <a:noFill/>
          </a:ln>
        </p:spPr>
      </p:sp>
      <p:sp>
        <p:nvSpPr>
          <p:cNvPr id="72" name="TextBox 72">
            <a:extLst xmlns:a="http://schemas.openxmlformats.org/drawingml/2006/main">
              <a:ext uri="{FF2B5EF4-FFF2-40B4-BE49-F238E27FC236}">
                <a16:creationId xmlns:a16="http://schemas.microsoft.com/office/drawing/2014/main" id="{814777EA-6D74-4DF9-AAD3-D18CC928D3B7}"/>
              </a:ext>
            </a:extLst>
          </p:cNvPr>
          <p:cNvSpPr>
            <a:spLocks xmlns:a="http://schemas.openxmlformats.org/drawingml/2006/main" noGrp="1"/>
          </p:cNvSpPr>
          <p:nvPr/>
        </p:nvSpPr>
        <p:spPr>
          <a:xfrm xmlns:a="http://schemas.openxmlformats.org/drawingml/2006/main" rot="0">
            <a:off x="8539640" y="2390299"/>
            <a:ext cx="6572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1</a:t>
            </a:r>
          </a:p>
        </p:txBody>
      </p:sp>
      <p:sp>
        <p:nvSpPr>
          <p:cNvPr id="73" name="TextBox 73">
            <a:extLst xmlns:a="http://schemas.openxmlformats.org/drawingml/2006/main">
              <a:ext uri="{FF2B5EF4-FFF2-40B4-BE49-F238E27FC236}">
                <a16:creationId xmlns:a16="http://schemas.microsoft.com/office/drawing/2014/main" id="{4E9973E6-7F8C-4EB4-8BEE-AFEB2918189F}"/>
              </a:ext>
            </a:extLst>
          </p:cNvPr>
          <p:cNvSpPr>
            <a:spLocks xmlns:a="http://schemas.openxmlformats.org/drawingml/2006/main" noGrp="1"/>
          </p:cNvSpPr>
          <p:nvPr/>
        </p:nvSpPr>
        <p:spPr>
          <a:xfrm xmlns:a="http://schemas.openxmlformats.org/drawingml/2006/main" rot="0">
            <a:off x="8805862" y="2374106"/>
            <a:ext cx="157376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64×48 monochrome display</a:t>
            </a:r>
          </a:p>
        </p:txBody>
      </p:sp>
      <p:sp>
        <p:nvSpPr>
          <p:cNvPr id="74" name="Ellipse 74">
            <a:extLst xmlns:a="http://schemas.openxmlformats.org/drawingml/2006/main">
              <a:ext uri="{FF2B5EF4-FFF2-40B4-BE49-F238E27FC236}">
                <a16:creationId xmlns:a16="http://schemas.microsoft.com/office/drawing/2014/main" id="{74224B76-217B-4C0E-A117-8354D0B9AB8C}"/>
              </a:ext>
            </a:extLst>
          </p:cNvPr>
          <p:cNvSpPr>
            <a:spLocks xmlns:a="http://schemas.openxmlformats.org/drawingml/2006/main" noGrp="1"/>
          </p:cNvSpPr>
          <p:nvPr/>
        </p:nvSpPr>
        <p:spPr>
          <a:xfrm xmlns:a="http://schemas.openxmlformats.org/drawingml/2006/main" rot="0">
            <a:off x="8458200" y="2924175"/>
            <a:ext cx="228600" cy="228600"/>
          </a:xfrm>
          <a:prstGeom xmlns:a="http://schemas.openxmlformats.org/drawingml/2006/main" prst="ellipse">
            <a:avLst/>
          </a:prstGeom>
          <a:solidFill xmlns:a="http://schemas.openxmlformats.org/drawingml/2006/main">
            <a:srgbClr val="123B5D"/>
          </a:solidFill>
          <a:ln xmlns:a="http://schemas.openxmlformats.org/drawingml/2006/main">
            <a:noFill/>
          </a:ln>
        </p:spPr>
      </p:sp>
      <p:sp>
        <p:nvSpPr>
          <p:cNvPr id="75" name="TextBox 75">
            <a:extLst xmlns:a="http://schemas.openxmlformats.org/drawingml/2006/main">
              <a:ext uri="{FF2B5EF4-FFF2-40B4-BE49-F238E27FC236}">
                <a16:creationId xmlns:a16="http://schemas.microsoft.com/office/drawing/2014/main" id="{20E84D00-7A7F-4437-96E4-F77CA0531F3A}"/>
              </a:ext>
            </a:extLst>
          </p:cNvPr>
          <p:cNvSpPr>
            <a:spLocks xmlns:a="http://schemas.openxmlformats.org/drawingml/2006/main" noGrp="1"/>
          </p:cNvSpPr>
          <p:nvPr/>
        </p:nvSpPr>
        <p:spPr>
          <a:xfrm xmlns:a="http://schemas.openxmlformats.org/drawingml/2006/main" rot="0">
            <a:off x="8522575" y="29808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2</a:t>
            </a:r>
          </a:p>
        </p:txBody>
      </p:sp>
      <p:sp>
        <p:nvSpPr>
          <p:cNvPr id="76" name="TextBox 76">
            <a:extLst xmlns:a="http://schemas.openxmlformats.org/drawingml/2006/main">
              <a:ext uri="{FF2B5EF4-FFF2-40B4-BE49-F238E27FC236}">
                <a16:creationId xmlns:a16="http://schemas.microsoft.com/office/drawing/2014/main" id="{B93F0F2D-CC2B-4F7E-9254-060B6323A296}"/>
              </a:ext>
            </a:extLst>
          </p:cNvPr>
          <p:cNvSpPr>
            <a:spLocks xmlns:a="http://schemas.openxmlformats.org/drawingml/2006/main" noGrp="1"/>
          </p:cNvSpPr>
          <p:nvPr/>
        </p:nvSpPr>
        <p:spPr>
          <a:xfrm xmlns:a="http://schemas.openxmlformats.org/drawingml/2006/main" rot="0">
            <a:off x="8805862" y="2964656"/>
            <a:ext cx="184380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MG90S + MG90 servos</a:t>
            </a:r>
          </a:p>
        </p:txBody>
      </p:sp>
      <p:sp>
        <p:nvSpPr>
          <p:cNvPr id="77" name="Ellipse 77">
            <a:extLst xmlns:a="http://schemas.openxmlformats.org/drawingml/2006/main">
              <a:ext uri="{FF2B5EF4-FFF2-40B4-BE49-F238E27FC236}">
                <a16:creationId xmlns:a16="http://schemas.microsoft.com/office/drawing/2014/main" id="{F08EF93C-0421-4DAB-ABD6-B29F7E4540EB}"/>
              </a:ext>
            </a:extLst>
          </p:cNvPr>
          <p:cNvSpPr>
            <a:spLocks xmlns:a="http://schemas.openxmlformats.org/drawingml/2006/main" noGrp="1"/>
          </p:cNvSpPr>
          <p:nvPr/>
        </p:nvSpPr>
        <p:spPr>
          <a:xfrm xmlns:a="http://schemas.openxmlformats.org/drawingml/2006/main" rot="0">
            <a:off x="8458200" y="3514725"/>
            <a:ext cx="228600" cy="228600"/>
          </a:xfrm>
          <a:prstGeom xmlns:a="http://schemas.openxmlformats.org/drawingml/2006/main" prst="ellipse">
            <a:avLst/>
          </a:prstGeom>
          <a:solidFill xmlns:a="http://schemas.openxmlformats.org/drawingml/2006/main">
            <a:srgbClr val="123B5D"/>
          </a:solidFill>
          <a:ln xmlns:a="http://schemas.openxmlformats.org/drawingml/2006/main">
            <a:noFill/>
          </a:ln>
        </p:spPr>
      </p:sp>
      <p:sp>
        <p:nvSpPr>
          <p:cNvPr id="78" name="TextBox 78">
            <a:extLst xmlns:a="http://schemas.openxmlformats.org/drawingml/2006/main">
              <a:ext uri="{FF2B5EF4-FFF2-40B4-BE49-F238E27FC236}">
                <a16:creationId xmlns:a16="http://schemas.microsoft.com/office/drawing/2014/main" id="{85D21BAE-824A-458A-9D11-BE46D04343AE}"/>
              </a:ext>
            </a:extLst>
          </p:cNvPr>
          <p:cNvSpPr>
            <a:spLocks xmlns:a="http://schemas.openxmlformats.org/drawingml/2006/main" noGrp="1"/>
          </p:cNvSpPr>
          <p:nvPr/>
        </p:nvSpPr>
        <p:spPr>
          <a:xfrm xmlns:a="http://schemas.openxmlformats.org/drawingml/2006/main" rot="0">
            <a:off x="8522575" y="357139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3</a:t>
            </a:r>
          </a:p>
        </p:txBody>
      </p:sp>
      <p:sp>
        <p:nvSpPr>
          <p:cNvPr id="79" name="TextBox 79">
            <a:extLst xmlns:a="http://schemas.openxmlformats.org/drawingml/2006/main">
              <a:ext uri="{FF2B5EF4-FFF2-40B4-BE49-F238E27FC236}">
                <a16:creationId xmlns:a16="http://schemas.microsoft.com/office/drawing/2014/main" id="{AC6F320E-7F20-4BC3-B3E2-C05AD8252908}"/>
              </a:ext>
            </a:extLst>
          </p:cNvPr>
          <p:cNvSpPr>
            <a:spLocks xmlns:a="http://schemas.openxmlformats.org/drawingml/2006/main" noGrp="1"/>
          </p:cNvSpPr>
          <p:nvPr/>
        </p:nvSpPr>
        <p:spPr>
          <a:xfrm xmlns:a="http://schemas.openxmlformats.org/drawingml/2006/main" rot="0">
            <a:off x="8805862" y="3440906"/>
            <a:ext cx="157376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Ultrasonic + tracking sensors</a:t>
            </a:r>
          </a:p>
        </p:txBody>
      </p:sp>
      <p:sp>
        <p:nvSpPr>
          <p:cNvPr id="80" name="TextBox 80">
            <a:extLst xmlns:a="http://schemas.openxmlformats.org/drawingml/2006/main">
              <a:ext uri="{FF2B5EF4-FFF2-40B4-BE49-F238E27FC236}">
                <a16:creationId xmlns:a16="http://schemas.microsoft.com/office/drawing/2014/main" id="{E7C0F0E4-3385-46F5-99C7-ED079AE60B21}"/>
              </a:ext>
            </a:extLst>
          </p:cNvPr>
          <p:cNvSpPr>
            <a:spLocks xmlns:a="http://schemas.openxmlformats.org/drawingml/2006/main" noGrp="1"/>
          </p:cNvSpPr>
          <p:nvPr/>
        </p:nvSpPr>
        <p:spPr>
          <a:xfrm xmlns:a="http://schemas.openxmlformats.org/drawingml/2006/main" rot="0">
            <a:off x="8805862" y="3631406"/>
            <a:ext cx="168628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for obstacle and edge awareness</a:t>
            </a:r>
          </a:p>
        </p:txBody>
      </p:sp>
      <p:sp>
        <p:nvSpPr>
          <p:cNvPr id="81" name="Ellipse 81">
            <a:extLst xmlns:a="http://schemas.openxmlformats.org/drawingml/2006/main">
              <a:ext uri="{FF2B5EF4-FFF2-40B4-BE49-F238E27FC236}">
                <a16:creationId xmlns:a16="http://schemas.microsoft.com/office/drawing/2014/main" id="{1DA78FAB-3EDF-4AD3-BCC2-6C9C0F6C5C6B}"/>
              </a:ext>
            </a:extLst>
          </p:cNvPr>
          <p:cNvSpPr>
            <a:spLocks xmlns:a="http://schemas.openxmlformats.org/drawingml/2006/main" noGrp="1"/>
          </p:cNvSpPr>
          <p:nvPr/>
        </p:nvSpPr>
        <p:spPr>
          <a:xfrm xmlns:a="http://schemas.openxmlformats.org/drawingml/2006/main" rot="0">
            <a:off x="8458200" y="4295775"/>
            <a:ext cx="228600" cy="228600"/>
          </a:xfrm>
          <a:prstGeom xmlns:a="http://schemas.openxmlformats.org/drawingml/2006/main" prst="ellipse">
            <a:avLst/>
          </a:prstGeom>
          <a:solidFill xmlns:a="http://schemas.openxmlformats.org/drawingml/2006/main">
            <a:srgbClr val="123B5D"/>
          </a:solidFill>
          <a:ln xmlns:a="http://schemas.openxmlformats.org/drawingml/2006/main">
            <a:noFill/>
          </a:ln>
        </p:spPr>
      </p:sp>
      <p:sp>
        <p:nvSpPr>
          <p:cNvPr id="82" name="TextBox 82">
            <a:extLst xmlns:a="http://schemas.openxmlformats.org/drawingml/2006/main">
              <a:ext uri="{FF2B5EF4-FFF2-40B4-BE49-F238E27FC236}">
                <a16:creationId xmlns:a16="http://schemas.microsoft.com/office/drawing/2014/main" id="{610212CD-2BC9-4703-93BF-16540C899CBD}"/>
              </a:ext>
            </a:extLst>
          </p:cNvPr>
          <p:cNvSpPr>
            <a:spLocks xmlns:a="http://schemas.openxmlformats.org/drawingml/2006/main" noGrp="1"/>
          </p:cNvSpPr>
          <p:nvPr/>
        </p:nvSpPr>
        <p:spPr>
          <a:xfrm xmlns:a="http://schemas.openxmlformats.org/drawingml/2006/main" rot="0">
            <a:off x="8522575" y="4352449"/>
            <a:ext cx="9984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b="1">
                <a:solidFill>
                  <a:srgbClr val="F7F9FC"/>
                </a:solidFill>
                <a:latin typeface="Arial"/>
                <a:ea typeface="Arial"/>
                <a:cs typeface="Arial"/>
              </a:rPr>
              <a:t>4</a:t>
            </a:r>
          </a:p>
        </p:txBody>
      </p:sp>
      <p:sp>
        <p:nvSpPr>
          <p:cNvPr id="83" name="TextBox 83">
            <a:extLst xmlns:a="http://schemas.openxmlformats.org/drawingml/2006/main">
              <a:ext uri="{FF2B5EF4-FFF2-40B4-BE49-F238E27FC236}">
                <a16:creationId xmlns:a16="http://schemas.microsoft.com/office/drawing/2014/main" id="{857D7E9D-2FC3-4876-AB78-76B8DB1AABA8}"/>
              </a:ext>
            </a:extLst>
          </p:cNvPr>
          <p:cNvSpPr>
            <a:spLocks xmlns:a="http://schemas.openxmlformats.org/drawingml/2006/main" noGrp="1"/>
          </p:cNvSpPr>
          <p:nvPr/>
        </p:nvSpPr>
        <p:spPr>
          <a:xfrm xmlns:a="http://schemas.openxmlformats.org/drawingml/2006/main" rot="0">
            <a:off x="8805862" y="4183856"/>
            <a:ext cx="221884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Speaker and microphone</a:t>
            </a:r>
          </a:p>
        </p:txBody>
      </p:sp>
      <p:sp>
        <p:nvSpPr>
          <p:cNvPr id="84" name="TextBox 84">
            <a:extLst xmlns:a="http://schemas.openxmlformats.org/drawingml/2006/main">
              <a:ext uri="{FF2B5EF4-FFF2-40B4-BE49-F238E27FC236}">
                <a16:creationId xmlns:a16="http://schemas.microsoft.com/office/drawing/2014/main" id="{5101F495-FC11-4DF0-8AEB-75466B2757DC}"/>
              </a:ext>
            </a:extLst>
          </p:cNvPr>
          <p:cNvSpPr>
            <a:spLocks xmlns:a="http://schemas.openxmlformats.org/drawingml/2006/main" noGrp="1"/>
          </p:cNvSpPr>
          <p:nvPr/>
        </p:nvSpPr>
        <p:spPr>
          <a:xfrm xmlns:a="http://schemas.openxmlformats.org/drawingml/2006/main" rot="0">
            <a:off x="8805862" y="4374356"/>
            <a:ext cx="152126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through laptop if connected</a:t>
            </a:r>
          </a:p>
        </p:txBody>
      </p:sp>
      <p:sp>
        <p:nvSpPr>
          <p:cNvPr id="85" name="Freeform 85">
            <a:extLst xmlns:a="http://schemas.openxmlformats.org/drawingml/2006/main">
              <a:ext uri="{FF2B5EF4-FFF2-40B4-BE49-F238E27FC236}">
                <a16:creationId xmlns:a16="http://schemas.microsoft.com/office/drawing/2014/main" id="{5DAF1A7A-FAB1-4FB9-A8D5-5279D2ECD543}"/>
              </a:ext>
            </a:extLst>
          </p:cNvPr>
          <p:cNvSpPr>
            <a:spLocks xmlns:a="http://schemas.openxmlformats.org/drawingml/2006/main" noGrp="1"/>
          </p:cNvSpPr>
          <p:nvPr/>
        </p:nvSpPr>
        <p:spPr>
          <a:xfrm xmlns:a="http://schemas.openxmlformats.org/drawingml/2006/main" rot="0">
            <a:off x="8530828" y="490061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123B5D">
              <a:alpha val="20000"/>
            </a:srgbClr>
          </a:solidFill>
          <a:ln xmlns:a="http://schemas.openxmlformats.org/drawingml/2006/main">
            <a:noFill/>
          </a:ln>
        </p:spPr>
      </p:sp>
      <p:sp>
        <p:nvSpPr>
          <p:cNvPr id="86" name="Freeform 86">
            <a:extLst xmlns:a="http://schemas.openxmlformats.org/drawingml/2006/main">
              <a:ext uri="{FF2B5EF4-FFF2-40B4-BE49-F238E27FC236}">
                <a16:creationId xmlns:a16="http://schemas.microsoft.com/office/drawing/2014/main" id="{ADA049EE-010F-4145-8BD6-5421EB8A18E9}"/>
              </a:ext>
            </a:extLst>
          </p:cNvPr>
          <p:cNvSpPr>
            <a:spLocks xmlns:a="http://schemas.openxmlformats.org/drawingml/2006/main" noGrp="1"/>
          </p:cNvSpPr>
          <p:nvPr/>
        </p:nvSpPr>
        <p:spPr>
          <a:xfrm xmlns:a="http://schemas.openxmlformats.org/drawingml/2006/main" rot="0">
            <a:off x="8520112" y="488989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123B5D"/>
          </a:solidFill>
          <a:ln xmlns:a="http://schemas.openxmlformats.org/drawingml/2006/main">
            <a:noFill/>
          </a:ln>
        </p:spPr>
      </p:sp>
      <p:sp>
        <p:nvSpPr>
          <p:cNvPr id="88" name="TextBox 88">
            <a:extLst xmlns:a="http://schemas.openxmlformats.org/drawingml/2006/main">
              <a:ext uri="{FF2B5EF4-FFF2-40B4-BE49-F238E27FC236}">
                <a16:creationId xmlns:a16="http://schemas.microsoft.com/office/drawing/2014/main" id="{F2A4557B-FFC3-4CDC-8165-5F7E85FFC679}"/>
              </a:ext>
            </a:extLst>
          </p:cNvPr>
          <p:cNvSpPr>
            <a:spLocks xmlns:a="http://schemas.openxmlformats.org/drawingml/2006/main" noGrp="1"/>
          </p:cNvSpPr>
          <p:nvPr/>
        </p:nvSpPr>
        <p:spPr>
          <a:xfrm xmlns:a="http://schemas.openxmlformats.org/drawingml/2006/main" rot="0">
            <a:off x="8941118" y="4971574"/>
            <a:ext cx="17864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Laptop audio supplies the second input modality</a:t>
            </a:r>
          </a:p>
        </p:txBody>
      </p:sp>
      <p:sp>
        <p:nvSpPr>
          <p:cNvPr id="90" name="Rectangle 90">
            <a:extLst xmlns:a="http://schemas.openxmlformats.org/drawingml/2006/main">
              <a:ext uri="{FF2B5EF4-FFF2-40B4-BE49-F238E27FC236}">
                <a16:creationId xmlns:a16="http://schemas.microsoft.com/office/drawing/2014/main" id="{085EF93F-8F59-4403-AC5B-D11721BFC3CC}"/>
              </a:ext>
            </a:extLst>
          </p:cNvPr>
          <p:cNvSpPr>
            <a:spLocks xmlns:a="http://schemas.openxmlformats.org/drawingml/2006/main" noGrp="1"/>
          </p:cNvSpPr>
          <p:nvPr/>
        </p:nvSpPr>
        <p:spPr>
          <a:xfrm xmlns:a="http://schemas.openxmlformats.org/drawingml/2006/main" rot="0">
            <a:off x="457200" y="5657850"/>
            <a:ext cx="11277600" cy="628650"/>
          </a:xfrm>
          <a:prstGeom xmlns:a="http://schemas.openxmlformats.org/drawingml/2006/main" prst="roundRect">
            <a:avLst>
              <a:gd name="adj" fmla="val 18182"/>
            </a:avLst>
          </a:prstGeom>
          <a:solidFill xmlns:a="http://schemas.openxmlformats.org/drawingml/2006/main">
            <a:srgbClr val="123B5D"/>
          </a:solidFill>
          <a:ln xmlns:a="http://schemas.openxmlformats.org/drawingml/2006/main">
            <a:noFill/>
          </a:ln>
        </p:spPr>
      </p:sp>
      <p:sp>
        <p:nvSpPr>
          <p:cNvPr id="91" name="TextBox 91">
            <a:extLst xmlns:a="http://schemas.openxmlformats.org/drawingml/2006/main">
              <a:ext uri="{FF2B5EF4-FFF2-40B4-BE49-F238E27FC236}">
                <a16:creationId xmlns:a16="http://schemas.microsoft.com/office/drawing/2014/main" id="{04B815E5-5109-4506-8DA7-131FE6C12360}"/>
              </a:ext>
            </a:extLst>
          </p:cNvPr>
          <p:cNvSpPr>
            <a:spLocks xmlns:a="http://schemas.openxmlformats.org/drawingml/2006/main" noGrp="1"/>
          </p:cNvSpPr>
          <p:nvPr/>
        </p:nvSpPr>
        <p:spPr>
          <a:xfrm xmlns:a="http://schemas.openxmlformats.org/drawingml/2006/main" rot="0">
            <a:off x="673418" y="5819299"/>
            <a:ext cx="128754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BUILD PRIORITY</a:t>
            </a:r>
          </a:p>
        </p:txBody>
      </p:sp>
      <p:sp>
        <p:nvSpPr>
          <p:cNvPr id="92" name="TextBox 92">
            <a:extLst xmlns:a="http://schemas.openxmlformats.org/drawingml/2006/main">
              <a:ext uri="{FF2B5EF4-FFF2-40B4-BE49-F238E27FC236}">
                <a16:creationId xmlns:a16="http://schemas.microsoft.com/office/drawing/2014/main" id="{D383333E-7491-49B7-BC46-5C6CED2FD518}"/>
              </a:ext>
            </a:extLst>
          </p:cNvPr>
          <p:cNvSpPr>
            <a:spLocks xmlns:a="http://schemas.openxmlformats.org/drawingml/2006/main" noGrp="1"/>
          </p:cNvSpPr>
          <p:nvPr/>
        </p:nvSpPr>
        <p:spPr>
          <a:xfrm xmlns:a="http://schemas.openxmlformats.org/drawingml/2006/main" rot="0">
            <a:off x="2767012" y="5803106"/>
            <a:ext cx="682282"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SAFE BASE</a:t>
            </a:r>
          </a:p>
        </p:txBody>
      </p:sp>
      <p:sp>
        <p:nvSpPr>
          <p:cNvPr id="93" name="TextBox 93">
            <a:extLst xmlns:a="http://schemas.openxmlformats.org/drawingml/2006/main">
              <a:ext uri="{FF2B5EF4-FFF2-40B4-BE49-F238E27FC236}">
                <a16:creationId xmlns:a16="http://schemas.microsoft.com/office/drawing/2014/main" id="{F37381E2-755F-448C-A56E-35A2CAF5107A}"/>
              </a:ext>
            </a:extLst>
          </p:cNvPr>
          <p:cNvSpPr>
            <a:spLocks xmlns:a="http://schemas.openxmlformats.org/drawingml/2006/main" noGrp="1"/>
          </p:cNvSpPr>
          <p:nvPr/>
        </p:nvSpPr>
        <p:spPr>
          <a:xfrm xmlns:a="http://schemas.openxmlformats.org/drawingml/2006/main" rot="0">
            <a:off x="2768918" y="6028849"/>
            <a:ext cx="209852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4-wheel drive · camera · display</a:t>
            </a:r>
          </a:p>
        </p:txBody>
      </p:sp>
      <p:sp>
        <p:nvSpPr>
          <p:cNvPr id="94" name="Line 94">
            <a:extLst xmlns:a="http://schemas.openxmlformats.org/drawingml/2006/main">
              <a:ext uri="{FF2B5EF4-FFF2-40B4-BE49-F238E27FC236}">
                <a16:creationId xmlns:a16="http://schemas.microsoft.com/office/drawing/2014/main" id="{6DBFCE28-FAA9-46BF-92B0-26058318C2D0}"/>
              </a:ext>
            </a:extLst>
          </p:cNvPr>
          <p:cNvSpPr>
            <a:spLocks xmlns:a="http://schemas.openxmlformats.org/drawingml/2006/main" noGrp="1"/>
          </p:cNvSpPr>
          <p:nvPr/>
        </p:nvSpPr>
        <p:spPr>
          <a:xfrm xmlns:a="http://schemas.openxmlformats.org/drawingml/2006/main" rot="0">
            <a:off x="5143500" y="5791200"/>
            <a:ext cx="9525" cy="361950"/>
          </a:xfrm>
          <a:custGeom xmlns:a="http://schemas.openxmlformats.org/drawingml/2006/main">
            <a:rect l="l" t="t" r="r" b="b"/>
            <a:pathLst>
              <a:path w="9525" h="361950">
                <a:moveTo>
                  <a:pt x="0" y="0"/>
                </a:moveTo>
                <a:lnTo>
                  <a:pt x="0" y="361950"/>
                </a:lnTo>
              </a:path>
            </a:pathLst>
          </a:custGeom>
          <a:noFill xmlns:a="http://schemas.openxmlformats.org/drawingml/2006/main"/>
          <a:ln xmlns:a="http://schemas.openxmlformats.org/drawingml/2006/main" w="9525">
            <a:solidFill>
              <a:srgbClr val="F7F9FC">
                <a:alpha val="35000"/>
              </a:srgbClr>
            </a:solidFill>
          </a:ln>
        </p:spPr>
      </p:sp>
      <p:sp>
        <p:nvSpPr>
          <p:cNvPr id="95" name="TextBox 95">
            <a:extLst xmlns:a="http://schemas.openxmlformats.org/drawingml/2006/main">
              <a:ext uri="{FF2B5EF4-FFF2-40B4-BE49-F238E27FC236}">
                <a16:creationId xmlns:a16="http://schemas.microsoft.com/office/drawing/2014/main" id="{F6EA5269-0B15-4EFE-B27B-ED16B734F985}"/>
              </a:ext>
            </a:extLst>
          </p:cNvPr>
          <p:cNvSpPr>
            <a:spLocks xmlns:a="http://schemas.openxmlformats.org/drawingml/2006/main" noGrp="1"/>
          </p:cNvSpPr>
          <p:nvPr/>
        </p:nvSpPr>
        <p:spPr>
          <a:xfrm xmlns:a="http://schemas.openxmlformats.org/drawingml/2006/main" rot="0">
            <a:off x="5434012" y="5803106"/>
            <a:ext cx="965817"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CORE AI</a:t>
            </a:r>
          </a:p>
        </p:txBody>
      </p:sp>
      <p:sp>
        <p:nvSpPr>
          <p:cNvPr id="96" name="TextBox 96">
            <a:extLst xmlns:a="http://schemas.openxmlformats.org/drawingml/2006/main">
              <a:ext uri="{FF2B5EF4-FFF2-40B4-BE49-F238E27FC236}">
                <a16:creationId xmlns:a16="http://schemas.microsoft.com/office/drawing/2014/main" id="{ECEC32B7-D1EB-4562-8CCA-B9371181C27E}"/>
              </a:ext>
            </a:extLst>
          </p:cNvPr>
          <p:cNvSpPr>
            <a:spLocks xmlns:a="http://schemas.openxmlformats.org/drawingml/2006/main" noGrp="1"/>
          </p:cNvSpPr>
          <p:nvPr/>
        </p:nvSpPr>
        <p:spPr>
          <a:xfrm xmlns:a="http://schemas.openxmlformats.org/drawingml/2006/main" rot="0">
            <a:off x="5435918" y="6028849"/>
            <a:ext cx="28201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Pose · hand · phone · laptop audio</a:t>
            </a:r>
          </a:p>
        </p:txBody>
      </p:sp>
      <p:sp>
        <p:nvSpPr>
          <p:cNvPr id="97" name="Line 97">
            <a:extLst xmlns:a="http://schemas.openxmlformats.org/drawingml/2006/main">
              <a:ext uri="{FF2B5EF4-FFF2-40B4-BE49-F238E27FC236}">
                <a16:creationId xmlns:a16="http://schemas.microsoft.com/office/drawing/2014/main" id="{5C42E8BF-F6CF-458B-A5D6-1668994438DC}"/>
              </a:ext>
            </a:extLst>
          </p:cNvPr>
          <p:cNvSpPr>
            <a:spLocks xmlns:a="http://schemas.openxmlformats.org/drawingml/2006/main" noGrp="1"/>
          </p:cNvSpPr>
          <p:nvPr/>
        </p:nvSpPr>
        <p:spPr>
          <a:xfrm xmlns:a="http://schemas.openxmlformats.org/drawingml/2006/main" rot="0">
            <a:off x="8420100" y="5791200"/>
            <a:ext cx="9525" cy="361950"/>
          </a:xfrm>
          <a:custGeom xmlns:a="http://schemas.openxmlformats.org/drawingml/2006/main">
            <a:rect l="l" t="t" r="r" b="b"/>
            <a:pathLst>
              <a:path w="9525" h="361950">
                <a:moveTo>
                  <a:pt x="0" y="0"/>
                </a:moveTo>
                <a:lnTo>
                  <a:pt x="0" y="361950"/>
                </a:lnTo>
              </a:path>
            </a:pathLst>
          </a:custGeom>
          <a:noFill xmlns:a="http://schemas.openxmlformats.org/drawingml/2006/main"/>
          <a:ln xmlns:a="http://schemas.openxmlformats.org/drawingml/2006/main" w="9525">
            <a:solidFill>
              <a:srgbClr val="F7F9FC">
                <a:alpha val="35000"/>
              </a:srgbClr>
            </a:solidFill>
          </a:ln>
        </p:spPr>
      </p:sp>
      <p:sp>
        <p:nvSpPr>
          <p:cNvPr id="98" name="TextBox 98">
            <a:extLst xmlns:a="http://schemas.openxmlformats.org/drawingml/2006/main">
              <a:ext uri="{FF2B5EF4-FFF2-40B4-BE49-F238E27FC236}">
                <a16:creationId xmlns:a16="http://schemas.microsoft.com/office/drawing/2014/main" id="{37F313E9-5838-4701-9474-8FD776B9E452}"/>
              </a:ext>
            </a:extLst>
          </p:cNvPr>
          <p:cNvSpPr>
            <a:spLocks xmlns:a="http://schemas.openxmlformats.org/drawingml/2006/main" noGrp="1"/>
          </p:cNvSpPr>
          <p:nvPr/>
        </p:nvSpPr>
        <p:spPr>
          <a:xfrm xmlns:a="http://schemas.openxmlformats.org/drawingml/2006/main" rot="0">
            <a:off x="8710612" y="5803106"/>
            <a:ext cx="126510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b="1">
                <a:solidFill>
                  <a:srgbClr val="F7F9FC"/>
                </a:solidFill>
                <a:latin typeface="Arial"/>
                <a:ea typeface="Arial"/>
                <a:cs typeface="Arial"/>
              </a:rPr>
              <a:t>EXPLORE</a:t>
            </a:r>
          </a:p>
        </p:txBody>
      </p:sp>
      <p:sp>
        <p:nvSpPr>
          <p:cNvPr id="99" name="TextBox 99">
            <a:extLst xmlns:a="http://schemas.openxmlformats.org/drawingml/2006/main">
              <a:ext uri="{FF2B5EF4-FFF2-40B4-BE49-F238E27FC236}">
                <a16:creationId xmlns:a16="http://schemas.microsoft.com/office/drawing/2014/main" id="{C5383AD6-6EFF-4B27-B1A2-6E50DB6C8612}"/>
              </a:ext>
            </a:extLst>
          </p:cNvPr>
          <p:cNvSpPr>
            <a:spLocks xmlns:a="http://schemas.openxmlformats.org/drawingml/2006/main" noGrp="1"/>
          </p:cNvSpPr>
          <p:nvPr/>
        </p:nvSpPr>
        <p:spPr>
          <a:xfrm xmlns:a="http://schemas.openxmlformats.org/drawingml/2006/main" rot="0">
            <a:off x="8712518" y="6028849"/>
            <a:ext cx="266409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2-wheel base · audio · arm if feasible</a:t>
            </a:r>
          </a:p>
        </p:txBody>
      </p:sp>
      <p:sp>
        <p:nvSpPr>
          <p:cNvPr id="101" name="TextBox 101">
            <a:extLst xmlns:a="http://schemas.openxmlformats.org/drawingml/2006/main">
              <a:ext uri="{FF2B5EF4-FFF2-40B4-BE49-F238E27FC236}">
                <a16:creationId xmlns:a16="http://schemas.microsoft.com/office/drawing/2014/main" id="{C3CAB058-E087-4C56-B63E-EAAA6B3DD68D}"/>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07</a:t>
            </a:r>
          </a:p>
        </p:txBody>
      </p:sp>
    </p:spTree>
    <p:extLst>
      <p:ext uri="{BB962C8B-B14F-4D97-AF65-F5344CB8AC3E}">
        <p14:creationId xmlns:p14="http://schemas.microsoft.com/office/powerpoint/2010/main" val="15302567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0CC2B9C0-2B99-4CD8-993C-34D777246B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49555B61-8E37-42BB-B73D-41F42EA64618}"/>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A1504088-D5DA-488B-9C18-DD988AF6DF09}"/>
              </a:ext>
            </a:extLst>
          </p:cNvPr>
          <p:cNvSpPr>
            <a:spLocks xmlns:a="http://schemas.openxmlformats.org/drawingml/2006/main" noGrp="1"/>
          </p:cNvSpPr>
          <p:nvPr/>
        </p:nvSpPr>
        <p:spPr>
          <a:xfrm xmlns:a="http://schemas.openxmlformats.org/drawingml/2006/main" rot="0">
            <a:off x="659130" y="411480"/>
            <a:ext cx="364058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AUTONOMOUS BEHAVIOUR</a:t>
            </a:r>
          </a:p>
        </p:txBody>
      </p:sp>
      <p:sp>
        <p:nvSpPr>
          <p:cNvPr id="5" name="Line 5">
            <a:extLst xmlns:a="http://schemas.openxmlformats.org/drawingml/2006/main">
              <a:ext uri="{FF2B5EF4-FFF2-40B4-BE49-F238E27FC236}">
                <a16:creationId xmlns:a16="http://schemas.microsoft.com/office/drawing/2014/main" id="{6F12083C-C733-4995-83A6-EE24E9DE634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7" name="Rectangle 7">
            <a:extLst xmlns:a="http://schemas.openxmlformats.org/drawingml/2006/main">
              <a:ext uri="{FF2B5EF4-FFF2-40B4-BE49-F238E27FC236}">
                <a16:creationId xmlns:a16="http://schemas.microsoft.com/office/drawing/2014/main" id="{84E05979-ADD0-4FEC-BE52-F0F4E9B32CEE}"/>
              </a:ext>
            </a:extLst>
          </p:cNvPr>
          <p:cNvSpPr>
            <a:spLocks xmlns:a="http://schemas.openxmlformats.org/drawingml/2006/main" noGrp="1"/>
          </p:cNvSpPr>
          <p:nvPr/>
        </p:nvSpPr>
        <p:spPr>
          <a:xfrm xmlns:a="http://schemas.openxmlformats.org/drawingml/2006/main" rot="0">
            <a:off x="457200" y="1181100"/>
            <a:ext cx="2000250" cy="1485900"/>
          </a:xfrm>
          <a:prstGeom xmlns:a="http://schemas.openxmlformats.org/drawingml/2006/main" prst="roundRect">
            <a:avLst>
              <a:gd name="adj" fmla="val 7692"/>
            </a:avLst>
          </a:prstGeom>
          <a:solidFill xmlns:a="http://schemas.openxmlformats.org/drawingml/2006/main">
            <a:srgbClr val="EAF0F7"/>
          </a:solidFill>
          <a:ln xmlns:a="http://schemas.openxmlformats.org/drawingml/2006/main">
            <a:noFill/>
          </a:ln>
        </p:spPr>
      </p:sp>
      <p:sp>
        <p:nvSpPr>
          <p:cNvPr id="8" name="Freeform 8">
            <a:extLst xmlns:a="http://schemas.openxmlformats.org/drawingml/2006/main">
              <a:ext uri="{FF2B5EF4-FFF2-40B4-BE49-F238E27FC236}">
                <a16:creationId xmlns:a16="http://schemas.microsoft.com/office/drawing/2014/main" id="{77E7D40D-88C3-4503-B6CE-6814D52A46CB}"/>
              </a:ext>
            </a:extLst>
          </p:cNvPr>
          <p:cNvSpPr>
            <a:spLocks xmlns:a="http://schemas.openxmlformats.org/drawingml/2006/main" noGrp="1"/>
          </p:cNvSpPr>
          <p:nvPr/>
        </p:nvSpPr>
        <p:spPr>
          <a:xfrm xmlns:a="http://schemas.openxmlformats.org/drawingml/2006/main" rot="0">
            <a:off x="742355" y="1454944"/>
            <a:ext cx="248841" cy="135731"/>
          </a:xfrm>
          <a:custGeom xmlns:a="http://schemas.openxmlformats.org/drawingml/2006/main">
            <a:rect l="l" t="t" r="r" b="b"/>
            <a:pathLst>
              <a:path w="248841" h="135731">
                <a:moveTo>
                  <a:pt x="248841" y="67866"/>
                </a:moveTo>
                <a:cubicBezTo>
                  <a:pt x="248841" y="105347"/>
                  <a:pt x="193134" y="135731"/>
                  <a:pt x="124420" y="135731"/>
                </a:cubicBezTo>
                <a:cubicBezTo>
                  <a:pt x="55706" y="135731"/>
                  <a:pt x="0" y="105347"/>
                  <a:pt x="0" y="67866"/>
                </a:cubicBezTo>
                <a:cubicBezTo>
                  <a:pt x="0" y="30384"/>
                  <a:pt x="55706" y="0"/>
                  <a:pt x="124420" y="0"/>
                </a:cubicBezTo>
                <a:cubicBezTo>
                  <a:pt x="193134" y="0"/>
                  <a:pt x="248841" y="30384"/>
                  <a:pt x="248841" y="67866"/>
                </a:cubicBezTo>
                <a:close/>
              </a:path>
            </a:pathLst>
          </a:custGeom>
          <a:solidFill xmlns:a="http://schemas.openxmlformats.org/drawingml/2006/main">
            <a:srgbClr val="2F80ED">
              <a:alpha val="20000"/>
            </a:srgbClr>
          </a:solidFill>
          <a:ln xmlns:a="http://schemas.openxmlformats.org/drawingml/2006/main">
            <a:noFill/>
          </a:ln>
        </p:spPr>
      </p:sp>
      <p:sp>
        <p:nvSpPr>
          <p:cNvPr id="9" name="Freeform 9">
            <a:extLst xmlns:a="http://schemas.openxmlformats.org/drawingml/2006/main">
              <a:ext uri="{FF2B5EF4-FFF2-40B4-BE49-F238E27FC236}">
                <a16:creationId xmlns:a16="http://schemas.microsoft.com/office/drawing/2014/main" id="{EE3DC46D-192C-4401-A803-8FA2215C6E6D}"/>
              </a:ext>
            </a:extLst>
          </p:cNvPr>
          <p:cNvSpPr>
            <a:spLocks xmlns:a="http://schemas.openxmlformats.org/drawingml/2006/main" noGrp="1"/>
          </p:cNvSpPr>
          <p:nvPr/>
        </p:nvSpPr>
        <p:spPr>
          <a:xfrm xmlns:a="http://schemas.openxmlformats.org/drawingml/2006/main" rot="0">
            <a:off x="731044" y="1443633"/>
            <a:ext cx="271462" cy="294084"/>
          </a:xfrm>
          <a:custGeom xmlns:a="http://schemas.openxmlformats.org/drawingml/2006/main">
            <a:rect l="l" t="t" r="r" b="b"/>
            <a:pathLst>
              <a:path w="271462" h="294084">
                <a:moveTo>
                  <a:pt x="135731" y="0"/>
                </a:moveTo>
                <a:cubicBezTo>
                  <a:pt x="59623" y="0"/>
                  <a:pt x="0" y="34781"/>
                  <a:pt x="0" y="79177"/>
                </a:cubicBezTo>
                <a:lnTo>
                  <a:pt x="0" y="214908"/>
                </a:lnTo>
                <a:cubicBezTo>
                  <a:pt x="0" y="259303"/>
                  <a:pt x="59623" y="294084"/>
                  <a:pt x="135731" y="294084"/>
                </a:cubicBezTo>
                <a:cubicBezTo>
                  <a:pt x="211840" y="294084"/>
                  <a:pt x="271462" y="259303"/>
                  <a:pt x="271462" y="214908"/>
                </a:cubicBezTo>
                <a:lnTo>
                  <a:pt x="271462" y="79177"/>
                </a:lnTo>
                <a:cubicBezTo>
                  <a:pt x="271462" y="34781"/>
                  <a:pt x="211840" y="0"/>
                  <a:pt x="135731" y="0"/>
                </a:cubicBezTo>
                <a:close/>
                <a:moveTo>
                  <a:pt x="248841" y="147042"/>
                </a:moveTo>
                <a:cubicBezTo>
                  <a:pt x="248841" y="160644"/>
                  <a:pt x="237699" y="174514"/>
                  <a:pt x="218287" y="185103"/>
                </a:cubicBezTo>
                <a:cubicBezTo>
                  <a:pt x="196429" y="197022"/>
                  <a:pt x="167105" y="203597"/>
                  <a:pt x="135731" y="203597"/>
                </a:cubicBezTo>
                <a:cubicBezTo>
                  <a:pt x="104358" y="203597"/>
                  <a:pt x="75034" y="197022"/>
                  <a:pt x="53176" y="185103"/>
                </a:cubicBezTo>
                <a:cubicBezTo>
                  <a:pt x="33763" y="174514"/>
                  <a:pt x="22622" y="160644"/>
                  <a:pt x="22622" y="147042"/>
                </a:cubicBezTo>
                <a:lnTo>
                  <a:pt x="22622" y="123515"/>
                </a:lnTo>
                <a:cubicBezTo>
                  <a:pt x="46742" y="144723"/>
                  <a:pt x="87985" y="158353"/>
                  <a:pt x="135731" y="158353"/>
                </a:cubicBezTo>
                <a:cubicBezTo>
                  <a:pt x="183478" y="158353"/>
                  <a:pt x="224720" y="144667"/>
                  <a:pt x="248841" y="123515"/>
                </a:cubicBezTo>
                <a:close/>
                <a:moveTo>
                  <a:pt x="53176" y="41115"/>
                </a:moveTo>
                <a:cubicBezTo>
                  <a:pt x="75034" y="29196"/>
                  <a:pt x="104358" y="22622"/>
                  <a:pt x="135731" y="22622"/>
                </a:cubicBezTo>
                <a:cubicBezTo>
                  <a:pt x="167105" y="22622"/>
                  <a:pt x="196429" y="29196"/>
                  <a:pt x="218287" y="41115"/>
                </a:cubicBezTo>
                <a:cubicBezTo>
                  <a:pt x="237699" y="51705"/>
                  <a:pt x="248841" y="65575"/>
                  <a:pt x="248841" y="79177"/>
                </a:cubicBezTo>
                <a:cubicBezTo>
                  <a:pt x="248841" y="92778"/>
                  <a:pt x="237699" y="106648"/>
                  <a:pt x="218287" y="117238"/>
                </a:cubicBezTo>
                <a:cubicBezTo>
                  <a:pt x="196429" y="129157"/>
                  <a:pt x="167105" y="135731"/>
                  <a:pt x="135731" y="135731"/>
                </a:cubicBezTo>
                <a:cubicBezTo>
                  <a:pt x="104358" y="135731"/>
                  <a:pt x="75034" y="129157"/>
                  <a:pt x="53176" y="117238"/>
                </a:cubicBezTo>
                <a:cubicBezTo>
                  <a:pt x="33763" y="106648"/>
                  <a:pt x="22622" y="92778"/>
                  <a:pt x="22622" y="79177"/>
                </a:cubicBezTo>
                <a:cubicBezTo>
                  <a:pt x="22622" y="65575"/>
                  <a:pt x="33763" y="51705"/>
                  <a:pt x="53176" y="41115"/>
                </a:cubicBezTo>
                <a:close/>
                <a:moveTo>
                  <a:pt x="218287" y="252969"/>
                </a:moveTo>
                <a:cubicBezTo>
                  <a:pt x="196429" y="264888"/>
                  <a:pt x="167105" y="271462"/>
                  <a:pt x="135731" y="271462"/>
                </a:cubicBezTo>
                <a:cubicBezTo>
                  <a:pt x="104358" y="271462"/>
                  <a:pt x="75034" y="264888"/>
                  <a:pt x="53176" y="252969"/>
                </a:cubicBezTo>
                <a:cubicBezTo>
                  <a:pt x="33763" y="242379"/>
                  <a:pt x="22622" y="228509"/>
                  <a:pt x="22622" y="214908"/>
                </a:cubicBezTo>
                <a:lnTo>
                  <a:pt x="22622" y="191381"/>
                </a:lnTo>
                <a:cubicBezTo>
                  <a:pt x="46742" y="212589"/>
                  <a:pt x="87985" y="226219"/>
                  <a:pt x="135731" y="226219"/>
                </a:cubicBezTo>
                <a:cubicBezTo>
                  <a:pt x="183478" y="226219"/>
                  <a:pt x="224720" y="212533"/>
                  <a:pt x="248841" y="191381"/>
                </a:cubicBezTo>
                <a:lnTo>
                  <a:pt x="248841" y="214908"/>
                </a:lnTo>
                <a:cubicBezTo>
                  <a:pt x="248841" y="228509"/>
                  <a:pt x="237699" y="242379"/>
                  <a:pt x="218287" y="252969"/>
                </a:cubicBezTo>
                <a:close/>
              </a:path>
            </a:pathLst>
          </a:custGeom>
          <a:solidFill xmlns:a="http://schemas.openxmlformats.org/drawingml/2006/main">
            <a:srgbClr val="2F80ED"/>
          </a:solidFill>
          <a:ln xmlns:a="http://schemas.openxmlformats.org/drawingml/2006/main">
            <a:noFill/>
          </a:ln>
        </p:spPr>
      </p:sp>
      <p:sp>
        <p:nvSpPr>
          <p:cNvPr id="11" name="TextBox 11">
            <a:extLst xmlns:a="http://schemas.openxmlformats.org/drawingml/2006/main">
              <a:ext uri="{FF2B5EF4-FFF2-40B4-BE49-F238E27FC236}">
                <a16:creationId xmlns:a16="http://schemas.microsoft.com/office/drawing/2014/main" id="{D48E65A7-BAD7-47BD-8B11-08D170FF8403}"/>
              </a:ext>
            </a:extLst>
          </p:cNvPr>
          <p:cNvSpPr>
            <a:spLocks xmlns:a="http://schemas.openxmlformats.org/drawingml/2006/main" noGrp="1"/>
          </p:cNvSpPr>
          <p:nvPr/>
        </p:nvSpPr>
        <p:spPr>
          <a:xfrm xmlns:a="http://schemas.openxmlformats.org/drawingml/2006/main" rot="0">
            <a:off x="668655" y="1902142"/>
            <a:ext cx="13101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DETECT</a:t>
            </a:r>
          </a:p>
        </p:txBody>
      </p:sp>
      <p:sp>
        <p:nvSpPr>
          <p:cNvPr id="12" name="TextBox 12">
            <a:extLst xmlns:a="http://schemas.openxmlformats.org/drawingml/2006/main">
              <a:ext uri="{FF2B5EF4-FFF2-40B4-BE49-F238E27FC236}">
                <a16:creationId xmlns:a16="http://schemas.microsoft.com/office/drawing/2014/main" id="{08AC3EBA-C5BB-4ADD-8F62-4798431CE5A4}"/>
              </a:ext>
            </a:extLst>
          </p:cNvPr>
          <p:cNvSpPr>
            <a:spLocks xmlns:a="http://schemas.openxmlformats.org/drawingml/2006/main" noGrp="1"/>
          </p:cNvSpPr>
          <p:nvPr/>
        </p:nvSpPr>
        <p:spPr>
          <a:xfrm xmlns:a="http://schemas.openxmlformats.org/drawingml/2006/main" rot="0">
            <a:off x="673418" y="2190274"/>
            <a:ext cx="1110401"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Video frames and</a:t>
            </a:r>
          </a:p>
        </p:txBody>
      </p:sp>
      <p:sp>
        <p:nvSpPr>
          <p:cNvPr id="13" name="TextBox 13">
            <a:extLst xmlns:a="http://schemas.openxmlformats.org/drawingml/2006/main">
              <a:ext uri="{FF2B5EF4-FFF2-40B4-BE49-F238E27FC236}">
                <a16:creationId xmlns:a16="http://schemas.microsoft.com/office/drawing/2014/main" id="{45AD7329-6488-4994-81E4-DD403815F2AE}"/>
              </a:ext>
            </a:extLst>
          </p:cNvPr>
          <p:cNvSpPr>
            <a:spLocks xmlns:a="http://schemas.openxmlformats.org/drawingml/2006/main" noGrp="1"/>
          </p:cNvSpPr>
          <p:nvPr/>
        </p:nvSpPr>
        <p:spPr>
          <a:xfrm xmlns:a="http://schemas.openxmlformats.org/drawingml/2006/main" rot="0">
            <a:off x="673418" y="2371249"/>
            <a:ext cx="124691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current robot state</a:t>
            </a:r>
          </a:p>
        </p:txBody>
      </p:sp>
      <p:sp>
        <p:nvSpPr>
          <p:cNvPr id="15" name="Line 15">
            <a:extLst xmlns:a="http://schemas.openxmlformats.org/drawingml/2006/main">
              <a:ext uri="{FF2B5EF4-FFF2-40B4-BE49-F238E27FC236}">
                <a16:creationId xmlns:a16="http://schemas.microsoft.com/office/drawing/2014/main" id="{D4A531EA-7939-4321-AA08-CFCC718227A0}"/>
              </a:ext>
            </a:extLst>
          </p:cNvPr>
          <p:cNvSpPr>
            <a:spLocks xmlns:a="http://schemas.openxmlformats.org/drawingml/2006/main" noGrp="1"/>
          </p:cNvSpPr>
          <p:nvPr/>
        </p:nvSpPr>
        <p:spPr>
          <a:xfrm xmlns:a="http://schemas.openxmlformats.org/drawingml/2006/main" rot="0">
            <a:off x="245745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16" name="Rectangle 16">
            <a:extLst xmlns:a="http://schemas.openxmlformats.org/drawingml/2006/main">
              <a:ext uri="{FF2B5EF4-FFF2-40B4-BE49-F238E27FC236}">
                <a16:creationId xmlns:a16="http://schemas.microsoft.com/office/drawing/2014/main" id="{12BD6A5D-70A0-4292-BEE2-B923C313C9EC}"/>
              </a:ext>
            </a:extLst>
          </p:cNvPr>
          <p:cNvSpPr>
            <a:spLocks xmlns:a="http://schemas.openxmlformats.org/drawingml/2006/main" noGrp="1"/>
          </p:cNvSpPr>
          <p:nvPr/>
        </p:nvSpPr>
        <p:spPr>
          <a:xfrm xmlns:a="http://schemas.openxmlformats.org/drawingml/2006/main" rot="0">
            <a:off x="2724150" y="1181100"/>
            <a:ext cx="2000250" cy="1485900"/>
          </a:xfrm>
          <a:prstGeom xmlns:a="http://schemas.openxmlformats.org/drawingml/2006/main" prst="roundRect">
            <a:avLst>
              <a:gd name="adj" fmla="val 7692"/>
            </a:avLst>
          </a:prstGeom>
          <a:solidFill xmlns:a="http://schemas.openxmlformats.org/drawingml/2006/main">
            <a:srgbClr val="123B5D"/>
          </a:solidFill>
          <a:ln xmlns:a="http://schemas.openxmlformats.org/drawingml/2006/main">
            <a:noFill/>
          </a:ln>
        </p:spPr>
      </p:sp>
      <p:sp>
        <p:nvSpPr>
          <p:cNvPr id="17" name="Freeform 17">
            <a:extLst xmlns:a="http://schemas.openxmlformats.org/drawingml/2006/main">
              <a:ext uri="{FF2B5EF4-FFF2-40B4-BE49-F238E27FC236}">
                <a16:creationId xmlns:a16="http://schemas.microsoft.com/office/drawing/2014/main" id="{FE5430F0-55EA-47A3-BF42-CD9D298B0887}"/>
              </a:ext>
            </a:extLst>
          </p:cNvPr>
          <p:cNvSpPr>
            <a:spLocks xmlns:a="http://schemas.openxmlformats.org/drawingml/2006/main" noGrp="1"/>
          </p:cNvSpPr>
          <p:nvPr/>
        </p:nvSpPr>
        <p:spPr>
          <a:xfrm xmlns:a="http://schemas.openxmlformats.org/drawingml/2006/main" rot="0">
            <a:off x="3020616" y="1545431"/>
            <a:ext cx="226219" cy="90488"/>
          </a:xfrm>
          <a:custGeom xmlns:a="http://schemas.openxmlformats.org/drawingml/2006/main">
            <a:rect l="l" t="t" r="r" b="b"/>
            <a:pathLst>
              <a:path w="226219" h="90488">
                <a:moveTo>
                  <a:pt x="226219" y="0"/>
                </a:moveTo>
                <a:lnTo>
                  <a:pt x="226219" y="90488"/>
                </a:lnTo>
                <a:lnTo>
                  <a:pt x="0" y="90488"/>
                </a:lnTo>
                <a:lnTo>
                  <a:pt x="0" y="0"/>
                </a:lnTo>
                <a:close/>
              </a:path>
            </a:pathLst>
          </a:custGeom>
          <a:solidFill xmlns:a="http://schemas.openxmlformats.org/drawingml/2006/main">
            <a:srgbClr val="F7F9FC">
              <a:alpha val="20000"/>
            </a:srgbClr>
          </a:solidFill>
          <a:ln xmlns:a="http://schemas.openxmlformats.org/drawingml/2006/main">
            <a:noFill/>
          </a:ln>
        </p:spPr>
      </p:sp>
      <p:sp>
        <p:nvSpPr>
          <p:cNvPr id="18" name="Freeform 18">
            <a:extLst xmlns:a="http://schemas.openxmlformats.org/drawingml/2006/main">
              <a:ext uri="{FF2B5EF4-FFF2-40B4-BE49-F238E27FC236}">
                <a16:creationId xmlns:a16="http://schemas.microsoft.com/office/drawing/2014/main" id="{FB300ACF-0DC9-4012-96EC-AB908D1D0AE6}"/>
              </a:ext>
            </a:extLst>
          </p:cNvPr>
          <p:cNvSpPr>
            <a:spLocks xmlns:a="http://schemas.openxmlformats.org/drawingml/2006/main" noGrp="1"/>
          </p:cNvSpPr>
          <p:nvPr/>
        </p:nvSpPr>
        <p:spPr>
          <a:xfrm xmlns:a="http://schemas.openxmlformats.org/drawingml/2006/main" rot="0">
            <a:off x="3009305" y="1443633"/>
            <a:ext cx="248841" cy="294084"/>
          </a:xfrm>
          <a:custGeom xmlns:a="http://schemas.openxmlformats.org/drawingml/2006/main">
            <a:rect l="l" t="t" r="r" b="b"/>
            <a:pathLst>
              <a:path w="248841" h="294084">
                <a:moveTo>
                  <a:pt x="22622" y="101798"/>
                </a:moveTo>
                <a:lnTo>
                  <a:pt x="22622" y="192286"/>
                </a:lnTo>
                <a:cubicBezTo>
                  <a:pt x="22622" y="198533"/>
                  <a:pt x="17558" y="203597"/>
                  <a:pt x="11311" y="203597"/>
                </a:cubicBezTo>
                <a:cubicBezTo>
                  <a:pt x="5064" y="203597"/>
                  <a:pt x="0" y="198533"/>
                  <a:pt x="0" y="192286"/>
                </a:cubicBezTo>
                <a:lnTo>
                  <a:pt x="0" y="101798"/>
                </a:lnTo>
                <a:cubicBezTo>
                  <a:pt x="0" y="95552"/>
                  <a:pt x="5064" y="90488"/>
                  <a:pt x="11311" y="90488"/>
                </a:cubicBezTo>
                <a:cubicBezTo>
                  <a:pt x="17558" y="90488"/>
                  <a:pt x="22622" y="95552"/>
                  <a:pt x="22622" y="101798"/>
                </a:cubicBezTo>
                <a:close/>
                <a:moveTo>
                  <a:pt x="67866" y="0"/>
                </a:moveTo>
                <a:cubicBezTo>
                  <a:pt x="61619" y="0"/>
                  <a:pt x="56555" y="5064"/>
                  <a:pt x="56555" y="11311"/>
                </a:cubicBezTo>
                <a:lnTo>
                  <a:pt x="56555" y="282773"/>
                </a:lnTo>
                <a:cubicBezTo>
                  <a:pt x="56555" y="289020"/>
                  <a:pt x="61619" y="294084"/>
                  <a:pt x="67866" y="294084"/>
                </a:cubicBezTo>
                <a:cubicBezTo>
                  <a:pt x="74112" y="294084"/>
                  <a:pt x="79177" y="289020"/>
                  <a:pt x="79177" y="282773"/>
                </a:cubicBezTo>
                <a:lnTo>
                  <a:pt x="79177" y="11311"/>
                </a:lnTo>
                <a:cubicBezTo>
                  <a:pt x="79177" y="5064"/>
                  <a:pt x="74112" y="0"/>
                  <a:pt x="67866" y="0"/>
                </a:cubicBezTo>
                <a:close/>
                <a:moveTo>
                  <a:pt x="124420" y="45244"/>
                </a:moveTo>
                <a:cubicBezTo>
                  <a:pt x="118173" y="45244"/>
                  <a:pt x="113109" y="50308"/>
                  <a:pt x="113109" y="56555"/>
                </a:cubicBezTo>
                <a:lnTo>
                  <a:pt x="113109" y="237530"/>
                </a:lnTo>
                <a:cubicBezTo>
                  <a:pt x="113109" y="243777"/>
                  <a:pt x="118173" y="248841"/>
                  <a:pt x="124420" y="248841"/>
                </a:cubicBezTo>
                <a:cubicBezTo>
                  <a:pt x="130667" y="248841"/>
                  <a:pt x="135731" y="243777"/>
                  <a:pt x="135731" y="237530"/>
                </a:cubicBezTo>
                <a:lnTo>
                  <a:pt x="135731" y="56555"/>
                </a:lnTo>
                <a:cubicBezTo>
                  <a:pt x="135731" y="50308"/>
                  <a:pt x="130667" y="45244"/>
                  <a:pt x="124420" y="45244"/>
                </a:cubicBezTo>
                <a:close/>
                <a:moveTo>
                  <a:pt x="180975" y="90488"/>
                </a:moveTo>
                <a:cubicBezTo>
                  <a:pt x="174728" y="90488"/>
                  <a:pt x="169664" y="95552"/>
                  <a:pt x="169664" y="101798"/>
                </a:cubicBezTo>
                <a:lnTo>
                  <a:pt x="169664" y="192286"/>
                </a:lnTo>
                <a:cubicBezTo>
                  <a:pt x="169664" y="198533"/>
                  <a:pt x="174728" y="203597"/>
                  <a:pt x="180975" y="203597"/>
                </a:cubicBezTo>
                <a:cubicBezTo>
                  <a:pt x="187222" y="203597"/>
                  <a:pt x="192286" y="198533"/>
                  <a:pt x="192286" y="192286"/>
                </a:cubicBezTo>
                <a:lnTo>
                  <a:pt x="192286" y="101798"/>
                </a:lnTo>
                <a:cubicBezTo>
                  <a:pt x="192286" y="95552"/>
                  <a:pt x="187222" y="90488"/>
                  <a:pt x="180975" y="90488"/>
                </a:cubicBezTo>
                <a:close/>
                <a:moveTo>
                  <a:pt x="237530" y="67866"/>
                </a:moveTo>
                <a:cubicBezTo>
                  <a:pt x="231283" y="67866"/>
                  <a:pt x="226219" y="72930"/>
                  <a:pt x="226219" y="79177"/>
                </a:cubicBezTo>
                <a:lnTo>
                  <a:pt x="226219" y="214908"/>
                </a:lnTo>
                <a:cubicBezTo>
                  <a:pt x="226219" y="221155"/>
                  <a:pt x="231283" y="226219"/>
                  <a:pt x="237530" y="226219"/>
                </a:cubicBezTo>
                <a:cubicBezTo>
                  <a:pt x="243777" y="226219"/>
                  <a:pt x="248841" y="221155"/>
                  <a:pt x="248841" y="214908"/>
                </a:cubicBezTo>
                <a:lnTo>
                  <a:pt x="248841" y="79177"/>
                </a:lnTo>
                <a:cubicBezTo>
                  <a:pt x="248841" y="72930"/>
                  <a:pt x="243777" y="67866"/>
                  <a:pt x="237530" y="67866"/>
                </a:cubicBezTo>
                <a:close/>
              </a:path>
            </a:pathLst>
          </a:custGeom>
          <a:solidFill xmlns:a="http://schemas.openxmlformats.org/drawingml/2006/main">
            <a:srgbClr val="F7F9FC"/>
          </a:solidFill>
          <a:ln xmlns:a="http://schemas.openxmlformats.org/drawingml/2006/main">
            <a:noFill/>
          </a:ln>
        </p:spPr>
      </p:sp>
      <p:sp>
        <p:nvSpPr>
          <p:cNvPr id="20" name="TextBox 20">
            <a:extLst xmlns:a="http://schemas.openxmlformats.org/drawingml/2006/main">
              <a:ext uri="{FF2B5EF4-FFF2-40B4-BE49-F238E27FC236}">
                <a16:creationId xmlns:a16="http://schemas.microsoft.com/office/drawing/2014/main" id="{CCA24174-6981-40AB-8D77-B648883CA31D}"/>
              </a:ext>
            </a:extLst>
          </p:cNvPr>
          <p:cNvSpPr>
            <a:spLocks xmlns:a="http://schemas.openxmlformats.org/drawingml/2006/main" noGrp="1"/>
          </p:cNvSpPr>
          <p:nvPr/>
        </p:nvSpPr>
        <p:spPr>
          <a:xfrm xmlns:a="http://schemas.openxmlformats.org/drawingml/2006/main" rot="0">
            <a:off x="2935605" y="1902142"/>
            <a:ext cx="144251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CONFIRM</a:t>
            </a:r>
          </a:p>
        </p:txBody>
      </p:sp>
      <p:sp>
        <p:nvSpPr>
          <p:cNvPr id="21" name="TextBox 21">
            <a:extLst xmlns:a="http://schemas.openxmlformats.org/drawingml/2006/main">
              <a:ext uri="{FF2B5EF4-FFF2-40B4-BE49-F238E27FC236}">
                <a16:creationId xmlns:a16="http://schemas.microsoft.com/office/drawing/2014/main" id="{D6D38E89-1BAA-49B1-AF4F-7EA938BB5446}"/>
              </a:ext>
            </a:extLst>
          </p:cNvPr>
          <p:cNvSpPr>
            <a:spLocks xmlns:a="http://schemas.openxmlformats.org/drawingml/2006/main" noGrp="1"/>
          </p:cNvSpPr>
          <p:nvPr/>
        </p:nvSpPr>
        <p:spPr>
          <a:xfrm xmlns:a="http://schemas.openxmlformats.org/drawingml/2006/main" rot="0">
            <a:off x="2940368" y="2190274"/>
            <a:ext cx="181898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Temporal voting and</a:t>
            </a:r>
          </a:p>
        </p:txBody>
      </p:sp>
      <p:sp>
        <p:nvSpPr>
          <p:cNvPr id="22" name="TextBox 22">
            <a:extLst xmlns:a="http://schemas.openxmlformats.org/drawingml/2006/main">
              <a:ext uri="{FF2B5EF4-FFF2-40B4-BE49-F238E27FC236}">
                <a16:creationId xmlns:a16="http://schemas.microsoft.com/office/drawing/2014/main" id="{06F482F6-01B1-4A0D-BA57-C848AF8891D2}"/>
              </a:ext>
            </a:extLst>
          </p:cNvPr>
          <p:cNvSpPr>
            <a:spLocks xmlns:a="http://schemas.openxmlformats.org/drawingml/2006/main" noGrp="1"/>
          </p:cNvSpPr>
          <p:nvPr/>
        </p:nvSpPr>
        <p:spPr>
          <a:xfrm xmlns:a="http://schemas.openxmlformats.org/drawingml/2006/main" rot="0">
            <a:off x="2940368" y="2371249"/>
            <a:ext cx="181248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confidence threshold</a:t>
            </a:r>
          </a:p>
        </p:txBody>
      </p:sp>
      <p:sp>
        <p:nvSpPr>
          <p:cNvPr id="24" name="Line 24">
            <a:extLst xmlns:a="http://schemas.openxmlformats.org/drawingml/2006/main">
              <a:ext uri="{FF2B5EF4-FFF2-40B4-BE49-F238E27FC236}">
                <a16:creationId xmlns:a16="http://schemas.microsoft.com/office/drawing/2014/main" id="{20A8E2A3-0EFE-4C9D-BEF7-CC1C03E9192B}"/>
              </a:ext>
            </a:extLst>
          </p:cNvPr>
          <p:cNvSpPr>
            <a:spLocks xmlns:a="http://schemas.openxmlformats.org/drawingml/2006/main" noGrp="1"/>
          </p:cNvSpPr>
          <p:nvPr/>
        </p:nvSpPr>
        <p:spPr>
          <a:xfrm xmlns:a="http://schemas.openxmlformats.org/drawingml/2006/main" rot="0">
            <a:off x="472440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25" name="Rectangle 25">
            <a:extLst xmlns:a="http://schemas.openxmlformats.org/drawingml/2006/main">
              <a:ext uri="{FF2B5EF4-FFF2-40B4-BE49-F238E27FC236}">
                <a16:creationId xmlns:a16="http://schemas.microsoft.com/office/drawing/2014/main" id="{CE1D7831-93D7-4BBA-B61B-152A59376F40}"/>
              </a:ext>
            </a:extLst>
          </p:cNvPr>
          <p:cNvSpPr>
            <a:spLocks xmlns:a="http://schemas.openxmlformats.org/drawingml/2006/main" noGrp="1"/>
          </p:cNvSpPr>
          <p:nvPr/>
        </p:nvSpPr>
        <p:spPr>
          <a:xfrm xmlns:a="http://schemas.openxmlformats.org/drawingml/2006/main" rot="0">
            <a:off x="4991100" y="1181100"/>
            <a:ext cx="2000250" cy="1485900"/>
          </a:xfrm>
          <a:prstGeom xmlns:a="http://schemas.openxmlformats.org/drawingml/2006/main" prst="roundRect">
            <a:avLst>
              <a:gd name="adj" fmla="val 7692"/>
            </a:avLst>
          </a:prstGeom>
          <a:solidFill xmlns:a="http://schemas.openxmlformats.org/drawingml/2006/main">
            <a:srgbClr val="EAF0F7"/>
          </a:solidFill>
          <a:ln xmlns:a="http://schemas.openxmlformats.org/drawingml/2006/main">
            <a:noFill/>
          </a:ln>
        </p:spPr>
      </p:sp>
      <p:sp>
        <p:nvSpPr>
          <p:cNvPr id="26" name="Freeform 26">
            <a:extLst xmlns:a="http://schemas.openxmlformats.org/drawingml/2006/main">
              <a:ext uri="{FF2B5EF4-FFF2-40B4-BE49-F238E27FC236}">
                <a16:creationId xmlns:a16="http://schemas.microsoft.com/office/drawing/2014/main" id="{83D0CE5D-3A6F-4629-8A55-6143EDA2D552}"/>
              </a:ext>
            </a:extLst>
          </p:cNvPr>
          <p:cNvSpPr>
            <a:spLocks xmlns:a="http://schemas.openxmlformats.org/drawingml/2006/main" noGrp="1"/>
          </p:cNvSpPr>
          <p:nvPr/>
        </p:nvSpPr>
        <p:spPr>
          <a:xfrm xmlns:a="http://schemas.openxmlformats.org/drawingml/2006/main" rot="0">
            <a:off x="5276255" y="1477566"/>
            <a:ext cx="248841" cy="248841"/>
          </a:xfrm>
          <a:custGeom xmlns:a="http://schemas.openxmlformats.org/drawingml/2006/main">
            <a:rect l="l" t="t" r="r" b="b"/>
            <a:pathLst>
              <a:path w="248841" h="248841">
                <a:moveTo>
                  <a:pt x="248841" y="124420"/>
                </a:moveTo>
                <a:cubicBezTo>
                  <a:pt x="248841" y="193136"/>
                  <a:pt x="193136" y="248841"/>
                  <a:pt x="124420" y="248841"/>
                </a:cubicBezTo>
                <a:cubicBezTo>
                  <a:pt x="55705" y="248841"/>
                  <a:pt x="0" y="193136"/>
                  <a:pt x="0" y="124420"/>
                </a:cubicBezTo>
                <a:cubicBezTo>
                  <a:pt x="0" y="55705"/>
                  <a:pt x="55705" y="0"/>
                  <a:pt x="124420" y="0"/>
                </a:cubicBezTo>
                <a:cubicBezTo>
                  <a:pt x="193136" y="0"/>
                  <a:pt x="248841" y="55705"/>
                  <a:pt x="248841" y="124420"/>
                </a:cubicBezTo>
                <a:close/>
              </a:path>
            </a:pathLst>
          </a:custGeom>
          <a:solidFill xmlns:a="http://schemas.openxmlformats.org/drawingml/2006/main">
            <a:srgbClr val="2F80ED">
              <a:alpha val="20000"/>
            </a:srgbClr>
          </a:solidFill>
          <a:ln xmlns:a="http://schemas.openxmlformats.org/drawingml/2006/main">
            <a:noFill/>
          </a:ln>
        </p:spPr>
      </p:sp>
      <p:sp>
        <p:nvSpPr>
          <p:cNvPr id="27" name="Freeform 27">
            <a:extLst xmlns:a="http://schemas.openxmlformats.org/drawingml/2006/main">
              <a:ext uri="{FF2B5EF4-FFF2-40B4-BE49-F238E27FC236}">
                <a16:creationId xmlns:a16="http://schemas.microsoft.com/office/drawing/2014/main" id="{9D55C567-FEC7-4AE8-A175-2075C5390231}"/>
              </a:ext>
            </a:extLst>
          </p:cNvPr>
          <p:cNvSpPr>
            <a:spLocks xmlns:a="http://schemas.openxmlformats.org/drawingml/2006/main" noGrp="1"/>
          </p:cNvSpPr>
          <p:nvPr/>
        </p:nvSpPr>
        <p:spPr>
          <a:xfrm xmlns:a="http://schemas.openxmlformats.org/drawingml/2006/main" rot="0">
            <a:off x="5264944" y="1421011"/>
            <a:ext cx="271462" cy="316706"/>
          </a:xfrm>
          <a:custGeom xmlns:a="http://schemas.openxmlformats.org/drawingml/2006/main">
            <a:rect l="l" t="t" r="r" b="b"/>
            <a:pathLst>
              <a:path w="271462" h="316706">
                <a:moveTo>
                  <a:pt x="135731" y="45244"/>
                </a:moveTo>
                <a:cubicBezTo>
                  <a:pt x="60769" y="45244"/>
                  <a:pt x="0" y="106013"/>
                  <a:pt x="0" y="180975"/>
                </a:cubicBezTo>
                <a:cubicBezTo>
                  <a:pt x="0" y="255937"/>
                  <a:pt x="60769" y="316706"/>
                  <a:pt x="135731" y="316706"/>
                </a:cubicBezTo>
                <a:cubicBezTo>
                  <a:pt x="210694" y="316706"/>
                  <a:pt x="271462" y="255937"/>
                  <a:pt x="271462" y="180975"/>
                </a:cubicBezTo>
                <a:cubicBezTo>
                  <a:pt x="271377" y="106048"/>
                  <a:pt x="210658" y="45329"/>
                  <a:pt x="135731" y="45244"/>
                </a:cubicBezTo>
                <a:close/>
                <a:moveTo>
                  <a:pt x="135731" y="294084"/>
                </a:moveTo>
                <a:cubicBezTo>
                  <a:pt x="73263" y="294084"/>
                  <a:pt x="22622" y="243444"/>
                  <a:pt x="22622" y="180975"/>
                </a:cubicBezTo>
                <a:cubicBezTo>
                  <a:pt x="22622" y="118506"/>
                  <a:pt x="73263" y="67866"/>
                  <a:pt x="135731" y="67866"/>
                </a:cubicBezTo>
                <a:cubicBezTo>
                  <a:pt x="198200" y="67866"/>
                  <a:pt x="248841" y="118506"/>
                  <a:pt x="248841" y="180975"/>
                </a:cubicBezTo>
                <a:cubicBezTo>
                  <a:pt x="248770" y="243415"/>
                  <a:pt x="198171" y="294014"/>
                  <a:pt x="135731" y="294084"/>
                </a:cubicBezTo>
                <a:close/>
                <a:moveTo>
                  <a:pt x="200288" y="116418"/>
                </a:moveTo>
                <a:cubicBezTo>
                  <a:pt x="202412" y="118539"/>
                  <a:pt x="203606" y="121418"/>
                  <a:pt x="203606" y="124420"/>
                </a:cubicBezTo>
                <a:cubicBezTo>
                  <a:pt x="203606" y="127422"/>
                  <a:pt x="202412" y="130301"/>
                  <a:pt x="200288" y="132423"/>
                </a:cubicBezTo>
                <a:lnTo>
                  <a:pt x="143734" y="188977"/>
                </a:lnTo>
                <a:cubicBezTo>
                  <a:pt x="139314" y="193397"/>
                  <a:pt x="132148" y="193397"/>
                  <a:pt x="127729" y="188977"/>
                </a:cubicBezTo>
                <a:cubicBezTo>
                  <a:pt x="123309" y="184558"/>
                  <a:pt x="123309" y="177392"/>
                  <a:pt x="127729" y="172973"/>
                </a:cubicBezTo>
                <a:lnTo>
                  <a:pt x="184283" y="116418"/>
                </a:lnTo>
                <a:cubicBezTo>
                  <a:pt x="186405" y="114294"/>
                  <a:pt x="189284" y="113100"/>
                  <a:pt x="192286" y="113100"/>
                </a:cubicBezTo>
                <a:cubicBezTo>
                  <a:pt x="195288" y="113100"/>
                  <a:pt x="198167" y="114294"/>
                  <a:pt x="200288" y="116418"/>
                </a:cubicBezTo>
                <a:close/>
                <a:moveTo>
                  <a:pt x="90488" y="11311"/>
                </a:moveTo>
                <a:cubicBezTo>
                  <a:pt x="90488" y="5064"/>
                  <a:pt x="95552" y="0"/>
                  <a:pt x="101798" y="0"/>
                </a:cubicBezTo>
                <a:lnTo>
                  <a:pt x="169664" y="0"/>
                </a:lnTo>
                <a:cubicBezTo>
                  <a:pt x="175911" y="0"/>
                  <a:pt x="180975" y="5064"/>
                  <a:pt x="180975" y="11311"/>
                </a:cubicBezTo>
                <a:cubicBezTo>
                  <a:pt x="180975" y="17558"/>
                  <a:pt x="175911" y="22622"/>
                  <a:pt x="169664" y="22622"/>
                </a:cubicBezTo>
                <a:lnTo>
                  <a:pt x="101798" y="22622"/>
                </a:lnTo>
                <a:cubicBezTo>
                  <a:pt x="95552" y="22622"/>
                  <a:pt x="90488" y="17558"/>
                  <a:pt x="90488" y="11311"/>
                </a:cubicBezTo>
                <a:close/>
              </a:path>
            </a:pathLst>
          </a:custGeom>
          <a:solidFill xmlns:a="http://schemas.openxmlformats.org/drawingml/2006/main">
            <a:srgbClr val="2F80ED"/>
          </a:solidFill>
          <a:ln xmlns:a="http://schemas.openxmlformats.org/drawingml/2006/main">
            <a:noFill/>
          </a:ln>
        </p:spPr>
      </p:sp>
      <p:sp>
        <p:nvSpPr>
          <p:cNvPr id="29" name="TextBox 29">
            <a:extLst xmlns:a="http://schemas.openxmlformats.org/drawingml/2006/main">
              <a:ext uri="{FF2B5EF4-FFF2-40B4-BE49-F238E27FC236}">
                <a16:creationId xmlns:a16="http://schemas.microsoft.com/office/drawing/2014/main" id="{C804A3AA-DA33-4664-8204-01AE2409AD81}"/>
              </a:ext>
            </a:extLst>
          </p:cNvPr>
          <p:cNvSpPr>
            <a:spLocks xmlns:a="http://schemas.openxmlformats.org/drawingml/2006/main" noGrp="1"/>
          </p:cNvSpPr>
          <p:nvPr/>
        </p:nvSpPr>
        <p:spPr>
          <a:xfrm xmlns:a="http://schemas.openxmlformats.org/drawingml/2006/main" rot="0">
            <a:off x="5202555" y="1902142"/>
            <a:ext cx="85654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SELECT</a:t>
            </a:r>
          </a:p>
        </p:txBody>
      </p:sp>
      <p:sp>
        <p:nvSpPr>
          <p:cNvPr id="30" name="TextBox 30">
            <a:extLst xmlns:a="http://schemas.openxmlformats.org/drawingml/2006/main">
              <a:ext uri="{FF2B5EF4-FFF2-40B4-BE49-F238E27FC236}">
                <a16:creationId xmlns:a16="http://schemas.microsoft.com/office/drawing/2014/main" id="{E240A474-33E7-4B16-90CE-8645C636DE83}"/>
              </a:ext>
            </a:extLst>
          </p:cNvPr>
          <p:cNvSpPr>
            <a:spLocks xmlns:a="http://schemas.openxmlformats.org/drawingml/2006/main" noGrp="1"/>
          </p:cNvSpPr>
          <p:nvPr/>
        </p:nvSpPr>
        <p:spPr>
          <a:xfrm xmlns:a="http://schemas.openxmlformats.org/drawingml/2006/main" rot="0">
            <a:off x="5207318" y="2190274"/>
            <a:ext cx="17864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Action priority with</a:t>
            </a:r>
          </a:p>
        </p:txBody>
      </p:sp>
      <p:sp>
        <p:nvSpPr>
          <p:cNvPr id="31" name="TextBox 31">
            <a:extLst xmlns:a="http://schemas.openxmlformats.org/drawingml/2006/main">
              <a:ext uri="{FF2B5EF4-FFF2-40B4-BE49-F238E27FC236}">
                <a16:creationId xmlns:a16="http://schemas.microsoft.com/office/drawing/2014/main" id="{2F1BF013-927A-4E42-A04C-C769658B935A}"/>
              </a:ext>
            </a:extLst>
          </p:cNvPr>
          <p:cNvSpPr>
            <a:spLocks xmlns:a="http://schemas.openxmlformats.org/drawingml/2006/main" noGrp="1"/>
          </p:cNvSpPr>
          <p:nvPr/>
        </p:nvSpPr>
        <p:spPr>
          <a:xfrm xmlns:a="http://schemas.openxmlformats.org/drawingml/2006/main" rot="0">
            <a:off x="5207318" y="2371249"/>
            <a:ext cx="1799487"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distance and safety rules</a:t>
            </a:r>
          </a:p>
        </p:txBody>
      </p:sp>
      <p:sp>
        <p:nvSpPr>
          <p:cNvPr id="33" name="Line 33">
            <a:extLst xmlns:a="http://schemas.openxmlformats.org/drawingml/2006/main">
              <a:ext uri="{FF2B5EF4-FFF2-40B4-BE49-F238E27FC236}">
                <a16:creationId xmlns:a16="http://schemas.microsoft.com/office/drawing/2014/main" id="{07FC134B-7FDB-4BA1-B097-F6D9FD60FD8D}"/>
              </a:ext>
            </a:extLst>
          </p:cNvPr>
          <p:cNvSpPr>
            <a:spLocks xmlns:a="http://schemas.openxmlformats.org/drawingml/2006/main" noGrp="1"/>
          </p:cNvSpPr>
          <p:nvPr/>
        </p:nvSpPr>
        <p:spPr>
          <a:xfrm xmlns:a="http://schemas.openxmlformats.org/drawingml/2006/main" rot="0">
            <a:off x="699135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34" name="Rectangle 34">
            <a:extLst xmlns:a="http://schemas.openxmlformats.org/drawingml/2006/main">
              <a:ext uri="{FF2B5EF4-FFF2-40B4-BE49-F238E27FC236}">
                <a16:creationId xmlns:a16="http://schemas.microsoft.com/office/drawing/2014/main" id="{A924C855-F022-4B4D-9ACF-1D69DC8F49B8}"/>
              </a:ext>
            </a:extLst>
          </p:cNvPr>
          <p:cNvSpPr>
            <a:spLocks xmlns:a="http://schemas.openxmlformats.org/drawingml/2006/main" noGrp="1"/>
          </p:cNvSpPr>
          <p:nvPr/>
        </p:nvSpPr>
        <p:spPr>
          <a:xfrm xmlns:a="http://schemas.openxmlformats.org/drawingml/2006/main" rot="0">
            <a:off x="7258050" y="1181100"/>
            <a:ext cx="2000250" cy="1485900"/>
          </a:xfrm>
          <a:prstGeom xmlns:a="http://schemas.openxmlformats.org/drawingml/2006/main" prst="roundRect">
            <a:avLst>
              <a:gd name="adj" fmla="val 7692"/>
            </a:avLst>
          </a:prstGeom>
          <a:solidFill xmlns:a="http://schemas.openxmlformats.org/drawingml/2006/main">
            <a:srgbClr val="2AB7A9"/>
          </a:solidFill>
          <a:ln xmlns:a="http://schemas.openxmlformats.org/drawingml/2006/main">
            <a:noFill/>
          </a:ln>
        </p:spPr>
      </p:sp>
      <p:sp>
        <p:nvSpPr>
          <p:cNvPr id="35" name="Freeform 35">
            <a:extLst xmlns:a="http://schemas.openxmlformats.org/drawingml/2006/main">
              <a:ext uri="{FF2B5EF4-FFF2-40B4-BE49-F238E27FC236}">
                <a16:creationId xmlns:a16="http://schemas.microsoft.com/office/drawing/2014/main" id="{2F38C87E-D63D-4B0F-B2F0-158D116CCD36}"/>
              </a:ext>
            </a:extLst>
          </p:cNvPr>
          <p:cNvSpPr>
            <a:spLocks xmlns:a="http://schemas.openxmlformats.org/drawingml/2006/main" noGrp="1"/>
          </p:cNvSpPr>
          <p:nvPr/>
        </p:nvSpPr>
        <p:spPr>
          <a:xfrm xmlns:a="http://schemas.openxmlformats.org/drawingml/2006/main" rot="0">
            <a:off x="7599759" y="1488877"/>
            <a:ext cx="158353" cy="203597"/>
          </a:xfrm>
          <a:custGeom xmlns:a="http://schemas.openxmlformats.org/drawingml/2006/main">
            <a:rect l="l" t="t" r="r" b="b"/>
            <a:pathLst>
              <a:path w="158353" h="203597">
                <a:moveTo>
                  <a:pt x="67866" y="33933"/>
                </a:moveTo>
                <a:cubicBezTo>
                  <a:pt x="67866" y="52673"/>
                  <a:pt x="52673" y="67866"/>
                  <a:pt x="33933" y="67866"/>
                </a:cubicBezTo>
                <a:cubicBezTo>
                  <a:pt x="15192" y="67866"/>
                  <a:pt x="0" y="52673"/>
                  <a:pt x="0" y="33933"/>
                </a:cubicBezTo>
                <a:cubicBezTo>
                  <a:pt x="0" y="15192"/>
                  <a:pt x="15192" y="0"/>
                  <a:pt x="33933" y="0"/>
                </a:cubicBezTo>
                <a:cubicBezTo>
                  <a:pt x="52673" y="0"/>
                  <a:pt x="67866" y="15192"/>
                  <a:pt x="67866" y="33933"/>
                </a:cubicBezTo>
                <a:close/>
                <a:moveTo>
                  <a:pt x="124420" y="135731"/>
                </a:moveTo>
                <a:cubicBezTo>
                  <a:pt x="105680" y="135731"/>
                  <a:pt x="90488" y="150923"/>
                  <a:pt x="90488" y="169664"/>
                </a:cubicBezTo>
                <a:cubicBezTo>
                  <a:pt x="90488" y="188405"/>
                  <a:pt x="105680" y="203597"/>
                  <a:pt x="124420" y="203597"/>
                </a:cubicBezTo>
                <a:cubicBezTo>
                  <a:pt x="143161" y="203597"/>
                  <a:pt x="158353" y="188405"/>
                  <a:pt x="158353" y="169664"/>
                </a:cubicBezTo>
                <a:cubicBezTo>
                  <a:pt x="158353" y="150923"/>
                  <a:pt x="143161" y="135731"/>
                  <a:pt x="124420" y="135731"/>
                </a:cubicBezTo>
                <a:close/>
              </a:path>
            </a:pathLst>
          </a:custGeom>
          <a:solidFill xmlns:a="http://schemas.openxmlformats.org/drawingml/2006/main">
            <a:srgbClr val="F7F9FC">
              <a:alpha val="20000"/>
            </a:srgbClr>
          </a:solidFill>
          <a:ln xmlns:a="http://schemas.openxmlformats.org/drawingml/2006/main">
            <a:noFill/>
          </a:ln>
        </p:spPr>
      </p:sp>
      <p:sp>
        <p:nvSpPr>
          <p:cNvPr id="36" name="Freeform 36">
            <a:extLst xmlns:a="http://schemas.openxmlformats.org/drawingml/2006/main">
              <a:ext uri="{FF2B5EF4-FFF2-40B4-BE49-F238E27FC236}">
                <a16:creationId xmlns:a16="http://schemas.microsoft.com/office/drawing/2014/main" id="{04CE6FE1-AC8B-4BB7-A457-79DB5AE32A81}"/>
              </a:ext>
            </a:extLst>
          </p:cNvPr>
          <p:cNvSpPr>
            <a:spLocks xmlns:a="http://schemas.openxmlformats.org/drawingml/2006/main" noGrp="1"/>
          </p:cNvSpPr>
          <p:nvPr/>
        </p:nvSpPr>
        <p:spPr>
          <a:xfrm xmlns:a="http://schemas.openxmlformats.org/drawingml/2006/main" rot="0">
            <a:off x="7531894" y="1477477"/>
            <a:ext cx="271462" cy="226396"/>
          </a:xfrm>
          <a:custGeom xmlns:a="http://schemas.openxmlformats.org/drawingml/2006/main">
            <a:rect l="l" t="t" r="r" b="b"/>
            <a:pathLst>
              <a:path w="271462" h="226396">
                <a:moveTo>
                  <a:pt x="11311" y="56643"/>
                </a:moveTo>
                <a:lnTo>
                  <a:pt x="57969" y="56643"/>
                </a:lnTo>
                <a:cubicBezTo>
                  <a:pt x="63094" y="76663"/>
                  <a:pt x="81133" y="90665"/>
                  <a:pt x="101798" y="90665"/>
                </a:cubicBezTo>
                <a:cubicBezTo>
                  <a:pt x="122464" y="90665"/>
                  <a:pt x="140503" y="76663"/>
                  <a:pt x="145628" y="56643"/>
                </a:cubicBezTo>
                <a:lnTo>
                  <a:pt x="260152" y="56643"/>
                </a:lnTo>
                <a:cubicBezTo>
                  <a:pt x="266398" y="56643"/>
                  <a:pt x="271462" y="51579"/>
                  <a:pt x="271462" y="45332"/>
                </a:cubicBezTo>
                <a:cubicBezTo>
                  <a:pt x="271462" y="39086"/>
                  <a:pt x="266398" y="34022"/>
                  <a:pt x="260152" y="34022"/>
                </a:cubicBezTo>
                <a:lnTo>
                  <a:pt x="145628" y="34022"/>
                </a:lnTo>
                <a:cubicBezTo>
                  <a:pt x="140503" y="14002"/>
                  <a:pt x="122464" y="0"/>
                  <a:pt x="101798" y="0"/>
                </a:cubicBezTo>
                <a:cubicBezTo>
                  <a:pt x="81133" y="0"/>
                  <a:pt x="63094" y="14002"/>
                  <a:pt x="57969" y="34022"/>
                </a:cubicBezTo>
                <a:lnTo>
                  <a:pt x="11311" y="34022"/>
                </a:lnTo>
                <a:cubicBezTo>
                  <a:pt x="5064" y="34022"/>
                  <a:pt x="0" y="39086"/>
                  <a:pt x="0" y="45332"/>
                </a:cubicBezTo>
                <a:cubicBezTo>
                  <a:pt x="0" y="51579"/>
                  <a:pt x="5064" y="56643"/>
                  <a:pt x="11311" y="56643"/>
                </a:cubicBezTo>
                <a:close/>
                <a:moveTo>
                  <a:pt x="101798" y="22711"/>
                </a:moveTo>
                <a:cubicBezTo>
                  <a:pt x="114292" y="22711"/>
                  <a:pt x="124420" y="32839"/>
                  <a:pt x="124420" y="45332"/>
                </a:cubicBezTo>
                <a:cubicBezTo>
                  <a:pt x="124420" y="57826"/>
                  <a:pt x="114292" y="67954"/>
                  <a:pt x="101798" y="67954"/>
                </a:cubicBezTo>
                <a:cubicBezTo>
                  <a:pt x="89305" y="67954"/>
                  <a:pt x="79177" y="57826"/>
                  <a:pt x="79177" y="45332"/>
                </a:cubicBezTo>
                <a:cubicBezTo>
                  <a:pt x="79177" y="32839"/>
                  <a:pt x="89305" y="22711"/>
                  <a:pt x="101798" y="22711"/>
                </a:cubicBezTo>
                <a:close/>
                <a:moveTo>
                  <a:pt x="260152" y="169753"/>
                </a:moveTo>
                <a:lnTo>
                  <a:pt x="236116" y="169753"/>
                </a:lnTo>
                <a:cubicBezTo>
                  <a:pt x="230990" y="149733"/>
                  <a:pt x="212951" y="135731"/>
                  <a:pt x="192286" y="135731"/>
                </a:cubicBezTo>
                <a:cubicBezTo>
                  <a:pt x="171621" y="135731"/>
                  <a:pt x="153582" y="149733"/>
                  <a:pt x="148456" y="169753"/>
                </a:cubicBezTo>
                <a:lnTo>
                  <a:pt x="11311" y="169753"/>
                </a:lnTo>
                <a:cubicBezTo>
                  <a:pt x="5064" y="169753"/>
                  <a:pt x="0" y="174817"/>
                  <a:pt x="0" y="181064"/>
                </a:cubicBezTo>
                <a:cubicBezTo>
                  <a:pt x="0" y="187311"/>
                  <a:pt x="5064" y="192375"/>
                  <a:pt x="11311" y="192375"/>
                </a:cubicBezTo>
                <a:lnTo>
                  <a:pt x="148456" y="192375"/>
                </a:lnTo>
                <a:cubicBezTo>
                  <a:pt x="153582" y="212394"/>
                  <a:pt x="171621" y="226396"/>
                  <a:pt x="192286" y="226396"/>
                </a:cubicBezTo>
                <a:cubicBezTo>
                  <a:pt x="212951" y="226396"/>
                  <a:pt x="230990" y="212394"/>
                  <a:pt x="236116" y="192375"/>
                </a:cubicBezTo>
                <a:lnTo>
                  <a:pt x="260152" y="192375"/>
                </a:lnTo>
                <a:cubicBezTo>
                  <a:pt x="266398" y="192375"/>
                  <a:pt x="271462" y="187311"/>
                  <a:pt x="271462" y="181064"/>
                </a:cubicBezTo>
                <a:cubicBezTo>
                  <a:pt x="271462" y="174817"/>
                  <a:pt x="266398" y="169753"/>
                  <a:pt x="260152" y="169753"/>
                </a:cubicBezTo>
                <a:close/>
                <a:moveTo>
                  <a:pt x="192286" y="203686"/>
                </a:moveTo>
                <a:cubicBezTo>
                  <a:pt x="179792" y="203686"/>
                  <a:pt x="169664" y="193557"/>
                  <a:pt x="169664" y="181064"/>
                </a:cubicBezTo>
                <a:cubicBezTo>
                  <a:pt x="169664" y="168570"/>
                  <a:pt x="179792" y="158442"/>
                  <a:pt x="192286" y="158442"/>
                </a:cubicBezTo>
                <a:cubicBezTo>
                  <a:pt x="204780" y="158442"/>
                  <a:pt x="214908" y="168570"/>
                  <a:pt x="214908" y="181064"/>
                </a:cubicBezTo>
                <a:cubicBezTo>
                  <a:pt x="214908" y="193557"/>
                  <a:pt x="204780" y="203686"/>
                  <a:pt x="192286" y="203686"/>
                </a:cubicBezTo>
                <a:close/>
              </a:path>
            </a:pathLst>
          </a:custGeom>
          <a:solidFill xmlns:a="http://schemas.openxmlformats.org/drawingml/2006/main">
            <a:srgbClr val="F7F9FC"/>
          </a:solidFill>
          <a:ln xmlns:a="http://schemas.openxmlformats.org/drawingml/2006/main">
            <a:noFill/>
          </a:ln>
        </p:spPr>
      </p:sp>
      <p:sp>
        <p:nvSpPr>
          <p:cNvPr id="38" name="TextBox 38">
            <a:extLst xmlns:a="http://schemas.openxmlformats.org/drawingml/2006/main">
              <a:ext uri="{FF2B5EF4-FFF2-40B4-BE49-F238E27FC236}">
                <a16:creationId xmlns:a16="http://schemas.microsoft.com/office/drawing/2014/main" id="{E58CA6A3-F849-46BA-AF4F-F2660D9372F4}"/>
              </a:ext>
            </a:extLst>
          </p:cNvPr>
          <p:cNvSpPr>
            <a:spLocks xmlns:a="http://schemas.openxmlformats.org/drawingml/2006/main" noGrp="1"/>
          </p:cNvSpPr>
          <p:nvPr/>
        </p:nvSpPr>
        <p:spPr>
          <a:xfrm xmlns:a="http://schemas.openxmlformats.org/drawingml/2006/main" rot="0">
            <a:off x="7469505" y="1902142"/>
            <a:ext cx="142361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ACT</a:t>
            </a:r>
          </a:p>
        </p:txBody>
      </p:sp>
      <p:sp>
        <p:nvSpPr>
          <p:cNvPr id="39" name="TextBox 39">
            <a:extLst xmlns:a="http://schemas.openxmlformats.org/drawingml/2006/main">
              <a:ext uri="{FF2B5EF4-FFF2-40B4-BE49-F238E27FC236}">
                <a16:creationId xmlns:a16="http://schemas.microsoft.com/office/drawing/2014/main" id="{B9D5BD38-2591-47B6-ACF1-7682452177BA}"/>
              </a:ext>
            </a:extLst>
          </p:cNvPr>
          <p:cNvSpPr>
            <a:spLocks xmlns:a="http://schemas.openxmlformats.org/drawingml/2006/main" noGrp="1"/>
          </p:cNvSpPr>
          <p:nvPr/>
        </p:nvSpPr>
        <p:spPr>
          <a:xfrm xmlns:a="http://schemas.openxmlformats.org/drawingml/2006/main" rot="0">
            <a:off x="7474268" y="2190274"/>
            <a:ext cx="1526453"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Move, turn, servo, display</a:t>
            </a:r>
          </a:p>
        </p:txBody>
      </p:sp>
      <p:sp>
        <p:nvSpPr>
          <p:cNvPr id="40" name="TextBox 40">
            <a:extLst xmlns:a="http://schemas.openxmlformats.org/drawingml/2006/main">
              <a:ext uri="{FF2B5EF4-FFF2-40B4-BE49-F238E27FC236}">
                <a16:creationId xmlns:a16="http://schemas.microsoft.com/office/drawing/2014/main" id="{5616ACF0-AD3B-431C-B149-C778E4252EF8}"/>
              </a:ext>
            </a:extLst>
          </p:cNvPr>
          <p:cNvSpPr>
            <a:spLocks xmlns:a="http://schemas.openxmlformats.org/drawingml/2006/main" noGrp="1"/>
          </p:cNvSpPr>
          <p:nvPr/>
        </p:nvSpPr>
        <p:spPr>
          <a:xfrm xmlns:a="http://schemas.openxmlformats.org/drawingml/2006/main" rot="0">
            <a:off x="7474268" y="2371249"/>
            <a:ext cx="1734479"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and sound through the laptop</a:t>
            </a:r>
          </a:p>
        </p:txBody>
      </p:sp>
      <p:sp>
        <p:nvSpPr>
          <p:cNvPr id="42" name="Line 42">
            <a:extLst xmlns:a="http://schemas.openxmlformats.org/drawingml/2006/main">
              <a:ext uri="{FF2B5EF4-FFF2-40B4-BE49-F238E27FC236}">
                <a16:creationId xmlns:a16="http://schemas.microsoft.com/office/drawing/2014/main" id="{F0DEA251-7821-4D1F-B974-1D10F93089E8}"/>
              </a:ext>
            </a:extLst>
          </p:cNvPr>
          <p:cNvSpPr>
            <a:spLocks xmlns:a="http://schemas.openxmlformats.org/drawingml/2006/main" noGrp="1"/>
          </p:cNvSpPr>
          <p:nvPr/>
        </p:nvSpPr>
        <p:spPr>
          <a:xfrm xmlns:a="http://schemas.openxmlformats.org/drawingml/2006/main" rot="0">
            <a:off x="9258300" y="1924050"/>
            <a:ext cx="190500" cy="1"/>
          </a:xfrm>
          <a:prstGeom xmlns:a="http://schemas.openxmlformats.org/drawingml/2006/main" prst="line">
            <a:avLst/>
          </a:prstGeom>
          <a:noFill xmlns:a="http://schemas.openxmlformats.org/drawingml/2006/main"/>
          <a:ln xmlns:a="http://schemas.openxmlformats.org/drawingml/2006/main" w="23812">
            <a:solidFill>
              <a:srgbClr val="123B5D"/>
            </a:solidFill>
            <a:tailEnd type="triangle" w="lg" len="lg"/>
          </a:ln>
        </p:spPr>
      </p:sp>
      <p:sp>
        <p:nvSpPr>
          <p:cNvPr id="43" name="Rectangle 43">
            <a:extLst xmlns:a="http://schemas.openxmlformats.org/drawingml/2006/main">
              <a:ext uri="{FF2B5EF4-FFF2-40B4-BE49-F238E27FC236}">
                <a16:creationId xmlns:a16="http://schemas.microsoft.com/office/drawing/2014/main" id="{DFDC7F9C-DDD7-4F82-93BE-D1747D2E4FE8}"/>
              </a:ext>
            </a:extLst>
          </p:cNvPr>
          <p:cNvSpPr>
            <a:spLocks xmlns:a="http://schemas.openxmlformats.org/drawingml/2006/main" noGrp="1"/>
          </p:cNvSpPr>
          <p:nvPr/>
        </p:nvSpPr>
        <p:spPr>
          <a:xfrm xmlns:a="http://schemas.openxmlformats.org/drawingml/2006/main" rot="0">
            <a:off x="9525000" y="1181100"/>
            <a:ext cx="2209800" cy="1485900"/>
          </a:xfrm>
          <a:prstGeom xmlns:a="http://schemas.openxmlformats.org/drawingml/2006/main" prst="roundRect">
            <a:avLst>
              <a:gd name="adj" fmla="val 7692"/>
            </a:avLst>
          </a:prstGeom>
          <a:solidFill xmlns:a="http://schemas.openxmlformats.org/drawingml/2006/main">
            <a:srgbClr val="2F80ED"/>
          </a:solidFill>
          <a:ln xmlns:a="http://schemas.openxmlformats.org/drawingml/2006/main">
            <a:noFill/>
          </a:ln>
        </p:spPr>
      </p:sp>
      <p:sp>
        <p:nvSpPr>
          <p:cNvPr id="44" name="Freeform 44">
            <a:extLst xmlns:a="http://schemas.openxmlformats.org/drawingml/2006/main">
              <a:ext uri="{FF2B5EF4-FFF2-40B4-BE49-F238E27FC236}">
                <a16:creationId xmlns:a16="http://schemas.microsoft.com/office/drawing/2014/main" id="{6C847E84-97B9-4E5E-A674-7F9E1A69CF95}"/>
              </a:ext>
            </a:extLst>
          </p:cNvPr>
          <p:cNvSpPr>
            <a:spLocks xmlns:a="http://schemas.openxmlformats.org/drawingml/2006/main" noGrp="1"/>
          </p:cNvSpPr>
          <p:nvPr/>
        </p:nvSpPr>
        <p:spPr>
          <a:xfrm xmlns:a="http://schemas.openxmlformats.org/drawingml/2006/main" rot="0">
            <a:off x="9798031" y="1477566"/>
            <a:ext cx="273089" cy="249450"/>
          </a:xfrm>
          <a:custGeom xmlns:a="http://schemas.openxmlformats.org/drawingml/2006/main">
            <a:rect l="l" t="t" r="r" b="b"/>
            <a:pathLst>
              <a:path w="273089" h="249450">
                <a:moveTo>
                  <a:pt x="269307" y="18918"/>
                </a:moveTo>
                <a:lnTo>
                  <a:pt x="173531" y="121154"/>
                </a:lnTo>
                <a:cubicBezTo>
                  <a:pt x="171568" y="123251"/>
                  <a:pt x="170476" y="126016"/>
                  <a:pt x="170477" y="128888"/>
                </a:cubicBezTo>
                <a:lnTo>
                  <a:pt x="170477" y="207344"/>
                </a:lnTo>
                <a:cubicBezTo>
                  <a:pt x="170480" y="211127"/>
                  <a:pt x="168591" y="214660"/>
                  <a:pt x="165444" y="216760"/>
                </a:cubicBezTo>
                <a:lnTo>
                  <a:pt x="120200" y="246918"/>
                </a:lnTo>
                <a:cubicBezTo>
                  <a:pt x="116733" y="249231"/>
                  <a:pt x="112274" y="249450"/>
                  <a:pt x="108596" y="247487"/>
                </a:cubicBezTo>
                <a:cubicBezTo>
                  <a:pt x="104919" y="245524"/>
                  <a:pt x="102619" y="241698"/>
                  <a:pt x="102612" y="237530"/>
                </a:cubicBezTo>
                <a:lnTo>
                  <a:pt x="102612" y="128888"/>
                </a:lnTo>
                <a:cubicBezTo>
                  <a:pt x="102612" y="126016"/>
                  <a:pt x="101521" y="123251"/>
                  <a:pt x="99558" y="121154"/>
                </a:cubicBezTo>
                <a:lnTo>
                  <a:pt x="3782" y="18918"/>
                </a:lnTo>
                <a:cubicBezTo>
                  <a:pt x="775" y="15608"/>
                  <a:pt x="0" y="10838"/>
                  <a:pt x="1804" y="6747"/>
                </a:cubicBezTo>
                <a:cubicBezTo>
                  <a:pt x="3608" y="2656"/>
                  <a:pt x="7653" y="12"/>
                  <a:pt x="12124" y="0"/>
                </a:cubicBezTo>
                <a:lnTo>
                  <a:pt x="260965" y="0"/>
                </a:lnTo>
                <a:cubicBezTo>
                  <a:pt x="265436" y="12"/>
                  <a:pt x="269481" y="2656"/>
                  <a:pt x="271285" y="6747"/>
                </a:cubicBezTo>
                <a:cubicBezTo>
                  <a:pt x="273089" y="10838"/>
                  <a:pt x="272314" y="15608"/>
                  <a:pt x="269307" y="18918"/>
                </a:cubicBezTo>
                <a:close/>
              </a:path>
            </a:pathLst>
          </a:custGeom>
          <a:solidFill xmlns:a="http://schemas.openxmlformats.org/drawingml/2006/main">
            <a:srgbClr val="F7F9FC">
              <a:alpha val="20000"/>
            </a:srgbClr>
          </a:solidFill>
          <a:ln xmlns:a="http://schemas.openxmlformats.org/drawingml/2006/main">
            <a:noFill/>
          </a:ln>
        </p:spPr>
      </p:sp>
      <p:sp>
        <p:nvSpPr>
          <p:cNvPr id="45" name="Freeform 45">
            <a:extLst xmlns:a="http://schemas.openxmlformats.org/drawingml/2006/main">
              <a:ext uri="{FF2B5EF4-FFF2-40B4-BE49-F238E27FC236}">
                <a16:creationId xmlns:a16="http://schemas.microsoft.com/office/drawing/2014/main" id="{EC01A2E8-AC23-4E95-B73F-59DD3227C5B2}"/>
              </a:ext>
            </a:extLst>
          </p:cNvPr>
          <p:cNvSpPr>
            <a:spLocks xmlns:a="http://schemas.openxmlformats.org/drawingml/2006/main" noGrp="1"/>
          </p:cNvSpPr>
          <p:nvPr/>
        </p:nvSpPr>
        <p:spPr>
          <a:xfrm xmlns:a="http://schemas.openxmlformats.org/drawingml/2006/main" rot="0">
            <a:off x="9785892" y="1466203"/>
            <a:ext cx="297447" cy="272778"/>
          </a:xfrm>
          <a:custGeom xmlns:a="http://schemas.openxmlformats.org/drawingml/2006/main">
            <a:rect l="l" t="t" r="r" b="b"/>
            <a:pathLst>
              <a:path w="297447" h="272778">
                <a:moveTo>
                  <a:pt x="293746" y="13526"/>
                </a:moveTo>
                <a:cubicBezTo>
                  <a:pt x="290187" y="5303"/>
                  <a:pt x="282063" y="0"/>
                  <a:pt x="273104" y="51"/>
                </a:cubicBezTo>
                <a:lnTo>
                  <a:pt x="24263" y="51"/>
                </a:lnTo>
                <a:cubicBezTo>
                  <a:pt x="15318" y="69"/>
                  <a:pt x="7223" y="5356"/>
                  <a:pt x="3612" y="13539"/>
                </a:cubicBezTo>
                <a:cubicBezTo>
                  <a:pt x="0" y="21723"/>
                  <a:pt x="1550" y="31266"/>
                  <a:pt x="7565" y="37886"/>
                </a:cubicBezTo>
                <a:lnTo>
                  <a:pt x="7678" y="38014"/>
                </a:lnTo>
                <a:lnTo>
                  <a:pt x="103440" y="140265"/>
                </a:lnTo>
                <a:lnTo>
                  <a:pt x="103440" y="248892"/>
                </a:lnTo>
                <a:cubicBezTo>
                  <a:pt x="103438" y="257234"/>
                  <a:pt x="108027" y="264900"/>
                  <a:pt x="115381" y="268839"/>
                </a:cubicBezTo>
                <a:cubicBezTo>
                  <a:pt x="122735" y="272778"/>
                  <a:pt x="131660" y="272349"/>
                  <a:pt x="138603" y="267725"/>
                </a:cubicBezTo>
                <a:lnTo>
                  <a:pt x="183846" y="237553"/>
                </a:lnTo>
                <a:cubicBezTo>
                  <a:pt x="190145" y="233357"/>
                  <a:pt x="193929" y="226289"/>
                  <a:pt x="193927" y="218720"/>
                </a:cubicBezTo>
                <a:lnTo>
                  <a:pt x="193927" y="140265"/>
                </a:lnTo>
                <a:lnTo>
                  <a:pt x="289702" y="38014"/>
                </a:lnTo>
                <a:lnTo>
                  <a:pt x="289816" y="37886"/>
                </a:lnTo>
                <a:cubicBezTo>
                  <a:pt x="295899" y="31292"/>
                  <a:pt x="297447" y="21698"/>
                  <a:pt x="293746" y="13526"/>
                </a:cubicBezTo>
                <a:close/>
                <a:moveTo>
                  <a:pt x="24263" y="22673"/>
                </a:moveTo>
                <a:lnTo>
                  <a:pt x="24263" y="22673"/>
                </a:lnTo>
                <a:close/>
                <a:moveTo>
                  <a:pt x="177441" y="124868"/>
                </a:moveTo>
                <a:cubicBezTo>
                  <a:pt x="173512" y="129033"/>
                  <a:pt x="171318" y="134539"/>
                  <a:pt x="171305" y="140265"/>
                </a:cubicBezTo>
                <a:lnTo>
                  <a:pt x="171305" y="218720"/>
                </a:lnTo>
                <a:lnTo>
                  <a:pt x="126062" y="248892"/>
                </a:lnTo>
                <a:lnTo>
                  <a:pt x="126062" y="140265"/>
                </a:lnTo>
                <a:cubicBezTo>
                  <a:pt x="126075" y="134518"/>
                  <a:pt x="123889" y="128984"/>
                  <a:pt x="119954" y="124797"/>
                </a:cubicBezTo>
                <a:lnTo>
                  <a:pt x="24263" y="22673"/>
                </a:lnTo>
                <a:lnTo>
                  <a:pt x="273104" y="22673"/>
                </a:lnTo>
                <a:close/>
              </a:path>
            </a:pathLst>
          </a:custGeom>
          <a:solidFill xmlns:a="http://schemas.openxmlformats.org/drawingml/2006/main">
            <a:srgbClr val="F7F9FC"/>
          </a:solidFill>
          <a:ln xmlns:a="http://schemas.openxmlformats.org/drawingml/2006/main">
            <a:noFill/>
          </a:ln>
        </p:spPr>
      </p:sp>
      <p:sp>
        <p:nvSpPr>
          <p:cNvPr id="47" name="TextBox 47">
            <a:extLst xmlns:a="http://schemas.openxmlformats.org/drawingml/2006/main">
              <a:ext uri="{FF2B5EF4-FFF2-40B4-BE49-F238E27FC236}">
                <a16:creationId xmlns:a16="http://schemas.microsoft.com/office/drawing/2014/main" id="{DAE788A4-F3F8-4D29-9374-B6E28971BA55}"/>
              </a:ext>
            </a:extLst>
          </p:cNvPr>
          <p:cNvSpPr>
            <a:spLocks xmlns:a="http://schemas.openxmlformats.org/drawingml/2006/main" noGrp="1"/>
          </p:cNvSpPr>
          <p:nvPr/>
        </p:nvSpPr>
        <p:spPr>
          <a:xfrm xmlns:a="http://schemas.openxmlformats.org/drawingml/2006/main" rot="0">
            <a:off x="9736455" y="1902142"/>
            <a:ext cx="102666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F7F9FC"/>
                </a:solidFill>
                <a:latin typeface="Arial"/>
                <a:ea typeface="Arial"/>
                <a:cs typeface="Arial"/>
              </a:rPr>
              <a:t>COOLDOWN</a:t>
            </a:r>
          </a:p>
        </p:txBody>
      </p:sp>
      <p:sp>
        <p:nvSpPr>
          <p:cNvPr id="48" name="TextBox 48">
            <a:extLst xmlns:a="http://schemas.openxmlformats.org/drawingml/2006/main">
              <a:ext uri="{FF2B5EF4-FFF2-40B4-BE49-F238E27FC236}">
                <a16:creationId xmlns:a16="http://schemas.microsoft.com/office/drawing/2014/main" id="{52E06966-5F88-40AB-A0E1-05D148E0C511}"/>
              </a:ext>
            </a:extLst>
          </p:cNvPr>
          <p:cNvSpPr>
            <a:spLocks xmlns:a="http://schemas.openxmlformats.org/drawingml/2006/main" noGrp="1"/>
          </p:cNvSpPr>
          <p:nvPr/>
        </p:nvSpPr>
        <p:spPr>
          <a:xfrm xmlns:a="http://schemas.openxmlformats.org/drawingml/2006/main" rot="0">
            <a:off x="9741218" y="2190274"/>
            <a:ext cx="166297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Resume monitoring after</a:t>
            </a:r>
          </a:p>
        </p:txBody>
      </p:sp>
      <p:sp>
        <p:nvSpPr>
          <p:cNvPr id="49" name="TextBox 49">
            <a:extLst xmlns:a="http://schemas.openxmlformats.org/drawingml/2006/main">
              <a:ext uri="{FF2B5EF4-FFF2-40B4-BE49-F238E27FC236}">
                <a16:creationId xmlns:a16="http://schemas.microsoft.com/office/drawing/2014/main" id="{E2A57CD0-A573-4A8B-B113-BD82823F36A1}"/>
              </a:ext>
            </a:extLst>
          </p:cNvPr>
          <p:cNvSpPr>
            <a:spLocks xmlns:a="http://schemas.openxmlformats.org/drawingml/2006/main" noGrp="1"/>
          </p:cNvSpPr>
          <p:nvPr/>
        </p:nvSpPr>
        <p:spPr>
          <a:xfrm xmlns:a="http://schemas.openxmlformats.org/drawingml/2006/main" rot="0">
            <a:off x="9741218" y="2371249"/>
            <a:ext cx="127942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user response or timeout</a:t>
            </a:r>
          </a:p>
        </p:txBody>
      </p:sp>
      <p:sp>
        <p:nvSpPr>
          <p:cNvPr id="51" name="Rectangle 51">
            <a:extLst xmlns:a="http://schemas.openxmlformats.org/drawingml/2006/main">
              <a:ext uri="{FF2B5EF4-FFF2-40B4-BE49-F238E27FC236}">
                <a16:creationId xmlns:a16="http://schemas.microsoft.com/office/drawing/2014/main" id="{9C7AB0C5-B618-488F-BDC0-AC1DD790E3A2}"/>
              </a:ext>
            </a:extLst>
          </p:cNvPr>
          <p:cNvSpPr>
            <a:spLocks xmlns:a="http://schemas.openxmlformats.org/drawingml/2006/main" noGrp="1"/>
          </p:cNvSpPr>
          <p:nvPr/>
        </p:nvSpPr>
        <p:spPr>
          <a:xfrm xmlns:a="http://schemas.openxmlformats.org/drawingml/2006/main" rot="0">
            <a:off x="457200" y="3028950"/>
            <a:ext cx="3429000" cy="2095500"/>
          </a:xfrm>
          <a:prstGeom xmlns:a="http://schemas.openxmlformats.org/drawingml/2006/main" prst="roundRect">
            <a:avLst>
              <a:gd name="adj" fmla="val 5455"/>
            </a:avLst>
          </a:prstGeom>
          <a:solidFill xmlns:a="http://schemas.openxmlformats.org/drawingml/2006/main">
            <a:srgbClr val="EAF0F7"/>
          </a:solidFill>
          <a:ln xmlns:a="http://schemas.openxmlformats.org/drawingml/2006/main">
            <a:noFill/>
          </a:ln>
        </p:spPr>
      </p:sp>
      <p:sp>
        <p:nvSpPr>
          <p:cNvPr id="52" name="Freeform 52">
            <a:extLst xmlns:a="http://schemas.openxmlformats.org/drawingml/2006/main">
              <a:ext uri="{FF2B5EF4-FFF2-40B4-BE49-F238E27FC236}">
                <a16:creationId xmlns:a16="http://schemas.microsoft.com/office/drawing/2014/main" id="{E351DB96-7B6B-45FF-BA9B-D2AD4E472307}"/>
              </a:ext>
            </a:extLst>
          </p:cNvPr>
          <p:cNvSpPr>
            <a:spLocks xmlns:a="http://schemas.openxmlformats.org/drawingml/2006/main" noGrp="1"/>
          </p:cNvSpPr>
          <p:nvPr/>
        </p:nvSpPr>
        <p:spPr>
          <a:xfrm xmlns:a="http://schemas.openxmlformats.org/drawingml/2006/main" rot="0">
            <a:off x="746522" y="3378994"/>
            <a:ext cx="202406" cy="80962"/>
          </a:xfrm>
          <a:custGeom xmlns:a="http://schemas.openxmlformats.org/drawingml/2006/main">
            <a:rect l="l" t="t" r="r" b="b"/>
            <a:pathLst>
              <a:path w="202406" h="80962">
                <a:moveTo>
                  <a:pt x="202406" y="0"/>
                </a:moveTo>
                <a:lnTo>
                  <a:pt x="202406" y="80962"/>
                </a:lnTo>
                <a:lnTo>
                  <a:pt x="0" y="80962"/>
                </a:lnTo>
                <a:lnTo>
                  <a:pt x="0" y="0"/>
                </a:lnTo>
                <a:close/>
              </a:path>
            </a:pathLst>
          </a:custGeom>
          <a:solidFill xmlns:a="http://schemas.openxmlformats.org/drawingml/2006/main">
            <a:srgbClr val="2F80ED">
              <a:alpha val="20000"/>
            </a:srgbClr>
          </a:solidFill>
          <a:ln xmlns:a="http://schemas.openxmlformats.org/drawingml/2006/main">
            <a:noFill/>
          </a:ln>
        </p:spPr>
      </p:sp>
      <p:sp>
        <p:nvSpPr>
          <p:cNvPr id="53" name="Freeform 53">
            <a:extLst xmlns:a="http://schemas.openxmlformats.org/drawingml/2006/main">
              <a:ext uri="{FF2B5EF4-FFF2-40B4-BE49-F238E27FC236}">
                <a16:creationId xmlns:a16="http://schemas.microsoft.com/office/drawing/2014/main" id="{185141E1-01D3-45FB-8BE3-DBA6A117ED06}"/>
              </a:ext>
            </a:extLst>
          </p:cNvPr>
          <p:cNvSpPr>
            <a:spLocks xmlns:a="http://schemas.openxmlformats.org/drawingml/2006/main" noGrp="1"/>
          </p:cNvSpPr>
          <p:nvPr/>
        </p:nvSpPr>
        <p:spPr>
          <a:xfrm xmlns:a="http://schemas.openxmlformats.org/drawingml/2006/main" rot="0">
            <a:off x="736402" y="3287911"/>
            <a:ext cx="222647" cy="263128"/>
          </a:xfrm>
          <a:custGeom xmlns:a="http://schemas.openxmlformats.org/drawingml/2006/main">
            <a:rect l="l" t="t" r="r" b="b"/>
            <a:pathLst>
              <a:path w="222647" h="263128">
                <a:moveTo>
                  <a:pt x="20241" y="91083"/>
                </a:moveTo>
                <a:lnTo>
                  <a:pt x="20241" y="172045"/>
                </a:lnTo>
                <a:cubicBezTo>
                  <a:pt x="20241" y="177635"/>
                  <a:pt x="15710" y="182166"/>
                  <a:pt x="10120" y="182166"/>
                </a:cubicBezTo>
                <a:cubicBezTo>
                  <a:pt x="4531" y="182166"/>
                  <a:pt x="0" y="177635"/>
                  <a:pt x="0" y="172045"/>
                </a:cubicBezTo>
                <a:lnTo>
                  <a:pt x="0" y="91083"/>
                </a:lnTo>
                <a:cubicBezTo>
                  <a:pt x="0" y="85494"/>
                  <a:pt x="4531" y="80962"/>
                  <a:pt x="10120" y="80962"/>
                </a:cubicBezTo>
                <a:cubicBezTo>
                  <a:pt x="15710" y="80962"/>
                  <a:pt x="20241" y="85494"/>
                  <a:pt x="20241" y="91083"/>
                </a:cubicBezTo>
                <a:close/>
                <a:moveTo>
                  <a:pt x="60722" y="0"/>
                </a:moveTo>
                <a:cubicBezTo>
                  <a:pt x="55133" y="0"/>
                  <a:pt x="50602" y="4531"/>
                  <a:pt x="50602" y="10120"/>
                </a:cubicBezTo>
                <a:lnTo>
                  <a:pt x="50602" y="253008"/>
                </a:lnTo>
                <a:cubicBezTo>
                  <a:pt x="50602" y="258597"/>
                  <a:pt x="55133" y="263128"/>
                  <a:pt x="60722" y="263128"/>
                </a:cubicBezTo>
                <a:cubicBezTo>
                  <a:pt x="66311" y="263128"/>
                  <a:pt x="70842" y="258597"/>
                  <a:pt x="70842" y="253008"/>
                </a:cubicBezTo>
                <a:lnTo>
                  <a:pt x="70842" y="10120"/>
                </a:lnTo>
                <a:cubicBezTo>
                  <a:pt x="70842" y="4531"/>
                  <a:pt x="66311" y="0"/>
                  <a:pt x="60722" y="0"/>
                </a:cubicBezTo>
                <a:close/>
                <a:moveTo>
                  <a:pt x="111323" y="40481"/>
                </a:moveTo>
                <a:cubicBezTo>
                  <a:pt x="105734" y="40481"/>
                  <a:pt x="101203" y="45012"/>
                  <a:pt x="101203" y="50602"/>
                </a:cubicBezTo>
                <a:lnTo>
                  <a:pt x="101203" y="212527"/>
                </a:lnTo>
                <a:cubicBezTo>
                  <a:pt x="101203" y="218116"/>
                  <a:pt x="105734" y="222647"/>
                  <a:pt x="111323" y="222647"/>
                </a:cubicBezTo>
                <a:cubicBezTo>
                  <a:pt x="116913" y="222647"/>
                  <a:pt x="121444" y="218116"/>
                  <a:pt x="121444" y="212527"/>
                </a:cubicBezTo>
                <a:lnTo>
                  <a:pt x="121444" y="50602"/>
                </a:lnTo>
                <a:cubicBezTo>
                  <a:pt x="121444" y="45012"/>
                  <a:pt x="116913" y="40481"/>
                  <a:pt x="111323" y="40481"/>
                </a:cubicBezTo>
                <a:close/>
                <a:moveTo>
                  <a:pt x="161925" y="80962"/>
                </a:moveTo>
                <a:cubicBezTo>
                  <a:pt x="156336" y="80962"/>
                  <a:pt x="151805" y="85494"/>
                  <a:pt x="151805" y="91083"/>
                </a:cubicBezTo>
                <a:lnTo>
                  <a:pt x="151805" y="172045"/>
                </a:lnTo>
                <a:cubicBezTo>
                  <a:pt x="151805" y="177635"/>
                  <a:pt x="156336" y="182166"/>
                  <a:pt x="161925" y="182166"/>
                </a:cubicBezTo>
                <a:cubicBezTo>
                  <a:pt x="167514" y="182166"/>
                  <a:pt x="172045" y="177635"/>
                  <a:pt x="172045" y="172045"/>
                </a:cubicBezTo>
                <a:lnTo>
                  <a:pt x="172045" y="91083"/>
                </a:lnTo>
                <a:cubicBezTo>
                  <a:pt x="172045" y="85494"/>
                  <a:pt x="167514" y="80962"/>
                  <a:pt x="161925" y="80962"/>
                </a:cubicBezTo>
                <a:close/>
                <a:moveTo>
                  <a:pt x="212527" y="60722"/>
                </a:moveTo>
                <a:cubicBezTo>
                  <a:pt x="206937" y="60722"/>
                  <a:pt x="202406" y="65253"/>
                  <a:pt x="202406" y="70842"/>
                </a:cubicBezTo>
                <a:lnTo>
                  <a:pt x="202406" y="192286"/>
                </a:lnTo>
                <a:cubicBezTo>
                  <a:pt x="202406" y="197875"/>
                  <a:pt x="206937" y="202406"/>
                  <a:pt x="212527" y="202406"/>
                </a:cubicBezTo>
                <a:cubicBezTo>
                  <a:pt x="218116" y="202406"/>
                  <a:pt x="222647" y="197875"/>
                  <a:pt x="222647" y="192286"/>
                </a:cubicBezTo>
                <a:lnTo>
                  <a:pt x="222647" y="70842"/>
                </a:lnTo>
                <a:cubicBezTo>
                  <a:pt x="222647" y="65253"/>
                  <a:pt x="218116" y="60722"/>
                  <a:pt x="212527" y="60722"/>
                </a:cubicBezTo>
                <a:close/>
              </a:path>
            </a:pathLst>
          </a:custGeom>
          <a:solidFill xmlns:a="http://schemas.openxmlformats.org/drawingml/2006/main">
            <a:srgbClr val="2F80ED"/>
          </a:solidFill>
          <a:ln xmlns:a="http://schemas.openxmlformats.org/drawingml/2006/main">
            <a:noFill/>
          </a:ln>
        </p:spPr>
      </p:sp>
      <p:sp>
        <p:nvSpPr>
          <p:cNvPr id="55" name="TextBox 55">
            <a:extLst xmlns:a="http://schemas.openxmlformats.org/drawingml/2006/main">
              <a:ext uri="{FF2B5EF4-FFF2-40B4-BE49-F238E27FC236}">
                <a16:creationId xmlns:a16="http://schemas.microsoft.com/office/drawing/2014/main" id="{6D9C0035-10A5-46AA-B27F-D82EC2C38ED4}"/>
              </a:ext>
            </a:extLst>
          </p:cNvPr>
          <p:cNvSpPr>
            <a:spLocks xmlns:a="http://schemas.openxmlformats.org/drawingml/2006/main" noGrp="1"/>
          </p:cNvSpPr>
          <p:nvPr/>
        </p:nvSpPr>
        <p:spPr>
          <a:xfrm xmlns:a="http://schemas.openxmlformats.org/drawingml/2006/main" rot="0">
            <a:off x="1125855" y="3321368"/>
            <a:ext cx="1451967"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SITTING TOO LONG</a:t>
            </a:r>
          </a:p>
        </p:txBody>
      </p:sp>
      <p:sp>
        <p:nvSpPr>
          <p:cNvPr id="56" name="Line 56">
            <a:extLst xmlns:a="http://schemas.openxmlformats.org/drawingml/2006/main">
              <a:ext uri="{FF2B5EF4-FFF2-40B4-BE49-F238E27FC236}">
                <a16:creationId xmlns:a16="http://schemas.microsoft.com/office/drawing/2014/main" id="{9935BA55-86DB-4862-AA74-01A967DA35E1}"/>
              </a:ext>
            </a:extLst>
          </p:cNvPr>
          <p:cNvSpPr>
            <a:spLocks xmlns:a="http://schemas.openxmlformats.org/drawingml/2006/main" noGrp="1"/>
          </p:cNvSpPr>
          <p:nvPr/>
        </p:nvSpPr>
        <p:spPr>
          <a:xfrm xmlns:a="http://schemas.openxmlformats.org/drawingml/2006/main" rot="0">
            <a:off x="685800" y="3752850"/>
            <a:ext cx="2971800" cy="9525"/>
          </a:xfrm>
          <a:custGeom xmlns:a="http://schemas.openxmlformats.org/drawingml/2006/main">
            <a:rect l="l" t="t" r="r" b="b"/>
            <a:pathLst>
              <a:path w="2971800" h="9525">
                <a:moveTo>
                  <a:pt x="0" y="0"/>
                </a:moveTo>
                <a:lnTo>
                  <a:pt x="2971800" y="0"/>
                </a:lnTo>
              </a:path>
            </a:pathLst>
          </a:custGeom>
          <a:noFill xmlns:a="http://schemas.openxmlformats.org/drawingml/2006/main"/>
          <a:ln xmlns:a="http://schemas.openxmlformats.org/drawingml/2006/main" w="9525">
            <a:solidFill>
              <a:srgbClr val="CED8E4"/>
            </a:solidFill>
          </a:ln>
        </p:spPr>
      </p:sp>
      <p:sp>
        <p:nvSpPr>
          <p:cNvPr id="57" name="Ellipse 57">
            <a:extLst xmlns:a="http://schemas.openxmlformats.org/drawingml/2006/main">
              <a:ext uri="{FF2B5EF4-FFF2-40B4-BE49-F238E27FC236}">
                <a16:creationId xmlns:a16="http://schemas.microsoft.com/office/drawing/2014/main" id="{760CB261-C0BC-4599-B992-58B68F1320FA}"/>
              </a:ext>
            </a:extLst>
          </p:cNvPr>
          <p:cNvSpPr>
            <a:spLocks xmlns:a="http://schemas.openxmlformats.org/drawingml/2006/main" noGrp="1"/>
          </p:cNvSpPr>
          <p:nvPr/>
        </p:nvSpPr>
        <p:spPr>
          <a:xfrm xmlns:a="http://schemas.openxmlformats.org/drawingml/2006/main" rot="0">
            <a:off x="723900" y="40100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58" name="TextBox 58">
            <a:extLst xmlns:a="http://schemas.openxmlformats.org/drawingml/2006/main">
              <a:ext uri="{FF2B5EF4-FFF2-40B4-BE49-F238E27FC236}">
                <a16:creationId xmlns:a16="http://schemas.microsoft.com/office/drawing/2014/main" id="{C6BEBA34-2E21-4CD5-AF41-9B8DD2BE17DA}"/>
              </a:ext>
            </a:extLst>
          </p:cNvPr>
          <p:cNvSpPr>
            <a:spLocks xmlns:a="http://schemas.openxmlformats.org/drawingml/2006/main" noGrp="1"/>
          </p:cNvSpPr>
          <p:nvPr/>
        </p:nvSpPr>
        <p:spPr>
          <a:xfrm xmlns:a="http://schemas.openxmlformats.org/drawingml/2006/main" rot="0">
            <a:off x="900112" y="3974306"/>
            <a:ext cx="18963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Show timer and stretch cue</a:t>
            </a:r>
          </a:p>
        </p:txBody>
      </p:sp>
      <p:sp>
        <p:nvSpPr>
          <p:cNvPr id="59" name="Ellipse 59">
            <a:extLst xmlns:a="http://schemas.openxmlformats.org/drawingml/2006/main">
              <a:ext uri="{FF2B5EF4-FFF2-40B4-BE49-F238E27FC236}">
                <a16:creationId xmlns:a16="http://schemas.microsoft.com/office/drawing/2014/main" id="{02C9C88F-C2FA-4780-B9D6-FDE736857318}"/>
              </a:ext>
            </a:extLst>
          </p:cNvPr>
          <p:cNvSpPr>
            <a:spLocks xmlns:a="http://schemas.openxmlformats.org/drawingml/2006/main" noGrp="1"/>
          </p:cNvSpPr>
          <p:nvPr/>
        </p:nvSpPr>
        <p:spPr>
          <a:xfrm xmlns:a="http://schemas.openxmlformats.org/drawingml/2006/main" rot="0">
            <a:off x="723900" y="4400550"/>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D32E3915-AC49-431F-BDAF-00DBFE13DE5C}"/>
              </a:ext>
            </a:extLst>
          </p:cNvPr>
          <p:cNvSpPr>
            <a:spLocks xmlns:a="http://schemas.openxmlformats.org/drawingml/2006/main" noGrp="1"/>
          </p:cNvSpPr>
          <p:nvPr/>
        </p:nvSpPr>
        <p:spPr>
          <a:xfrm xmlns:a="http://schemas.openxmlformats.org/drawingml/2006/main" rot="0">
            <a:off x="900112" y="4364831"/>
            <a:ext cx="194131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Approach or turn toward the user</a:t>
            </a:r>
          </a:p>
        </p:txBody>
      </p:sp>
      <p:sp>
        <p:nvSpPr>
          <p:cNvPr id="61" name="Ellipse 61">
            <a:extLst xmlns:a="http://schemas.openxmlformats.org/drawingml/2006/main">
              <a:ext uri="{FF2B5EF4-FFF2-40B4-BE49-F238E27FC236}">
                <a16:creationId xmlns:a16="http://schemas.microsoft.com/office/drawing/2014/main" id="{57D6BAD9-5870-40AD-8E1E-0BD3F398CAE3}"/>
              </a:ext>
            </a:extLst>
          </p:cNvPr>
          <p:cNvSpPr>
            <a:spLocks xmlns:a="http://schemas.openxmlformats.org/drawingml/2006/main" noGrp="1"/>
          </p:cNvSpPr>
          <p:nvPr/>
        </p:nvSpPr>
        <p:spPr>
          <a:xfrm xmlns:a="http://schemas.openxmlformats.org/drawingml/2006/main" rot="0">
            <a:off x="723900" y="479107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62" name="TextBox 62">
            <a:extLst xmlns:a="http://schemas.openxmlformats.org/drawingml/2006/main">
              <a:ext uri="{FF2B5EF4-FFF2-40B4-BE49-F238E27FC236}">
                <a16:creationId xmlns:a16="http://schemas.microsoft.com/office/drawing/2014/main" id="{152C9C01-AE08-440F-B084-EC68E1108DB0}"/>
              </a:ext>
            </a:extLst>
          </p:cNvPr>
          <p:cNvSpPr>
            <a:spLocks xmlns:a="http://schemas.openxmlformats.org/drawingml/2006/main" noGrp="1"/>
          </p:cNvSpPr>
          <p:nvPr/>
        </p:nvSpPr>
        <p:spPr>
          <a:xfrm xmlns:a="http://schemas.openxmlformats.org/drawingml/2006/main" rot="0">
            <a:off x="900112" y="4755356"/>
            <a:ext cx="278141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Return after acknowledgement</a:t>
            </a:r>
          </a:p>
        </p:txBody>
      </p:sp>
      <p:sp>
        <p:nvSpPr>
          <p:cNvPr id="64" name="Rectangle 64">
            <a:extLst xmlns:a="http://schemas.openxmlformats.org/drawingml/2006/main">
              <a:ext uri="{FF2B5EF4-FFF2-40B4-BE49-F238E27FC236}">
                <a16:creationId xmlns:a16="http://schemas.microsoft.com/office/drawing/2014/main" id="{686AA320-322F-4C6B-8005-6E829AE17999}"/>
              </a:ext>
            </a:extLst>
          </p:cNvPr>
          <p:cNvSpPr>
            <a:spLocks xmlns:a="http://schemas.openxmlformats.org/drawingml/2006/main" noGrp="1"/>
          </p:cNvSpPr>
          <p:nvPr/>
        </p:nvSpPr>
        <p:spPr>
          <a:xfrm xmlns:a="http://schemas.openxmlformats.org/drawingml/2006/main" rot="0">
            <a:off x="4152900" y="3028950"/>
            <a:ext cx="3429000" cy="2095500"/>
          </a:xfrm>
          <a:prstGeom xmlns:a="http://schemas.openxmlformats.org/drawingml/2006/main" prst="roundRect">
            <a:avLst>
              <a:gd name="adj" fmla="val 5455"/>
            </a:avLst>
          </a:prstGeom>
          <a:solidFill xmlns:a="http://schemas.openxmlformats.org/drawingml/2006/main">
            <a:srgbClr val="F7F9FC"/>
          </a:solidFill>
          <a:ln xmlns:a="http://schemas.openxmlformats.org/drawingml/2006/main" w="14288">
            <a:solidFill>
              <a:srgbClr val="CED8E4"/>
            </a:solidFill>
          </a:ln>
        </p:spPr>
      </p:sp>
      <p:sp>
        <p:nvSpPr>
          <p:cNvPr id="65" name="Freeform 65">
            <a:extLst xmlns:a="http://schemas.openxmlformats.org/drawingml/2006/main">
              <a:ext uri="{FF2B5EF4-FFF2-40B4-BE49-F238E27FC236}">
                <a16:creationId xmlns:a16="http://schemas.microsoft.com/office/drawing/2014/main" id="{1563083F-91E5-4FFA-B420-7D8DED95E87E}"/>
              </a:ext>
            </a:extLst>
          </p:cNvPr>
          <p:cNvSpPr>
            <a:spLocks xmlns:a="http://schemas.openxmlformats.org/drawingml/2006/main" noGrp="1"/>
          </p:cNvSpPr>
          <p:nvPr/>
        </p:nvSpPr>
        <p:spPr>
          <a:xfrm xmlns:a="http://schemas.openxmlformats.org/drawingml/2006/main" rot="0">
            <a:off x="4432078" y="3297577"/>
            <a:ext cx="233245" cy="233245"/>
          </a:xfrm>
          <a:custGeom xmlns:a="http://schemas.openxmlformats.org/drawingml/2006/main">
            <a:rect l="l" t="t" r="r" b="b"/>
            <a:pathLst>
              <a:path w="233245" h="233245">
                <a:moveTo>
                  <a:pt x="232715" y="180191"/>
                </a:moveTo>
                <a:cubicBezTo>
                  <a:pt x="228650" y="210570"/>
                  <a:pt x="202719" y="233245"/>
                  <a:pt x="172069" y="233221"/>
                </a:cubicBezTo>
                <a:cubicBezTo>
                  <a:pt x="77051" y="233221"/>
                  <a:pt x="23" y="156194"/>
                  <a:pt x="23" y="61176"/>
                </a:cubicBezTo>
                <a:cubicBezTo>
                  <a:pt x="0" y="30526"/>
                  <a:pt x="22675" y="4595"/>
                  <a:pt x="53054" y="530"/>
                </a:cubicBezTo>
                <a:cubicBezTo>
                  <a:pt x="57513" y="0"/>
                  <a:pt x="61789" y="2472"/>
                  <a:pt x="63554" y="6602"/>
                </a:cubicBezTo>
                <a:lnTo>
                  <a:pt x="90284" y="66312"/>
                </a:lnTo>
                <a:cubicBezTo>
                  <a:pt x="91618" y="69427"/>
                  <a:pt x="91304" y="73002"/>
                  <a:pt x="89449" y="75838"/>
                </a:cubicBezTo>
                <a:lnTo>
                  <a:pt x="62415" y="107982"/>
                </a:lnTo>
                <a:cubicBezTo>
                  <a:pt x="60464" y="110926"/>
                  <a:pt x="60205" y="114678"/>
                  <a:pt x="61732" y="117862"/>
                </a:cubicBezTo>
                <a:cubicBezTo>
                  <a:pt x="72194" y="139279"/>
                  <a:pt x="94332" y="161152"/>
                  <a:pt x="115812" y="171512"/>
                </a:cubicBezTo>
                <a:cubicBezTo>
                  <a:pt x="119014" y="173033"/>
                  <a:pt x="122780" y="172749"/>
                  <a:pt x="125718" y="170766"/>
                </a:cubicBezTo>
                <a:lnTo>
                  <a:pt x="157344" y="143821"/>
                </a:lnTo>
                <a:cubicBezTo>
                  <a:pt x="160191" y="141926"/>
                  <a:pt x="163803" y="141598"/>
                  <a:pt x="166945" y="142948"/>
                </a:cubicBezTo>
                <a:lnTo>
                  <a:pt x="226605" y="169678"/>
                </a:lnTo>
                <a:cubicBezTo>
                  <a:pt x="230754" y="171432"/>
                  <a:pt x="233245" y="175717"/>
                  <a:pt x="232715" y="180191"/>
                </a:cubicBezTo>
                <a:close/>
              </a:path>
            </a:pathLst>
          </a:custGeom>
          <a:solidFill xmlns:a="http://schemas.openxmlformats.org/drawingml/2006/main">
            <a:srgbClr val="2AB7A9">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8E5A8885-FA55-4600-BDB9-C07499903CCE}"/>
              </a:ext>
            </a:extLst>
          </p:cNvPr>
          <p:cNvSpPr>
            <a:spLocks xmlns:a="http://schemas.openxmlformats.org/drawingml/2006/main" noGrp="1"/>
          </p:cNvSpPr>
          <p:nvPr/>
        </p:nvSpPr>
        <p:spPr>
          <a:xfrm xmlns:a="http://schemas.openxmlformats.org/drawingml/2006/main" rot="0">
            <a:off x="4421917" y="3286976"/>
            <a:ext cx="254009" cy="254007"/>
          </a:xfrm>
          <a:custGeom xmlns:a="http://schemas.openxmlformats.org/drawingml/2006/main">
            <a:rect l="l" t="t" r="r" b="b"/>
            <a:pathLst>
              <a:path w="254009" h="254007">
                <a:moveTo>
                  <a:pt x="240890" y="171032"/>
                </a:moveTo>
                <a:lnTo>
                  <a:pt x="181294" y="144327"/>
                </a:lnTo>
                <a:lnTo>
                  <a:pt x="181129" y="144251"/>
                </a:lnTo>
                <a:cubicBezTo>
                  <a:pt x="174844" y="141563"/>
                  <a:pt x="167626" y="142229"/>
                  <a:pt x="161939" y="146023"/>
                </a:cubicBezTo>
                <a:cubicBezTo>
                  <a:pt x="161609" y="146240"/>
                  <a:pt x="161292" y="146477"/>
                  <a:pt x="160990" y="146731"/>
                </a:cubicBezTo>
                <a:lnTo>
                  <a:pt x="130199" y="172981"/>
                </a:lnTo>
                <a:cubicBezTo>
                  <a:pt x="110692" y="163505"/>
                  <a:pt x="90552" y="143518"/>
                  <a:pt x="81077" y="124264"/>
                </a:cubicBezTo>
                <a:lnTo>
                  <a:pt x="107365" y="93005"/>
                </a:lnTo>
                <a:cubicBezTo>
                  <a:pt x="107618" y="92689"/>
                  <a:pt x="107858" y="92372"/>
                  <a:pt x="108086" y="92031"/>
                </a:cubicBezTo>
                <a:cubicBezTo>
                  <a:pt x="111797" y="86360"/>
                  <a:pt x="112423" y="79209"/>
                  <a:pt x="109756" y="72979"/>
                </a:cubicBezTo>
                <a:lnTo>
                  <a:pt x="109756" y="72827"/>
                </a:lnTo>
                <a:lnTo>
                  <a:pt x="82975" y="13130"/>
                </a:lnTo>
                <a:cubicBezTo>
                  <a:pt x="79409" y="4901"/>
                  <a:pt x="70852" y="0"/>
                  <a:pt x="61950" y="1087"/>
                </a:cubicBezTo>
                <a:cubicBezTo>
                  <a:pt x="26489" y="5753"/>
                  <a:pt x="0" y="36011"/>
                  <a:pt x="64" y="71777"/>
                </a:cubicBezTo>
                <a:cubicBezTo>
                  <a:pt x="64" y="172222"/>
                  <a:pt x="81786" y="253943"/>
                  <a:pt x="182230" y="253943"/>
                </a:cubicBezTo>
                <a:cubicBezTo>
                  <a:pt x="217996" y="254007"/>
                  <a:pt x="248254" y="227518"/>
                  <a:pt x="252920" y="192057"/>
                </a:cubicBezTo>
                <a:cubicBezTo>
                  <a:pt x="254009" y="183158"/>
                  <a:pt x="249114" y="174603"/>
                  <a:pt x="240890" y="171032"/>
                </a:cubicBezTo>
                <a:close/>
                <a:moveTo>
                  <a:pt x="182230" y="233702"/>
                </a:moveTo>
                <a:cubicBezTo>
                  <a:pt x="92841" y="233605"/>
                  <a:pt x="20402" y="161166"/>
                  <a:pt x="20305" y="71777"/>
                </a:cubicBezTo>
                <a:cubicBezTo>
                  <a:pt x="20206" y="46223"/>
                  <a:pt x="39087" y="24564"/>
                  <a:pt x="64417" y="21176"/>
                </a:cubicBezTo>
                <a:cubicBezTo>
                  <a:pt x="64412" y="21226"/>
                  <a:pt x="64412" y="21277"/>
                  <a:pt x="64417" y="21328"/>
                </a:cubicBezTo>
                <a:lnTo>
                  <a:pt x="90982" y="80784"/>
                </a:lnTo>
                <a:lnTo>
                  <a:pt x="64834" y="112082"/>
                </a:lnTo>
                <a:cubicBezTo>
                  <a:pt x="64569" y="112387"/>
                  <a:pt x="64328" y="112713"/>
                  <a:pt x="64113" y="113056"/>
                </a:cubicBezTo>
                <a:cubicBezTo>
                  <a:pt x="60241" y="118997"/>
                  <a:pt x="59761" y="126532"/>
                  <a:pt x="62848" y="132917"/>
                </a:cubicBezTo>
                <a:cubicBezTo>
                  <a:pt x="74309" y="156358"/>
                  <a:pt x="97928" y="179799"/>
                  <a:pt x="121622" y="191248"/>
                </a:cubicBezTo>
                <a:cubicBezTo>
                  <a:pt x="128054" y="194306"/>
                  <a:pt x="135621" y="193758"/>
                  <a:pt x="141546" y="189806"/>
                </a:cubicBezTo>
                <a:cubicBezTo>
                  <a:pt x="141871" y="189587"/>
                  <a:pt x="142183" y="189350"/>
                  <a:pt x="142482" y="189097"/>
                </a:cubicBezTo>
                <a:lnTo>
                  <a:pt x="173235" y="162860"/>
                </a:lnTo>
                <a:lnTo>
                  <a:pt x="232692" y="189489"/>
                </a:lnTo>
                <a:lnTo>
                  <a:pt x="232692" y="189489"/>
                </a:lnTo>
                <a:cubicBezTo>
                  <a:pt x="232692" y="189489"/>
                  <a:pt x="232793" y="189489"/>
                  <a:pt x="232831" y="189489"/>
                </a:cubicBezTo>
                <a:cubicBezTo>
                  <a:pt x="229484" y="214856"/>
                  <a:pt x="207816" y="233789"/>
                  <a:pt x="182230" y="233702"/>
                </a:cubicBezTo>
                <a:close/>
              </a:path>
            </a:pathLst>
          </a:custGeom>
          <a:solidFill xmlns:a="http://schemas.openxmlformats.org/drawingml/2006/main">
            <a:srgbClr val="2AB7A9"/>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58CD3073-2984-4AB4-B7ED-7692D12684D8}"/>
              </a:ext>
            </a:extLst>
          </p:cNvPr>
          <p:cNvSpPr>
            <a:spLocks xmlns:a="http://schemas.openxmlformats.org/drawingml/2006/main" noGrp="1"/>
          </p:cNvSpPr>
          <p:nvPr/>
        </p:nvSpPr>
        <p:spPr>
          <a:xfrm xmlns:a="http://schemas.openxmlformats.org/drawingml/2006/main" rot="0">
            <a:off x="4821555" y="3321368"/>
            <a:ext cx="159373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PHONE DISTRACTION</a:t>
            </a:r>
          </a:p>
        </p:txBody>
      </p:sp>
      <p:sp>
        <p:nvSpPr>
          <p:cNvPr id="69" name="Line 69">
            <a:extLst xmlns:a="http://schemas.openxmlformats.org/drawingml/2006/main">
              <a:ext uri="{FF2B5EF4-FFF2-40B4-BE49-F238E27FC236}">
                <a16:creationId xmlns:a16="http://schemas.microsoft.com/office/drawing/2014/main" id="{51C82719-C43F-4784-845E-268DB3BE4087}"/>
              </a:ext>
            </a:extLst>
          </p:cNvPr>
          <p:cNvSpPr>
            <a:spLocks xmlns:a="http://schemas.openxmlformats.org/drawingml/2006/main" noGrp="1"/>
          </p:cNvSpPr>
          <p:nvPr/>
        </p:nvSpPr>
        <p:spPr>
          <a:xfrm xmlns:a="http://schemas.openxmlformats.org/drawingml/2006/main" rot="0">
            <a:off x="4381500" y="3752850"/>
            <a:ext cx="2971800" cy="9525"/>
          </a:xfrm>
          <a:custGeom xmlns:a="http://schemas.openxmlformats.org/drawingml/2006/main">
            <a:rect l="l" t="t" r="r" b="b"/>
            <a:pathLst>
              <a:path w="2971800" h="9525">
                <a:moveTo>
                  <a:pt x="0" y="0"/>
                </a:moveTo>
                <a:lnTo>
                  <a:pt x="2971800" y="0"/>
                </a:lnTo>
              </a:path>
            </a:pathLst>
          </a:custGeom>
          <a:noFill xmlns:a="http://schemas.openxmlformats.org/drawingml/2006/main"/>
          <a:ln xmlns:a="http://schemas.openxmlformats.org/drawingml/2006/main" w="9525">
            <a:solidFill>
              <a:srgbClr val="CED8E4"/>
            </a:solidFill>
          </a:ln>
        </p:spPr>
      </p:sp>
      <p:sp>
        <p:nvSpPr>
          <p:cNvPr id="70" name="Ellipse 70">
            <a:extLst xmlns:a="http://schemas.openxmlformats.org/drawingml/2006/main">
              <a:ext uri="{FF2B5EF4-FFF2-40B4-BE49-F238E27FC236}">
                <a16:creationId xmlns:a16="http://schemas.microsoft.com/office/drawing/2014/main" id="{FE2F3A67-86DC-4F22-85DD-A54EEF4C7D93}"/>
              </a:ext>
            </a:extLst>
          </p:cNvPr>
          <p:cNvSpPr>
            <a:spLocks xmlns:a="http://schemas.openxmlformats.org/drawingml/2006/main" noGrp="1"/>
          </p:cNvSpPr>
          <p:nvPr/>
        </p:nvSpPr>
        <p:spPr>
          <a:xfrm xmlns:a="http://schemas.openxmlformats.org/drawingml/2006/main" rot="0">
            <a:off x="4419600" y="4010025"/>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1" name="TextBox 71">
            <a:extLst xmlns:a="http://schemas.openxmlformats.org/drawingml/2006/main">
              <a:ext uri="{FF2B5EF4-FFF2-40B4-BE49-F238E27FC236}">
                <a16:creationId xmlns:a16="http://schemas.microsoft.com/office/drawing/2014/main" id="{75F0AE24-0366-4AA2-AD85-F0817C5B4634}"/>
              </a:ext>
            </a:extLst>
          </p:cNvPr>
          <p:cNvSpPr>
            <a:spLocks xmlns:a="http://schemas.openxmlformats.org/drawingml/2006/main" noGrp="1"/>
          </p:cNvSpPr>
          <p:nvPr/>
        </p:nvSpPr>
        <p:spPr>
          <a:xfrm xmlns:a="http://schemas.openxmlformats.org/drawingml/2006/main" rot="0">
            <a:off x="4595812" y="3974306"/>
            <a:ext cx="2061329"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Display a refocus prompt</a:t>
            </a:r>
          </a:p>
        </p:txBody>
      </p:sp>
      <p:sp>
        <p:nvSpPr>
          <p:cNvPr id="72" name="Ellipse 72">
            <a:extLst xmlns:a="http://schemas.openxmlformats.org/drawingml/2006/main">
              <a:ext uri="{FF2B5EF4-FFF2-40B4-BE49-F238E27FC236}">
                <a16:creationId xmlns:a16="http://schemas.microsoft.com/office/drawing/2014/main" id="{059946EE-6296-491D-8089-B2B70E6D574D}"/>
              </a:ext>
            </a:extLst>
          </p:cNvPr>
          <p:cNvSpPr>
            <a:spLocks xmlns:a="http://schemas.openxmlformats.org/drawingml/2006/main" noGrp="1"/>
          </p:cNvSpPr>
          <p:nvPr/>
        </p:nvSpPr>
        <p:spPr>
          <a:xfrm xmlns:a="http://schemas.openxmlformats.org/drawingml/2006/main" rot="0">
            <a:off x="4419600" y="4400550"/>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3" name="TextBox 73">
            <a:extLst xmlns:a="http://schemas.openxmlformats.org/drawingml/2006/main">
              <a:ext uri="{FF2B5EF4-FFF2-40B4-BE49-F238E27FC236}">
                <a16:creationId xmlns:a16="http://schemas.microsoft.com/office/drawing/2014/main" id="{4F153D0D-7DDD-47B3-AF2C-541A7AFA369B}"/>
              </a:ext>
            </a:extLst>
          </p:cNvPr>
          <p:cNvSpPr>
            <a:spLocks xmlns:a="http://schemas.openxmlformats.org/drawingml/2006/main" noGrp="1"/>
          </p:cNvSpPr>
          <p:nvPr/>
        </p:nvSpPr>
        <p:spPr>
          <a:xfrm xmlns:a="http://schemas.openxmlformats.org/drawingml/2006/main" rot="0">
            <a:off x="4595812" y="4364831"/>
            <a:ext cx="23088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Move or react when usage persists</a:t>
            </a:r>
          </a:p>
        </p:txBody>
      </p:sp>
      <p:sp>
        <p:nvSpPr>
          <p:cNvPr id="74" name="Ellipse 74">
            <a:extLst xmlns:a="http://schemas.openxmlformats.org/drawingml/2006/main">
              <a:ext uri="{FF2B5EF4-FFF2-40B4-BE49-F238E27FC236}">
                <a16:creationId xmlns:a16="http://schemas.microsoft.com/office/drawing/2014/main" id="{4A645F6C-3060-4AED-A588-2BF477F8A402}"/>
              </a:ext>
            </a:extLst>
          </p:cNvPr>
          <p:cNvSpPr>
            <a:spLocks xmlns:a="http://schemas.openxmlformats.org/drawingml/2006/main" noGrp="1"/>
          </p:cNvSpPr>
          <p:nvPr/>
        </p:nvSpPr>
        <p:spPr>
          <a:xfrm xmlns:a="http://schemas.openxmlformats.org/drawingml/2006/main" rot="0">
            <a:off x="4419600" y="4791075"/>
            <a:ext cx="76200" cy="76200"/>
          </a:xfrm>
          <a:prstGeom xmlns:a="http://schemas.openxmlformats.org/drawingml/2006/main" prst="ellipse">
            <a:avLst/>
          </a:prstGeom>
          <a:solidFill xmlns:a="http://schemas.openxmlformats.org/drawingml/2006/main">
            <a:srgbClr val="2AB7A9"/>
          </a:solidFill>
          <a:ln xmlns:a="http://schemas.openxmlformats.org/drawingml/2006/main">
            <a:noFill/>
          </a:ln>
        </p:spPr>
      </p:sp>
      <p:sp>
        <p:nvSpPr>
          <p:cNvPr id="75" name="TextBox 75">
            <a:extLst xmlns:a="http://schemas.openxmlformats.org/drawingml/2006/main">
              <a:ext uri="{FF2B5EF4-FFF2-40B4-BE49-F238E27FC236}">
                <a16:creationId xmlns:a16="http://schemas.microsoft.com/office/drawing/2014/main" id="{4B944E03-433B-41CA-AF3B-B3BE1724F0F4}"/>
              </a:ext>
            </a:extLst>
          </p:cNvPr>
          <p:cNvSpPr>
            <a:spLocks xmlns:a="http://schemas.openxmlformats.org/drawingml/2006/main" noGrp="1"/>
          </p:cNvSpPr>
          <p:nvPr/>
        </p:nvSpPr>
        <p:spPr>
          <a:xfrm xmlns:a="http://schemas.openxmlformats.org/drawingml/2006/main" rot="0">
            <a:off x="4595812" y="4755356"/>
            <a:ext cx="241387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Gesture acknowledges the reminder</a:t>
            </a:r>
          </a:p>
        </p:txBody>
      </p:sp>
      <p:sp>
        <p:nvSpPr>
          <p:cNvPr id="77" name="Rectangle 77">
            <a:extLst xmlns:a="http://schemas.openxmlformats.org/drawingml/2006/main">
              <a:ext uri="{FF2B5EF4-FFF2-40B4-BE49-F238E27FC236}">
                <a16:creationId xmlns:a16="http://schemas.microsoft.com/office/drawing/2014/main" id="{471EE4D3-73BD-4D5B-B8ED-88D3031851A6}"/>
              </a:ext>
            </a:extLst>
          </p:cNvPr>
          <p:cNvSpPr>
            <a:spLocks xmlns:a="http://schemas.openxmlformats.org/drawingml/2006/main" noGrp="1"/>
          </p:cNvSpPr>
          <p:nvPr/>
        </p:nvSpPr>
        <p:spPr>
          <a:xfrm xmlns:a="http://schemas.openxmlformats.org/drawingml/2006/main" rot="0">
            <a:off x="7848600" y="3028950"/>
            <a:ext cx="3886200" cy="2095500"/>
          </a:xfrm>
          <a:prstGeom xmlns:a="http://schemas.openxmlformats.org/drawingml/2006/main" prst="roundRect">
            <a:avLst>
              <a:gd name="adj" fmla="val 5455"/>
            </a:avLst>
          </a:prstGeom>
          <a:solidFill xmlns:a="http://schemas.openxmlformats.org/drawingml/2006/main">
            <a:srgbClr val="EAF0F7"/>
          </a:solidFill>
          <a:ln xmlns:a="http://schemas.openxmlformats.org/drawingml/2006/main">
            <a:noFill/>
          </a:ln>
        </p:spPr>
      </p:sp>
      <p:sp>
        <p:nvSpPr>
          <p:cNvPr id="78" name="Freeform 78">
            <a:extLst xmlns:a="http://schemas.openxmlformats.org/drawingml/2006/main">
              <a:ext uri="{FF2B5EF4-FFF2-40B4-BE49-F238E27FC236}">
                <a16:creationId xmlns:a16="http://schemas.microsoft.com/office/drawing/2014/main" id="{7621157B-2D5B-4CBC-99A5-0DCA95B70FDD}"/>
              </a:ext>
            </a:extLst>
          </p:cNvPr>
          <p:cNvSpPr>
            <a:spLocks xmlns:a="http://schemas.openxmlformats.org/drawingml/2006/main" noGrp="1"/>
          </p:cNvSpPr>
          <p:nvPr/>
        </p:nvSpPr>
        <p:spPr>
          <a:xfrm xmlns:a="http://schemas.openxmlformats.org/drawingml/2006/main" rot="0">
            <a:off x="8127410" y="3308152"/>
            <a:ext cx="223455" cy="192286"/>
          </a:xfrm>
          <a:custGeom xmlns:a="http://schemas.openxmlformats.org/drawingml/2006/main">
            <a:rect l="l" t="t" r="r" b="b"/>
            <a:pathLst>
              <a:path w="223455" h="192286">
                <a:moveTo>
                  <a:pt x="212918" y="192286"/>
                </a:moveTo>
                <a:lnTo>
                  <a:pt x="10512" y="192286"/>
                </a:lnTo>
                <a:cubicBezTo>
                  <a:pt x="6907" y="192264"/>
                  <a:pt x="3586" y="190327"/>
                  <a:pt x="1793" y="187199"/>
                </a:cubicBezTo>
                <a:cubicBezTo>
                  <a:pt x="0" y="184072"/>
                  <a:pt x="6" y="180227"/>
                  <a:pt x="1808" y="177105"/>
                </a:cubicBezTo>
                <a:cubicBezTo>
                  <a:pt x="10145" y="162684"/>
                  <a:pt x="20632" y="136384"/>
                  <a:pt x="20632" y="91083"/>
                </a:cubicBezTo>
                <a:cubicBezTo>
                  <a:pt x="20632" y="40779"/>
                  <a:pt x="61411" y="0"/>
                  <a:pt x="111715" y="0"/>
                </a:cubicBezTo>
                <a:cubicBezTo>
                  <a:pt x="162019" y="0"/>
                  <a:pt x="202798" y="40779"/>
                  <a:pt x="202798" y="91083"/>
                </a:cubicBezTo>
                <a:cubicBezTo>
                  <a:pt x="202798" y="136397"/>
                  <a:pt x="213298" y="162684"/>
                  <a:pt x="221647" y="177105"/>
                </a:cubicBezTo>
                <a:cubicBezTo>
                  <a:pt x="223451" y="180231"/>
                  <a:pt x="223455" y="184081"/>
                  <a:pt x="221656" y="187210"/>
                </a:cubicBezTo>
                <a:cubicBezTo>
                  <a:pt x="219857" y="190339"/>
                  <a:pt x="216527" y="192273"/>
                  <a:pt x="212918" y="192286"/>
                </a:cubicBezTo>
                <a:close/>
              </a:path>
            </a:pathLst>
          </a:custGeom>
          <a:solidFill xmlns:a="http://schemas.openxmlformats.org/drawingml/2006/main">
            <a:srgbClr val="2F80ED">
              <a:alpha val="20000"/>
            </a:srgbClr>
          </a:solidFill>
          <a:ln xmlns:a="http://schemas.openxmlformats.org/drawingml/2006/main">
            <a:noFill/>
          </a:ln>
        </p:spPr>
      </p:sp>
      <p:sp>
        <p:nvSpPr>
          <p:cNvPr id="79" name="Freeform 79">
            <a:extLst xmlns:a="http://schemas.openxmlformats.org/drawingml/2006/main">
              <a:ext uri="{FF2B5EF4-FFF2-40B4-BE49-F238E27FC236}">
                <a16:creationId xmlns:a16="http://schemas.microsoft.com/office/drawing/2014/main" id="{6D2E9FF0-3D0A-4AF9-9C64-63C9A7A0D61A}"/>
              </a:ext>
            </a:extLst>
          </p:cNvPr>
          <p:cNvSpPr>
            <a:spLocks xmlns:a="http://schemas.openxmlformats.org/drawingml/2006/main" noGrp="1"/>
          </p:cNvSpPr>
          <p:nvPr/>
        </p:nvSpPr>
        <p:spPr>
          <a:xfrm xmlns:a="http://schemas.openxmlformats.org/drawingml/2006/main" rot="0">
            <a:off x="8111768" y="3277266"/>
            <a:ext cx="255696" cy="273824"/>
          </a:xfrm>
          <a:custGeom xmlns:a="http://schemas.openxmlformats.org/drawingml/2006/main">
            <a:rect l="l" t="t" r="r" b="b"/>
            <a:pathLst>
              <a:path w="255696" h="273824">
                <a:moveTo>
                  <a:pt x="248801" y="70228"/>
                </a:moveTo>
                <a:cubicBezTo>
                  <a:pt x="243840" y="72797"/>
                  <a:pt x="237736" y="70861"/>
                  <a:pt x="235164" y="65902"/>
                </a:cubicBezTo>
                <a:cubicBezTo>
                  <a:pt x="225504" y="46819"/>
                  <a:pt x="210882" y="30690"/>
                  <a:pt x="192836" y="19209"/>
                </a:cubicBezTo>
                <a:cubicBezTo>
                  <a:pt x="189776" y="17280"/>
                  <a:pt x="187978" y="13864"/>
                  <a:pt x="188120" y="10249"/>
                </a:cubicBezTo>
                <a:cubicBezTo>
                  <a:pt x="188261" y="6634"/>
                  <a:pt x="190320" y="3370"/>
                  <a:pt x="193521" y="1685"/>
                </a:cubicBezTo>
                <a:cubicBezTo>
                  <a:pt x="196722" y="0"/>
                  <a:pt x="200579" y="151"/>
                  <a:pt x="203639" y="2081"/>
                </a:cubicBezTo>
                <a:cubicBezTo>
                  <a:pt x="224672" y="15548"/>
                  <a:pt x="241750" y="34359"/>
                  <a:pt x="253127" y="56591"/>
                </a:cubicBezTo>
                <a:cubicBezTo>
                  <a:pt x="255696" y="61552"/>
                  <a:pt x="253760" y="67656"/>
                  <a:pt x="248801" y="70228"/>
                </a:cubicBezTo>
                <a:close/>
                <a:moveTo>
                  <a:pt x="10607" y="71367"/>
                </a:moveTo>
                <a:cubicBezTo>
                  <a:pt x="14386" y="71365"/>
                  <a:pt x="17850" y="69258"/>
                  <a:pt x="19589" y="65902"/>
                </a:cubicBezTo>
                <a:cubicBezTo>
                  <a:pt x="29248" y="46819"/>
                  <a:pt x="43870" y="30690"/>
                  <a:pt x="61917" y="19209"/>
                </a:cubicBezTo>
                <a:cubicBezTo>
                  <a:pt x="64976" y="17280"/>
                  <a:pt x="66774" y="13864"/>
                  <a:pt x="66633" y="10249"/>
                </a:cubicBezTo>
                <a:cubicBezTo>
                  <a:pt x="66491" y="6634"/>
                  <a:pt x="64432" y="3370"/>
                  <a:pt x="61231" y="1685"/>
                </a:cubicBezTo>
                <a:cubicBezTo>
                  <a:pt x="58030" y="0"/>
                  <a:pt x="54173" y="151"/>
                  <a:pt x="51113" y="2081"/>
                </a:cubicBezTo>
                <a:cubicBezTo>
                  <a:pt x="30081" y="15548"/>
                  <a:pt x="13002" y="34359"/>
                  <a:pt x="1625" y="56591"/>
                </a:cubicBezTo>
                <a:cubicBezTo>
                  <a:pt x="0" y="59728"/>
                  <a:pt x="128" y="63485"/>
                  <a:pt x="1963" y="66503"/>
                </a:cubicBezTo>
                <a:cubicBezTo>
                  <a:pt x="3798" y="69522"/>
                  <a:pt x="7074" y="71365"/>
                  <a:pt x="10607" y="71367"/>
                </a:cubicBezTo>
                <a:close/>
                <a:moveTo>
                  <a:pt x="246031" y="202855"/>
                </a:moveTo>
                <a:cubicBezTo>
                  <a:pt x="249680" y="209113"/>
                  <a:pt x="249706" y="216844"/>
                  <a:pt x="246100" y="223127"/>
                </a:cubicBezTo>
                <a:cubicBezTo>
                  <a:pt x="242494" y="229410"/>
                  <a:pt x="235805" y="233287"/>
                  <a:pt x="228560" y="233292"/>
                </a:cubicBezTo>
                <a:lnTo>
                  <a:pt x="176947" y="233292"/>
                </a:lnTo>
                <a:cubicBezTo>
                  <a:pt x="172158" y="256876"/>
                  <a:pt x="151422" y="273824"/>
                  <a:pt x="127357" y="273824"/>
                </a:cubicBezTo>
                <a:cubicBezTo>
                  <a:pt x="103292" y="273824"/>
                  <a:pt x="82557" y="256876"/>
                  <a:pt x="77768" y="233292"/>
                </a:cubicBezTo>
                <a:lnTo>
                  <a:pt x="26154" y="233292"/>
                </a:lnTo>
                <a:cubicBezTo>
                  <a:pt x="18914" y="233278"/>
                  <a:pt x="12233" y="229398"/>
                  <a:pt x="8633" y="223116"/>
                </a:cubicBezTo>
                <a:cubicBezTo>
                  <a:pt x="5033" y="216835"/>
                  <a:pt x="5062" y="209109"/>
                  <a:pt x="8709" y="202855"/>
                </a:cubicBezTo>
                <a:cubicBezTo>
                  <a:pt x="20107" y="183184"/>
                  <a:pt x="26154" y="155214"/>
                  <a:pt x="26154" y="121969"/>
                </a:cubicBezTo>
                <a:cubicBezTo>
                  <a:pt x="26154" y="66076"/>
                  <a:pt x="71464" y="20765"/>
                  <a:pt x="127357" y="20765"/>
                </a:cubicBezTo>
                <a:cubicBezTo>
                  <a:pt x="183250" y="20765"/>
                  <a:pt x="228560" y="66076"/>
                  <a:pt x="228560" y="121969"/>
                </a:cubicBezTo>
                <a:cubicBezTo>
                  <a:pt x="228560" y="155201"/>
                  <a:pt x="234607" y="183171"/>
                  <a:pt x="246031" y="202855"/>
                </a:cubicBezTo>
                <a:close/>
                <a:moveTo>
                  <a:pt x="155972" y="233292"/>
                </a:moveTo>
                <a:lnTo>
                  <a:pt x="98742" y="233292"/>
                </a:lnTo>
                <a:cubicBezTo>
                  <a:pt x="103039" y="245409"/>
                  <a:pt x="114501" y="253506"/>
                  <a:pt x="127357" y="253506"/>
                </a:cubicBezTo>
                <a:cubicBezTo>
                  <a:pt x="140213" y="253506"/>
                  <a:pt x="151676" y="245409"/>
                  <a:pt x="155972" y="233292"/>
                </a:cubicBezTo>
                <a:close/>
                <a:moveTo>
                  <a:pt x="228560" y="213051"/>
                </a:moveTo>
                <a:cubicBezTo>
                  <a:pt x="215100" y="189939"/>
                  <a:pt x="208320" y="159300"/>
                  <a:pt x="208320" y="121969"/>
                </a:cubicBezTo>
                <a:cubicBezTo>
                  <a:pt x="208320" y="77254"/>
                  <a:pt x="172072" y="41006"/>
                  <a:pt x="127357" y="41006"/>
                </a:cubicBezTo>
                <a:cubicBezTo>
                  <a:pt x="82643" y="41006"/>
                  <a:pt x="46395" y="77254"/>
                  <a:pt x="46395" y="121969"/>
                </a:cubicBezTo>
                <a:cubicBezTo>
                  <a:pt x="46395" y="159312"/>
                  <a:pt x="39589" y="189952"/>
                  <a:pt x="26154" y="213051"/>
                </a:cubicBezTo>
                <a:close/>
              </a:path>
            </a:pathLst>
          </a:custGeom>
          <a:solidFill xmlns:a="http://schemas.openxmlformats.org/drawingml/2006/main">
            <a:srgbClr val="2F80ED"/>
          </a:solidFill>
          <a:ln xmlns:a="http://schemas.openxmlformats.org/drawingml/2006/main">
            <a:noFill/>
          </a:ln>
        </p:spPr>
      </p:sp>
      <p:sp>
        <p:nvSpPr>
          <p:cNvPr id="81" name="TextBox 81">
            <a:extLst xmlns:a="http://schemas.openxmlformats.org/drawingml/2006/main">
              <a:ext uri="{FF2B5EF4-FFF2-40B4-BE49-F238E27FC236}">
                <a16:creationId xmlns:a16="http://schemas.microsoft.com/office/drawing/2014/main" id="{B4CB30D5-81F5-4BE0-920B-3C9DF9A3D734}"/>
              </a:ext>
            </a:extLst>
          </p:cNvPr>
          <p:cNvSpPr>
            <a:spLocks xmlns:a="http://schemas.openxmlformats.org/drawingml/2006/main" noGrp="1"/>
          </p:cNvSpPr>
          <p:nvPr/>
        </p:nvSpPr>
        <p:spPr>
          <a:xfrm xmlns:a="http://schemas.openxmlformats.org/drawingml/2006/main" rot="0">
            <a:off x="8517255" y="3321368"/>
            <a:ext cx="1319651"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23B5D"/>
                </a:solidFill>
                <a:latin typeface="Arial"/>
                <a:ea typeface="Arial"/>
                <a:cs typeface="Arial"/>
              </a:rPr>
              <a:t>GESTURE INPUT</a:t>
            </a:r>
          </a:p>
        </p:txBody>
      </p:sp>
      <p:sp>
        <p:nvSpPr>
          <p:cNvPr id="82" name="Line 82">
            <a:extLst xmlns:a="http://schemas.openxmlformats.org/drawingml/2006/main">
              <a:ext uri="{FF2B5EF4-FFF2-40B4-BE49-F238E27FC236}">
                <a16:creationId xmlns:a16="http://schemas.microsoft.com/office/drawing/2014/main" id="{CC107BE4-2F29-402B-B140-55DC6B03D2CD}"/>
              </a:ext>
            </a:extLst>
          </p:cNvPr>
          <p:cNvSpPr>
            <a:spLocks xmlns:a="http://schemas.openxmlformats.org/drawingml/2006/main" noGrp="1"/>
          </p:cNvSpPr>
          <p:nvPr/>
        </p:nvSpPr>
        <p:spPr>
          <a:xfrm xmlns:a="http://schemas.openxmlformats.org/drawingml/2006/main" rot="0">
            <a:off x="8077200" y="3752850"/>
            <a:ext cx="3429000" cy="9525"/>
          </a:xfrm>
          <a:custGeom xmlns:a="http://schemas.openxmlformats.org/drawingml/2006/main">
            <a:rect l="l" t="t" r="r" b="b"/>
            <a:pathLst>
              <a:path w="3429000" h="9525">
                <a:moveTo>
                  <a:pt x="0" y="0"/>
                </a:moveTo>
                <a:lnTo>
                  <a:pt x="3429000" y="0"/>
                </a:lnTo>
              </a:path>
            </a:pathLst>
          </a:custGeom>
          <a:noFill xmlns:a="http://schemas.openxmlformats.org/drawingml/2006/main"/>
          <a:ln xmlns:a="http://schemas.openxmlformats.org/drawingml/2006/main" w="9525">
            <a:solidFill>
              <a:srgbClr val="CED8E4"/>
            </a:solidFill>
          </a:ln>
        </p:spPr>
      </p:sp>
      <p:sp>
        <p:nvSpPr>
          <p:cNvPr id="83" name="Ellipse 83">
            <a:extLst xmlns:a="http://schemas.openxmlformats.org/drawingml/2006/main">
              <a:ext uri="{FF2B5EF4-FFF2-40B4-BE49-F238E27FC236}">
                <a16:creationId xmlns:a16="http://schemas.microsoft.com/office/drawing/2014/main" id="{8401F0F4-2706-4EF4-8D47-511D3BDFBDA9}"/>
              </a:ext>
            </a:extLst>
          </p:cNvPr>
          <p:cNvSpPr>
            <a:spLocks xmlns:a="http://schemas.openxmlformats.org/drawingml/2006/main" noGrp="1"/>
          </p:cNvSpPr>
          <p:nvPr/>
        </p:nvSpPr>
        <p:spPr>
          <a:xfrm xmlns:a="http://schemas.openxmlformats.org/drawingml/2006/main" rot="0">
            <a:off x="8115300" y="40100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4" name="TextBox 84">
            <a:extLst xmlns:a="http://schemas.openxmlformats.org/drawingml/2006/main">
              <a:ext uri="{FF2B5EF4-FFF2-40B4-BE49-F238E27FC236}">
                <a16:creationId xmlns:a16="http://schemas.microsoft.com/office/drawing/2014/main" id="{5879D7AE-0389-4942-A3E5-02BE0BF690B6}"/>
              </a:ext>
            </a:extLst>
          </p:cNvPr>
          <p:cNvSpPr>
            <a:spLocks xmlns:a="http://schemas.openxmlformats.org/drawingml/2006/main" noGrp="1"/>
          </p:cNvSpPr>
          <p:nvPr/>
        </p:nvSpPr>
        <p:spPr>
          <a:xfrm xmlns:a="http://schemas.openxmlformats.org/drawingml/2006/main" rot="0">
            <a:off x="8291512" y="3974306"/>
            <a:ext cx="308895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Start, pause or reset the focus timer</a:t>
            </a:r>
          </a:p>
        </p:txBody>
      </p:sp>
      <p:sp>
        <p:nvSpPr>
          <p:cNvPr id="85" name="Ellipse 85">
            <a:extLst xmlns:a="http://schemas.openxmlformats.org/drawingml/2006/main">
              <a:ext uri="{FF2B5EF4-FFF2-40B4-BE49-F238E27FC236}">
                <a16:creationId xmlns:a16="http://schemas.microsoft.com/office/drawing/2014/main" id="{D823CD41-1412-4370-B7AD-69B86A6CEF95}"/>
              </a:ext>
            </a:extLst>
          </p:cNvPr>
          <p:cNvSpPr>
            <a:spLocks xmlns:a="http://schemas.openxmlformats.org/drawingml/2006/main" noGrp="1"/>
          </p:cNvSpPr>
          <p:nvPr/>
        </p:nvSpPr>
        <p:spPr>
          <a:xfrm xmlns:a="http://schemas.openxmlformats.org/drawingml/2006/main" rot="0">
            <a:off x="8115300" y="4400550"/>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6" name="TextBox 86">
            <a:extLst xmlns:a="http://schemas.openxmlformats.org/drawingml/2006/main">
              <a:ext uri="{FF2B5EF4-FFF2-40B4-BE49-F238E27FC236}">
                <a16:creationId xmlns:a16="http://schemas.microsoft.com/office/drawing/2014/main" id="{8BEAEB59-17B3-4F37-9317-293DB6F8C101}"/>
              </a:ext>
            </a:extLst>
          </p:cNvPr>
          <p:cNvSpPr>
            <a:spLocks xmlns:a="http://schemas.openxmlformats.org/drawingml/2006/main" noGrp="1"/>
          </p:cNvSpPr>
          <p:nvPr/>
        </p:nvSpPr>
        <p:spPr>
          <a:xfrm xmlns:a="http://schemas.openxmlformats.org/drawingml/2006/main" rot="0">
            <a:off x="8291512" y="4364831"/>
            <a:ext cx="241387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Robot confirms with display and motion</a:t>
            </a:r>
          </a:p>
        </p:txBody>
      </p:sp>
      <p:sp>
        <p:nvSpPr>
          <p:cNvPr id="87" name="Ellipse 87">
            <a:extLst xmlns:a="http://schemas.openxmlformats.org/drawingml/2006/main">
              <a:ext uri="{FF2B5EF4-FFF2-40B4-BE49-F238E27FC236}">
                <a16:creationId xmlns:a16="http://schemas.microsoft.com/office/drawing/2014/main" id="{3B2BD682-B5BB-4258-88AD-D5AD6678219D}"/>
              </a:ext>
            </a:extLst>
          </p:cNvPr>
          <p:cNvSpPr>
            <a:spLocks xmlns:a="http://schemas.openxmlformats.org/drawingml/2006/main" noGrp="1"/>
          </p:cNvSpPr>
          <p:nvPr/>
        </p:nvSpPr>
        <p:spPr>
          <a:xfrm xmlns:a="http://schemas.openxmlformats.org/drawingml/2006/main" rot="0">
            <a:off x="8115300" y="479107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88" name="TextBox 88">
            <a:extLst xmlns:a="http://schemas.openxmlformats.org/drawingml/2006/main">
              <a:ext uri="{FF2B5EF4-FFF2-40B4-BE49-F238E27FC236}">
                <a16:creationId xmlns:a16="http://schemas.microsoft.com/office/drawing/2014/main" id="{3486BFAF-9403-4BBE-BF5E-A7940B866B00}"/>
              </a:ext>
            </a:extLst>
          </p:cNvPr>
          <p:cNvSpPr>
            <a:spLocks xmlns:a="http://schemas.openxmlformats.org/drawingml/2006/main" noGrp="1"/>
          </p:cNvSpPr>
          <p:nvPr/>
        </p:nvSpPr>
        <p:spPr>
          <a:xfrm xmlns:a="http://schemas.openxmlformats.org/drawingml/2006/main" rot="0">
            <a:off x="8291512" y="4755356"/>
            <a:ext cx="34265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162432"/>
                </a:solidFill>
                <a:latin typeface="Arial"/>
                <a:ea typeface="Arial"/>
                <a:cs typeface="Arial"/>
              </a:rPr>
              <a:t>Manual stop remains available</a:t>
            </a:r>
          </a:p>
        </p:txBody>
      </p:sp>
      <p:sp>
        <p:nvSpPr>
          <p:cNvPr id="90" name="Rectangle 90">
            <a:extLst xmlns:a="http://schemas.openxmlformats.org/drawingml/2006/main">
              <a:ext uri="{FF2B5EF4-FFF2-40B4-BE49-F238E27FC236}">
                <a16:creationId xmlns:a16="http://schemas.microsoft.com/office/drawing/2014/main" id="{7571D045-6BBA-41D8-BD72-D226F92470A8}"/>
              </a:ext>
            </a:extLst>
          </p:cNvPr>
          <p:cNvSpPr>
            <a:spLocks xmlns:a="http://schemas.openxmlformats.org/drawingml/2006/main" noGrp="1"/>
          </p:cNvSpPr>
          <p:nvPr/>
        </p:nvSpPr>
        <p:spPr>
          <a:xfrm xmlns:a="http://schemas.openxmlformats.org/drawingml/2006/main" rot="0">
            <a:off x="457200" y="5410200"/>
            <a:ext cx="11277600" cy="781050"/>
          </a:xfrm>
          <a:prstGeom xmlns:a="http://schemas.openxmlformats.org/drawingml/2006/main" prst="roundRect">
            <a:avLst>
              <a:gd name="adj" fmla="val 14634"/>
            </a:avLst>
          </a:prstGeom>
          <a:solidFill xmlns:a="http://schemas.openxmlformats.org/drawingml/2006/main">
            <a:srgbClr val="123B5D"/>
          </a:solidFill>
          <a:ln xmlns:a="http://schemas.openxmlformats.org/drawingml/2006/main">
            <a:noFill/>
          </a:ln>
        </p:spPr>
      </p:sp>
      <p:sp>
        <p:nvSpPr>
          <p:cNvPr id="91" name="Freeform 91">
            <a:extLst xmlns:a="http://schemas.openxmlformats.org/drawingml/2006/main">
              <a:ext uri="{FF2B5EF4-FFF2-40B4-BE49-F238E27FC236}">
                <a16:creationId xmlns:a16="http://schemas.microsoft.com/office/drawing/2014/main" id="{86AD5A0E-5F3B-45AC-BC19-EAA891E3BFA2}"/>
              </a:ext>
            </a:extLst>
          </p:cNvPr>
          <p:cNvSpPr>
            <a:spLocks xmlns:a="http://schemas.openxmlformats.org/drawingml/2006/main" noGrp="1"/>
          </p:cNvSpPr>
          <p:nvPr/>
        </p:nvSpPr>
        <p:spPr>
          <a:xfrm xmlns:a="http://schemas.openxmlformats.org/drawingml/2006/main" rot="0">
            <a:off x="804862" y="5693569"/>
            <a:ext cx="166688" cy="214312"/>
          </a:xfrm>
          <a:custGeom xmlns:a="http://schemas.openxmlformats.org/drawingml/2006/main">
            <a:rect l="l" t="t" r="r" b="b"/>
            <a:pathLst>
              <a:path w="166688" h="214312">
                <a:moveTo>
                  <a:pt x="71438" y="35719"/>
                </a:moveTo>
                <a:cubicBezTo>
                  <a:pt x="71438" y="55446"/>
                  <a:pt x="55446" y="71438"/>
                  <a:pt x="35719" y="71438"/>
                </a:cubicBezTo>
                <a:cubicBezTo>
                  <a:pt x="15992" y="71438"/>
                  <a:pt x="0" y="55446"/>
                  <a:pt x="0" y="35719"/>
                </a:cubicBezTo>
                <a:cubicBezTo>
                  <a:pt x="0" y="15992"/>
                  <a:pt x="15992" y="0"/>
                  <a:pt x="35719" y="0"/>
                </a:cubicBezTo>
                <a:cubicBezTo>
                  <a:pt x="55446" y="0"/>
                  <a:pt x="71438" y="15992"/>
                  <a:pt x="71438" y="35719"/>
                </a:cubicBezTo>
                <a:close/>
                <a:moveTo>
                  <a:pt x="130969" y="142875"/>
                </a:moveTo>
                <a:cubicBezTo>
                  <a:pt x="111242" y="142875"/>
                  <a:pt x="95250" y="158867"/>
                  <a:pt x="95250" y="178594"/>
                </a:cubicBezTo>
                <a:cubicBezTo>
                  <a:pt x="95250" y="198321"/>
                  <a:pt x="111242" y="214312"/>
                  <a:pt x="130969" y="214312"/>
                </a:cubicBezTo>
                <a:cubicBezTo>
                  <a:pt x="150696" y="214312"/>
                  <a:pt x="166688" y="198321"/>
                  <a:pt x="166688" y="178594"/>
                </a:cubicBezTo>
                <a:cubicBezTo>
                  <a:pt x="166688" y="158867"/>
                  <a:pt x="150696" y="142875"/>
                  <a:pt x="130969" y="142875"/>
                </a:cubicBezTo>
                <a:close/>
              </a:path>
            </a:pathLst>
          </a:custGeom>
          <a:solidFill xmlns:a="http://schemas.openxmlformats.org/drawingml/2006/main">
            <a:srgbClr val="F7F9FC">
              <a:alpha val="20000"/>
            </a:srgbClr>
          </a:solidFill>
          <a:ln xmlns:a="http://schemas.openxmlformats.org/drawingml/2006/main">
            <a:noFill/>
          </a:ln>
        </p:spPr>
      </p:sp>
      <p:sp>
        <p:nvSpPr>
          <p:cNvPr id="92" name="Freeform 92">
            <a:extLst xmlns:a="http://schemas.openxmlformats.org/drawingml/2006/main">
              <a:ext uri="{FF2B5EF4-FFF2-40B4-BE49-F238E27FC236}">
                <a16:creationId xmlns:a16="http://schemas.microsoft.com/office/drawing/2014/main" id="{24089C8C-B8F8-4F63-A1AB-4344620A9210}"/>
              </a:ext>
            </a:extLst>
          </p:cNvPr>
          <p:cNvSpPr>
            <a:spLocks xmlns:a="http://schemas.openxmlformats.org/drawingml/2006/main" noGrp="1"/>
          </p:cNvSpPr>
          <p:nvPr/>
        </p:nvSpPr>
        <p:spPr>
          <a:xfrm xmlns:a="http://schemas.openxmlformats.org/drawingml/2006/main" rot="0">
            <a:off x="733425" y="5681569"/>
            <a:ext cx="285750" cy="238312"/>
          </a:xfrm>
          <a:custGeom xmlns:a="http://schemas.openxmlformats.org/drawingml/2006/main">
            <a:rect l="l" t="t" r="r" b="b"/>
            <a:pathLst>
              <a:path w="285750" h="238312">
                <a:moveTo>
                  <a:pt x="11906" y="59625"/>
                </a:moveTo>
                <a:lnTo>
                  <a:pt x="61020" y="59625"/>
                </a:lnTo>
                <a:cubicBezTo>
                  <a:pt x="66415" y="80698"/>
                  <a:pt x="85403" y="95437"/>
                  <a:pt x="107156" y="95437"/>
                </a:cubicBezTo>
                <a:cubicBezTo>
                  <a:pt x="128909" y="95437"/>
                  <a:pt x="147897" y="80698"/>
                  <a:pt x="153293" y="59625"/>
                </a:cubicBezTo>
                <a:lnTo>
                  <a:pt x="273844" y="59625"/>
                </a:lnTo>
                <a:cubicBezTo>
                  <a:pt x="280419" y="59625"/>
                  <a:pt x="285750" y="54294"/>
                  <a:pt x="285750" y="47718"/>
                </a:cubicBezTo>
                <a:cubicBezTo>
                  <a:pt x="285750" y="41143"/>
                  <a:pt x="280419" y="35812"/>
                  <a:pt x="273844" y="35812"/>
                </a:cubicBezTo>
                <a:lnTo>
                  <a:pt x="153293" y="35812"/>
                </a:lnTo>
                <a:cubicBezTo>
                  <a:pt x="147897" y="14739"/>
                  <a:pt x="128909" y="0"/>
                  <a:pt x="107156" y="0"/>
                </a:cubicBezTo>
                <a:cubicBezTo>
                  <a:pt x="85403" y="0"/>
                  <a:pt x="66415" y="14739"/>
                  <a:pt x="61020" y="35812"/>
                </a:cubicBezTo>
                <a:lnTo>
                  <a:pt x="11906" y="35812"/>
                </a:lnTo>
                <a:cubicBezTo>
                  <a:pt x="5331" y="35812"/>
                  <a:pt x="0" y="41143"/>
                  <a:pt x="0" y="47718"/>
                </a:cubicBezTo>
                <a:cubicBezTo>
                  <a:pt x="0" y="54294"/>
                  <a:pt x="5331" y="59625"/>
                  <a:pt x="11906" y="59625"/>
                </a:cubicBezTo>
                <a:close/>
                <a:moveTo>
                  <a:pt x="107156" y="23906"/>
                </a:moveTo>
                <a:cubicBezTo>
                  <a:pt x="120308" y="23906"/>
                  <a:pt x="130969" y="34567"/>
                  <a:pt x="130969" y="47718"/>
                </a:cubicBezTo>
                <a:cubicBezTo>
                  <a:pt x="130969" y="60870"/>
                  <a:pt x="120308" y="71531"/>
                  <a:pt x="107156" y="71531"/>
                </a:cubicBezTo>
                <a:cubicBezTo>
                  <a:pt x="94005" y="71531"/>
                  <a:pt x="83344" y="60870"/>
                  <a:pt x="83344" y="47718"/>
                </a:cubicBezTo>
                <a:cubicBezTo>
                  <a:pt x="83344" y="34567"/>
                  <a:pt x="94005" y="23906"/>
                  <a:pt x="107156" y="23906"/>
                </a:cubicBezTo>
                <a:close/>
                <a:moveTo>
                  <a:pt x="273844" y="178687"/>
                </a:moveTo>
                <a:lnTo>
                  <a:pt x="248543" y="178687"/>
                </a:lnTo>
                <a:cubicBezTo>
                  <a:pt x="243147" y="157614"/>
                  <a:pt x="224159" y="142875"/>
                  <a:pt x="202406" y="142875"/>
                </a:cubicBezTo>
                <a:cubicBezTo>
                  <a:pt x="180653" y="142875"/>
                  <a:pt x="161665" y="157614"/>
                  <a:pt x="156270" y="178687"/>
                </a:cubicBezTo>
                <a:lnTo>
                  <a:pt x="11906" y="178687"/>
                </a:lnTo>
                <a:cubicBezTo>
                  <a:pt x="5331" y="178687"/>
                  <a:pt x="0" y="184018"/>
                  <a:pt x="0" y="190593"/>
                </a:cubicBezTo>
                <a:cubicBezTo>
                  <a:pt x="0" y="197169"/>
                  <a:pt x="5331" y="202500"/>
                  <a:pt x="11906" y="202500"/>
                </a:cubicBezTo>
                <a:lnTo>
                  <a:pt x="156270" y="202500"/>
                </a:lnTo>
                <a:cubicBezTo>
                  <a:pt x="161665" y="223573"/>
                  <a:pt x="180653" y="238312"/>
                  <a:pt x="202406" y="238312"/>
                </a:cubicBezTo>
                <a:cubicBezTo>
                  <a:pt x="224159" y="238312"/>
                  <a:pt x="243147" y="223573"/>
                  <a:pt x="248543" y="202500"/>
                </a:cubicBezTo>
                <a:lnTo>
                  <a:pt x="273844" y="202500"/>
                </a:lnTo>
                <a:cubicBezTo>
                  <a:pt x="280419" y="202500"/>
                  <a:pt x="285750" y="197169"/>
                  <a:pt x="285750" y="190593"/>
                </a:cubicBezTo>
                <a:cubicBezTo>
                  <a:pt x="285750" y="184018"/>
                  <a:pt x="280419" y="178687"/>
                  <a:pt x="273844" y="178687"/>
                </a:cubicBezTo>
                <a:close/>
                <a:moveTo>
                  <a:pt x="202406" y="214406"/>
                </a:moveTo>
                <a:cubicBezTo>
                  <a:pt x="189255" y="214406"/>
                  <a:pt x="178594" y="203745"/>
                  <a:pt x="178594" y="190593"/>
                </a:cubicBezTo>
                <a:cubicBezTo>
                  <a:pt x="178594" y="177442"/>
                  <a:pt x="189255" y="166781"/>
                  <a:pt x="202406" y="166781"/>
                </a:cubicBezTo>
                <a:cubicBezTo>
                  <a:pt x="215558" y="166781"/>
                  <a:pt x="226219" y="177442"/>
                  <a:pt x="226219" y="190593"/>
                </a:cubicBezTo>
                <a:cubicBezTo>
                  <a:pt x="226219" y="203745"/>
                  <a:pt x="215558" y="214406"/>
                  <a:pt x="202406" y="214406"/>
                </a:cubicBezTo>
                <a:close/>
              </a:path>
            </a:pathLst>
          </a:custGeom>
          <a:solidFill xmlns:a="http://schemas.openxmlformats.org/drawingml/2006/main">
            <a:srgbClr val="F7F9FC"/>
          </a:solidFill>
          <a:ln xmlns:a="http://schemas.openxmlformats.org/drawingml/2006/main">
            <a:noFill/>
          </a:ln>
        </p:spPr>
      </p:sp>
      <p:sp>
        <p:nvSpPr>
          <p:cNvPr id="94" name="TextBox 94">
            <a:extLst xmlns:a="http://schemas.openxmlformats.org/drawingml/2006/main">
              <a:ext uri="{FF2B5EF4-FFF2-40B4-BE49-F238E27FC236}">
                <a16:creationId xmlns:a16="http://schemas.microsoft.com/office/drawing/2014/main" id="{83D87E56-1208-4608-A4B7-36D0B0DCE29A}"/>
              </a:ext>
            </a:extLst>
          </p:cNvPr>
          <p:cNvSpPr>
            <a:spLocks xmlns:a="http://schemas.openxmlformats.org/drawingml/2006/main" noGrp="1"/>
          </p:cNvSpPr>
          <p:nvPr/>
        </p:nvSpPr>
        <p:spPr>
          <a:xfrm xmlns:a="http://schemas.openxmlformats.org/drawingml/2006/main" rot="0">
            <a:off x="1242060" y="5642610"/>
            <a:ext cx="4961896"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200" b="1">
                <a:solidFill>
                  <a:srgbClr val="F7F9FC"/>
                </a:solidFill>
                <a:latin typeface="Arial"/>
                <a:ea typeface="Arial"/>
                <a:cs typeface="Arial"/>
              </a:rPr>
              <a:t>AUTONOMOUS DOES NOT MEAN UNCONTROLLED</a:t>
            </a:r>
          </a:p>
        </p:txBody>
      </p:sp>
      <p:sp>
        <p:nvSpPr>
          <p:cNvPr id="95" name="TextBox 95">
            <a:extLst xmlns:a="http://schemas.openxmlformats.org/drawingml/2006/main">
              <a:ext uri="{FF2B5EF4-FFF2-40B4-BE49-F238E27FC236}">
                <a16:creationId xmlns:a16="http://schemas.microsoft.com/office/drawing/2014/main" id="{9DB9CE2E-6D17-4EC1-A821-1D831012E918}"/>
              </a:ext>
            </a:extLst>
          </p:cNvPr>
          <p:cNvSpPr>
            <a:spLocks xmlns:a="http://schemas.openxmlformats.org/drawingml/2006/main" noGrp="1"/>
          </p:cNvSpPr>
          <p:nvPr/>
        </p:nvSpPr>
        <p:spPr>
          <a:xfrm xmlns:a="http://schemas.openxmlformats.org/drawingml/2006/main" rot="0">
            <a:off x="1244918" y="5914549"/>
            <a:ext cx="57129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F7F9FC"/>
                </a:solidFill>
                <a:latin typeface="Arial"/>
                <a:ea typeface="Arial"/>
                <a:cs typeface="Arial"/>
              </a:rPr>
              <a:t>Low speed, distance limits, obstacle sensing and cooldowns remain active during every behaviour.</a:t>
            </a:r>
          </a:p>
        </p:txBody>
      </p:sp>
      <p:sp>
        <p:nvSpPr>
          <p:cNvPr id="97" name="TextBox 97">
            <a:extLst xmlns:a="http://schemas.openxmlformats.org/drawingml/2006/main">
              <a:ext uri="{FF2B5EF4-FFF2-40B4-BE49-F238E27FC236}">
                <a16:creationId xmlns:a16="http://schemas.microsoft.com/office/drawing/2014/main" id="{25973E35-1CA7-4E05-B0A1-E4BF98EBB2D0}"/>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08</a:t>
            </a:r>
          </a:p>
        </p:txBody>
      </p:sp>
    </p:spTree>
    <p:extLst>
      <p:ext uri="{BB962C8B-B14F-4D97-AF65-F5344CB8AC3E}">
        <p14:creationId xmlns:p14="http://schemas.microsoft.com/office/powerpoint/2010/main" val="197206934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C3425F86-49D7-4BD7-8FED-D26391C4EC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7D1C5216-1956-43C0-9C28-1EDF108AF947}"/>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49B95077-7567-409F-8AC0-107F7E500481}"/>
              </a:ext>
            </a:extLst>
          </p:cNvPr>
          <p:cNvSpPr>
            <a:spLocks xmlns:a="http://schemas.openxmlformats.org/drawingml/2006/main" noGrp="1"/>
          </p:cNvSpPr>
          <p:nvPr/>
        </p:nvSpPr>
        <p:spPr>
          <a:xfrm xmlns:a="http://schemas.openxmlformats.org/drawingml/2006/main" rot="0">
            <a:off x="659130" y="411480"/>
            <a:ext cx="236152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10-DAY DELIVERY PLAN</a:t>
            </a:r>
          </a:p>
        </p:txBody>
      </p:sp>
      <p:sp>
        <p:nvSpPr>
          <p:cNvPr id="5" name="TextBox 5">
            <a:extLst xmlns:a="http://schemas.openxmlformats.org/drawingml/2006/main">
              <a:ext uri="{FF2B5EF4-FFF2-40B4-BE49-F238E27FC236}">
                <a16:creationId xmlns:a16="http://schemas.microsoft.com/office/drawing/2014/main" id="{824CEB9F-3A1A-4A5D-B95B-CE4C5A1B702B}"/>
              </a:ext>
            </a:extLst>
          </p:cNvPr>
          <p:cNvSpPr>
            <a:spLocks xmlns:a="http://schemas.openxmlformats.org/drawingml/2006/main" noGrp="1"/>
          </p:cNvSpPr>
          <p:nvPr/>
        </p:nvSpPr>
        <p:spPr>
          <a:xfrm xmlns:a="http://schemas.openxmlformats.org/drawingml/2006/main" rot="0">
            <a:off x="9729268" y="485299"/>
            <a:ext cx="20179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D95D5D"/>
                </a:solidFill>
                <a:latin typeface="Arial"/>
                <a:ea typeface="Arial"/>
                <a:cs typeface="Arial"/>
              </a:rPr>
              <a:t>18–27 JULY 2026</a:t>
            </a:r>
          </a:p>
        </p:txBody>
      </p:sp>
      <p:sp>
        <p:nvSpPr>
          <p:cNvPr id="6" name="Line 6">
            <a:extLst xmlns:a="http://schemas.openxmlformats.org/drawingml/2006/main">
              <a:ext uri="{FF2B5EF4-FFF2-40B4-BE49-F238E27FC236}">
                <a16:creationId xmlns:a16="http://schemas.microsoft.com/office/drawing/2014/main" id="{D1B91D8B-68CA-467D-B824-D5376805646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8" name="Rectangle 8">
            <a:extLst xmlns:a="http://schemas.openxmlformats.org/drawingml/2006/main">
              <a:ext uri="{FF2B5EF4-FFF2-40B4-BE49-F238E27FC236}">
                <a16:creationId xmlns:a16="http://schemas.microsoft.com/office/drawing/2014/main" id="{978654C1-A40B-459F-B167-70909D7A271E}"/>
              </a:ext>
            </a:extLst>
          </p:cNvPr>
          <p:cNvSpPr>
            <a:spLocks xmlns:a="http://schemas.openxmlformats.org/drawingml/2006/main" noGrp="1"/>
          </p:cNvSpPr>
          <p:nvPr/>
        </p:nvSpPr>
        <p:spPr>
          <a:xfrm xmlns:a="http://schemas.openxmlformats.org/drawingml/2006/main" rot="0">
            <a:off x="457200" y="1066800"/>
            <a:ext cx="11277600" cy="4953000"/>
          </a:xfrm>
          <a:prstGeom xmlns:a="http://schemas.openxmlformats.org/drawingml/2006/main" prst="roundRect">
            <a:avLst>
              <a:gd name="adj" fmla="val 2308"/>
            </a:avLst>
          </a:prstGeom>
          <a:solidFill xmlns:a="http://schemas.openxmlformats.org/drawingml/2006/main">
            <a:srgbClr val="F7F9FC"/>
          </a:solidFill>
          <a:ln xmlns:a="http://schemas.openxmlformats.org/drawingml/2006/main" w="14288">
            <a:solidFill>
              <a:srgbClr val="CED8E4"/>
            </a:solidFill>
            <a:prstDash val="lgDash"/>
          </a:ln>
        </p:spPr>
      </p:sp>
      <p:sp>
        <p:nvSpPr>
          <p:cNvPr id="9" name="TextBox 9">
            <a:extLst xmlns:a="http://schemas.openxmlformats.org/drawingml/2006/main">
              <a:ext uri="{FF2B5EF4-FFF2-40B4-BE49-F238E27FC236}">
                <a16:creationId xmlns:a16="http://schemas.microsoft.com/office/drawing/2014/main" id="{78A798BF-50C6-4335-AE08-4F18FB5CFFE1}"/>
              </a:ext>
            </a:extLst>
          </p:cNvPr>
          <p:cNvSpPr>
            <a:spLocks xmlns:a="http://schemas.openxmlformats.org/drawingml/2006/main" noGrp="1"/>
          </p:cNvSpPr>
          <p:nvPr/>
        </p:nvSpPr>
        <p:spPr>
          <a:xfrm xmlns:a="http://schemas.openxmlformats.org/drawingml/2006/main" rot="0">
            <a:off x="673418" y="1218724"/>
            <a:ext cx="472777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BUILD CORE FIRST; ADD EXTENSIONS ONLY AFTER THE END-TO-END DEMO WORKS</a:t>
            </a:r>
          </a:p>
        </p:txBody>
      </p:sp>
      <p:sp>
        <p:nvSpPr>
          <p:cNvPr id="11" name="Rectangle 11">
            <a:extLst xmlns:a="http://schemas.openxmlformats.org/drawingml/2006/main">
              <a:ext uri="{FF2B5EF4-FFF2-40B4-BE49-F238E27FC236}">
                <a16:creationId xmlns:a16="http://schemas.microsoft.com/office/drawing/2014/main" id="{9CACC870-90B4-4477-93F0-02DB2067414D}"/>
              </a:ext>
            </a:extLst>
          </p:cNvPr>
          <p:cNvSpPr>
            <a:spLocks xmlns:a="http://schemas.openxmlformats.org/drawingml/2006/main" noGrp="1"/>
          </p:cNvSpPr>
          <p:nvPr/>
        </p:nvSpPr>
        <p:spPr>
          <a:xfrm xmlns:a="http://schemas.openxmlformats.org/drawingml/2006/main" rot="0">
            <a:off x="685800" y="1524000"/>
            <a:ext cx="3429000" cy="4210050"/>
          </a:xfrm>
          <a:prstGeom xmlns:a="http://schemas.openxmlformats.org/drawingml/2006/main" prst="roundRect">
            <a:avLst>
              <a:gd name="adj" fmla="val 3333"/>
            </a:avLst>
          </a:prstGeom>
          <a:solidFill xmlns:a="http://schemas.openxmlformats.org/drawingml/2006/main">
            <a:srgbClr val="123B5D"/>
          </a:solidFill>
          <a:ln xmlns:a="http://schemas.openxmlformats.org/drawingml/2006/main">
            <a:noFill/>
          </a:ln>
        </p:spPr>
      </p:sp>
      <p:sp>
        <p:nvSpPr>
          <p:cNvPr id="12" name="Freeform 12">
            <a:extLst xmlns:a="http://schemas.openxmlformats.org/drawingml/2006/main">
              <a:ext uri="{FF2B5EF4-FFF2-40B4-BE49-F238E27FC236}">
                <a16:creationId xmlns:a16="http://schemas.microsoft.com/office/drawing/2014/main" id="{310CC452-27C0-4F43-989B-74020D13D5AB}"/>
              </a:ext>
            </a:extLst>
          </p:cNvPr>
          <p:cNvSpPr>
            <a:spLocks xmlns:a="http://schemas.openxmlformats.org/drawingml/2006/main" noGrp="1"/>
          </p:cNvSpPr>
          <p:nvPr/>
        </p:nvSpPr>
        <p:spPr>
          <a:xfrm xmlns:a="http://schemas.openxmlformats.org/drawingml/2006/main" rot="0">
            <a:off x="940523" y="1833562"/>
            <a:ext cx="366793" cy="301228"/>
          </a:xfrm>
          <a:custGeom xmlns:a="http://schemas.openxmlformats.org/drawingml/2006/main">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xmlns:a="http://schemas.openxmlformats.org/drawingml/2006/main">
            <a:srgbClr val="F7F9FC">
              <a:alpha val="20000"/>
            </a:srgbClr>
          </a:solidFill>
          <a:ln xmlns:a="http://schemas.openxmlformats.org/drawingml/2006/main">
            <a:noFill/>
          </a:ln>
        </p:spPr>
      </p:sp>
      <p:sp>
        <p:nvSpPr>
          <p:cNvPr id="13" name="Freeform 13">
            <a:extLst xmlns:a="http://schemas.openxmlformats.org/drawingml/2006/main">
              <a:ext uri="{FF2B5EF4-FFF2-40B4-BE49-F238E27FC236}">
                <a16:creationId xmlns:a16="http://schemas.microsoft.com/office/drawing/2014/main" id="{E37C0FE7-ABA8-4A39-BAAE-817FBCBDFF73}"/>
              </a:ext>
            </a:extLst>
          </p:cNvPr>
          <p:cNvSpPr>
            <a:spLocks xmlns:a="http://schemas.openxmlformats.org/drawingml/2006/main" noGrp="1"/>
          </p:cNvSpPr>
          <p:nvPr/>
        </p:nvSpPr>
        <p:spPr>
          <a:xfrm xmlns:a="http://schemas.openxmlformats.org/drawingml/2006/main" rot="0">
            <a:off x="927485" y="1813884"/>
            <a:ext cx="392919" cy="340585"/>
          </a:xfrm>
          <a:custGeom xmlns:a="http://schemas.openxmlformats.org/drawingml/2006/main">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xmlns:a="http://schemas.openxmlformats.org/drawingml/2006/main">
            <a:srgbClr val="F7F9FC"/>
          </a:solidFill>
          <a:ln xmlns:a="http://schemas.openxmlformats.org/drawingml/2006/main">
            <a:noFill/>
          </a:ln>
        </p:spPr>
      </p:sp>
      <p:sp>
        <p:nvSpPr>
          <p:cNvPr id="15" name="Freeform 15">
            <a:extLst xmlns:a="http://schemas.openxmlformats.org/drawingml/2006/main">
              <a:ext uri="{FF2B5EF4-FFF2-40B4-BE49-F238E27FC236}">
                <a16:creationId xmlns:a16="http://schemas.microsoft.com/office/drawing/2014/main" id="{A328A959-4B39-418D-9B7D-C1B3B3A0B1C1}"/>
              </a:ext>
            </a:extLst>
          </p:cNvPr>
          <p:cNvSpPr>
            <a:spLocks xmlns:a="http://schemas.openxmlformats.org/drawingml/2006/main" noGrp="1"/>
          </p:cNvSpPr>
          <p:nvPr/>
        </p:nvSpPr>
        <p:spPr>
          <a:xfrm xmlns:a="http://schemas.openxmlformats.org/drawingml/2006/main" rot="0">
            <a:off x="1457579" y="1820466"/>
            <a:ext cx="292640" cy="340519"/>
          </a:xfrm>
          <a:custGeom xmlns:a="http://schemas.openxmlformats.org/drawingml/2006/main">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xmlns:a="http://schemas.openxmlformats.org/drawingml/2006/main">
            <a:srgbClr val="F7F9FC">
              <a:alpha val="20000"/>
            </a:srgbClr>
          </a:solidFill>
          <a:ln xmlns:a="http://schemas.openxmlformats.org/drawingml/2006/main">
            <a:noFill/>
          </a:ln>
        </p:spPr>
      </p:sp>
      <p:sp>
        <p:nvSpPr>
          <p:cNvPr id="16" name="Freeform 16">
            <a:extLst xmlns:a="http://schemas.openxmlformats.org/drawingml/2006/main">
              <a:ext uri="{FF2B5EF4-FFF2-40B4-BE49-F238E27FC236}">
                <a16:creationId xmlns:a16="http://schemas.microsoft.com/office/drawing/2014/main" id="{9B5F4042-B24F-41EB-B49A-6F62C92A7559}"/>
              </a:ext>
            </a:extLst>
          </p:cNvPr>
          <p:cNvSpPr>
            <a:spLocks xmlns:a="http://schemas.openxmlformats.org/drawingml/2006/main" noGrp="1"/>
          </p:cNvSpPr>
          <p:nvPr/>
        </p:nvSpPr>
        <p:spPr>
          <a:xfrm xmlns:a="http://schemas.openxmlformats.org/drawingml/2006/main" rot="0">
            <a:off x="1442437" y="1804400"/>
            <a:ext cx="320878" cy="369681"/>
          </a:xfrm>
          <a:custGeom xmlns:a="http://schemas.openxmlformats.org/drawingml/2006/main">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xmlns:a="http://schemas.openxmlformats.org/drawingml/2006/main">
            <a:srgbClr val="F7F9FC"/>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27C7C214-DC36-435E-9E1D-FECF0150D7FE}"/>
              </a:ext>
            </a:extLst>
          </p:cNvPr>
          <p:cNvSpPr>
            <a:spLocks xmlns:a="http://schemas.openxmlformats.org/drawingml/2006/main" noGrp="1"/>
          </p:cNvSpPr>
          <p:nvPr/>
        </p:nvSpPr>
        <p:spPr>
          <a:xfrm xmlns:a="http://schemas.openxmlformats.org/drawingml/2006/main" rot="0">
            <a:off x="902018" y="2437924"/>
            <a:ext cx="164249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DELIVERY STRATEGY</a:t>
            </a:r>
          </a:p>
        </p:txBody>
      </p:sp>
      <p:sp>
        <p:nvSpPr>
          <p:cNvPr id="19" name="TextBox 19">
            <a:extLst xmlns:a="http://schemas.openxmlformats.org/drawingml/2006/main">
              <a:ext uri="{FF2B5EF4-FFF2-40B4-BE49-F238E27FC236}">
                <a16:creationId xmlns:a16="http://schemas.microsoft.com/office/drawing/2014/main" id="{FD266AF8-28E2-4C27-B861-B8E51FE2F1A1}"/>
              </a:ext>
            </a:extLst>
          </p:cNvPr>
          <p:cNvSpPr>
            <a:spLocks xmlns:a="http://schemas.openxmlformats.org/drawingml/2006/main" noGrp="1"/>
          </p:cNvSpPr>
          <p:nvPr/>
        </p:nvSpPr>
        <p:spPr>
          <a:xfrm xmlns:a="http://schemas.openxmlformats.org/drawingml/2006/main" rot="0">
            <a:off x="893445" y="2755582"/>
            <a:ext cx="187859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VERTICAL SLICE</a:t>
            </a:r>
          </a:p>
        </p:txBody>
      </p:sp>
      <p:sp>
        <p:nvSpPr>
          <p:cNvPr id="20" name="TextBox 20">
            <a:extLst xmlns:a="http://schemas.openxmlformats.org/drawingml/2006/main">
              <a:ext uri="{FF2B5EF4-FFF2-40B4-BE49-F238E27FC236}">
                <a16:creationId xmlns:a16="http://schemas.microsoft.com/office/drawing/2014/main" id="{C020D530-8E66-4D71-B028-7093FC011A1A}"/>
              </a:ext>
            </a:extLst>
          </p:cNvPr>
          <p:cNvSpPr>
            <a:spLocks xmlns:a="http://schemas.openxmlformats.org/drawingml/2006/main" noGrp="1"/>
          </p:cNvSpPr>
          <p:nvPr/>
        </p:nvSpPr>
        <p:spPr>
          <a:xfrm xmlns:a="http://schemas.openxmlformats.org/drawingml/2006/main" rot="0">
            <a:off x="893445" y="3031808"/>
            <a:ext cx="124326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THEN POLISH</a:t>
            </a:r>
          </a:p>
        </p:txBody>
      </p:sp>
      <p:sp>
        <p:nvSpPr>
          <p:cNvPr id="21" name="Rectangle 21">
            <a:extLst xmlns:a="http://schemas.openxmlformats.org/drawingml/2006/main">
              <a:ext uri="{FF2B5EF4-FFF2-40B4-BE49-F238E27FC236}">
                <a16:creationId xmlns:a16="http://schemas.microsoft.com/office/drawing/2014/main" id="{49687176-52F2-4113-9C7A-802EF0B6217A}"/>
              </a:ext>
            </a:extLst>
          </p:cNvPr>
          <p:cNvSpPr>
            <a:spLocks xmlns:a="http://schemas.openxmlformats.org/drawingml/2006/main" noGrp="1"/>
          </p:cNvSpPr>
          <p:nvPr/>
        </p:nvSpPr>
        <p:spPr>
          <a:xfrm xmlns:a="http://schemas.openxmlformats.org/drawingml/2006/main" rot="0">
            <a:off x="914400" y="3476625"/>
            <a:ext cx="2743200" cy="590550"/>
          </a:xfrm>
          <a:prstGeom xmlns:a="http://schemas.openxmlformats.org/drawingml/2006/main" prst="roundRect">
            <a:avLst>
              <a:gd name="adj" fmla="val 16129"/>
            </a:avLst>
          </a:prstGeom>
          <a:solidFill xmlns:a="http://schemas.openxmlformats.org/drawingml/2006/main">
            <a:srgbClr val="2F80ED"/>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9B044053-B3DA-4F29-B142-FDB831529433}"/>
              </a:ext>
            </a:extLst>
          </p:cNvPr>
          <p:cNvSpPr>
            <a:spLocks xmlns:a="http://schemas.openxmlformats.org/drawingml/2006/main" noGrp="1"/>
          </p:cNvSpPr>
          <p:nvPr/>
        </p:nvSpPr>
        <p:spPr>
          <a:xfrm xmlns:a="http://schemas.openxmlformats.org/drawingml/2006/main" rot="0">
            <a:off x="1913715" y="3594735"/>
            <a:ext cx="74456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b="1">
                <a:solidFill>
                  <a:srgbClr val="F7F9FC"/>
                </a:solidFill>
                <a:latin typeface="Consolas"/>
                <a:ea typeface="Consolas"/>
                <a:cs typeface="Consolas"/>
              </a:rPr>
              <a:t>MVP FIRST</a:t>
            </a:r>
          </a:p>
        </p:txBody>
      </p:sp>
      <p:sp>
        <p:nvSpPr>
          <p:cNvPr id="23" name="TextBox 23">
            <a:extLst xmlns:a="http://schemas.openxmlformats.org/drawingml/2006/main">
              <a:ext uri="{FF2B5EF4-FFF2-40B4-BE49-F238E27FC236}">
                <a16:creationId xmlns:a16="http://schemas.microsoft.com/office/drawing/2014/main" id="{3B0D53B9-73EF-420A-8E79-3193161E12BA}"/>
              </a:ext>
            </a:extLst>
          </p:cNvPr>
          <p:cNvSpPr>
            <a:spLocks xmlns:a="http://schemas.openxmlformats.org/drawingml/2006/main" noGrp="1"/>
          </p:cNvSpPr>
          <p:nvPr/>
        </p:nvSpPr>
        <p:spPr>
          <a:xfrm xmlns:a="http://schemas.openxmlformats.org/drawingml/2006/main" rot="0">
            <a:off x="1148977" y="3838099"/>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a:solidFill>
                  <a:srgbClr val="F7F9FC"/>
                </a:solidFill>
                <a:latin typeface="Arial"/>
                <a:ea typeface="Arial"/>
                <a:cs typeface="Arial"/>
              </a:rPr>
              <a:t>Every stage ends with a runnable demo</a:t>
            </a:r>
          </a:p>
        </p:txBody>
      </p:sp>
      <p:sp>
        <p:nvSpPr>
          <p:cNvPr id="24" name="Line 24">
            <a:extLst xmlns:a="http://schemas.openxmlformats.org/drawingml/2006/main">
              <a:ext uri="{FF2B5EF4-FFF2-40B4-BE49-F238E27FC236}">
                <a16:creationId xmlns:a16="http://schemas.microsoft.com/office/drawing/2014/main" id="{28F3E89C-BADF-4380-87C0-70D1FB0BEB08}"/>
              </a:ext>
            </a:extLst>
          </p:cNvPr>
          <p:cNvSpPr>
            <a:spLocks xmlns:a="http://schemas.openxmlformats.org/drawingml/2006/main" noGrp="1"/>
          </p:cNvSpPr>
          <p:nvPr/>
        </p:nvSpPr>
        <p:spPr>
          <a:xfrm xmlns:a="http://schemas.openxmlformats.org/drawingml/2006/main" rot="0">
            <a:off x="914400" y="4352925"/>
            <a:ext cx="2743200" cy="9525"/>
          </a:xfrm>
          <a:custGeom xmlns:a="http://schemas.openxmlformats.org/drawingml/2006/main">
            <a:rect l="l" t="t" r="r" b="b"/>
            <a:pathLst>
              <a:path w="2743200" h="9525">
                <a:moveTo>
                  <a:pt x="0" y="0"/>
                </a:moveTo>
                <a:lnTo>
                  <a:pt x="2743200" y="0"/>
                </a:lnTo>
              </a:path>
            </a:pathLst>
          </a:custGeom>
          <a:noFill xmlns:a="http://schemas.openxmlformats.org/drawingml/2006/main"/>
          <a:ln xmlns:a="http://schemas.openxmlformats.org/drawingml/2006/main" w="9525">
            <a:solidFill>
              <a:srgbClr val="F7F9FC">
                <a:alpha val="35000"/>
              </a:srgbClr>
            </a:solidFill>
          </a:ln>
        </p:spPr>
      </p:sp>
      <p:sp>
        <p:nvSpPr>
          <p:cNvPr id="25" name="Ellipse 25">
            <a:extLst xmlns:a="http://schemas.openxmlformats.org/drawingml/2006/main">
              <a:ext uri="{FF2B5EF4-FFF2-40B4-BE49-F238E27FC236}">
                <a16:creationId xmlns:a16="http://schemas.microsoft.com/office/drawing/2014/main" id="{BF2EA731-FE4E-47DD-B08D-6B8E7708BDDF}"/>
              </a:ext>
            </a:extLst>
          </p:cNvPr>
          <p:cNvSpPr>
            <a:spLocks xmlns:a="http://schemas.openxmlformats.org/drawingml/2006/main" noGrp="1"/>
          </p:cNvSpPr>
          <p:nvPr/>
        </p:nvSpPr>
        <p:spPr>
          <a:xfrm xmlns:a="http://schemas.openxmlformats.org/drawingml/2006/main" rot="0">
            <a:off x="952500" y="4619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6" name="TextBox 26">
            <a:extLst xmlns:a="http://schemas.openxmlformats.org/drawingml/2006/main">
              <a:ext uri="{FF2B5EF4-FFF2-40B4-BE49-F238E27FC236}">
                <a16:creationId xmlns:a16="http://schemas.microsoft.com/office/drawing/2014/main" id="{1D9DBB1F-FF1F-44DE-B030-31553C1CD0E6}"/>
              </a:ext>
            </a:extLst>
          </p:cNvPr>
          <p:cNvSpPr>
            <a:spLocks xmlns:a="http://schemas.openxmlformats.org/drawingml/2006/main" noGrp="1"/>
          </p:cNvSpPr>
          <p:nvPr/>
        </p:nvSpPr>
        <p:spPr>
          <a:xfrm xmlns:a="http://schemas.openxmlformats.org/drawingml/2006/main" rot="0">
            <a:off x="1128712" y="4583906"/>
            <a:ext cx="234636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Must: drive + video + laptop audio</a:t>
            </a:r>
          </a:p>
        </p:txBody>
      </p:sp>
      <p:sp>
        <p:nvSpPr>
          <p:cNvPr id="27" name="Ellipse 27">
            <a:extLst xmlns:a="http://schemas.openxmlformats.org/drawingml/2006/main">
              <a:ext uri="{FF2B5EF4-FFF2-40B4-BE49-F238E27FC236}">
                <a16:creationId xmlns:a16="http://schemas.microsoft.com/office/drawing/2014/main" id="{2A3714A5-682C-47B6-B308-8377E5C1D4C3}"/>
              </a:ext>
            </a:extLst>
          </p:cNvPr>
          <p:cNvSpPr>
            <a:spLocks xmlns:a="http://schemas.openxmlformats.org/drawingml/2006/main" noGrp="1"/>
          </p:cNvSpPr>
          <p:nvPr/>
        </p:nvSpPr>
        <p:spPr>
          <a:xfrm xmlns:a="http://schemas.openxmlformats.org/drawingml/2006/main" rot="0">
            <a:off x="952500" y="5000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82948DB1-AC7E-4F07-A302-5A1C2AA5A4EB}"/>
              </a:ext>
            </a:extLst>
          </p:cNvPr>
          <p:cNvSpPr>
            <a:spLocks xmlns:a="http://schemas.openxmlformats.org/drawingml/2006/main" noGrp="1"/>
          </p:cNvSpPr>
          <p:nvPr/>
        </p:nvSpPr>
        <p:spPr>
          <a:xfrm xmlns:a="http://schemas.openxmlformats.org/drawingml/2006/main" rot="0">
            <a:off x="1128712" y="4964906"/>
            <a:ext cx="226385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Should: posture / phone / gesture DL</a:t>
            </a:r>
          </a:p>
        </p:txBody>
      </p:sp>
      <p:sp>
        <p:nvSpPr>
          <p:cNvPr id="29" name="Ellipse 29">
            <a:extLst xmlns:a="http://schemas.openxmlformats.org/drawingml/2006/main">
              <a:ext uri="{FF2B5EF4-FFF2-40B4-BE49-F238E27FC236}">
                <a16:creationId xmlns:a16="http://schemas.microsoft.com/office/drawing/2014/main" id="{7CAF6720-646A-482E-A4B7-196D15F21ECC}"/>
              </a:ext>
            </a:extLst>
          </p:cNvPr>
          <p:cNvSpPr>
            <a:spLocks xmlns:a="http://schemas.openxmlformats.org/drawingml/2006/main" noGrp="1"/>
          </p:cNvSpPr>
          <p:nvPr/>
        </p:nvSpPr>
        <p:spPr>
          <a:xfrm xmlns:a="http://schemas.openxmlformats.org/drawingml/2006/main" rot="0">
            <a:off x="952500" y="5381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1D4CECDB-29C8-49B5-A837-50C483087771}"/>
              </a:ext>
            </a:extLst>
          </p:cNvPr>
          <p:cNvSpPr>
            <a:spLocks xmlns:a="http://schemas.openxmlformats.org/drawingml/2006/main" noGrp="1"/>
          </p:cNvSpPr>
          <p:nvPr/>
        </p:nvSpPr>
        <p:spPr>
          <a:xfrm xmlns:a="http://schemas.openxmlformats.org/drawingml/2006/main" rot="0">
            <a:off x="1128712" y="5345906"/>
            <a:ext cx="255639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Could: identity, 2-wheel base, arm</a:t>
            </a:r>
          </a:p>
        </p:txBody>
      </p:sp>
      <p:sp>
        <p:nvSpPr>
          <p:cNvPr id="32" name="Rectangle 32">
            <a:extLst xmlns:a="http://schemas.openxmlformats.org/drawingml/2006/main">
              <a:ext uri="{FF2B5EF4-FFF2-40B4-BE49-F238E27FC236}">
                <a16:creationId xmlns:a16="http://schemas.microsoft.com/office/drawing/2014/main" id="{E0F22EDB-B7D1-40FE-951B-D2B23EAD36E8}"/>
              </a:ext>
            </a:extLst>
          </p:cNvPr>
          <p:cNvSpPr>
            <a:spLocks xmlns:a="http://schemas.openxmlformats.org/drawingml/2006/main" noGrp="1"/>
          </p:cNvSpPr>
          <p:nvPr/>
        </p:nvSpPr>
        <p:spPr>
          <a:xfrm xmlns:a="http://schemas.openxmlformats.org/drawingml/2006/main" rot="0">
            <a:off x="4419600" y="15240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33" name="Freeform 33">
            <a:extLst xmlns:a="http://schemas.openxmlformats.org/drawingml/2006/main">
              <a:ext uri="{FF2B5EF4-FFF2-40B4-BE49-F238E27FC236}">
                <a16:creationId xmlns:a16="http://schemas.microsoft.com/office/drawing/2014/main" id="{0C209F29-B222-4AA1-ABE4-D8AACF1A0EC5}"/>
              </a:ext>
            </a:extLst>
          </p:cNvPr>
          <p:cNvSpPr>
            <a:spLocks xmlns:a="http://schemas.openxmlformats.org/drawingml/2006/main" noGrp="1"/>
          </p:cNvSpPr>
          <p:nvPr/>
        </p:nvSpPr>
        <p:spPr>
          <a:xfrm xmlns:a="http://schemas.openxmlformats.org/drawingml/2006/main" rot="0">
            <a:off x="4681142" y="1754981"/>
            <a:ext cx="238943" cy="291321"/>
          </a:xfrm>
          <a:custGeom xmlns:a="http://schemas.openxmlformats.org/drawingml/2006/main">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xmlns:a="http://schemas.openxmlformats.org/drawingml/2006/main">
            <a:srgbClr val="2F80ED">
              <a:alpha val="20000"/>
            </a:srgbClr>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15066CE6-D046-4868-B930-8BD343EB51D9}"/>
              </a:ext>
            </a:extLst>
          </p:cNvPr>
          <p:cNvSpPr>
            <a:spLocks xmlns:a="http://schemas.openxmlformats.org/drawingml/2006/main" noGrp="1"/>
          </p:cNvSpPr>
          <p:nvPr/>
        </p:nvSpPr>
        <p:spPr>
          <a:xfrm xmlns:a="http://schemas.openxmlformats.org/drawingml/2006/main" rot="0">
            <a:off x="4669371" y="1744266"/>
            <a:ext cx="262458" cy="315209"/>
          </a:xfrm>
          <a:custGeom xmlns:a="http://schemas.openxmlformats.org/drawingml/2006/main">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xmlns:a="http://schemas.openxmlformats.org/drawingml/2006/main">
            <a:srgbClr val="2F80ED"/>
          </a:solidFill>
          <a:ln xmlns:a="http://schemas.openxmlformats.org/drawingml/2006/main">
            <a:noFill/>
          </a:ln>
        </p:spPr>
      </p:sp>
      <p:sp>
        <p:nvSpPr>
          <p:cNvPr id="36" name="TextBox 36">
            <a:extLst xmlns:a="http://schemas.openxmlformats.org/drawingml/2006/main">
              <a:ext uri="{FF2B5EF4-FFF2-40B4-BE49-F238E27FC236}">
                <a16:creationId xmlns:a16="http://schemas.microsoft.com/office/drawing/2014/main" id="{57BB40E5-D49C-4613-B70D-26ADA4CF9DAD}"/>
              </a:ext>
            </a:extLst>
          </p:cNvPr>
          <p:cNvSpPr>
            <a:spLocks xmlns:a="http://schemas.openxmlformats.org/drawingml/2006/main" noGrp="1"/>
          </p:cNvSpPr>
          <p:nvPr/>
        </p:nvSpPr>
        <p:spPr>
          <a:xfrm xmlns:a="http://schemas.openxmlformats.org/drawingml/2006/main" rot="0">
            <a:off x="5088255" y="1797368"/>
            <a:ext cx="192452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DAYS 1–2 · FOUNDATION</a:t>
            </a:r>
          </a:p>
        </p:txBody>
      </p:sp>
      <p:sp>
        <p:nvSpPr>
          <p:cNvPr id="37" name="TextBox 37">
            <a:extLst xmlns:a="http://schemas.openxmlformats.org/drawingml/2006/main">
              <a:ext uri="{FF2B5EF4-FFF2-40B4-BE49-F238E27FC236}">
                <a16:creationId xmlns:a16="http://schemas.microsoft.com/office/drawing/2014/main" id="{CA86B929-0E43-4EE9-A65E-D741D9978797}"/>
              </a:ext>
            </a:extLst>
          </p:cNvPr>
          <p:cNvSpPr>
            <a:spLocks xmlns:a="http://schemas.openxmlformats.org/drawingml/2006/main" noGrp="1"/>
          </p:cNvSpPr>
          <p:nvPr/>
        </p:nvSpPr>
        <p:spPr>
          <a:xfrm xmlns:a="http://schemas.openxmlformats.org/drawingml/2006/main" rot="0">
            <a:off x="4614862" y="2202656"/>
            <a:ext cx="18888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Drive, sensors, power and serial link</a:t>
            </a:r>
          </a:p>
        </p:txBody>
      </p:sp>
      <p:sp>
        <p:nvSpPr>
          <p:cNvPr id="38" name="TextBox 38">
            <a:extLst xmlns:a="http://schemas.openxmlformats.org/drawingml/2006/main">
              <a:ext uri="{FF2B5EF4-FFF2-40B4-BE49-F238E27FC236}">
                <a16:creationId xmlns:a16="http://schemas.microsoft.com/office/drawing/2014/main" id="{64D5380B-B3A5-4354-B5BD-4E251061823A}"/>
              </a:ext>
            </a:extLst>
          </p:cNvPr>
          <p:cNvSpPr>
            <a:spLocks xmlns:a="http://schemas.openxmlformats.org/drawingml/2006/main" noGrp="1"/>
          </p:cNvSpPr>
          <p:nvPr/>
        </p:nvSpPr>
        <p:spPr>
          <a:xfrm xmlns:a="http://schemas.openxmlformats.org/drawingml/2006/main" rot="0">
            <a:off x="4616768" y="2437924"/>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Produce a remotely testable moving base</a:t>
            </a:r>
          </a:p>
        </p:txBody>
      </p:sp>
      <p:sp>
        <p:nvSpPr>
          <p:cNvPr id="40" name="Rectangle 40">
            <a:extLst xmlns:a="http://schemas.openxmlformats.org/drawingml/2006/main">
              <a:ext uri="{FF2B5EF4-FFF2-40B4-BE49-F238E27FC236}">
                <a16:creationId xmlns:a16="http://schemas.microsoft.com/office/drawing/2014/main" id="{6F3E840A-54EF-4683-A456-498D6D7A0967}"/>
              </a:ext>
            </a:extLst>
          </p:cNvPr>
          <p:cNvSpPr>
            <a:spLocks xmlns:a="http://schemas.openxmlformats.org/drawingml/2006/main" noGrp="1"/>
          </p:cNvSpPr>
          <p:nvPr/>
        </p:nvSpPr>
        <p:spPr>
          <a:xfrm xmlns:a="http://schemas.openxmlformats.org/drawingml/2006/main" rot="0">
            <a:off x="8039100" y="15240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1" name="Freeform 41">
            <a:extLst xmlns:a="http://schemas.openxmlformats.org/drawingml/2006/main">
              <a:ext uri="{FF2B5EF4-FFF2-40B4-BE49-F238E27FC236}">
                <a16:creationId xmlns:a16="http://schemas.microsoft.com/office/drawing/2014/main" id="{4B25AF25-8F27-4134-9C72-11F798074D8C}"/>
              </a:ext>
            </a:extLst>
          </p:cNvPr>
          <p:cNvSpPr>
            <a:spLocks xmlns:a="http://schemas.openxmlformats.org/drawingml/2006/main" noGrp="1"/>
          </p:cNvSpPr>
          <p:nvPr/>
        </p:nvSpPr>
        <p:spPr>
          <a:xfrm xmlns:a="http://schemas.openxmlformats.org/drawingml/2006/main" rot="0">
            <a:off x="8302203" y="1775932"/>
            <a:ext cx="246965" cy="246965"/>
          </a:xfrm>
          <a:custGeom xmlns:a="http://schemas.openxmlformats.org/drawingml/2006/main">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xmlns:a="http://schemas.openxmlformats.org/drawingml/2006/main">
            <a:srgbClr val="2F80ED">
              <a:alpha val="20000"/>
            </a:srgbClr>
          </a:solidFill>
          <a:ln xmlns:a="http://schemas.openxmlformats.org/drawingml/2006/main">
            <a:noFill/>
          </a:ln>
        </p:spPr>
      </p:sp>
      <p:sp>
        <p:nvSpPr>
          <p:cNvPr id="42" name="Freeform 42">
            <a:extLst xmlns:a="http://schemas.openxmlformats.org/drawingml/2006/main">
              <a:ext uri="{FF2B5EF4-FFF2-40B4-BE49-F238E27FC236}">
                <a16:creationId xmlns:a16="http://schemas.microsoft.com/office/drawing/2014/main" id="{DA1694BD-A2FD-455F-B824-A590C30BB0DA}"/>
              </a:ext>
            </a:extLst>
          </p:cNvPr>
          <p:cNvSpPr>
            <a:spLocks xmlns:a="http://schemas.openxmlformats.org/drawingml/2006/main" noGrp="1"/>
          </p:cNvSpPr>
          <p:nvPr/>
        </p:nvSpPr>
        <p:spPr>
          <a:xfrm xmlns:a="http://schemas.openxmlformats.org/drawingml/2006/main" rot="0">
            <a:off x="8291445" y="1764707"/>
            <a:ext cx="268951" cy="268949"/>
          </a:xfrm>
          <a:custGeom xmlns:a="http://schemas.openxmlformats.org/drawingml/2006/main">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xmlns:a="http://schemas.openxmlformats.org/drawingml/2006/main">
            <a:srgbClr val="2F80ED"/>
          </a:solidFill>
          <a:ln xmlns:a="http://schemas.openxmlformats.org/drawingml/2006/main">
            <a:noFill/>
          </a:ln>
        </p:spPr>
      </p:sp>
      <p:sp>
        <p:nvSpPr>
          <p:cNvPr id="44" name="TextBox 44">
            <a:extLst xmlns:a="http://schemas.openxmlformats.org/drawingml/2006/main">
              <a:ext uri="{FF2B5EF4-FFF2-40B4-BE49-F238E27FC236}">
                <a16:creationId xmlns:a16="http://schemas.microsoft.com/office/drawing/2014/main" id="{D0A143B4-20B6-4315-97DB-31F81E2C0FD6}"/>
              </a:ext>
            </a:extLst>
          </p:cNvPr>
          <p:cNvSpPr>
            <a:spLocks xmlns:a="http://schemas.openxmlformats.org/drawingml/2006/main" noGrp="1"/>
          </p:cNvSpPr>
          <p:nvPr/>
        </p:nvSpPr>
        <p:spPr>
          <a:xfrm xmlns:a="http://schemas.openxmlformats.org/drawingml/2006/main" rot="0">
            <a:off x="8707755" y="1797368"/>
            <a:ext cx="151812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DAYS 3–4 · PERCEPTION</a:t>
            </a:r>
          </a:p>
        </p:txBody>
      </p:sp>
      <p:sp>
        <p:nvSpPr>
          <p:cNvPr id="45" name="TextBox 45">
            <a:extLst xmlns:a="http://schemas.openxmlformats.org/drawingml/2006/main">
              <a:ext uri="{FF2B5EF4-FFF2-40B4-BE49-F238E27FC236}">
                <a16:creationId xmlns:a16="http://schemas.microsoft.com/office/drawing/2014/main" id="{B519663C-D02A-4FCB-ADCC-F074E29BB119}"/>
              </a:ext>
            </a:extLst>
          </p:cNvPr>
          <p:cNvSpPr>
            <a:spLocks xmlns:a="http://schemas.openxmlformats.org/drawingml/2006/main" noGrp="1"/>
          </p:cNvSpPr>
          <p:nvPr/>
        </p:nvSpPr>
        <p:spPr>
          <a:xfrm xmlns:a="http://schemas.openxmlformats.org/drawingml/2006/main" rot="0">
            <a:off x="8234362" y="2202656"/>
            <a:ext cx="243637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Camera + pose / face / hand / phone</a:t>
            </a:r>
          </a:p>
        </p:txBody>
      </p:sp>
      <p:sp>
        <p:nvSpPr>
          <p:cNvPr id="46" name="TextBox 46">
            <a:extLst xmlns:a="http://schemas.openxmlformats.org/drawingml/2006/main">
              <a:ext uri="{FF2B5EF4-FFF2-40B4-BE49-F238E27FC236}">
                <a16:creationId xmlns:a16="http://schemas.microsoft.com/office/drawing/2014/main" id="{587D43E9-3531-4174-AD08-8DF1011D1E44}"/>
              </a:ext>
            </a:extLst>
          </p:cNvPr>
          <p:cNvSpPr>
            <a:spLocks xmlns:a="http://schemas.openxmlformats.org/drawingml/2006/main" noGrp="1"/>
          </p:cNvSpPr>
          <p:nvPr/>
        </p:nvSpPr>
        <p:spPr>
          <a:xfrm xmlns:a="http://schemas.openxmlformats.org/drawingml/2006/main" rot="0">
            <a:off x="8236268" y="2437924"/>
            <a:ext cx="222854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Validate frame rate and event quality</a:t>
            </a:r>
          </a:p>
        </p:txBody>
      </p:sp>
      <p:sp>
        <p:nvSpPr>
          <p:cNvPr id="48" name="Rectangle 48">
            <a:extLst xmlns:a="http://schemas.openxmlformats.org/drawingml/2006/main">
              <a:ext uri="{FF2B5EF4-FFF2-40B4-BE49-F238E27FC236}">
                <a16:creationId xmlns:a16="http://schemas.microsoft.com/office/drawing/2014/main" id="{19A79CEE-8F6C-4138-A3AB-415D27E55C68}"/>
              </a:ext>
            </a:extLst>
          </p:cNvPr>
          <p:cNvSpPr>
            <a:spLocks xmlns:a="http://schemas.openxmlformats.org/drawingml/2006/main" noGrp="1"/>
          </p:cNvSpPr>
          <p:nvPr/>
        </p:nvSpPr>
        <p:spPr>
          <a:xfrm xmlns:a="http://schemas.openxmlformats.org/drawingml/2006/main" rot="0">
            <a:off x="4419600" y="29718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9" name="Freeform 49">
            <a:extLst xmlns:a="http://schemas.openxmlformats.org/drawingml/2006/main">
              <a:ext uri="{FF2B5EF4-FFF2-40B4-BE49-F238E27FC236}">
                <a16:creationId xmlns:a16="http://schemas.microsoft.com/office/drawing/2014/main" id="{89CA6C9E-A62A-4B66-8B20-85953290C510}"/>
              </a:ext>
            </a:extLst>
          </p:cNvPr>
          <p:cNvSpPr>
            <a:spLocks xmlns:a="http://schemas.openxmlformats.org/drawingml/2006/main" noGrp="1"/>
          </p:cNvSpPr>
          <p:nvPr/>
        </p:nvSpPr>
        <p:spPr>
          <a:xfrm xmlns:a="http://schemas.openxmlformats.org/drawingml/2006/main" rot="0">
            <a:off x="4682728" y="322421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2AB7A9">
              <a:alpha val="20000"/>
            </a:srgbClr>
          </a:solidFill>
          <a:ln xmlns:a="http://schemas.openxmlformats.org/drawingml/2006/main">
            <a:noFill/>
          </a:ln>
        </p:spPr>
      </p:sp>
      <p:sp>
        <p:nvSpPr>
          <p:cNvPr id="50" name="Freeform 50">
            <a:extLst xmlns:a="http://schemas.openxmlformats.org/drawingml/2006/main">
              <a:ext uri="{FF2B5EF4-FFF2-40B4-BE49-F238E27FC236}">
                <a16:creationId xmlns:a16="http://schemas.microsoft.com/office/drawing/2014/main" id="{770C3BD1-52B8-424C-BA21-575415130AA1}"/>
              </a:ext>
            </a:extLst>
          </p:cNvPr>
          <p:cNvSpPr>
            <a:spLocks xmlns:a="http://schemas.openxmlformats.org/drawingml/2006/main" noGrp="1"/>
          </p:cNvSpPr>
          <p:nvPr/>
        </p:nvSpPr>
        <p:spPr>
          <a:xfrm xmlns:a="http://schemas.openxmlformats.org/drawingml/2006/main" rot="0">
            <a:off x="4672012" y="321349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2AB7A9"/>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53ECE2EE-0543-4890-B44C-C07F8C4BFD19}"/>
              </a:ext>
            </a:extLst>
          </p:cNvPr>
          <p:cNvSpPr>
            <a:spLocks xmlns:a="http://schemas.openxmlformats.org/drawingml/2006/main" noGrp="1"/>
          </p:cNvSpPr>
          <p:nvPr/>
        </p:nvSpPr>
        <p:spPr>
          <a:xfrm xmlns:a="http://schemas.openxmlformats.org/drawingml/2006/main" rot="0">
            <a:off x="5088255" y="3245168"/>
            <a:ext cx="188672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DAYS 5–6 · RESPONSE</a:t>
            </a:r>
          </a:p>
        </p:txBody>
      </p:sp>
      <p:sp>
        <p:nvSpPr>
          <p:cNvPr id="53" name="TextBox 53">
            <a:extLst xmlns:a="http://schemas.openxmlformats.org/drawingml/2006/main">
              <a:ext uri="{FF2B5EF4-FFF2-40B4-BE49-F238E27FC236}">
                <a16:creationId xmlns:a16="http://schemas.microsoft.com/office/drawing/2014/main" id="{CCDA1289-3EC8-476C-AB5A-D2D22D8C67C0}"/>
              </a:ext>
            </a:extLst>
          </p:cNvPr>
          <p:cNvSpPr>
            <a:spLocks xmlns:a="http://schemas.openxmlformats.org/drawingml/2006/main" noGrp="1"/>
          </p:cNvSpPr>
          <p:nvPr/>
        </p:nvSpPr>
        <p:spPr>
          <a:xfrm xmlns:a="http://schemas.openxmlformats.org/drawingml/2006/main" rot="0">
            <a:off x="4614862" y="3650456"/>
            <a:ext cx="19563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Unified events → Arduino actions</a:t>
            </a:r>
          </a:p>
        </p:txBody>
      </p:sp>
      <p:sp>
        <p:nvSpPr>
          <p:cNvPr id="54" name="TextBox 54">
            <a:extLst xmlns:a="http://schemas.openxmlformats.org/drawingml/2006/main">
              <a:ext uri="{FF2B5EF4-FFF2-40B4-BE49-F238E27FC236}">
                <a16:creationId xmlns:a16="http://schemas.microsoft.com/office/drawing/2014/main" id="{3D317E0B-2860-4550-A64E-1070262DE719}"/>
              </a:ext>
            </a:extLst>
          </p:cNvPr>
          <p:cNvSpPr>
            <a:spLocks xmlns:a="http://schemas.openxmlformats.org/drawingml/2006/main" noGrp="1"/>
          </p:cNvSpPr>
          <p:nvPr/>
        </p:nvSpPr>
        <p:spPr>
          <a:xfrm xmlns:a="http://schemas.openxmlformats.org/drawingml/2006/main" rot="0">
            <a:off x="4616768" y="3885724"/>
            <a:ext cx="25860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Add timer, display, servo and movement</a:t>
            </a:r>
          </a:p>
        </p:txBody>
      </p:sp>
      <p:sp>
        <p:nvSpPr>
          <p:cNvPr id="56" name="Rectangle 56">
            <a:extLst xmlns:a="http://schemas.openxmlformats.org/drawingml/2006/main">
              <a:ext uri="{FF2B5EF4-FFF2-40B4-BE49-F238E27FC236}">
                <a16:creationId xmlns:a16="http://schemas.microsoft.com/office/drawing/2014/main" id="{BDBA905D-2D57-4DE4-847F-C524DD79C0CD}"/>
              </a:ext>
            </a:extLst>
          </p:cNvPr>
          <p:cNvSpPr>
            <a:spLocks xmlns:a="http://schemas.openxmlformats.org/drawingml/2006/main" noGrp="1"/>
          </p:cNvSpPr>
          <p:nvPr/>
        </p:nvSpPr>
        <p:spPr>
          <a:xfrm xmlns:a="http://schemas.openxmlformats.org/drawingml/2006/main" rot="0">
            <a:off x="8039100" y="29718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57" name="Freeform 57">
            <a:extLst xmlns:a="http://schemas.openxmlformats.org/drawingml/2006/main">
              <a:ext uri="{FF2B5EF4-FFF2-40B4-BE49-F238E27FC236}">
                <a16:creationId xmlns:a16="http://schemas.microsoft.com/office/drawing/2014/main" id="{42149DC5-2636-4637-9633-F7007D2C7CB4}"/>
              </a:ext>
            </a:extLst>
          </p:cNvPr>
          <p:cNvSpPr>
            <a:spLocks xmlns:a="http://schemas.openxmlformats.org/drawingml/2006/main" noGrp="1"/>
          </p:cNvSpPr>
          <p:nvPr/>
        </p:nvSpPr>
        <p:spPr>
          <a:xfrm xmlns:a="http://schemas.openxmlformats.org/drawingml/2006/main" rot="0">
            <a:off x="8312944" y="3309938"/>
            <a:ext cx="214312" cy="85725"/>
          </a:xfrm>
          <a:custGeom xmlns:a="http://schemas.openxmlformats.org/drawingml/2006/main">
            <a:rect l="l" t="t" r="r" b="b"/>
            <a:pathLst>
              <a:path w="214312" h="85725">
                <a:moveTo>
                  <a:pt x="214312" y="0"/>
                </a:moveTo>
                <a:lnTo>
                  <a:pt x="214312" y="85725"/>
                </a:lnTo>
                <a:lnTo>
                  <a:pt x="0" y="85725"/>
                </a:lnTo>
                <a:lnTo>
                  <a:pt x="0" y="0"/>
                </a:lnTo>
                <a:close/>
              </a:path>
            </a:pathLst>
          </a:custGeom>
          <a:solidFill xmlns:a="http://schemas.openxmlformats.org/drawingml/2006/main">
            <a:srgbClr val="2AB7A9">
              <a:alpha val="20000"/>
            </a:srgbClr>
          </a:solidFill>
          <a:ln xmlns:a="http://schemas.openxmlformats.org/drawingml/2006/main">
            <a:noFill/>
          </a:ln>
        </p:spPr>
      </p:sp>
      <p:sp>
        <p:nvSpPr>
          <p:cNvPr id="58" name="Freeform 58">
            <a:extLst xmlns:a="http://schemas.openxmlformats.org/drawingml/2006/main">
              <a:ext uri="{FF2B5EF4-FFF2-40B4-BE49-F238E27FC236}">
                <a16:creationId xmlns:a16="http://schemas.microsoft.com/office/drawing/2014/main" id="{1E636CFF-F244-4C4F-BEA8-A51E8E7F1C67}"/>
              </a:ext>
            </a:extLst>
          </p:cNvPr>
          <p:cNvSpPr>
            <a:spLocks xmlns:a="http://schemas.openxmlformats.org/drawingml/2006/main" noGrp="1"/>
          </p:cNvSpPr>
          <p:nvPr/>
        </p:nvSpPr>
        <p:spPr>
          <a:xfrm xmlns:a="http://schemas.openxmlformats.org/drawingml/2006/main" rot="0">
            <a:off x="8302228" y="3213497"/>
            <a:ext cx="235744" cy="278606"/>
          </a:xfrm>
          <a:custGeom xmlns:a="http://schemas.openxmlformats.org/drawingml/2006/main">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xmlns:a="http://schemas.openxmlformats.org/drawingml/2006/main">
            <a:srgbClr val="2AB7A9"/>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9E40A0CB-B69D-477F-9449-4C664EB1180B}"/>
              </a:ext>
            </a:extLst>
          </p:cNvPr>
          <p:cNvSpPr>
            <a:spLocks xmlns:a="http://schemas.openxmlformats.org/drawingml/2006/main" noGrp="1"/>
          </p:cNvSpPr>
          <p:nvPr/>
        </p:nvSpPr>
        <p:spPr>
          <a:xfrm xmlns:a="http://schemas.openxmlformats.org/drawingml/2006/main" rot="0">
            <a:off x="8707755" y="3245168"/>
            <a:ext cx="101721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DAYS 7–8 · INTEGRATE</a:t>
            </a:r>
          </a:p>
        </p:txBody>
      </p:sp>
      <p:sp>
        <p:nvSpPr>
          <p:cNvPr id="61" name="TextBox 61">
            <a:extLst xmlns:a="http://schemas.openxmlformats.org/drawingml/2006/main">
              <a:ext uri="{FF2B5EF4-FFF2-40B4-BE49-F238E27FC236}">
                <a16:creationId xmlns:a16="http://schemas.microsoft.com/office/drawing/2014/main" id="{FB8E575C-93CA-4737-A0A7-CA4E734F5DF6}"/>
              </a:ext>
            </a:extLst>
          </p:cNvPr>
          <p:cNvSpPr>
            <a:spLocks xmlns:a="http://schemas.openxmlformats.org/drawingml/2006/main" noGrp="1"/>
          </p:cNvSpPr>
          <p:nvPr/>
        </p:nvSpPr>
        <p:spPr>
          <a:xfrm xmlns:a="http://schemas.openxmlformats.org/drawingml/2006/main" rot="0">
            <a:off x="8234362" y="3650456"/>
            <a:ext cx="146875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Tune thresholds</a:t>
            </a:r>
          </a:p>
        </p:txBody>
      </p:sp>
      <p:sp>
        <p:nvSpPr>
          <p:cNvPr id="62" name="TextBox 62">
            <a:extLst xmlns:a="http://schemas.openxmlformats.org/drawingml/2006/main">
              <a:ext uri="{FF2B5EF4-FFF2-40B4-BE49-F238E27FC236}">
                <a16:creationId xmlns:a16="http://schemas.microsoft.com/office/drawing/2014/main" id="{632CFC84-134C-4EED-9E3E-9A575C723352}"/>
              </a:ext>
            </a:extLst>
          </p:cNvPr>
          <p:cNvSpPr>
            <a:spLocks xmlns:a="http://schemas.openxmlformats.org/drawingml/2006/main" noGrp="1"/>
          </p:cNvSpPr>
          <p:nvPr/>
        </p:nvSpPr>
        <p:spPr>
          <a:xfrm xmlns:a="http://schemas.openxmlformats.org/drawingml/2006/main" rot="0">
            <a:off x="8236268" y="3885724"/>
            <a:ext cx="25145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and complete end-to-end scenarios</a:t>
            </a:r>
          </a:p>
        </p:txBody>
      </p:sp>
      <p:sp>
        <p:nvSpPr>
          <p:cNvPr id="64" name="Rectangle 64">
            <a:extLst xmlns:a="http://schemas.openxmlformats.org/drawingml/2006/main">
              <a:ext uri="{FF2B5EF4-FFF2-40B4-BE49-F238E27FC236}">
                <a16:creationId xmlns:a16="http://schemas.microsoft.com/office/drawing/2014/main" id="{2356A45C-620B-4A42-A709-FC392DAD5544}"/>
              </a:ext>
            </a:extLst>
          </p:cNvPr>
          <p:cNvSpPr>
            <a:spLocks xmlns:a="http://schemas.openxmlformats.org/drawingml/2006/main" noGrp="1"/>
          </p:cNvSpPr>
          <p:nvPr/>
        </p:nvSpPr>
        <p:spPr>
          <a:xfrm xmlns:a="http://schemas.openxmlformats.org/drawingml/2006/main" rot="0">
            <a:off x="4419600" y="4419600"/>
            <a:ext cx="7010400" cy="1314450"/>
          </a:xfrm>
          <a:prstGeom xmlns:a="http://schemas.openxmlformats.org/drawingml/2006/main" prst="roundRect">
            <a:avLst>
              <a:gd name="adj" fmla="val 8696"/>
            </a:avLst>
          </a:prstGeom>
          <a:solidFill xmlns:a="http://schemas.openxmlformats.org/drawingml/2006/main">
            <a:srgbClr val="EAF0F7"/>
          </a:solidFill>
          <a:ln xmlns:a="http://schemas.openxmlformats.org/drawingml/2006/main">
            <a:noFill/>
          </a:ln>
        </p:spPr>
      </p:sp>
      <p:sp>
        <p:nvSpPr>
          <p:cNvPr id="65" name="Freeform 65">
            <a:extLst xmlns:a="http://schemas.openxmlformats.org/drawingml/2006/main">
              <a:ext uri="{FF2B5EF4-FFF2-40B4-BE49-F238E27FC236}">
                <a16:creationId xmlns:a16="http://schemas.microsoft.com/office/drawing/2014/main" id="{7B42D0C2-A7DA-4905-91EB-DA78C190E8F2}"/>
              </a:ext>
            </a:extLst>
          </p:cNvPr>
          <p:cNvSpPr>
            <a:spLocks xmlns:a="http://schemas.openxmlformats.org/drawingml/2006/main" noGrp="1"/>
          </p:cNvSpPr>
          <p:nvPr/>
        </p:nvSpPr>
        <p:spPr>
          <a:xfrm xmlns:a="http://schemas.openxmlformats.org/drawingml/2006/main" rot="0">
            <a:off x="4772025" y="4795838"/>
            <a:ext cx="95250" cy="95250"/>
          </a:xfrm>
          <a:custGeom xmlns:a="http://schemas.openxmlformats.org/drawingml/2006/main">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2F80ED">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301F7598-B9F8-4A7A-9D15-D87B6E197761}"/>
              </a:ext>
            </a:extLst>
          </p:cNvPr>
          <p:cNvSpPr>
            <a:spLocks xmlns:a="http://schemas.openxmlformats.org/drawingml/2006/main" noGrp="1"/>
          </p:cNvSpPr>
          <p:nvPr/>
        </p:nvSpPr>
        <p:spPr>
          <a:xfrm xmlns:a="http://schemas.openxmlformats.org/drawingml/2006/main" rot="0">
            <a:off x="4676775" y="4724400"/>
            <a:ext cx="285750" cy="285750"/>
          </a:xfrm>
          <a:custGeom xmlns:a="http://schemas.openxmlformats.org/drawingml/2006/main">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xmlns:a="http://schemas.openxmlformats.org/drawingml/2006/main">
            <a:srgbClr val="2F80ED"/>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70E97B17-AE22-4C2F-93FB-FBDF8677A73A}"/>
              </a:ext>
            </a:extLst>
          </p:cNvPr>
          <p:cNvSpPr>
            <a:spLocks xmlns:a="http://schemas.openxmlformats.org/drawingml/2006/main" noGrp="1"/>
          </p:cNvSpPr>
          <p:nvPr/>
        </p:nvSpPr>
        <p:spPr>
          <a:xfrm xmlns:a="http://schemas.openxmlformats.org/drawingml/2006/main" rot="0">
            <a:off x="5164455" y="4769168"/>
            <a:ext cx="21040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DAYS 9–10 · TEST + DEMO</a:t>
            </a:r>
          </a:p>
        </p:txBody>
      </p:sp>
      <p:sp>
        <p:nvSpPr>
          <p:cNvPr id="69" name="TextBox 69">
            <a:extLst xmlns:a="http://schemas.openxmlformats.org/drawingml/2006/main">
              <a:ext uri="{FF2B5EF4-FFF2-40B4-BE49-F238E27FC236}">
                <a16:creationId xmlns:a16="http://schemas.microsoft.com/office/drawing/2014/main" id="{717317AB-9062-4644-BC56-D0F5A472E21F}"/>
              </a:ext>
            </a:extLst>
          </p:cNvPr>
          <p:cNvSpPr>
            <a:spLocks xmlns:a="http://schemas.openxmlformats.org/drawingml/2006/main" noGrp="1"/>
          </p:cNvSpPr>
          <p:nvPr/>
        </p:nvSpPr>
        <p:spPr>
          <a:xfrm xmlns:a="http://schemas.openxmlformats.org/drawingml/2006/main" rot="0">
            <a:off x="4614862" y="5164931"/>
            <a:ext cx="473166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Run scenario tests, polish behaviour, prepare slides and backup video</a:t>
            </a:r>
          </a:p>
        </p:txBody>
      </p:sp>
      <p:sp>
        <p:nvSpPr>
          <p:cNvPr id="70" name="TextBox 70">
            <a:extLst xmlns:a="http://schemas.openxmlformats.org/drawingml/2006/main">
              <a:ext uri="{FF2B5EF4-FFF2-40B4-BE49-F238E27FC236}">
                <a16:creationId xmlns:a16="http://schemas.microsoft.com/office/drawing/2014/main" id="{9F33FD86-E0E5-47B7-B862-92C28857E7F1}"/>
              </a:ext>
            </a:extLst>
          </p:cNvPr>
          <p:cNvSpPr>
            <a:spLocks xmlns:a="http://schemas.openxmlformats.org/drawingml/2006/main" noGrp="1"/>
          </p:cNvSpPr>
          <p:nvPr/>
        </p:nvSpPr>
        <p:spPr>
          <a:xfrm xmlns:a="http://schemas.openxmlformats.org/drawingml/2006/main" rot="0">
            <a:off x="4616768" y="5409724"/>
            <a:ext cx="558296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Failsafe: each AI event can be simulated so hardware and interaction remain demonstrable</a:t>
            </a:r>
          </a:p>
        </p:txBody>
      </p:sp>
      <p:sp>
        <p:nvSpPr>
          <p:cNvPr id="72" name="TextBox 72">
            <a:extLst xmlns:a="http://schemas.openxmlformats.org/drawingml/2006/main">
              <a:ext uri="{FF2B5EF4-FFF2-40B4-BE49-F238E27FC236}">
                <a16:creationId xmlns:a16="http://schemas.microsoft.com/office/drawing/2014/main" id="{AB7ABF65-77A8-4954-A41B-C7D5BCE3CC9E}"/>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09</a:t>
            </a:r>
          </a:p>
        </p:txBody>
      </p:sp>
    </p:spTree>
    <p:extLst>
      <p:ext uri="{BB962C8B-B14F-4D97-AF65-F5344CB8AC3E}">
        <p14:creationId xmlns:p14="http://schemas.microsoft.com/office/powerpoint/2010/main" val="6592159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2">
            <a:extLst xmlns:a="http://schemas.openxmlformats.org/drawingml/2006/main">
              <a:ext uri="{FF2B5EF4-FFF2-40B4-BE49-F238E27FC236}">
                <a16:creationId xmlns:a16="http://schemas.microsoft.com/office/drawing/2014/main" id="{C3425F86-49D7-4BD7-8FED-D26391C4EC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a:noFill/>
          </a:ln>
        </p:spPr>
      </p:sp>
      <p:sp>
        <p:nvSpPr>
          <p:cNvPr id="3" name="Rectangle 3">
            <a:extLst xmlns:a="http://schemas.openxmlformats.org/drawingml/2006/main">
              <a:ext uri="{FF2B5EF4-FFF2-40B4-BE49-F238E27FC236}">
                <a16:creationId xmlns:a16="http://schemas.microsoft.com/office/drawing/2014/main" id="{7D1C5216-1956-43C0-9C28-1EDF108AF947}"/>
              </a:ext>
            </a:extLst>
          </p:cNvPr>
          <p:cNvSpPr>
            <a:spLocks xmlns:a="http://schemas.openxmlformats.org/drawingml/2006/main" noGrp="1"/>
          </p:cNvSpPr>
          <p:nvPr/>
        </p:nvSpPr>
        <p:spPr>
          <a:xfrm xmlns:a="http://schemas.openxmlformats.org/drawingml/2006/main" rot="0">
            <a:off x="457200" y="381000"/>
            <a:ext cx="76200" cy="304800"/>
          </a:xfrm>
          <a:prstGeom xmlns:a="http://schemas.openxmlformats.org/drawingml/2006/main" prst="roundRect">
            <a:avLst>
              <a:gd name="adj" fmla="val 50000"/>
            </a:avLst>
          </a:prstGeom>
          <a:solidFill xmlns:a="http://schemas.openxmlformats.org/drawingml/2006/main">
            <a:srgbClr val="2F80ED"/>
          </a:solidFill>
          <a:ln xmlns:a="http://schemas.openxmlformats.org/drawingml/2006/main">
            <a:noFill/>
          </a:ln>
        </p:spPr>
      </p:sp>
      <p:sp>
        <p:nvSpPr>
          <p:cNvPr id="4" name="TextBox 4">
            <a:extLst xmlns:a="http://schemas.openxmlformats.org/drawingml/2006/main">
              <a:ext uri="{FF2B5EF4-FFF2-40B4-BE49-F238E27FC236}">
                <a16:creationId xmlns:a16="http://schemas.microsoft.com/office/drawing/2014/main" id="{49B95077-7567-409F-8AC0-107F7E500481}"/>
              </a:ext>
            </a:extLst>
          </p:cNvPr>
          <p:cNvSpPr>
            <a:spLocks xmlns:a="http://schemas.openxmlformats.org/drawingml/2006/main" noGrp="1"/>
          </p:cNvSpPr>
          <p:nvPr/>
        </p:nvSpPr>
        <p:spPr>
          <a:xfrm xmlns:a="http://schemas.openxmlformats.org/drawingml/2006/main" rot="0">
            <a:off x="659130" y="411480"/>
            <a:ext cx="2361528" cy="426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2100" b="1">
                <a:solidFill>
                  <a:srgbClr val="123B5D"/>
                </a:solidFill>
                <a:latin typeface="Arial"/>
                <a:ea typeface="Arial"/>
                <a:cs typeface="Arial"/>
              </a:rPr>
              <a:t>APPENDIX: OPTIONAL EXTENSIONS</a:t>
            </a:r>
          </a:p>
        </p:txBody>
      </p:sp>
      <p:sp>
        <p:nvSpPr>
          <p:cNvPr id="5" name="TextBox 5">
            <a:extLst xmlns:a="http://schemas.openxmlformats.org/drawingml/2006/main">
              <a:ext uri="{FF2B5EF4-FFF2-40B4-BE49-F238E27FC236}">
                <a16:creationId xmlns:a16="http://schemas.microsoft.com/office/drawing/2014/main" id="{824CEB9F-3A1A-4A5D-B95B-CE4C5A1B702B}"/>
              </a:ext>
            </a:extLst>
          </p:cNvPr>
          <p:cNvSpPr>
            <a:spLocks xmlns:a="http://schemas.openxmlformats.org/drawingml/2006/main" noGrp="1"/>
          </p:cNvSpPr>
          <p:nvPr/>
        </p:nvSpPr>
        <p:spPr>
          <a:xfrm xmlns:a="http://schemas.openxmlformats.org/drawingml/2006/main" rot="0">
            <a:off x="9729268" y="485299"/>
            <a:ext cx="2017914"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975" b="1">
                <a:solidFill>
                  <a:srgbClr val="D95D5D"/>
                </a:solidFill>
                <a:latin typeface="Arial"/>
                <a:ea typeface="Arial"/>
                <a:cs typeface="Arial"/>
              </a:rPr>
              <a:t>ONLY AFTER CORE DEMO</a:t>
            </a:r>
          </a:p>
        </p:txBody>
      </p:sp>
      <p:sp>
        <p:nvSpPr>
          <p:cNvPr id="6" name="Line 6">
            <a:extLst xmlns:a="http://schemas.openxmlformats.org/drawingml/2006/main">
              <a:ext uri="{FF2B5EF4-FFF2-40B4-BE49-F238E27FC236}">
                <a16:creationId xmlns:a16="http://schemas.microsoft.com/office/drawing/2014/main" id="{D1B91D8B-68CA-467D-B824-D53768056467}"/>
              </a:ext>
            </a:extLst>
          </p:cNvPr>
          <p:cNvSpPr>
            <a:spLocks xmlns:a="http://schemas.openxmlformats.org/drawingml/2006/main" noGrp="1"/>
          </p:cNvSpPr>
          <p:nvPr/>
        </p:nvSpPr>
        <p:spPr>
          <a:xfrm xmlns:a="http://schemas.openxmlformats.org/drawingml/2006/main" rot="0">
            <a:off x="457200" y="838200"/>
            <a:ext cx="11277600" cy="9525"/>
          </a:xfrm>
          <a:custGeom xmlns:a="http://schemas.openxmlformats.org/drawingml/2006/main">
            <a:rect l="l" t="t" r="r" b="b"/>
            <a:pathLst>
              <a:path w="11277600" h="9525">
                <a:moveTo>
                  <a:pt x="0" y="0"/>
                </a:moveTo>
                <a:lnTo>
                  <a:pt x="11277600" y="0"/>
                </a:lnTo>
              </a:path>
            </a:pathLst>
          </a:custGeom>
          <a:noFill xmlns:a="http://schemas.openxmlformats.org/drawingml/2006/main"/>
          <a:ln xmlns:a="http://schemas.openxmlformats.org/drawingml/2006/main" w="9525">
            <a:solidFill>
              <a:srgbClr val="CED8E4"/>
            </a:solidFill>
          </a:ln>
        </p:spPr>
      </p:sp>
      <p:sp>
        <p:nvSpPr>
          <p:cNvPr id="8" name="Rectangle 8">
            <a:extLst xmlns:a="http://schemas.openxmlformats.org/drawingml/2006/main">
              <a:ext uri="{FF2B5EF4-FFF2-40B4-BE49-F238E27FC236}">
                <a16:creationId xmlns:a16="http://schemas.microsoft.com/office/drawing/2014/main" id="{978654C1-A40B-459F-B167-70909D7A271E}"/>
              </a:ext>
            </a:extLst>
          </p:cNvPr>
          <p:cNvSpPr>
            <a:spLocks xmlns:a="http://schemas.openxmlformats.org/drawingml/2006/main" noGrp="1"/>
          </p:cNvSpPr>
          <p:nvPr/>
        </p:nvSpPr>
        <p:spPr>
          <a:xfrm xmlns:a="http://schemas.openxmlformats.org/drawingml/2006/main" rot="0">
            <a:off x="457200" y="1066800"/>
            <a:ext cx="11277600" cy="4953000"/>
          </a:xfrm>
          <a:prstGeom xmlns:a="http://schemas.openxmlformats.org/drawingml/2006/main" prst="roundRect">
            <a:avLst>
              <a:gd name="adj" fmla="val 2308"/>
            </a:avLst>
          </a:prstGeom>
          <a:solidFill xmlns:a="http://schemas.openxmlformats.org/drawingml/2006/main">
            <a:srgbClr val="F7F9FC"/>
          </a:solidFill>
          <a:ln xmlns:a="http://schemas.openxmlformats.org/drawingml/2006/main" w="14288">
            <a:solidFill>
              <a:srgbClr val="CED8E4"/>
            </a:solidFill>
            <a:prstDash val="lgDash"/>
          </a:ln>
        </p:spPr>
      </p:sp>
      <p:sp>
        <p:nvSpPr>
          <p:cNvPr id="9" name="TextBox 9">
            <a:extLst xmlns:a="http://schemas.openxmlformats.org/drawingml/2006/main">
              <a:ext uri="{FF2B5EF4-FFF2-40B4-BE49-F238E27FC236}">
                <a16:creationId xmlns:a16="http://schemas.microsoft.com/office/drawing/2014/main" id="{78A798BF-50C6-4335-AE08-4F18FB5CFFE1}"/>
              </a:ext>
            </a:extLst>
          </p:cNvPr>
          <p:cNvSpPr>
            <a:spLocks xmlns:a="http://schemas.openxmlformats.org/drawingml/2006/main" noGrp="1"/>
          </p:cNvSpPr>
          <p:nvPr/>
        </p:nvSpPr>
        <p:spPr>
          <a:xfrm xmlns:a="http://schemas.openxmlformats.org/drawingml/2006/main" rot="0">
            <a:off x="673418" y="1218724"/>
            <a:ext cx="4727778"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5B6B7A"/>
                </a:solidFill>
                <a:latin typeface="Arial"/>
                <a:ea typeface="Arial"/>
                <a:cs typeface="Arial"/>
              </a:rPr>
              <a:t>USE ONLY WHEN CONTINUOUS BEHAVIOUR IS NOT STABLE IN THE PRE-TRAINED PIPELINE</a:t>
            </a:r>
          </a:p>
        </p:txBody>
      </p:sp>
      <p:sp>
        <p:nvSpPr>
          <p:cNvPr id="11" name="Rectangle 11">
            <a:extLst xmlns:a="http://schemas.openxmlformats.org/drawingml/2006/main">
              <a:ext uri="{FF2B5EF4-FFF2-40B4-BE49-F238E27FC236}">
                <a16:creationId xmlns:a16="http://schemas.microsoft.com/office/drawing/2014/main" id="{9CACC870-90B4-4477-93F0-02DB2067414D}"/>
              </a:ext>
            </a:extLst>
          </p:cNvPr>
          <p:cNvSpPr>
            <a:spLocks xmlns:a="http://schemas.openxmlformats.org/drawingml/2006/main" noGrp="1"/>
          </p:cNvSpPr>
          <p:nvPr/>
        </p:nvSpPr>
        <p:spPr>
          <a:xfrm xmlns:a="http://schemas.openxmlformats.org/drawingml/2006/main" rot="0">
            <a:off x="685800" y="1524000"/>
            <a:ext cx="3429000" cy="4210050"/>
          </a:xfrm>
          <a:prstGeom xmlns:a="http://schemas.openxmlformats.org/drawingml/2006/main" prst="roundRect">
            <a:avLst>
              <a:gd name="adj" fmla="val 3333"/>
            </a:avLst>
          </a:prstGeom>
          <a:solidFill xmlns:a="http://schemas.openxmlformats.org/drawingml/2006/main">
            <a:srgbClr val="123B5D"/>
          </a:solidFill>
          <a:ln xmlns:a="http://schemas.openxmlformats.org/drawingml/2006/main">
            <a:noFill/>
          </a:ln>
        </p:spPr>
      </p:sp>
      <p:sp>
        <p:nvSpPr>
          <p:cNvPr id="12" name="Freeform 12">
            <a:extLst xmlns:a="http://schemas.openxmlformats.org/drawingml/2006/main">
              <a:ext uri="{FF2B5EF4-FFF2-40B4-BE49-F238E27FC236}">
                <a16:creationId xmlns:a16="http://schemas.microsoft.com/office/drawing/2014/main" id="{310CC452-27C0-4F43-989B-74020D13D5AB}"/>
              </a:ext>
            </a:extLst>
          </p:cNvPr>
          <p:cNvSpPr>
            <a:spLocks xmlns:a="http://schemas.openxmlformats.org/drawingml/2006/main" noGrp="1"/>
          </p:cNvSpPr>
          <p:nvPr/>
        </p:nvSpPr>
        <p:spPr>
          <a:xfrm xmlns:a="http://schemas.openxmlformats.org/drawingml/2006/main" rot="0">
            <a:off x="940523" y="1833562"/>
            <a:ext cx="366793" cy="301228"/>
          </a:xfrm>
          <a:custGeom xmlns:a="http://schemas.openxmlformats.org/drawingml/2006/main">
            <a:rect l="l" t="t" r="r" b="b"/>
            <a:pathLst>
              <a:path w="366793" h="301228">
                <a:moveTo>
                  <a:pt x="366783" y="150614"/>
                </a:moveTo>
                <a:cubicBezTo>
                  <a:pt x="366793" y="183925"/>
                  <a:pt x="345801" y="213623"/>
                  <a:pt x="314395" y="224726"/>
                </a:cubicBezTo>
                <a:lnTo>
                  <a:pt x="314395" y="224726"/>
                </a:lnTo>
                <a:lnTo>
                  <a:pt x="314395" y="235744"/>
                </a:lnTo>
                <a:cubicBezTo>
                  <a:pt x="314395" y="271910"/>
                  <a:pt x="285077" y="301228"/>
                  <a:pt x="248911" y="301228"/>
                </a:cubicBezTo>
                <a:cubicBezTo>
                  <a:pt x="212745" y="301228"/>
                  <a:pt x="183427" y="271910"/>
                  <a:pt x="183427" y="235744"/>
                </a:cubicBezTo>
                <a:cubicBezTo>
                  <a:pt x="183427" y="271910"/>
                  <a:pt x="154108" y="301228"/>
                  <a:pt x="117942" y="301228"/>
                </a:cubicBezTo>
                <a:cubicBezTo>
                  <a:pt x="81776" y="301228"/>
                  <a:pt x="52458" y="271910"/>
                  <a:pt x="52458" y="235744"/>
                </a:cubicBezTo>
                <a:lnTo>
                  <a:pt x="52458" y="224726"/>
                </a:lnTo>
                <a:lnTo>
                  <a:pt x="52458" y="224726"/>
                </a:lnTo>
                <a:cubicBezTo>
                  <a:pt x="21025" y="213646"/>
                  <a:pt x="0" y="183943"/>
                  <a:pt x="0" y="150614"/>
                </a:cubicBezTo>
                <a:cubicBezTo>
                  <a:pt x="0" y="117285"/>
                  <a:pt x="21025" y="87582"/>
                  <a:pt x="52458" y="76502"/>
                </a:cubicBezTo>
                <a:lnTo>
                  <a:pt x="52458" y="65484"/>
                </a:lnTo>
                <a:cubicBezTo>
                  <a:pt x="52458" y="29318"/>
                  <a:pt x="81776" y="0"/>
                  <a:pt x="117942" y="0"/>
                </a:cubicBezTo>
                <a:cubicBezTo>
                  <a:pt x="154108" y="0"/>
                  <a:pt x="183427" y="29318"/>
                  <a:pt x="183427" y="65484"/>
                </a:cubicBezTo>
                <a:cubicBezTo>
                  <a:pt x="183427" y="29318"/>
                  <a:pt x="212745" y="0"/>
                  <a:pt x="248911" y="0"/>
                </a:cubicBezTo>
                <a:cubicBezTo>
                  <a:pt x="285077" y="0"/>
                  <a:pt x="314395" y="29318"/>
                  <a:pt x="314395" y="65484"/>
                </a:cubicBezTo>
                <a:lnTo>
                  <a:pt x="314395" y="76502"/>
                </a:lnTo>
                <a:cubicBezTo>
                  <a:pt x="345801" y="87606"/>
                  <a:pt x="366793" y="117304"/>
                  <a:pt x="366783" y="150614"/>
                </a:cubicBezTo>
                <a:close/>
              </a:path>
            </a:pathLst>
          </a:custGeom>
          <a:solidFill xmlns:a="http://schemas.openxmlformats.org/drawingml/2006/main">
            <a:srgbClr val="F7F9FC">
              <a:alpha val="20000"/>
            </a:srgbClr>
          </a:solidFill>
          <a:ln xmlns:a="http://schemas.openxmlformats.org/drawingml/2006/main">
            <a:noFill/>
          </a:ln>
        </p:spPr>
      </p:sp>
      <p:sp>
        <p:nvSpPr>
          <p:cNvPr id="13" name="Freeform 13">
            <a:extLst xmlns:a="http://schemas.openxmlformats.org/drawingml/2006/main">
              <a:ext uri="{FF2B5EF4-FFF2-40B4-BE49-F238E27FC236}">
                <a16:creationId xmlns:a16="http://schemas.microsoft.com/office/drawing/2014/main" id="{E37C0FE7-ABA8-4A39-BAAE-817FBCBDFF73}"/>
              </a:ext>
            </a:extLst>
          </p:cNvPr>
          <p:cNvSpPr>
            <a:spLocks xmlns:a="http://schemas.openxmlformats.org/drawingml/2006/main" noGrp="1"/>
          </p:cNvSpPr>
          <p:nvPr/>
        </p:nvSpPr>
        <p:spPr>
          <a:xfrm xmlns:a="http://schemas.openxmlformats.org/drawingml/2006/main" rot="0">
            <a:off x="927485" y="1813884"/>
            <a:ext cx="392919" cy="340585"/>
          </a:xfrm>
          <a:custGeom xmlns:a="http://schemas.openxmlformats.org/drawingml/2006/main">
            <a:rect l="l" t="t" r="r" b="b"/>
            <a:pathLst>
              <a:path w="392919" h="340585">
                <a:moveTo>
                  <a:pt x="392919" y="170293"/>
                </a:moveTo>
                <a:cubicBezTo>
                  <a:pt x="392883" y="134886"/>
                  <a:pt x="372502" y="102652"/>
                  <a:pt x="340531" y="87439"/>
                </a:cubicBezTo>
                <a:lnTo>
                  <a:pt x="340531" y="85163"/>
                </a:lnTo>
                <a:cubicBezTo>
                  <a:pt x="340500" y="50514"/>
                  <a:pt x="317779" y="19975"/>
                  <a:pt x="284601" y="9987"/>
                </a:cubicBezTo>
                <a:cubicBezTo>
                  <a:pt x="251422" y="0"/>
                  <a:pt x="215618" y="12922"/>
                  <a:pt x="196465" y="41796"/>
                </a:cubicBezTo>
                <a:cubicBezTo>
                  <a:pt x="177313" y="12922"/>
                  <a:pt x="141508" y="0"/>
                  <a:pt x="108330" y="9987"/>
                </a:cubicBezTo>
                <a:cubicBezTo>
                  <a:pt x="75152" y="19975"/>
                  <a:pt x="52431" y="50514"/>
                  <a:pt x="52400" y="85163"/>
                </a:cubicBezTo>
                <a:lnTo>
                  <a:pt x="52400" y="87439"/>
                </a:lnTo>
                <a:cubicBezTo>
                  <a:pt x="20399" y="102612"/>
                  <a:pt x="0" y="134860"/>
                  <a:pt x="0" y="170276"/>
                </a:cubicBezTo>
                <a:cubicBezTo>
                  <a:pt x="0" y="205692"/>
                  <a:pt x="20399" y="237941"/>
                  <a:pt x="52400" y="253114"/>
                </a:cubicBezTo>
                <a:lnTo>
                  <a:pt x="52400" y="255422"/>
                </a:lnTo>
                <a:cubicBezTo>
                  <a:pt x="52431" y="290071"/>
                  <a:pt x="75152" y="320611"/>
                  <a:pt x="108330" y="330598"/>
                </a:cubicBezTo>
                <a:cubicBezTo>
                  <a:pt x="141508" y="340585"/>
                  <a:pt x="177313" y="327663"/>
                  <a:pt x="196465" y="298789"/>
                </a:cubicBezTo>
                <a:cubicBezTo>
                  <a:pt x="215618" y="327663"/>
                  <a:pt x="251422" y="340585"/>
                  <a:pt x="284601" y="330598"/>
                </a:cubicBezTo>
                <a:cubicBezTo>
                  <a:pt x="317779" y="320611"/>
                  <a:pt x="340500" y="290071"/>
                  <a:pt x="340531" y="255422"/>
                </a:cubicBezTo>
                <a:lnTo>
                  <a:pt x="340531" y="253114"/>
                </a:lnTo>
                <a:cubicBezTo>
                  <a:pt x="372497" y="237912"/>
                  <a:pt x="392879" y="205689"/>
                  <a:pt x="392919" y="170293"/>
                </a:cubicBezTo>
                <a:close/>
                <a:moveTo>
                  <a:pt x="130981" y="307810"/>
                </a:moveTo>
                <a:cubicBezTo>
                  <a:pt x="104231" y="307806"/>
                  <a:pt x="81780" y="287649"/>
                  <a:pt x="78905" y="261054"/>
                </a:cubicBezTo>
                <a:cubicBezTo>
                  <a:pt x="83140" y="261658"/>
                  <a:pt x="87412" y="261965"/>
                  <a:pt x="91690" y="261971"/>
                </a:cubicBezTo>
                <a:lnTo>
                  <a:pt x="104787" y="261971"/>
                </a:lnTo>
                <a:cubicBezTo>
                  <a:pt x="112020" y="261971"/>
                  <a:pt x="117884" y="256107"/>
                  <a:pt x="117884" y="248874"/>
                </a:cubicBezTo>
                <a:cubicBezTo>
                  <a:pt x="117884" y="241641"/>
                  <a:pt x="112020" y="235777"/>
                  <a:pt x="104787" y="235777"/>
                </a:cubicBezTo>
                <a:lnTo>
                  <a:pt x="91690" y="235777"/>
                </a:lnTo>
                <a:cubicBezTo>
                  <a:pt x="59766" y="235814"/>
                  <a:pt x="32468" y="212826"/>
                  <a:pt x="27072" y="181361"/>
                </a:cubicBezTo>
                <a:cubicBezTo>
                  <a:pt x="21676" y="149896"/>
                  <a:pt x="39755" y="119126"/>
                  <a:pt x="69868" y="108525"/>
                </a:cubicBezTo>
                <a:cubicBezTo>
                  <a:pt x="75097" y="106673"/>
                  <a:pt x="78593" y="101728"/>
                  <a:pt x="78594" y="96181"/>
                </a:cubicBezTo>
                <a:lnTo>
                  <a:pt x="78594" y="85163"/>
                </a:lnTo>
                <a:cubicBezTo>
                  <a:pt x="78594" y="56230"/>
                  <a:pt x="102048" y="32776"/>
                  <a:pt x="130981" y="32776"/>
                </a:cubicBezTo>
                <a:cubicBezTo>
                  <a:pt x="159914" y="32776"/>
                  <a:pt x="183369" y="56230"/>
                  <a:pt x="183369" y="85163"/>
                </a:cubicBezTo>
                <a:lnTo>
                  <a:pt x="183369" y="196912"/>
                </a:lnTo>
                <a:cubicBezTo>
                  <a:pt x="168987" y="183977"/>
                  <a:pt x="150324" y="176827"/>
                  <a:pt x="130981" y="176841"/>
                </a:cubicBezTo>
                <a:cubicBezTo>
                  <a:pt x="123748" y="176841"/>
                  <a:pt x="117884" y="182705"/>
                  <a:pt x="117884" y="189938"/>
                </a:cubicBezTo>
                <a:cubicBezTo>
                  <a:pt x="117884" y="197171"/>
                  <a:pt x="123748" y="203035"/>
                  <a:pt x="130981" y="203035"/>
                </a:cubicBezTo>
                <a:cubicBezTo>
                  <a:pt x="159914" y="203035"/>
                  <a:pt x="183369" y="226490"/>
                  <a:pt x="183369" y="255422"/>
                </a:cubicBezTo>
                <a:cubicBezTo>
                  <a:pt x="183369" y="284355"/>
                  <a:pt x="159914" y="307810"/>
                  <a:pt x="130981" y="307810"/>
                </a:cubicBezTo>
                <a:close/>
                <a:moveTo>
                  <a:pt x="301240" y="235777"/>
                </a:moveTo>
                <a:lnTo>
                  <a:pt x="288144" y="235777"/>
                </a:lnTo>
                <a:cubicBezTo>
                  <a:pt x="280910" y="235777"/>
                  <a:pt x="275047" y="241641"/>
                  <a:pt x="275047" y="248874"/>
                </a:cubicBezTo>
                <a:cubicBezTo>
                  <a:pt x="275047" y="256107"/>
                  <a:pt x="280910" y="261971"/>
                  <a:pt x="288144" y="261971"/>
                </a:cubicBezTo>
                <a:lnTo>
                  <a:pt x="301240" y="261971"/>
                </a:lnTo>
                <a:cubicBezTo>
                  <a:pt x="305519" y="261965"/>
                  <a:pt x="309791" y="261658"/>
                  <a:pt x="314026" y="261054"/>
                </a:cubicBezTo>
                <a:cubicBezTo>
                  <a:pt x="310995" y="289093"/>
                  <a:pt x="286311" y="309699"/>
                  <a:pt x="258181" y="307675"/>
                </a:cubicBezTo>
                <a:cubicBezTo>
                  <a:pt x="230052" y="305650"/>
                  <a:pt x="208574" y="281721"/>
                  <a:pt x="209589" y="253537"/>
                </a:cubicBezTo>
                <a:cubicBezTo>
                  <a:pt x="210604" y="225353"/>
                  <a:pt x="233748" y="203031"/>
                  <a:pt x="261950" y="203035"/>
                </a:cubicBezTo>
                <a:cubicBezTo>
                  <a:pt x="269183" y="203035"/>
                  <a:pt x="275047" y="197171"/>
                  <a:pt x="275047" y="189938"/>
                </a:cubicBezTo>
                <a:cubicBezTo>
                  <a:pt x="275047" y="182705"/>
                  <a:pt x="269183" y="176841"/>
                  <a:pt x="261950" y="176841"/>
                </a:cubicBezTo>
                <a:cubicBezTo>
                  <a:pt x="242607" y="176827"/>
                  <a:pt x="223944" y="183977"/>
                  <a:pt x="209562" y="196912"/>
                </a:cubicBezTo>
                <a:lnTo>
                  <a:pt x="209562" y="85163"/>
                </a:lnTo>
                <a:cubicBezTo>
                  <a:pt x="209562" y="56230"/>
                  <a:pt x="233017" y="32776"/>
                  <a:pt x="261950" y="32776"/>
                </a:cubicBezTo>
                <a:cubicBezTo>
                  <a:pt x="290883" y="32776"/>
                  <a:pt x="314337" y="56230"/>
                  <a:pt x="314337" y="85163"/>
                </a:cubicBezTo>
                <a:lnTo>
                  <a:pt x="314337" y="96181"/>
                </a:lnTo>
                <a:cubicBezTo>
                  <a:pt x="314338" y="101728"/>
                  <a:pt x="317834" y="106673"/>
                  <a:pt x="323063" y="108525"/>
                </a:cubicBezTo>
                <a:cubicBezTo>
                  <a:pt x="353176" y="119126"/>
                  <a:pt x="371255" y="149896"/>
                  <a:pt x="365859" y="181361"/>
                </a:cubicBezTo>
                <a:cubicBezTo>
                  <a:pt x="360463" y="212826"/>
                  <a:pt x="333165" y="235814"/>
                  <a:pt x="301240" y="235777"/>
                </a:cubicBezTo>
                <a:close/>
                <a:moveTo>
                  <a:pt x="327434" y="150647"/>
                </a:moveTo>
                <a:cubicBezTo>
                  <a:pt x="327434" y="157881"/>
                  <a:pt x="321570" y="163744"/>
                  <a:pt x="314337" y="163744"/>
                </a:cubicBezTo>
                <a:lnTo>
                  <a:pt x="307789" y="163744"/>
                </a:lnTo>
                <a:cubicBezTo>
                  <a:pt x="275239" y="163744"/>
                  <a:pt x="248853" y="137358"/>
                  <a:pt x="248853" y="104808"/>
                </a:cubicBezTo>
                <a:lnTo>
                  <a:pt x="248853" y="98260"/>
                </a:lnTo>
                <a:cubicBezTo>
                  <a:pt x="248853" y="91027"/>
                  <a:pt x="254717" y="85163"/>
                  <a:pt x="261950" y="85163"/>
                </a:cubicBezTo>
                <a:cubicBezTo>
                  <a:pt x="269183" y="85163"/>
                  <a:pt x="275047" y="91027"/>
                  <a:pt x="275047" y="98260"/>
                </a:cubicBezTo>
                <a:lnTo>
                  <a:pt x="275047" y="104808"/>
                </a:lnTo>
                <a:cubicBezTo>
                  <a:pt x="275047" y="122891"/>
                  <a:pt x="289706" y="137551"/>
                  <a:pt x="307789" y="137551"/>
                </a:cubicBezTo>
                <a:lnTo>
                  <a:pt x="314337" y="137551"/>
                </a:lnTo>
                <a:cubicBezTo>
                  <a:pt x="321570" y="137551"/>
                  <a:pt x="327434" y="143414"/>
                  <a:pt x="327434" y="150647"/>
                </a:cubicBezTo>
                <a:close/>
                <a:moveTo>
                  <a:pt x="85142" y="163744"/>
                </a:moveTo>
                <a:lnTo>
                  <a:pt x="78594" y="163744"/>
                </a:lnTo>
                <a:cubicBezTo>
                  <a:pt x="71360" y="163744"/>
                  <a:pt x="65497" y="157881"/>
                  <a:pt x="65497" y="150647"/>
                </a:cubicBezTo>
                <a:cubicBezTo>
                  <a:pt x="65497" y="143414"/>
                  <a:pt x="71360" y="137551"/>
                  <a:pt x="78594" y="137551"/>
                </a:cubicBezTo>
                <a:lnTo>
                  <a:pt x="85142" y="137551"/>
                </a:lnTo>
                <a:cubicBezTo>
                  <a:pt x="103225" y="137551"/>
                  <a:pt x="117884" y="122891"/>
                  <a:pt x="117884" y="104808"/>
                </a:cubicBezTo>
                <a:lnTo>
                  <a:pt x="117884" y="98260"/>
                </a:lnTo>
                <a:cubicBezTo>
                  <a:pt x="117884" y="91027"/>
                  <a:pt x="123748" y="85163"/>
                  <a:pt x="130981" y="85163"/>
                </a:cubicBezTo>
                <a:cubicBezTo>
                  <a:pt x="138214" y="85163"/>
                  <a:pt x="144078" y="91027"/>
                  <a:pt x="144078" y="98260"/>
                </a:cubicBezTo>
                <a:lnTo>
                  <a:pt x="144078" y="104808"/>
                </a:lnTo>
                <a:cubicBezTo>
                  <a:pt x="144078" y="137358"/>
                  <a:pt x="117691" y="163744"/>
                  <a:pt x="85142" y="163744"/>
                </a:cubicBezTo>
                <a:close/>
              </a:path>
            </a:pathLst>
          </a:custGeom>
          <a:solidFill xmlns:a="http://schemas.openxmlformats.org/drawingml/2006/main">
            <a:srgbClr val="F7F9FC"/>
          </a:solidFill>
          <a:ln xmlns:a="http://schemas.openxmlformats.org/drawingml/2006/main">
            <a:noFill/>
          </a:ln>
        </p:spPr>
      </p:sp>
      <p:sp>
        <p:nvSpPr>
          <p:cNvPr id="15" name="Freeform 15">
            <a:extLst xmlns:a="http://schemas.openxmlformats.org/drawingml/2006/main">
              <a:ext uri="{FF2B5EF4-FFF2-40B4-BE49-F238E27FC236}">
                <a16:creationId xmlns:a16="http://schemas.microsoft.com/office/drawing/2014/main" id="{A328A959-4B39-418D-9B7D-C1B3B3A0B1C1}"/>
              </a:ext>
            </a:extLst>
          </p:cNvPr>
          <p:cNvSpPr>
            <a:spLocks xmlns:a="http://schemas.openxmlformats.org/drawingml/2006/main" noGrp="1"/>
          </p:cNvSpPr>
          <p:nvPr/>
        </p:nvSpPr>
        <p:spPr>
          <a:xfrm xmlns:a="http://schemas.openxmlformats.org/drawingml/2006/main" rot="0">
            <a:off x="1457579" y="1820466"/>
            <a:ext cx="292640" cy="340519"/>
          </a:xfrm>
          <a:custGeom xmlns:a="http://schemas.openxmlformats.org/drawingml/2006/main">
            <a:rect l="l" t="t" r="r" b="b"/>
            <a:pathLst>
              <a:path w="292640" h="340519">
                <a:moveTo>
                  <a:pt x="292640" y="85130"/>
                </a:moveTo>
                <a:lnTo>
                  <a:pt x="292640" y="209550"/>
                </a:lnTo>
                <a:cubicBezTo>
                  <a:pt x="292640" y="281882"/>
                  <a:pt x="234003" y="340519"/>
                  <a:pt x="161671" y="340519"/>
                </a:cubicBezTo>
                <a:cubicBezTo>
                  <a:pt x="89343" y="340519"/>
                  <a:pt x="62216" y="305681"/>
                  <a:pt x="8896" y="193179"/>
                </a:cubicBezTo>
                <a:cubicBezTo>
                  <a:pt x="0" y="177533"/>
                  <a:pt x="5401" y="157640"/>
                  <a:pt x="20988" y="148641"/>
                </a:cubicBezTo>
                <a:cubicBezTo>
                  <a:pt x="36574" y="139641"/>
                  <a:pt x="56503" y="144910"/>
                  <a:pt x="65605" y="160437"/>
                </a:cubicBezTo>
                <a:lnTo>
                  <a:pt x="96186" y="209550"/>
                </a:lnTo>
                <a:lnTo>
                  <a:pt x="96186" y="58936"/>
                </a:lnTo>
                <a:cubicBezTo>
                  <a:pt x="96186" y="40853"/>
                  <a:pt x="110846" y="26194"/>
                  <a:pt x="128929" y="26194"/>
                </a:cubicBezTo>
                <a:cubicBezTo>
                  <a:pt x="147012" y="26194"/>
                  <a:pt x="161671" y="40853"/>
                  <a:pt x="161671" y="58936"/>
                </a:cubicBezTo>
                <a:lnTo>
                  <a:pt x="161671" y="32742"/>
                </a:lnTo>
                <a:cubicBezTo>
                  <a:pt x="161671" y="14659"/>
                  <a:pt x="176330" y="0"/>
                  <a:pt x="194413" y="0"/>
                </a:cubicBezTo>
                <a:cubicBezTo>
                  <a:pt x="212496" y="0"/>
                  <a:pt x="227155" y="14659"/>
                  <a:pt x="227155" y="32742"/>
                </a:cubicBezTo>
                <a:lnTo>
                  <a:pt x="227155" y="85130"/>
                </a:lnTo>
                <a:cubicBezTo>
                  <a:pt x="227155" y="67047"/>
                  <a:pt x="241814" y="52388"/>
                  <a:pt x="259897" y="52388"/>
                </a:cubicBezTo>
                <a:cubicBezTo>
                  <a:pt x="277980" y="52388"/>
                  <a:pt x="292640" y="67047"/>
                  <a:pt x="292640" y="85130"/>
                </a:cubicBezTo>
                <a:close/>
              </a:path>
            </a:pathLst>
          </a:custGeom>
          <a:solidFill xmlns:a="http://schemas.openxmlformats.org/drawingml/2006/main">
            <a:srgbClr val="F7F9FC">
              <a:alpha val="20000"/>
            </a:srgbClr>
          </a:solidFill>
          <a:ln xmlns:a="http://schemas.openxmlformats.org/drawingml/2006/main">
            <a:noFill/>
          </a:ln>
        </p:spPr>
      </p:sp>
      <p:sp>
        <p:nvSpPr>
          <p:cNvPr id="16" name="Freeform 16">
            <a:extLst xmlns:a="http://schemas.openxmlformats.org/drawingml/2006/main">
              <a:ext uri="{FF2B5EF4-FFF2-40B4-BE49-F238E27FC236}">
                <a16:creationId xmlns:a16="http://schemas.microsoft.com/office/drawing/2014/main" id="{9B5F4042-B24F-41EB-B49A-6F62C92A7559}"/>
              </a:ext>
            </a:extLst>
          </p:cNvPr>
          <p:cNvSpPr>
            <a:spLocks xmlns:a="http://schemas.openxmlformats.org/drawingml/2006/main" noGrp="1"/>
          </p:cNvSpPr>
          <p:nvPr/>
        </p:nvSpPr>
        <p:spPr>
          <a:xfrm xmlns:a="http://schemas.openxmlformats.org/drawingml/2006/main" rot="0">
            <a:off x="1442437" y="1804400"/>
            <a:ext cx="320878" cy="369681"/>
          </a:xfrm>
          <a:custGeom xmlns:a="http://schemas.openxmlformats.org/drawingml/2006/main">
            <a:rect l="l" t="t" r="r" b="b"/>
            <a:pathLst>
              <a:path w="320878" h="369681">
                <a:moveTo>
                  <a:pt x="275039" y="55356"/>
                </a:moveTo>
                <a:cubicBezTo>
                  <a:pt x="268241" y="55347"/>
                  <a:pt x="261528" y="56863"/>
                  <a:pt x="255394" y="59793"/>
                </a:cubicBezTo>
                <a:lnTo>
                  <a:pt x="255394" y="48808"/>
                </a:lnTo>
                <a:cubicBezTo>
                  <a:pt x="255402" y="26236"/>
                  <a:pt x="238978" y="7018"/>
                  <a:pt x="216681" y="3509"/>
                </a:cubicBezTo>
                <a:cubicBezTo>
                  <a:pt x="194383" y="0"/>
                  <a:pt x="172850" y="13245"/>
                  <a:pt x="165926" y="34729"/>
                </a:cubicBezTo>
                <a:cubicBezTo>
                  <a:pt x="151725" y="27026"/>
                  <a:pt x="134518" y="27368"/>
                  <a:pt x="120634" y="35628"/>
                </a:cubicBezTo>
                <a:cubicBezTo>
                  <a:pt x="106750" y="43888"/>
                  <a:pt x="98239" y="58846"/>
                  <a:pt x="98231" y="75002"/>
                </a:cubicBezTo>
                <a:lnTo>
                  <a:pt x="98231" y="179777"/>
                </a:lnTo>
                <a:lnTo>
                  <a:pt x="91978" y="169741"/>
                </a:lnTo>
                <a:cubicBezTo>
                  <a:pt x="79332" y="147919"/>
                  <a:pt x="51433" y="140412"/>
                  <a:pt x="29544" y="152941"/>
                </a:cubicBezTo>
                <a:cubicBezTo>
                  <a:pt x="7655" y="165471"/>
                  <a:pt x="0" y="193331"/>
                  <a:pt x="12414" y="215286"/>
                </a:cubicBezTo>
                <a:cubicBezTo>
                  <a:pt x="38608" y="270571"/>
                  <a:pt x="59776" y="309780"/>
                  <a:pt x="83988" y="334287"/>
                </a:cubicBezTo>
                <a:cubicBezTo>
                  <a:pt x="108447" y="359106"/>
                  <a:pt x="136212" y="369681"/>
                  <a:pt x="176813" y="369681"/>
                </a:cubicBezTo>
                <a:cubicBezTo>
                  <a:pt x="256340" y="369591"/>
                  <a:pt x="320788" y="305144"/>
                  <a:pt x="320878" y="225616"/>
                </a:cubicBezTo>
                <a:lnTo>
                  <a:pt x="320878" y="101196"/>
                </a:lnTo>
                <a:cubicBezTo>
                  <a:pt x="320878" y="75879"/>
                  <a:pt x="300355" y="55356"/>
                  <a:pt x="275039" y="55356"/>
                </a:cubicBezTo>
                <a:close/>
                <a:moveTo>
                  <a:pt x="294684" y="225616"/>
                </a:moveTo>
                <a:cubicBezTo>
                  <a:pt x="294612" y="290685"/>
                  <a:pt x="241882" y="343416"/>
                  <a:pt x="176813" y="343488"/>
                </a:cubicBezTo>
                <a:cubicBezTo>
                  <a:pt x="143448" y="343488"/>
                  <a:pt x="121953" y="335499"/>
                  <a:pt x="102602" y="315902"/>
                </a:cubicBezTo>
                <a:cubicBezTo>
                  <a:pt x="80943" y="293949"/>
                  <a:pt x="61003" y="256721"/>
                  <a:pt x="35857" y="203646"/>
                </a:cubicBezTo>
                <a:cubicBezTo>
                  <a:pt x="35710" y="203321"/>
                  <a:pt x="35546" y="203004"/>
                  <a:pt x="35366" y="202696"/>
                </a:cubicBezTo>
                <a:cubicBezTo>
                  <a:pt x="29941" y="193298"/>
                  <a:pt x="33163" y="181281"/>
                  <a:pt x="42561" y="175856"/>
                </a:cubicBezTo>
                <a:cubicBezTo>
                  <a:pt x="51960" y="170431"/>
                  <a:pt x="63977" y="173652"/>
                  <a:pt x="69402" y="183051"/>
                </a:cubicBezTo>
                <a:cubicBezTo>
                  <a:pt x="69469" y="183182"/>
                  <a:pt x="69545" y="183308"/>
                  <a:pt x="69631" y="183428"/>
                </a:cubicBezTo>
                <a:lnTo>
                  <a:pt x="100196" y="232541"/>
                </a:lnTo>
                <a:cubicBezTo>
                  <a:pt x="103281" y="237519"/>
                  <a:pt x="109296" y="239844"/>
                  <a:pt x="114927" y="238234"/>
                </a:cubicBezTo>
                <a:cubicBezTo>
                  <a:pt x="120559" y="236625"/>
                  <a:pt x="124437" y="231472"/>
                  <a:pt x="124425" y="225616"/>
                </a:cubicBezTo>
                <a:lnTo>
                  <a:pt x="124425" y="75002"/>
                </a:lnTo>
                <a:cubicBezTo>
                  <a:pt x="124425" y="64152"/>
                  <a:pt x="133221" y="55356"/>
                  <a:pt x="144070" y="55356"/>
                </a:cubicBezTo>
                <a:cubicBezTo>
                  <a:pt x="154920" y="55356"/>
                  <a:pt x="163716" y="64152"/>
                  <a:pt x="163716" y="75002"/>
                </a:cubicBezTo>
                <a:lnTo>
                  <a:pt x="163716" y="173228"/>
                </a:lnTo>
                <a:cubicBezTo>
                  <a:pt x="163716" y="180462"/>
                  <a:pt x="169579" y="186325"/>
                  <a:pt x="176813" y="186325"/>
                </a:cubicBezTo>
                <a:cubicBezTo>
                  <a:pt x="184046" y="186325"/>
                  <a:pt x="189909" y="180462"/>
                  <a:pt x="189909" y="173228"/>
                </a:cubicBezTo>
                <a:lnTo>
                  <a:pt x="189909" y="48808"/>
                </a:lnTo>
                <a:cubicBezTo>
                  <a:pt x="189909" y="37958"/>
                  <a:pt x="198705" y="29163"/>
                  <a:pt x="209555" y="29163"/>
                </a:cubicBezTo>
                <a:cubicBezTo>
                  <a:pt x="220405" y="29163"/>
                  <a:pt x="229200" y="37958"/>
                  <a:pt x="229200" y="48808"/>
                </a:cubicBezTo>
                <a:lnTo>
                  <a:pt x="229200" y="173228"/>
                </a:lnTo>
                <a:cubicBezTo>
                  <a:pt x="229200" y="180462"/>
                  <a:pt x="235064" y="186325"/>
                  <a:pt x="242297" y="186325"/>
                </a:cubicBezTo>
                <a:cubicBezTo>
                  <a:pt x="249530" y="186325"/>
                  <a:pt x="255394" y="180462"/>
                  <a:pt x="255394" y="173228"/>
                </a:cubicBezTo>
                <a:lnTo>
                  <a:pt x="255394" y="101196"/>
                </a:lnTo>
                <a:cubicBezTo>
                  <a:pt x="255394" y="90346"/>
                  <a:pt x="264189" y="81550"/>
                  <a:pt x="275039" y="81550"/>
                </a:cubicBezTo>
                <a:cubicBezTo>
                  <a:pt x="285889" y="81550"/>
                  <a:pt x="294684" y="90346"/>
                  <a:pt x="294684" y="101196"/>
                </a:cubicBezTo>
                <a:close/>
              </a:path>
            </a:pathLst>
          </a:custGeom>
          <a:solidFill xmlns:a="http://schemas.openxmlformats.org/drawingml/2006/main">
            <a:srgbClr val="F7F9FC"/>
          </a:solidFill>
          <a:ln xmlns:a="http://schemas.openxmlformats.org/drawingml/2006/main">
            <a:noFill/>
          </a:ln>
        </p:spPr>
      </p:sp>
      <p:sp>
        <p:nvSpPr>
          <p:cNvPr id="18" name="TextBox 18">
            <a:extLst xmlns:a="http://schemas.openxmlformats.org/drawingml/2006/main">
              <a:ext uri="{FF2B5EF4-FFF2-40B4-BE49-F238E27FC236}">
                <a16:creationId xmlns:a16="http://schemas.microsoft.com/office/drawing/2014/main" id="{27C7C214-DC36-435E-9E1D-FECF0150D7FE}"/>
              </a:ext>
            </a:extLst>
          </p:cNvPr>
          <p:cNvSpPr>
            <a:spLocks xmlns:a="http://schemas.openxmlformats.org/drawingml/2006/main" noGrp="1"/>
          </p:cNvSpPr>
          <p:nvPr/>
        </p:nvSpPr>
        <p:spPr>
          <a:xfrm xmlns:a="http://schemas.openxmlformats.org/drawingml/2006/main" rot="0">
            <a:off x="902018" y="2437924"/>
            <a:ext cx="1642492"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b="1">
                <a:solidFill>
                  <a:srgbClr val="F7F9FC"/>
                </a:solidFill>
                <a:latin typeface="Arial"/>
                <a:ea typeface="Arial"/>
                <a:cs typeface="Arial"/>
              </a:rPr>
              <a:t>RECOMMENDED LEARNED EXTENSION</a:t>
            </a:r>
          </a:p>
        </p:txBody>
      </p:sp>
      <p:sp>
        <p:nvSpPr>
          <p:cNvPr id="19" name="TextBox 19">
            <a:extLst xmlns:a="http://schemas.openxmlformats.org/drawingml/2006/main">
              <a:ext uri="{FF2B5EF4-FFF2-40B4-BE49-F238E27FC236}">
                <a16:creationId xmlns:a16="http://schemas.microsoft.com/office/drawing/2014/main" id="{FD266AF8-28E2-4C27-B861-B8E51FE2F1A1}"/>
              </a:ext>
            </a:extLst>
          </p:cNvPr>
          <p:cNvSpPr>
            <a:spLocks xmlns:a="http://schemas.openxmlformats.org/drawingml/2006/main" noGrp="1"/>
          </p:cNvSpPr>
          <p:nvPr/>
        </p:nvSpPr>
        <p:spPr>
          <a:xfrm xmlns:a="http://schemas.openxmlformats.org/drawingml/2006/main" rot="0">
            <a:off x="893445" y="2755582"/>
            <a:ext cx="187859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DYNAMIC GESTURE</a:t>
            </a:r>
          </a:p>
        </p:txBody>
      </p:sp>
      <p:sp>
        <p:nvSpPr>
          <p:cNvPr id="20" name="TextBox 20">
            <a:extLst xmlns:a="http://schemas.openxmlformats.org/drawingml/2006/main">
              <a:ext uri="{FF2B5EF4-FFF2-40B4-BE49-F238E27FC236}">
                <a16:creationId xmlns:a16="http://schemas.microsoft.com/office/drawing/2014/main" id="{C020D530-8E66-4D71-B028-7093FC011A1A}"/>
              </a:ext>
            </a:extLst>
          </p:cNvPr>
          <p:cNvSpPr>
            <a:spLocks xmlns:a="http://schemas.openxmlformats.org/drawingml/2006/main" noGrp="1"/>
          </p:cNvSpPr>
          <p:nvPr/>
        </p:nvSpPr>
        <p:spPr>
          <a:xfrm xmlns:a="http://schemas.openxmlformats.org/drawingml/2006/main" rot="0">
            <a:off x="893445" y="3031808"/>
            <a:ext cx="1243260" cy="3352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650" b="1">
                <a:solidFill>
                  <a:srgbClr val="F7F9FC"/>
                </a:solidFill>
                <a:latin typeface="Arial"/>
                <a:ea typeface="Arial"/>
                <a:cs typeface="Arial"/>
              </a:rPr>
              <a:t>TCN OR GRU</a:t>
            </a:r>
          </a:p>
        </p:txBody>
      </p:sp>
      <p:sp>
        <p:nvSpPr>
          <p:cNvPr id="21" name="Rectangle 21">
            <a:extLst xmlns:a="http://schemas.openxmlformats.org/drawingml/2006/main">
              <a:ext uri="{FF2B5EF4-FFF2-40B4-BE49-F238E27FC236}">
                <a16:creationId xmlns:a16="http://schemas.microsoft.com/office/drawing/2014/main" id="{49687176-52F2-4113-9C7A-802EF0B6217A}"/>
              </a:ext>
            </a:extLst>
          </p:cNvPr>
          <p:cNvSpPr>
            <a:spLocks xmlns:a="http://schemas.openxmlformats.org/drawingml/2006/main" noGrp="1"/>
          </p:cNvSpPr>
          <p:nvPr/>
        </p:nvSpPr>
        <p:spPr>
          <a:xfrm xmlns:a="http://schemas.openxmlformats.org/drawingml/2006/main" rot="0">
            <a:off x="914400" y="3476625"/>
            <a:ext cx="2743200" cy="590550"/>
          </a:xfrm>
          <a:prstGeom xmlns:a="http://schemas.openxmlformats.org/drawingml/2006/main" prst="roundRect">
            <a:avLst>
              <a:gd name="adj" fmla="val 16129"/>
            </a:avLst>
          </a:prstGeom>
          <a:solidFill xmlns:a="http://schemas.openxmlformats.org/drawingml/2006/main">
            <a:srgbClr val="2F80ED"/>
          </a:solidFill>
          <a:ln xmlns:a="http://schemas.openxmlformats.org/drawingml/2006/main">
            <a:noFill/>
          </a:ln>
        </p:spPr>
      </p:sp>
      <p:sp>
        <p:nvSpPr>
          <p:cNvPr id="22" name="TextBox 22">
            <a:extLst xmlns:a="http://schemas.openxmlformats.org/drawingml/2006/main">
              <a:ext uri="{FF2B5EF4-FFF2-40B4-BE49-F238E27FC236}">
                <a16:creationId xmlns:a16="http://schemas.microsoft.com/office/drawing/2014/main" id="{9B044053-B3DA-4F29-B142-FDB831529433}"/>
              </a:ext>
            </a:extLst>
          </p:cNvPr>
          <p:cNvSpPr>
            <a:spLocks xmlns:a="http://schemas.openxmlformats.org/drawingml/2006/main" noGrp="1"/>
          </p:cNvSpPr>
          <p:nvPr/>
        </p:nvSpPr>
        <p:spPr>
          <a:xfrm xmlns:a="http://schemas.openxmlformats.org/drawingml/2006/main" rot="0">
            <a:off x="1913715" y="3594735"/>
            <a:ext cx="744569" cy="243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1200" b="1">
                <a:solidFill>
                  <a:srgbClr val="F7F9FC"/>
                </a:solidFill>
                <a:latin typeface="Consolas"/>
                <a:ea typeface="Consolas"/>
                <a:cs typeface="Consolas"/>
              </a:rPr>
              <a:t>T × 21 × 3</a:t>
            </a:r>
          </a:p>
        </p:txBody>
      </p:sp>
      <p:sp>
        <p:nvSpPr>
          <p:cNvPr id="23" name="TextBox 23">
            <a:extLst xmlns:a="http://schemas.openxmlformats.org/drawingml/2006/main">
              <a:ext uri="{FF2B5EF4-FFF2-40B4-BE49-F238E27FC236}">
                <a16:creationId xmlns:a16="http://schemas.microsoft.com/office/drawing/2014/main" id="{3B0D53B9-73EF-420A-8E79-3193161E12BA}"/>
              </a:ext>
            </a:extLst>
          </p:cNvPr>
          <p:cNvSpPr>
            <a:spLocks xmlns:a="http://schemas.openxmlformats.org/drawingml/2006/main" noGrp="1"/>
          </p:cNvSpPr>
          <p:nvPr/>
        </p:nvSpPr>
        <p:spPr>
          <a:xfrm xmlns:a="http://schemas.openxmlformats.org/drawingml/2006/main" rot="0">
            <a:off x="1148977" y="3838099"/>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ctr">
              <a:buNone/>
            </a:pPr>
            <a:r>
              <a:rPr sz="975">
                <a:solidFill>
                  <a:srgbClr val="F7F9FC"/>
                </a:solidFill>
                <a:latin typeface="Arial"/>
                <a:ea typeface="Arial"/>
                <a:cs typeface="Arial"/>
              </a:rPr>
              <a:t>normalized hand-landmark sequence</a:t>
            </a:r>
          </a:p>
        </p:txBody>
      </p:sp>
      <p:sp>
        <p:nvSpPr>
          <p:cNvPr id="24" name="Line 24">
            <a:extLst xmlns:a="http://schemas.openxmlformats.org/drawingml/2006/main">
              <a:ext uri="{FF2B5EF4-FFF2-40B4-BE49-F238E27FC236}">
                <a16:creationId xmlns:a16="http://schemas.microsoft.com/office/drawing/2014/main" id="{28F3E89C-BADF-4380-87C0-70D1FB0BEB08}"/>
              </a:ext>
            </a:extLst>
          </p:cNvPr>
          <p:cNvSpPr>
            <a:spLocks xmlns:a="http://schemas.openxmlformats.org/drawingml/2006/main" noGrp="1"/>
          </p:cNvSpPr>
          <p:nvPr/>
        </p:nvSpPr>
        <p:spPr>
          <a:xfrm xmlns:a="http://schemas.openxmlformats.org/drawingml/2006/main" rot="0">
            <a:off x="914400" y="4352925"/>
            <a:ext cx="2743200" cy="9525"/>
          </a:xfrm>
          <a:custGeom xmlns:a="http://schemas.openxmlformats.org/drawingml/2006/main">
            <a:rect l="l" t="t" r="r" b="b"/>
            <a:pathLst>
              <a:path w="2743200" h="9525">
                <a:moveTo>
                  <a:pt x="0" y="0"/>
                </a:moveTo>
                <a:lnTo>
                  <a:pt x="2743200" y="0"/>
                </a:lnTo>
              </a:path>
            </a:pathLst>
          </a:custGeom>
          <a:noFill xmlns:a="http://schemas.openxmlformats.org/drawingml/2006/main"/>
          <a:ln xmlns:a="http://schemas.openxmlformats.org/drawingml/2006/main" w="9525">
            <a:solidFill>
              <a:srgbClr val="F7F9FC">
                <a:alpha val="35000"/>
              </a:srgbClr>
            </a:solidFill>
          </a:ln>
        </p:spPr>
      </p:sp>
      <p:sp>
        <p:nvSpPr>
          <p:cNvPr id="25" name="Ellipse 25">
            <a:extLst xmlns:a="http://schemas.openxmlformats.org/drawingml/2006/main">
              <a:ext uri="{FF2B5EF4-FFF2-40B4-BE49-F238E27FC236}">
                <a16:creationId xmlns:a16="http://schemas.microsoft.com/office/drawing/2014/main" id="{BF2EA731-FE4E-47DD-B08D-6B8E7708BDDF}"/>
              </a:ext>
            </a:extLst>
          </p:cNvPr>
          <p:cNvSpPr>
            <a:spLocks xmlns:a="http://schemas.openxmlformats.org/drawingml/2006/main" noGrp="1"/>
          </p:cNvSpPr>
          <p:nvPr/>
        </p:nvSpPr>
        <p:spPr>
          <a:xfrm xmlns:a="http://schemas.openxmlformats.org/drawingml/2006/main" rot="0">
            <a:off x="952500" y="4619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6" name="TextBox 26">
            <a:extLst xmlns:a="http://schemas.openxmlformats.org/drawingml/2006/main">
              <a:ext uri="{FF2B5EF4-FFF2-40B4-BE49-F238E27FC236}">
                <a16:creationId xmlns:a16="http://schemas.microsoft.com/office/drawing/2014/main" id="{1D9DBB1F-FF1F-44DE-B030-31553C1CD0E6}"/>
              </a:ext>
            </a:extLst>
          </p:cNvPr>
          <p:cNvSpPr>
            <a:spLocks xmlns:a="http://schemas.openxmlformats.org/drawingml/2006/main" noGrp="1"/>
          </p:cNvSpPr>
          <p:nvPr/>
        </p:nvSpPr>
        <p:spPr>
          <a:xfrm xmlns:a="http://schemas.openxmlformats.org/drawingml/2006/main" rot="0">
            <a:off x="1128712" y="4583906"/>
            <a:ext cx="234636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Wave, swipe, and circle classes</a:t>
            </a:r>
          </a:p>
        </p:txBody>
      </p:sp>
      <p:sp>
        <p:nvSpPr>
          <p:cNvPr id="27" name="Ellipse 27">
            <a:extLst xmlns:a="http://schemas.openxmlformats.org/drawingml/2006/main">
              <a:ext uri="{FF2B5EF4-FFF2-40B4-BE49-F238E27FC236}">
                <a16:creationId xmlns:a16="http://schemas.microsoft.com/office/drawing/2014/main" id="{2A3714A5-682C-47B6-B308-8377E5C1D4C3}"/>
              </a:ext>
            </a:extLst>
          </p:cNvPr>
          <p:cNvSpPr>
            <a:spLocks xmlns:a="http://schemas.openxmlformats.org/drawingml/2006/main" noGrp="1"/>
          </p:cNvSpPr>
          <p:nvPr/>
        </p:nvSpPr>
        <p:spPr>
          <a:xfrm xmlns:a="http://schemas.openxmlformats.org/drawingml/2006/main" rot="0">
            <a:off x="952500" y="5000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28" name="TextBox 28">
            <a:extLst xmlns:a="http://schemas.openxmlformats.org/drawingml/2006/main">
              <a:ext uri="{FF2B5EF4-FFF2-40B4-BE49-F238E27FC236}">
                <a16:creationId xmlns:a16="http://schemas.microsoft.com/office/drawing/2014/main" id="{82948DB1-AC7E-4F07-A302-5A1C2AA5A4EB}"/>
              </a:ext>
            </a:extLst>
          </p:cNvPr>
          <p:cNvSpPr>
            <a:spLocks xmlns:a="http://schemas.openxmlformats.org/drawingml/2006/main" noGrp="1"/>
          </p:cNvSpPr>
          <p:nvPr/>
        </p:nvSpPr>
        <p:spPr>
          <a:xfrm xmlns:a="http://schemas.openxmlformats.org/drawingml/2006/main" rot="0">
            <a:off x="1128712" y="4964906"/>
            <a:ext cx="226385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Low-dimensional training input</a:t>
            </a:r>
          </a:p>
        </p:txBody>
      </p:sp>
      <p:sp>
        <p:nvSpPr>
          <p:cNvPr id="29" name="Ellipse 29">
            <a:extLst xmlns:a="http://schemas.openxmlformats.org/drawingml/2006/main">
              <a:ext uri="{FF2B5EF4-FFF2-40B4-BE49-F238E27FC236}">
                <a16:creationId xmlns:a16="http://schemas.microsoft.com/office/drawing/2014/main" id="{7CAF6720-646A-482E-A4B7-196D15F21ECC}"/>
              </a:ext>
            </a:extLst>
          </p:cNvPr>
          <p:cNvSpPr>
            <a:spLocks xmlns:a="http://schemas.openxmlformats.org/drawingml/2006/main" noGrp="1"/>
          </p:cNvSpPr>
          <p:nvPr/>
        </p:nvSpPr>
        <p:spPr>
          <a:xfrm xmlns:a="http://schemas.openxmlformats.org/drawingml/2006/main" rot="0">
            <a:off x="952500" y="5381625"/>
            <a:ext cx="76200" cy="76200"/>
          </a:xfrm>
          <a:prstGeom xmlns:a="http://schemas.openxmlformats.org/drawingml/2006/main" prst="ellipse">
            <a:avLst/>
          </a:prstGeom>
          <a:solidFill xmlns:a="http://schemas.openxmlformats.org/drawingml/2006/main">
            <a:srgbClr val="2F80ED"/>
          </a:solidFill>
          <a:ln xmlns:a="http://schemas.openxmlformats.org/drawingml/2006/main">
            <a:noFill/>
          </a:ln>
        </p:spPr>
      </p:sp>
      <p:sp>
        <p:nvSpPr>
          <p:cNvPr id="30" name="TextBox 30">
            <a:extLst xmlns:a="http://schemas.openxmlformats.org/drawingml/2006/main">
              <a:ext uri="{FF2B5EF4-FFF2-40B4-BE49-F238E27FC236}">
                <a16:creationId xmlns:a16="http://schemas.microsoft.com/office/drawing/2014/main" id="{1D4CECDB-29C8-49B5-A837-50C483087771}"/>
              </a:ext>
            </a:extLst>
          </p:cNvPr>
          <p:cNvSpPr>
            <a:spLocks xmlns:a="http://schemas.openxmlformats.org/drawingml/2006/main" noGrp="1"/>
          </p:cNvSpPr>
          <p:nvPr/>
        </p:nvSpPr>
        <p:spPr>
          <a:xfrm xmlns:a="http://schemas.openxmlformats.org/drawingml/2006/main" rot="0">
            <a:off x="1128712" y="5345906"/>
            <a:ext cx="2556391"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F7F9FC"/>
                </a:solidFill>
                <a:latin typeface="Arial"/>
                <a:ea typeface="Arial"/>
                <a:cs typeface="Arial"/>
              </a:rPr>
              <a:t>Lower background and privacy risk</a:t>
            </a:r>
          </a:p>
        </p:txBody>
      </p:sp>
      <p:sp>
        <p:nvSpPr>
          <p:cNvPr id="32" name="Rectangle 32">
            <a:extLst xmlns:a="http://schemas.openxmlformats.org/drawingml/2006/main">
              <a:ext uri="{FF2B5EF4-FFF2-40B4-BE49-F238E27FC236}">
                <a16:creationId xmlns:a16="http://schemas.microsoft.com/office/drawing/2014/main" id="{E0F22EDB-B7D1-40FE-951B-D2B23EAD36E8}"/>
              </a:ext>
            </a:extLst>
          </p:cNvPr>
          <p:cNvSpPr>
            <a:spLocks xmlns:a="http://schemas.openxmlformats.org/drawingml/2006/main" noGrp="1"/>
          </p:cNvSpPr>
          <p:nvPr/>
        </p:nvSpPr>
        <p:spPr>
          <a:xfrm xmlns:a="http://schemas.openxmlformats.org/drawingml/2006/main" rot="0">
            <a:off x="4419600" y="15240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33" name="Freeform 33">
            <a:extLst xmlns:a="http://schemas.openxmlformats.org/drawingml/2006/main">
              <a:ext uri="{FF2B5EF4-FFF2-40B4-BE49-F238E27FC236}">
                <a16:creationId xmlns:a16="http://schemas.microsoft.com/office/drawing/2014/main" id="{0C209F29-B222-4AA1-ABE4-D8AACF1A0EC5}"/>
              </a:ext>
            </a:extLst>
          </p:cNvPr>
          <p:cNvSpPr>
            <a:spLocks xmlns:a="http://schemas.openxmlformats.org/drawingml/2006/main" noGrp="1"/>
          </p:cNvSpPr>
          <p:nvPr/>
        </p:nvSpPr>
        <p:spPr>
          <a:xfrm xmlns:a="http://schemas.openxmlformats.org/drawingml/2006/main" rot="0">
            <a:off x="4681142" y="1754981"/>
            <a:ext cx="238943" cy="291321"/>
          </a:xfrm>
          <a:custGeom xmlns:a="http://schemas.openxmlformats.org/drawingml/2006/main">
            <a:rect l="l" t="t" r="r" b="b"/>
            <a:pathLst>
              <a:path w="238943" h="291321">
                <a:moveTo>
                  <a:pt x="87311" y="32147"/>
                </a:moveTo>
                <a:cubicBezTo>
                  <a:pt x="87311" y="14393"/>
                  <a:pt x="101704" y="0"/>
                  <a:pt x="119458" y="0"/>
                </a:cubicBezTo>
                <a:cubicBezTo>
                  <a:pt x="137213" y="0"/>
                  <a:pt x="151605" y="14393"/>
                  <a:pt x="151605" y="32147"/>
                </a:cubicBezTo>
                <a:cubicBezTo>
                  <a:pt x="151605" y="49901"/>
                  <a:pt x="137213" y="64294"/>
                  <a:pt x="119458" y="64294"/>
                </a:cubicBezTo>
                <a:cubicBezTo>
                  <a:pt x="101704" y="64294"/>
                  <a:pt x="87311" y="49901"/>
                  <a:pt x="87311" y="32147"/>
                </a:cubicBezTo>
                <a:close/>
                <a:moveTo>
                  <a:pt x="232629" y="165436"/>
                </a:moveTo>
                <a:lnTo>
                  <a:pt x="171925" y="96615"/>
                </a:lnTo>
                <a:cubicBezTo>
                  <a:pt x="165823" y="89693"/>
                  <a:pt x="157042" y="85727"/>
                  <a:pt x="147815" y="85725"/>
                </a:cubicBezTo>
                <a:lnTo>
                  <a:pt x="91102" y="85725"/>
                </a:lnTo>
                <a:cubicBezTo>
                  <a:pt x="81875" y="85727"/>
                  <a:pt x="73093" y="89693"/>
                  <a:pt x="66992" y="96615"/>
                </a:cubicBezTo>
                <a:lnTo>
                  <a:pt x="6288" y="165436"/>
                </a:lnTo>
                <a:cubicBezTo>
                  <a:pt x="0" y="171724"/>
                  <a:pt x="0" y="181919"/>
                  <a:pt x="6288" y="188207"/>
                </a:cubicBezTo>
                <a:cubicBezTo>
                  <a:pt x="12576" y="194495"/>
                  <a:pt x="22771" y="194495"/>
                  <a:pt x="29059" y="188207"/>
                </a:cubicBezTo>
                <a:lnTo>
                  <a:pt x="76596" y="150019"/>
                </a:lnTo>
                <a:lnTo>
                  <a:pt x="45963" y="266457"/>
                </a:lnTo>
                <a:cubicBezTo>
                  <a:pt x="42364" y="274474"/>
                  <a:pt x="45870" y="283895"/>
                  <a:pt x="53835" y="287608"/>
                </a:cubicBezTo>
                <a:cubicBezTo>
                  <a:pt x="61799" y="291321"/>
                  <a:pt x="71269" y="287950"/>
                  <a:pt x="75096" y="280039"/>
                </a:cubicBezTo>
                <a:lnTo>
                  <a:pt x="119458" y="203597"/>
                </a:lnTo>
                <a:lnTo>
                  <a:pt x="163821" y="280039"/>
                </a:lnTo>
                <a:cubicBezTo>
                  <a:pt x="167648" y="287950"/>
                  <a:pt x="177118" y="291321"/>
                  <a:pt x="185082" y="287608"/>
                </a:cubicBezTo>
                <a:cubicBezTo>
                  <a:pt x="193047" y="283895"/>
                  <a:pt x="196553" y="274474"/>
                  <a:pt x="192954" y="266457"/>
                </a:cubicBezTo>
                <a:lnTo>
                  <a:pt x="162321" y="150019"/>
                </a:lnTo>
                <a:lnTo>
                  <a:pt x="209885" y="188180"/>
                </a:lnTo>
                <a:cubicBezTo>
                  <a:pt x="216173" y="194468"/>
                  <a:pt x="226368" y="194468"/>
                  <a:pt x="232656" y="188180"/>
                </a:cubicBezTo>
                <a:cubicBezTo>
                  <a:pt x="238943" y="181892"/>
                  <a:pt x="238943" y="171697"/>
                  <a:pt x="232656" y="165409"/>
                </a:cubicBezTo>
                <a:close/>
              </a:path>
            </a:pathLst>
          </a:custGeom>
          <a:solidFill xmlns:a="http://schemas.openxmlformats.org/drawingml/2006/main">
            <a:srgbClr val="2F80ED">
              <a:alpha val="20000"/>
            </a:srgbClr>
          </a:solidFill>
          <a:ln xmlns:a="http://schemas.openxmlformats.org/drawingml/2006/main">
            <a:noFill/>
          </a:ln>
        </p:spPr>
      </p:sp>
      <p:sp>
        <p:nvSpPr>
          <p:cNvPr id="34" name="Freeform 34">
            <a:extLst xmlns:a="http://schemas.openxmlformats.org/drawingml/2006/main">
              <a:ext uri="{FF2B5EF4-FFF2-40B4-BE49-F238E27FC236}">
                <a16:creationId xmlns:a16="http://schemas.microsoft.com/office/drawing/2014/main" id="{15066CE6-D046-4868-B930-8BD343EB51D9}"/>
              </a:ext>
            </a:extLst>
          </p:cNvPr>
          <p:cNvSpPr>
            <a:spLocks xmlns:a="http://schemas.openxmlformats.org/drawingml/2006/main" noGrp="1"/>
          </p:cNvSpPr>
          <p:nvPr/>
        </p:nvSpPr>
        <p:spPr>
          <a:xfrm xmlns:a="http://schemas.openxmlformats.org/drawingml/2006/main" rot="0">
            <a:off x="4669371" y="1744266"/>
            <a:ext cx="262458" cy="315209"/>
          </a:xfrm>
          <a:custGeom xmlns:a="http://schemas.openxmlformats.org/drawingml/2006/main">
            <a:rect l="l" t="t" r="r" b="b"/>
            <a:pathLst>
              <a:path w="262458" h="315209">
                <a:moveTo>
                  <a:pt x="174091" y="42862"/>
                </a:moveTo>
                <a:cubicBezTo>
                  <a:pt x="174091" y="19190"/>
                  <a:pt x="154901" y="0"/>
                  <a:pt x="131229" y="0"/>
                </a:cubicBezTo>
                <a:cubicBezTo>
                  <a:pt x="107557" y="0"/>
                  <a:pt x="88366" y="19190"/>
                  <a:pt x="88366" y="42862"/>
                </a:cubicBezTo>
                <a:cubicBezTo>
                  <a:pt x="88366" y="66535"/>
                  <a:pt x="107557" y="85725"/>
                  <a:pt x="131229" y="85725"/>
                </a:cubicBezTo>
                <a:cubicBezTo>
                  <a:pt x="154901" y="85725"/>
                  <a:pt x="174091" y="66535"/>
                  <a:pt x="174091" y="42862"/>
                </a:cubicBezTo>
                <a:close/>
                <a:moveTo>
                  <a:pt x="131229" y="64294"/>
                </a:moveTo>
                <a:cubicBezTo>
                  <a:pt x="119393" y="64294"/>
                  <a:pt x="109798" y="54699"/>
                  <a:pt x="109798" y="42862"/>
                </a:cubicBezTo>
                <a:cubicBezTo>
                  <a:pt x="109798" y="31026"/>
                  <a:pt x="119393" y="21431"/>
                  <a:pt x="131229" y="21431"/>
                </a:cubicBezTo>
                <a:cubicBezTo>
                  <a:pt x="143065" y="21431"/>
                  <a:pt x="152660" y="31026"/>
                  <a:pt x="152660" y="42862"/>
                </a:cubicBezTo>
                <a:cubicBezTo>
                  <a:pt x="152660" y="54699"/>
                  <a:pt x="143065" y="64294"/>
                  <a:pt x="131229" y="64294"/>
                </a:cubicBezTo>
                <a:close/>
                <a:moveTo>
                  <a:pt x="252235" y="168838"/>
                </a:moveTo>
                <a:lnTo>
                  <a:pt x="191732" y="100231"/>
                </a:lnTo>
                <a:cubicBezTo>
                  <a:pt x="183594" y="91007"/>
                  <a:pt x="171886" y="85724"/>
                  <a:pt x="159585" y="85725"/>
                </a:cubicBezTo>
                <a:lnTo>
                  <a:pt x="102873" y="85725"/>
                </a:lnTo>
                <a:cubicBezTo>
                  <a:pt x="90572" y="85724"/>
                  <a:pt x="78863" y="91007"/>
                  <a:pt x="70726" y="100231"/>
                </a:cubicBezTo>
                <a:lnTo>
                  <a:pt x="10223" y="168838"/>
                </a:lnTo>
                <a:cubicBezTo>
                  <a:pt x="0" y="179293"/>
                  <a:pt x="50" y="196014"/>
                  <a:pt x="10334" y="206409"/>
                </a:cubicBezTo>
                <a:cubicBezTo>
                  <a:pt x="20619" y="216803"/>
                  <a:pt x="37338" y="217030"/>
                  <a:pt x="47901" y="206919"/>
                </a:cubicBezTo>
                <a:lnTo>
                  <a:pt x="69735" y="189399"/>
                </a:lnTo>
                <a:lnTo>
                  <a:pt x="47580" y="273623"/>
                </a:lnTo>
                <a:cubicBezTo>
                  <a:pt x="41470" y="287106"/>
                  <a:pt x="47446" y="302988"/>
                  <a:pt x="60928" y="309099"/>
                </a:cubicBezTo>
                <a:cubicBezTo>
                  <a:pt x="74410" y="315209"/>
                  <a:pt x="90293" y="309233"/>
                  <a:pt x="96403" y="295751"/>
                </a:cubicBezTo>
                <a:lnTo>
                  <a:pt x="131229" y="235650"/>
                </a:lnTo>
                <a:lnTo>
                  <a:pt x="166055" y="295751"/>
                </a:lnTo>
                <a:cubicBezTo>
                  <a:pt x="172428" y="308760"/>
                  <a:pt x="187988" y="314346"/>
                  <a:pt x="201180" y="308361"/>
                </a:cubicBezTo>
                <a:cubicBezTo>
                  <a:pt x="214373" y="302375"/>
                  <a:pt x="220417" y="286987"/>
                  <a:pt x="214824" y="273623"/>
                </a:cubicBezTo>
                <a:lnTo>
                  <a:pt x="192723" y="189399"/>
                </a:lnTo>
                <a:lnTo>
                  <a:pt x="214556" y="206919"/>
                </a:lnTo>
                <a:cubicBezTo>
                  <a:pt x="225119" y="217030"/>
                  <a:pt x="241839" y="216803"/>
                  <a:pt x="252123" y="206409"/>
                </a:cubicBezTo>
                <a:cubicBezTo>
                  <a:pt x="262408" y="196014"/>
                  <a:pt x="262458" y="179293"/>
                  <a:pt x="252235" y="168838"/>
                </a:cubicBezTo>
                <a:close/>
                <a:moveTo>
                  <a:pt x="236818" y="191301"/>
                </a:moveTo>
                <a:cubicBezTo>
                  <a:pt x="235813" y="192307"/>
                  <a:pt x="234449" y="192872"/>
                  <a:pt x="233027" y="192872"/>
                </a:cubicBezTo>
                <a:cubicBezTo>
                  <a:pt x="231605" y="192872"/>
                  <a:pt x="230242" y="192307"/>
                  <a:pt x="229237" y="191301"/>
                </a:cubicBezTo>
                <a:cubicBezTo>
                  <a:pt x="228955" y="191033"/>
                  <a:pt x="228674" y="190765"/>
                  <a:pt x="228366" y="190524"/>
                </a:cubicBezTo>
                <a:lnTo>
                  <a:pt x="180789" y="152376"/>
                </a:lnTo>
                <a:cubicBezTo>
                  <a:pt x="177188" y="149502"/>
                  <a:pt x="172153" y="149251"/>
                  <a:pt x="168284" y="151753"/>
                </a:cubicBezTo>
                <a:cubicBezTo>
                  <a:pt x="164415" y="154255"/>
                  <a:pt x="162579" y="158950"/>
                  <a:pt x="163724" y="163413"/>
                </a:cubicBezTo>
                <a:lnTo>
                  <a:pt x="194371" y="279946"/>
                </a:lnTo>
                <a:cubicBezTo>
                  <a:pt x="194528" y="280567"/>
                  <a:pt x="194744" y="281172"/>
                  <a:pt x="195014" y="281754"/>
                </a:cubicBezTo>
                <a:cubicBezTo>
                  <a:pt x="195855" y="283494"/>
                  <a:pt x="195695" y="285551"/>
                  <a:pt x="194594" y="287140"/>
                </a:cubicBezTo>
                <a:cubicBezTo>
                  <a:pt x="193493" y="288728"/>
                  <a:pt x="191622" y="289600"/>
                  <a:pt x="189698" y="289422"/>
                </a:cubicBezTo>
                <a:cubicBezTo>
                  <a:pt x="187773" y="289244"/>
                  <a:pt x="186094" y="288044"/>
                  <a:pt x="185303" y="286281"/>
                </a:cubicBezTo>
                <a:cubicBezTo>
                  <a:pt x="185171" y="285992"/>
                  <a:pt x="185024" y="285710"/>
                  <a:pt x="184861" y="285437"/>
                </a:cubicBezTo>
                <a:lnTo>
                  <a:pt x="140498" y="208955"/>
                </a:lnTo>
                <a:cubicBezTo>
                  <a:pt x="138581" y="205650"/>
                  <a:pt x="135049" y="203616"/>
                  <a:pt x="131229" y="203616"/>
                </a:cubicBezTo>
                <a:cubicBezTo>
                  <a:pt x="127408" y="203616"/>
                  <a:pt x="123877" y="205650"/>
                  <a:pt x="121960" y="208955"/>
                </a:cubicBezTo>
                <a:lnTo>
                  <a:pt x="77651" y="285370"/>
                </a:lnTo>
                <a:cubicBezTo>
                  <a:pt x="77487" y="285643"/>
                  <a:pt x="77340" y="285925"/>
                  <a:pt x="77209" y="286214"/>
                </a:cubicBezTo>
                <a:cubicBezTo>
                  <a:pt x="76608" y="287504"/>
                  <a:pt x="75519" y="288501"/>
                  <a:pt x="74182" y="288987"/>
                </a:cubicBezTo>
                <a:cubicBezTo>
                  <a:pt x="72144" y="289734"/>
                  <a:pt x="69857" y="289178"/>
                  <a:pt x="68390" y="287579"/>
                </a:cubicBezTo>
                <a:cubicBezTo>
                  <a:pt x="66922" y="285979"/>
                  <a:pt x="66565" y="283653"/>
                  <a:pt x="67484" y="281687"/>
                </a:cubicBezTo>
                <a:cubicBezTo>
                  <a:pt x="67754" y="281105"/>
                  <a:pt x="67969" y="280500"/>
                  <a:pt x="68127" y="279879"/>
                </a:cubicBezTo>
                <a:lnTo>
                  <a:pt x="98734" y="163413"/>
                </a:lnTo>
                <a:cubicBezTo>
                  <a:pt x="99878" y="158950"/>
                  <a:pt x="98042" y="154255"/>
                  <a:pt x="94174" y="151753"/>
                </a:cubicBezTo>
                <a:cubicBezTo>
                  <a:pt x="90305" y="149251"/>
                  <a:pt x="85270" y="149502"/>
                  <a:pt x="81669" y="152376"/>
                </a:cubicBezTo>
                <a:lnTo>
                  <a:pt x="34092" y="190524"/>
                </a:lnTo>
                <a:cubicBezTo>
                  <a:pt x="33784" y="190765"/>
                  <a:pt x="33502" y="191033"/>
                  <a:pt x="33221" y="191301"/>
                </a:cubicBezTo>
                <a:cubicBezTo>
                  <a:pt x="31881" y="192713"/>
                  <a:pt x="29881" y="193288"/>
                  <a:pt x="27996" y="192802"/>
                </a:cubicBezTo>
                <a:cubicBezTo>
                  <a:pt x="26110" y="192316"/>
                  <a:pt x="24637" y="190845"/>
                  <a:pt x="24148" y="188961"/>
                </a:cubicBezTo>
                <a:cubicBezTo>
                  <a:pt x="23658" y="187077"/>
                  <a:pt x="24230" y="185075"/>
                  <a:pt x="25640" y="183733"/>
                </a:cubicBezTo>
                <a:cubicBezTo>
                  <a:pt x="25800" y="183572"/>
                  <a:pt x="25948" y="183411"/>
                  <a:pt x="26095" y="183237"/>
                </a:cubicBezTo>
                <a:lnTo>
                  <a:pt x="86799" y="114403"/>
                </a:lnTo>
                <a:cubicBezTo>
                  <a:pt x="90869" y="109793"/>
                  <a:pt x="96723" y="107154"/>
                  <a:pt x="102873" y="107156"/>
                </a:cubicBezTo>
                <a:lnTo>
                  <a:pt x="159585" y="107156"/>
                </a:lnTo>
                <a:cubicBezTo>
                  <a:pt x="165734" y="107154"/>
                  <a:pt x="171588" y="109793"/>
                  <a:pt x="175658" y="114403"/>
                </a:cubicBezTo>
                <a:lnTo>
                  <a:pt x="236363" y="183237"/>
                </a:lnTo>
                <a:cubicBezTo>
                  <a:pt x="236510" y="183411"/>
                  <a:pt x="236657" y="183572"/>
                  <a:pt x="236818" y="183733"/>
                </a:cubicBezTo>
                <a:cubicBezTo>
                  <a:pt x="238904" y="185824"/>
                  <a:pt x="238904" y="189209"/>
                  <a:pt x="236818" y="191301"/>
                </a:cubicBezTo>
                <a:close/>
              </a:path>
            </a:pathLst>
          </a:custGeom>
          <a:solidFill xmlns:a="http://schemas.openxmlformats.org/drawingml/2006/main">
            <a:srgbClr val="2F80ED"/>
          </a:solidFill>
          <a:ln xmlns:a="http://schemas.openxmlformats.org/drawingml/2006/main">
            <a:noFill/>
          </a:ln>
        </p:spPr>
      </p:sp>
      <p:sp>
        <p:nvSpPr>
          <p:cNvPr id="36" name="TextBox 36">
            <a:extLst xmlns:a="http://schemas.openxmlformats.org/drawingml/2006/main">
              <a:ext uri="{FF2B5EF4-FFF2-40B4-BE49-F238E27FC236}">
                <a16:creationId xmlns:a16="http://schemas.microsoft.com/office/drawing/2014/main" id="{57BB40E5-D49C-4613-B70D-26ADA4CF9DAD}"/>
              </a:ext>
            </a:extLst>
          </p:cNvPr>
          <p:cNvSpPr>
            <a:spLocks xmlns:a="http://schemas.openxmlformats.org/drawingml/2006/main" noGrp="1"/>
          </p:cNvSpPr>
          <p:nvPr/>
        </p:nvSpPr>
        <p:spPr>
          <a:xfrm xmlns:a="http://schemas.openxmlformats.org/drawingml/2006/main" rot="0">
            <a:off x="5088255" y="1797368"/>
            <a:ext cx="1924526"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CONTINUOUS POSTURE</a:t>
            </a:r>
          </a:p>
        </p:txBody>
      </p:sp>
      <p:sp>
        <p:nvSpPr>
          <p:cNvPr id="37" name="TextBox 37">
            <a:extLst xmlns:a="http://schemas.openxmlformats.org/drawingml/2006/main">
              <a:ext uri="{FF2B5EF4-FFF2-40B4-BE49-F238E27FC236}">
                <a16:creationId xmlns:a16="http://schemas.microsoft.com/office/drawing/2014/main" id="{CA86B929-0E43-4EE9-A65E-D741D9978797}"/>
              </a:ext>
            </a:extLst>
          </p:cNvPr>
          <p:cNvSpPr>
            <a:spLocks xmlns:a="http://schemas.openxmlformats.org/drawingml/2006/main" noGrp="1"/>
          </p:cNvSpPr>
          <p:nvPr/>
        </p:nvSpPr>
        <p:spPr>
          <a:xfrm xmlns:a="http://schemas.openxmlformats.org/drawingml/2006/main" rot="0">
            <a:off x="4614862" y="2202656"/>
            <a:ext cx="1888808"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Small MLP, 1D-TCN, or GRU</a:t>
            </a:r>
          </a:p>
        </p:txBody>
      </p:sp>
      <p:sp>
        <p:nvSpPr>
          <p:cNvPr id="38" name="TextBox 38">
            <a:extLst xmlns:a="http://schemas.openxmlformats.org/drawingml/2006/main">
              <a:ext uri="{FF2B5EF4-FFF2-40B4-BE49-F238E27FC236}">
                <a16:creationId xmlns:a16="http://schemas.microsoft.com/office/drawing/2014/main" id="{64D5380B-B3A5-4354-B5BD-4E251061823A}"/>
              </a:ext>
            </a:extLst>
          </p:cNvPr>
          <p:cNvSpPr>
            <a:spLocks xmlns:a="http://schemas.openxmlformats.org/drawingml/2006/main" noGrp="1"/>
          </p:cNvSpPr>
          <p:nvPr/>
        </p:nvSpPr>
        <p:spPr>
          <a:xfrm xmlns:a="http://schemas.openxmlformats.org/drawingml/2006/main" rot="0">
            <a:off x="4616768" y="2437924"/>
            <a:ext cx="227404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Normalized body-landmark sequence</a:t>
            </a:r>
          </a:p>
        </p:txBody>
      </p:sp>
      <p:sp>
        <p:nvSpPr>
          <p:cNvPr id="40" name="Rectangle 40">
            <a:extLst xmlns:a="http://schemas.openxmlformats.org/drawingml/2006/main">
              <a:ext uri="{FF2B5EF4-FFF2-40B4-BE49-F238E27FC236}">
                <a16:creationId xmlns:a16="http://schemas.microsoft.com/office/drawing/2014/main" id="{6F3E840A-54EF-4683-A456-498D6D7A0967}"/>
              </a:ext>
            </a:extLst>
          </p:cNvPr>
          <p:cNvSpPr>
            <a:spLocks xmlns:a="http://schemas.openxmlformats.org/drawingml/2006/main" noGrp="1"/>
          </p:cNvSpPr>
          <p:nvPr/>
        </p:nvSpPr>
        <p:spPr>
          <a:xfrm xmlns:a="http://schemas.openxmlformats.org/drawingml/2006/main" rot="0">
            <a:off x="8039100" y="15240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1" name="Freeform 41">
            <a:extLst xmlns:a="http://schemas.openxmlformats.org/drawingml/2006/main">
              <a:ext uri="{FF2B5EF4-FFF2-40B4-BE49-F238E27FC236}">
                <a16:creationId xmlns:a16="http://schemas.microsoft.com/office/drawing/2014/main" id="{4B25AF25-8F27-4134-9C72-11F798074D8C}"/>
              </a:ext>
            </a:extLst>
          </p:cNvPr>
          <p:cNvSpPr>
            <a:spLocks xmlns:a="http://schemas.openxmlformats.org/drawingml/2006/main" noGrp="1"/>
          </p:cNvSpPr>
          <p:nvPr/>
        </p:nvSpPr>
        <p:spPr>
          <a:xfrm xmlns:a="http://schemas.openxmlformats.org/drawingml/2006/main" rot="0">
            <a:off x="8302203" y="1775932"/>
            <a:ext cx="246965" cy="246965"/>
          </a:xfrm>
          <a:custGeom xmlns:a="http://schemas.openxmlformats.org/drawingml/2006/main">
            <a:rect l="l" t="t" r="r" b="b"/>
            <a:pathLst>
              <a:path w="246965" h="246965">
                <a:moveTo>
                  <a:pt x="246404" y="190790"/>
                </a:moveTo>
                <a:cubicBezTo>
                  <a:pt x="242100" y="222956"/>
                  <a:pt x="214643" y="246965"/>
                  <a:pt x="182190" y="246940"/>
                </a:cubicBezTo>
                <a:cubicBezTo>
                  <a:pt x="81583" y="246940"/>
                  <a:pt x="25" y="165382"/>
                  <a:pt x="25" y="64774"/>
                </a:cubicBezTo>
                <a:cubicBezTo>
                  <a:pt x="0" y="32321"/>
                  <a:pt x="24008" y="4865"/>
                  <a:pt x="56175" y="561"/>
                </a:cubicBezTo>
                <a:cubicBezTo>
                  <a:pt x="60897" y="0"/>
                  <a:pt x="65423" y="2618"/>
                  <a:pt x="67292" y="6990"/>
                </a:cubicBezTo>
                <a:lnTo>
                  <a:pt x="95595" y="70213"/>
                </a:lnTo>
                <a:cubicBezTo>
                  <a:pt x="97007" y="73511"/>
                  <a:pt x="96675" y="77297"/>
                  <a:pt x="94711" y="80299"/>
                </a:cubicBezTo>
                <a:lnTo>
                  <a:pt x="66087" y="114334"/>
                </a:lnTo>
                <a:cubicBezTo>
                  <a:pt x="64021" y="117451"/>
                  <a:pt x="63746" y="121424"/>
                  <a:pt x="65363" y="124795"/>
                </a:cubicBezTo>
                <a:cubicBezTo>
                  <a:pt x="76441" y="147472"/>
                  <a:pt x="99881" y="170631"/>
                  <a:pt x="122625" y="181601"/>
                </a:cubicBezTo>
                <a:cubicBezTo>
                  <a:pt x="126015" y="183212"/>
                  <a:pt x="130003" y="182911"/>
                  <a:pt x="133113" y="180811"/>
                </a:cubicBezTo>
                <a:lnTo>
                  <a:pt x="166599" y="152281"/>
                </a:lnTo>
                <a:cubicBezTo>
                  <a:pt x="169614" y="150275"/>
                  <a:pt x="173438" y="149927"/>
                  <a:pt x="176766" y="151357"/>
                </a:cubicBezTo>
                <a:lnTo>
                  <a:pt x="239934" y="179659"/>
                </a:lnTo>
                <a:cubicBezTo>
                  <a:pt x="244328" y="181516"/>
                  <a:pt x="246965" y="186053"/>
                  <a:pt x="246404" y="190790"/>
                </a:cubicBezTo>
                <a:close/>
              </a:path>
            </a:pathLst>
          </a:custGeom>
          <a:solidFill xmlns:a="http://schemas.openxmlformats.org/drawingml/2006/main">
            <a:srgbClr val="2F80ED">
              <a:alpha val="20000"/>
            </a:srgbClr>
          </a:solidFill>
          <a:ln xmlns:a="http://schemas.openxmlformats.org/drawingml/2006/main">
            <a:noFill/>
          </a:ln>
        </p:spPr>
      </p:sp>
      <p:sp>
        <p:nvSpPr>
          <p:cNvPr id="42" name="Freeform 42">
            <a:extLst xmlns:a="http://schemas.openxmlformats.org/drawingml/2006/main">
              <a:ext uri="{FF2B5EF4-FFF2-40B4-BE49-F238E27FC236}">
                <a16:creationId xmlns:a16="http://schemas.microsoft.com/office/drawing/2014/main" id="{DA1694BD-A2FD-455F-B824-A590C30BB0DA}"/>
              </a:ext>
            </a:extLst>
          </p:cNvPr>
          <p:cNvSpPr>
            <a:spLocks xmlns:a="http://schemas.openxmlformats.org/drawingml/2006/main" noGrp="1"/>
          </p:cNvSpPr>
          <p:nvPr/>
        </p:nvSpPr>
        <p:spPr>
          <a:xfrm xmlns:a="http://schemas.openxmlformats.org/drawingml/2006/main" rot="0">
            <a:off x="8291445" y="1764707"/>
            <a:ext cx="268951" cy="268949"/>
          </a:xfrm>
          <a:custGeom xmlns:a="http://schemas.openxmlformats.org/drawingml/2006/main">
            <a:rect l="l" t="t" r="r" b="b"/>
            <a:pathLst>
              <a:path w="268951" h="268949">
                <a:moveTo>
                  <a:pt x="255060" y="181093"/>
                </a:moveTo>
                <a:lnTo>
                  <a:pt x="191958" y="152817"/>
                </a:lnTo>
                <a:lnTo>
                  <a:pt x="191784" y="152737"/>
                </a:lnTo>
                <a:cubicBezTo>
                  <a:pt x="185129" y="149890"/>
                  <a:pt x="177486" y="150596"/>
                  <a:pt x="171464" y="154612"/>
                </a:cubicBezTo>
                <a:cubicBezTo>
                  <a:pt x="171115" y="154843"/>
                  <a:pt x="170780" y="155093"/>
                  <a:pt x="170460" y="155362"/>
                </a:cubicBezTo>
                <a:lnTo>
                  <a:pt x="137857" y="183156"/>
                </a:lnTo>
                <a:cubicBezTo>
                  <a:pt x="117203" y="173123"/>
                  <a:pt x="95879" y="151960"/>
                  <a:pt x="85846" y="131574"/>
                </a:cubicBezTo>
                <a:lnTo>
                  <a:pt x="113680" y="98476"/>
                </a:lnTo>
                <a:cubicBezTo>
                  <a:pt x="113948" y="98141"/>
                  <a:pt x="114203" y="97806"/>
                  <a:pt x="114444" y="97444"/>
                </a:cubicBezTo>
                <a:cubicBezTo>
                  <a:pt x="118373" y="91440"/>
                  <a:pt x="119037" y="83868"/>
                  <a:pt x="116212" y="77272"/>
                </a:cubicBezTo>
                <a:lnTo>
                  <a:pt x="116212" y="77111"/>
                </a:lnTo>
                <a:lnTo>
                  <a:pt x="87856" y="13903"/>
                </a:lnTo>
                <a:cubicBezTo>
                  <a:pt x="84080" y="5189"/>
                  <a:pt x="75020" y="0"/>
                  <a:pt x="65594" y="1151"/>
                </a:cubicBezTo>
                <a:cubicBezTo>
                  <a:pt x="28048" y="6092"/>
                  <a:pt x="0" y="38130"/>
                  <a:pt x="68" y="76000"/>
                </a:cubicBezTo>
                <a:cubicBezTo>
                  <a:pt x="68" y="182352"/>
                  <a:pt x="86597" y="268881"/>
                  <a:pt x="192949" y="268881"/>
                </a:cubicBezTo>
                <a:cubicBezTo>
                  <a:pt x="230819" y="268949"/>
                  <a:pt x="262857" y="240901"/>
                  <a:pt x="267798" y="203355"/>
                </a:cubicBezTo>
                <a:cubicBezTo>
                  <a:pt x="268951" y="193932"/>
                  <a:pt x="263767" y="184873"/>
                  <a:pt x="255060" y="181093"/>
                </a:cubicBezTo>
                <a:close/>
                <a:moveTo>
                  <a:pt x="192949" y="247450"/>
                </a:moveTo>
                <a:cubicBezTo>
                  <a:pt x="98303" y="247346"/>
                  <a:pt x="21602" y="170646"/>
                  <a:pt x="21499" y="76000"/>
                </a:cubicBezTo>
                <a:cubicBezTo>
                  <a:pt x="21395" y="48942"/>
                  <a:pt x="41387" y="26009"/>
                  <a:pt x="68206" y="22421"/>
                </a:cubicBezTo>
                <a:cubicBezTo>
                  <a:pt x="68201" y="22475"/>
                  <a:pt x="68201" y="22529"/>
                  <a:pt x="68206" y="22582"/>
                </a:cubicBezTo>
                <a:lnTo>
                  <a:pt x="96334" y="85537"/>
                </a:lnTo>
                <a:lnTo>
                  <a:pt x="68648" y="118675"/>
                </a:lnTo>
                <a:cubicBezTo>
                  <a:pt x="68367" y="118998"/>
                  <a:pt x="68112" y="119343"/>
                  <a:pt x="67884" y="119706"/>
                </a:cubicBezTo>
                <a:cubicBezTo>
                  <a:pt x="63785" y="125997"/>
                  <a:pt x="63276" y="133975"/>
                  <a:pt x="66545" y="140735"/>
                </a:cubicBezTo>
                <a:cubicBezTo>
                  <a:pt x="78680" y="165555"/>
                  <a:pt x="103688" y="190376"/>
                  <a:pt x="128776" y="202498"/>
                </a:cubicBezTo>
                <a:cubicBezTo>
                  <a:pt x="135587" y="205736"/>
                  <a:pt x="143599" y="205156"/>
                  <a:pt x="149872" y="200971"/>
                </a:cubicBezTo>
                <a:cubicBezTo>
                  <a:pt x="150216" y="200739"/>
                  <a:pt x="150547" y="200489"/>
                  <a:pt x="150864" y="200220"/>
                </a:cubicBezTo>
                <a:lnTo>
                  <a:pt x="183426" y="172440"/>
                </a:lnTo>
                <a:lnTo>
                  <a:pt x="246380" y="200636"/>
                </a:lnTo>
                <a:lnTo>
                  <a:pt x="246380" y="200636"/>
                </a:lnTo>
                <a:cubicBezTo>
                  <a:pt x="246380" y="200636"/>
                  <a:pt x="246487" y="200636"/>
                  <a:pt x="246527" y="200636"/>
                </a:cubicBezTo>
                <a:cubicBezTo>
                  <a:pt x="242983" y="227495"/>
                  <a:pt x="220041" y="247541"/>
                  <a:pt x="192949" y="247450"/>
                </a:cubicBezTo>
                <a:close/>
              </a:path>
            </a:pathLst>
          </a:custGeom>
          <a:solidFill xmlns:a="http://schemas.openxmlformats.org/drawingml/2006/main">
            <a:srgbClr val="2F80ED"/>
          </a:solidFill>
          <a:ln xmlns:a="http://schemas.openxmlformats.org/drawingml/2006/main">
            <a:noFill/>
          </a:ln>
        </p:spPr>
      </p:sp>
      <p:sp>
        <p:nvSpPr>
          <p:cNvPr id="44" name="TextBox 44">
            <a:extLst xmlns:a="http://schemas.openxmlformats.org/drawingml/2006/main">
              <a:ext uri="{FF2B5EF4-FFF2-40B4-BE49-F238E27FC236}">
                <a16:creationId xmlns:a16="http://schemas.microsoft.com/office/drawing/2014/main" id="{D0A143B4-20B6-4315-97DB-31F81E2C0FD6}"/>
              </a:ext>
            </a:extLst>
          </p:cNvPr>
          <p:cNvSpPr>
            <a:spLocks xmlns:a="http://schemas.openxmlformats.org/drawingml/2006/main" noGrp="1"/>
          </p:cNvSpPr>
          <p:nvPr/>
        </p:nvSpPr>
        <p:spPr>
          <a:xfrm xmlns:a="http://schemas.openxmlformats.org/drawingml/2006/main" rot="0">
            <a:off x="8707755" y="1797368"/>
            <a:ext cx="1518125"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PHONE DETECTOR</a:t>
            </a:r>
          </a:p>
        </p:txBody>
      </p:sp>
      <p:sp>
        <p:nvSpPr>
          <p:cNvPr id="45" name="TextBox 45">
            <a:extLst xmlns:a="http://schemas.openxmlformats.org/drawingml/2006/main">
              <a:ext uri="{FF2B5EF4-FFF2-40B4-BE49-F238E27FC236}">
                <a16:creationId xmlns:a16="http://schemas.microsoft.com/office/drawing/2014/main" id="{B519663C-D02A-4FCB-ADCC-F074E29BB119}"/>
              </a:ext>
            </a:extLst>
          </p:cNvPr>
          <p:cNvSpPr>
            <a:spLocks xmlns:a="http://schemas.openxmlformats.org/drawingml/2006/main" noGrp="1"/>
          </p:cNvSpPr>
          <p:nvPr/>
        </p:nvSpPr>
        <p:spPr>
          <a:xfrm xmlns:a="http://schemas.openxmlformats.org/drawingml/2006/main" rot="0">
            <a:off x="8234362" y="2202656"/>
            <a:ext cx="243637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Fine-tune a lightweight detector</a:t>
            </a:r>
          </a:p>
        </p:txBody>
      </p:sp>
      <p:sp>
        <p:nvSpPr>
          <p:cNvPr id="46" name="TextBox 46">
            <a:extLst xmlns:a="http://schemas.openxmlformats.org/drawingml/2006/main">
              <a:ext uri="{FF2B5EF4-FFF2-40B4-BE49-F238E27FC236}">
                <a16:creationId xmlns:a16="http://schemas.microsoft.com/office/drawing/2014/main" id="{587D43E9-3531-4174-AD08-8DF1011D1E44}"/>
              </a:ext>
            </a:extLst>
          </p:cNvPr>
          <p:cNvSpPr>
            <a:spLocks xmlns:a="http://schemas.openxmlformats.org/drawingml/2006/main" noGrp="1"/>
          </p:cNvSpPr>
          <p:nvPr/>
        </p:nvSpPr>
        <p:spPr>
          <a:xfrm xmlns:a="http://schemas.openxmlformats.org/drawingml/2006/main" rot="0">
            <a:off x="8236268" y="2437924"/>
            <a:ext cx="222854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Small targets and partial occlusion</a:t>
            </a:r>
          </a:p>
        </p:txBody>
      </p:sp>
      <p:sp>
        <p:nvSpPr>
          <p:cNvPr id="48" name="Rectangle 48">
            <a:extLst xmlns:a="http://schemas.openxmlformats.org/drawingml/2006/main">
              <a:ext uri="{FF2B5EF4-FFF2-40B4-BE49-F238E27FC236}">
                <a16:creationId xmlns:a16="http://schemas.microsoft.com/office/drawing/2014/main" id="{19A79CEE-8F6C-4138-A3AB-415D27E55C68}"/>
              </a:ext>
            </a:extLst>
          </p:cNvPr>
          <p:cNvSpPr>
            <a:spLocks xmlns:a="http://schemas.openxmlformats.org/drawingml/2006/main" noGrp="1"/>
          </p:cNvSpPr>
          <p:nvPr/>
        </p:nvSpPr>
        <p:spPr>
          <a:xfrm xmlns:a="http://schemas.openxmlformats.org/drawingml/2006/main" rot="0">
            <a:off x="4419600" y="2971800"/>
            <a:ext cx="3390900" cy="1257300"/>
          </a:xfrm>
          <a:prstGeom xmlns:a="http://schemas.openxmlformats.org/drawingml/2006/main" prst="roundRect">
            <a:avLst>
              <a:gd name="adj" fmla="val 9091"/>
            </a:avLst>
          </a:prstGeom>
          <a:solidFill xmlns:a="http://schemas.openxmlformats.org/drawingml/2006/main">
            <a:srgbClr val="F7F9FC"/>
          </a:solidFill>
          <a:ln xmlns:a="http://schemas.openxmlformats.org/drawingml/2006/main" w="14288">
            <a:solidFill>
              <a:srgbClr val="CED8E4"/>
            </a:solidFill>
          </a:ln>
        </p:spPr>
      </p:sp>
      <p:sp>
        <p:nvSpPr>
          <p:cNvPr id="49" name="Freeform 49">
            <a:extLst xmlns:a="http://schemas.openxmlformats.org/drawingml/2006/main">
              <a:ext uri="{FF2B5EF4-FFF2-40B4-BE49-F238E27FC236}">
                <a16:creationId xmlns:a16="http://schemas.microsoft.com/office/drawing/2014/main" id="{89CA6C9E-A62A-4B66-8B20-85953290C510}"/>
              </a:ext>
            </a:extLst>
          </p:cNvPr>
          <p:cNvSpPr>
            <a:spLocks xmlns:a="http://schemas.openxmlformats.org/drawingml/2006/main" noGrp="1"/>
          </p:cNvSpPr>
          <p:nvPr/>
        </p:nvSpPr>
        <p:spPr>
          <a:xfrm xmlns:a="http://schemas.openxmlformats.org/drawingml/2006/main" rot="0">
            <a:off x="4682728" y="3224212"/>
            <a:ext cx="235744" cy="128588"/>
          </a:xfrm>
          <a:custGeom xmlns:a="http://schemas.openxmlformats.org/drawingml/2006/main">
            <a:rect l="l" t="t" r="r" b="b"/>
            <a:pathLst>
              <a:path w="235744" h="128588">
                <a:moveTo>
                  <a:pt x="235744" y="64294"/>
                </a:moveTo>
                <a:cubicBezTo>
                  <a:pt x="235744" y="99803"/>
                  <a:pt x="182969" y="128588"/>
                  <a:pt x="117872" y="128588"/>
                </a:cubicBezTo>
                <a:cubicBezTo>
                  <a:pt x="52774" y="128588"/>
                  <a:pt x="0" y="99803"/>
                  <a:pt x="0" y="64294"/>
                </a:cubicBezTo>
                <a:cubicBezTo>
                  <a:pt x="0" y="28785"/>
                  <a:pt x="52774" y="0"/>
                  <a:pt x="117872" y="0"/>
                </a:cubicBezTo>
                <a:cubicBezTo>
                  <a:pt x="182969" y="0"/>
                  <a:pt x="235744" y="28785"/>
                  <a:pt x="235744" y="64294"/>
                </a:cubicBezTo>
                <a:close/>
              </a:path>
            </a:pathLst>
          </a:custGeom>
          <a:solidFill xmlns:a="http://schemas.openxmlformats.org/drawingml/2006/main">
            <a:srgbClr val="2AB7A9">
              <a:alpha val="20000"/>
            </a:srgbClr>
          </a:solidFill>
          <a:ln xmlns:a="http://schemas.openxmlformats.org/drawingml/2006/main">
            <a:noFill/>
          </a:ln>
        </p:spPr>
      </p:sp>
      <p:sp>
        <p:nvSpPr>
          <p:cNvPr id="50" name="Freeform 50">
            <a:extLst xmlns:a="http://schemas.openxmlformats.org/drawingml/2006/main">
              <a:ext uri="{FF2B5EF4-FFF2-40B4-BE49-F238E27FC236}">
                <a16:creationId xmlns:a16="http://schemas.microsoft.com/office/drawing/2014/main" id="{770C3BD1-52B8-424C-BA21-575415130AA1}"/>
              </a:ext>
            </a:extLst>
          </p:cNvPr>
          <p:cNvSpPr>
            <a:spLocks xmlns:a="http://schemas.openxmlformats.org/drawingml/2006/main" noGrp="1"/>
          </p:cNvSpPr>
          <p:nvPr/>
        </p:nvSpPr>
        <p:spPr>
          <a:xfrm xmlns:a="http://schemas.openxmlformats.org/drawingml/2006/main" rot="0">
            <a:off x="4672012" y="3213497"/>
            <a:ext cx="257175" cy="278606"/>
          </a:xfrm>
          <a:custGeom xmlns:a="http://schemas.openxmlformats.org/drawingml/2006/main">
            <a:rect l="l" t="t" r="r" b="b"/>
            <a:pathLst>
              <a:path w="257175" h="278606">
                <a:moveTo>
                  <a:pt x="128588" y="0"/>
                </a:moveTo>
                <a:cubicBezTo>
                  <a:pt x="56485" y="0"/>
                  <a:pt x="0" y="32951"/>
                  <a:pt x="0" y="75009"/>
                </a:cubicBezTo>
                <a:lnTo>
                  <a:pt x="0" y="203597"/>
                </a:lnTo>
                <a:cubicBezTo>
                  <a:pt x="0" y="245656"/>
                  <a:pt x="56485" y="278606"/>
                  <a:pt x="128588" y="278606"/>
                </a:cubicBezTo>
                <a:cubicBezTo>
                  <a:pt x="200690" y="278606"/>
                  <a:pt x="257175" y="245656"/>
                  <a:pt x="257175" y="203597"/>
                </a:cubicBezTo>
                <a:lnTo>
                  <a:pt x="257175" y="75009"/>
                </a:lnTo>
                <a:cubicBezTo>
                  <a:pt x="257175" y="32951"/>
                  <a:pt x="200690" y="0"/>
                  <a:pt x="128588" y="0"/>
                </a:cubicBezTo>
                <a:close/>
                <a:moveTo>
                  <a:pt x="235744" y="139303"/>
                </a:moveTo>
                <a:cubicBezTo>
                  <a:pt x="235744" y="152189"/>
                  <a:pt x="225189" y="165329"/>
                  <a:pt x="206798" y="175361"/>
                </a:cubicBezTo>
                <a:cubicBezTo>
                  <a:pt x="186090" y="186653"/>
                  <a:pt x="158310" y="192881"/>
                  <a:pt x="128588" y="192881"/>
                </a:cubicBezTo>
                <a:cubicBezTo>
                  <a:pt x="98865" y="192881"/>
                  <a:pt x="71085" y="186653"/>
                  <a:pt x="50377" y="175361"/>
                </a:cubicBezTo>
                <a:cubicBezTo>
                  <a:pt x="31986" y="165329"/>
                  <a:pt x="21431" y="152189"/>
                  <a:pt x="21431" y="139303"/>
                </a:cubicBezTo>
                <a:lnTo>
                  <a:pt x="21431" y="117015"/>
                </a:lnTo>
                <a:cubicBezTo>
                  <a:pt x="44282" y="137106"/>
                  <a:pt x="83354" y="150019"/>
                  <a:pt x="128588" y="150019"/>
                </a:cubicBezTo>
                <a:cubicBezTo>
                  <a:pt x="173821" y="150019"/>
                  <a:pt x="212893" y="137053"/>
                  <a:pt x="235744" y="117015"/>
                </a:cubicBezTo>
                <a:close/>
                <a:moveTo>
                  <a:pt x="50377" y="38951"/>
                </a:moveTo>
                <a:cubicBezTo>
                  <a:pt x="71085" y="27660"/>
                  <a:pt x="98865" y="21431"/>
                  <a:pt x="128588" y="21431"/>
                </a:cubicBezTo>
                <a:cubicBezTo>
                  <a:pt x="158310" y="21431"/>
                  <a:pt x="186090" y="27660"/>
                  <a:pt x="206798" y="38951"/>
                </a:cubicBezTo>
                <a:cubicBezTo>
                  <a:pt x="225189" y="48984"/>
                  <a:pt x="235744" y="62124"/>
                  <a:pt x="235744" y="75009"/>
                </a:cubicBezTo>
                <a:cubicBezTo>
                  <a:pt x="235744" y="87895"/>
                  <a:pt x="225189" y="101035"/>
                  <a:pt x="206798" y="111067"/>
                </a:cubicBezTo>
                <a:cubicBezTo>
                  <a:pt x="186090" y="122359"/>
                  <a:pt x="158310" y="128588"/>
                  <a:pt x="128588" y="128588"/>
                </a:cubicBezTo>
                <a:cubicBezTo>
                  <a:pt x="98865" y="128588"/>
                  <a:pt x="71085" y="122359"/>
                  <a:pt x="50377" y="111067"/>
                </a:cubicBezTo>
                <a:cubicBezTo>
                  <a:pt x="31986" y="101035"/>
                  <a:pt x="21431" y="87895"/>
                  <a:pt x="21431" y="75009"/>
                </a:cubicBezTo>
                <a:cubicBezTo>
                  <a:pt x="21431" y="62124"/>
                  <a:pt x="31986" y="48984"/>
                  <a:pt x="50377" y="38951"/>
                </a:cubicBezTo>
                <a:close/>
                <a:moveTo>
                  <a:pt x="206798" y="239655"/>
                </a:moveTo>
                <a:cubicBezTo>
                  <a:pt x="186090" y="250947"/>
                  <a:pt x="158310" y="257175"/>
                  <a:pt x="128588" y="257175"/>
                </a:cubicBezTo>
                <a:cubicBezTo>
                  <a:pt x="98865" y="257175"/>
                  <a:pt x="71085" y="250947"/>
                  <a:pt x="50377" y="239655"/>
                </a:cubicBezTo>
                <a:cubicBezTo>
                  <a:pt x="31986" y="229622"/>
                  <a:pt x="21431" y="216482"/>
                  <a:pt x="21431" y="203597"/>
                </a:cubicBezTo>
                <a:lnTo>
                  <a:pt x="21431" y="181308"/>
                </a:lnTo>
                <a:cubicBezTo>
                  <a:pt x="44282" y="201400"/>
                  <a:pt x="83354" y="214312"/>
                  <a:pt x="128588" y="214312"/>
                </a:cubicBezTo>
                <a:cubicBezTo>
                  <a:pt x="173821" y="214312"/>
                  <a:pt x="212893" y="201347"/>
                  <a:pt x="235744" y="181308"/>
                </a:cubicBezTo>
                <a:lnTo>
                  <a:pt x="235744" y="203597"/>
                </a:lnTo>
                <a:cubicBezTo>
                  <a:pt x="235744" y="216482"/>
                  <a:pt x="225189" y="229622"/>
                  <a:pt x="206798" y="239655"/>
                </a:cubicBezTo>
                <a:close/>
              </a:path>
            </a:pathLst>
          </a:custGeom>
          <a:solidFill xmlns:a="http://schemas.openxmlformats.org/drawingml/2006/main">
            <a:srgbClr val="2AB7A9"/>
          </a:solidFill>
          <a:ln xmlns:a="http://schemas.openxmlformats.org/drawingml/2006/main">
            <a:noFill/>
          </a:ln>
        </p:spPr>
      </p:sp>
      <p:sp>
        <p:nvSpPr>
          <p:cNvPr id="52" name="TextBox 52">
            <a:extLst xmlns:a="http://schemas.openxmlformats.org/drawingml/2006/main">
              <a:ext uri="{FF2B5EF4-FFF2-40B4-BE49-F238E27FC236}">
                <a16:creationId xmlns:a16="http://schemas.microsoft.com/office/drawing/2014/main" id="{53ECE2EE-0543-4890-B44C-C07F8C4BFD19}"/>
              </a:ext>
            </a:extLst>
          </p:cNvPr>
          <p:cNvSpPr>
            <a:spLocks xmlns:a="http://schemas.openxmlformats.org/drawingml/2006/main" noGrp="1"/>
          </p:cNvSpPr>
          <p:nvPr/>
        </p:nvSpPr>
        <p:spPr>
          <a:xfrm xmlns:a="http://schemas.openxmlformats.org/drawingml/2006/main" rot="0">
            <a:off x="5088255" y="3245168"/>
            <a:ext cx="1886722"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OFF-TASK BEHAVIOUR</a:t>
            </a:r>
          </a:p>
        </p:txBody>
      </p:sp>
      <p:sp>
        <p:nvSpPr>
          <p:cNvPr id="53" name="TextBox 53">
            <a:extLst xmlns:a="http://schemas.openxmlformats.org/drawingml/2006/main">
              <a:ext uri="{FF2B5EF4-FFF2-40B4-BE49-F238E27FC236}">
                <a16:creationId xmlns:a16="http://schemas.microsoft.com/office/drawing/2014/main" id="{CCDA1289-3EC8-476C-AB5A-D2D22D8C67C0}"/>
              </a:ext>
            </a:extLst>
          </p:cNvPr>
          <p:cNvSpPr>
            <a:spLocks xmlns:a="http://schemas.openxmlformats.org/drawingml/2006/main" noGrp="1"/>
          </p:cNvSpPr>
          <p:nvPr/>
        </p:nvSpPr>
        <p:spPr>
          <a:xfrm xmlns:a="http://schemas.openxmlformats.org/drawingml/2006/main" rot="0">
            <a:off x="4614862" y="3650456"/>
            <a:ext cx="1956316"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TCN/GRU or multimodal MLP</a:t>
            </a:r>
          </a:p>
        </p:txBody>
      </p:sp>
      <p:sp>
        <p:nvSpPr>
          <p:cNvPr id="54" name="TextBox 54">
            <a:extLst xmlns:a="http://schemas.openxmlformats.org/drawingml/2006/main">
              <a:ext uri="{FF2B5EF4-FFF2-40B4-BE49-F238E27FC236}">
                <a16:creationId xmlns:a16="http://schemas.microsoft.com/office/drawing/2014/main" id="{3D317E0B-2860-4550-A64E-1070262DE719}"/>
              </a:ext>
            </a:extLst>
          </p:cNvPr>
          <p:cNvSpPr>
            <a:spLocks xmlns:a="http://schemas.openxmlformats.org/drawingml/2006/main" noGrp="1"/>
          </p:cNvSpPr>
          <p:nvPr/>
        </p:nvSpPr>
        <p:spPr>
          <a:xfrm xmlns:a="http://schemas.openxmlformats.org/drawingml/2006/main" rot="0">
            <a:off x="4616768" y="3885724"/>
            <a:ext cx="2586085"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Phone, head direction, idle time, events</a:t>
            </a:r>
          </a:p>
        </p:txBody>
      </p:sp>
      <p:sp>
        <p:nvSpPr>
          <p:cNvPr id="56" name="Rectangle 56">
            <a:extLst xmlns:a="http://schemas.openxmlformats.org/drawingml/2006/main">
              <a:ext uri="{FF2B5EF4-FFF2-40B4-BE49-F238E27FC236}">
                <a16:creationId xmlns:a16="http://schemas.microsoft.com/office/drawing/2014/main" id="{BDBA905D-2D57-4DE4-847F-C524DD79C0CD}"/>
              </a:ext>
            </a:extLst>
          </p:cNvPr>
          <p:cNvSpPr>
            <a:spLocks xmlns:a="http://schemas.openxmlformats.org/drawingml/2006/main" noGrp="1"/>
          </p:cNvSpPr>
          <p:nvPr/>
        </p:nvSpPr>
        <p:spPr>
          <a:xfrm xmlns:a="http://schemas.openxmlformats.org/drawingml/2006/main" rot="0">
            <a:off x="8039100" y="2971800"/>
            <a:ext cx="3390900" cy="1257300"/>
          </a:xfrm>
          <a:prstGeom xmlns:a="http://schemas.openxmlformats.org/drawingml/2006/main" prst="roundRect">
            <a:avLst>
              <a:gd name="adj" fmla="val 9091"/>
            </a:avLst>
          </a:prstGeom>
          <a:solidFill xmlns:a="http://schemas.openxmlformats.org/drawingml/2006/main">
            <a:srgbClr val="EAF0F7"/>
          </a:solidFill>
          <a:ln xmlns:a="http://schemas.openxmlformats.org/drawingml/2006/main">
            <a:noFill/>
          </a:ln>
        </p:spPr>
      </p:sp>
      <p:sp>
        <p:nvSpPr>
          <p:cNvPr id="57" name="Freeform 57">
            <a:extLst xmlns:a="http://schemas.openxmlformats.org/drawingml/2006/main">
              <a:ext uri="{FF2B5EF4-FFF2-40B4-BE49-F238E27FC236}">
                <a16:creationId xmlns:a16="http://schemas.microsoft.com/office/drawing/2014/main" id="{42149DC5-2636-4637-9633-F7007D2C7CB4}"/>
              </a:ext>
            </a:extLst>
          </p:cNvPr>
          <p:cNvSpPr>
            <a:spLocks xmlns:a="http://schemas.openxmlformats.org/drawingml/2006/main" noGrp="1"/>
          </p:cNvSpPr>
          <p:nvPr/>
        </p:nvSpPr>
        <p:spPr>
          <a:xfrm xmlns:a="http://schemas.openxmlformats.org/drawingml/2006/main" rot="0">
            <a:off x="8312944" y="3309938"/>
            <a:ext cx="214312" cy="85725"/>
          </a:xfrm>
          <a:custGeom xmlns:a="http://schemas.openxmlformats.org/drawingml/2006/main">
            <a:rect l="l" t="t" r="r" b="b"/>
            <a:pathLst>
              <a:path w="214312" h="85725">
                <a:moveTo>
                  <a:pt x="214312" y="0"/>
                </a:moveTo>
                <a:lnTo>
                  <a:pt x="214312" y="85725"/>
                </a:lnTo>
                <a:lnTo>
                  <a:pt x="0" y="85725"/>
                </a:lnTo>
                <a:lnTo>
                  <a:pt x="0" y="0"/>
                </a:lnTo>
                <a:close/>
              </a:path>
            </a:pathLst>
          </a:custGeom>
          <a:solidFill xmlns:a="http://schemas.openxmlformats.org/drawingml/2006/main">
            <a:srgbClr val="2AB7A9">
              <a:alpha val="20000"/>
            </a:srgbClr>
          </a:solidFill>
          <a:ln xmlns:a="http://schemas.openxmlformats.org/drawingml/2006/main">
            <a:noFill/>
          </a:ln>
        </p:spPr>
      </p:sp>
      <p:sp>
        <p:nvSpPr>
          <p:cNvPr id="58" name="Freeform 58">
            <a:extLst xmlns:a="http://schemas.openxmlformats.org/drawingml/2006/main">
              <a:ext uri="{FF2B5EF4-FFF2-40B4-BE49-F238E27FC236}">
                <a16:creationId xmlns:a16="http://schemas.microsoft.com/office/drawing/2014/main" id="{1E636CFF-F244-4C4F-BEA8-A51E8E7F1C67}"/>
              </a:ext>
            </a:extLst>
          </p:cNvPr>
          <p:cNvSpPr>
            <a:spLocks xmlns:a="http://schemas.openxmlformats.org/drawingml/2006/main" noGrp="1"/>
          </p:cNvSpPr>
          <p:nvPr/>
        </p:nvSpPr>
        <p:spPr>
          <a:xfrm xmlns:a="http://schemas.openxmlformats.org/drawingml/2006/main" rot="0">
            <a:off x="8302228" y="3213497"/>
            <a:ext cx="235744" cy="278606"/>
          </a:xfrm>
          <a:custGeom xmlns:a="http://schemas.openxmlformats.org/drawingml/2006/main">
            <a:rect l="l" t="t" r="r" b="b"/>
            <a:pathLst>
              <a:path w="235744" h="278606">
                <a:moveTo>
                  <a:pt x="21431" y="96441"/>
                </a:moveTo>
                <a:lnTo>
                  <a:pt x="21431" y="182166"/>
                </a:lnTo>
                <a:cubicBezTo>
                  <a:pt x="21431" y="188084"/>
                  <a:pt x="16634" y="192881"/>
                  <a:pt x="10716" y="192881"/>
                </a:cubicBezTo>
                <a:cubicBezTo>
                  <a:pt x="4798" y="192881"/>
                  <a:pt x="0" y="188084"/>
                  <a:pt x="0" y="182166"/>
                </a:cubicBezTo>
                <a:lnTo>
                  <a:pt x="0" y="96441"/>
                </a:lnTo>
                <a:cubicBezTo>
                  <a:pt x="0" y="90523"/>
                  <a:pt x="4798" y="85725"/>
                  <a:pt x="10716" y="85725"/>
                </a:cubicBezTo>
                <a:cubicBezTo>
                  <a:pt x="16634" y="85725"/>
                  <a:pt x="21431" y="90523"/>
                  <a:pt x="21431" y="96441"/>
                </a:cubicBezTo>
                <a:close/>
                <a:moveTo>
                  <a:pt x="64294" y="0"/>
                </a:moveTo>
                <a:cubicBezTo>
                  <a:pt x="58376" y="0"/>
                  <a:pt x="53578" y="4798"/>
                  <a:pt x="53578" y="10716"/>
                </a:cubicBezTo>
                <a:lnTo>
                  <a:pt x="53578" y="267891"/>
                </a:lnTo>
                <a:cubicBezTo>
                  <a:pt x="53578" y="273809"/>
                  <a:pt x="58376" y="278606"/>
                  <a:pt x="64294" y="278606"/>
                </a:cubicBezTo>
                <a:cubicBezTo>
                  <a:pt x="70212" y="278606"/>
                  <a:pt x="75009" y="273809"/>
                  <a:pt x="75009" y="267891"/>
                </a:cubicBezTo>
                <a:lnTo>
                  <a:pt x="75009" y="10716"/>
                </a:lnTo>
                <a:cubicBezTo>
                  <a:pt x="75009" y="4798"/>
                  <a:pt x="70212" y="0"/>
                  <a:pt x="64294" y="0"/>
                </a:cubicBezTo>
                <a:close/>
                <a:moveTo>
                  <a:pt x="117872" y="42862"/>
                </a:moveTo>
                <a:cubicBezTo>
                  <a:pt x="111954" y="42862"/>
                  <a:pt x="107156" y="47660"/>
                  <a:pt x="107156" y="53578"/>
                </a:cubicBezTo>
                <a:lnTo>
                  <a:pt x="107156" y="225028"/>
                </a:lnTo>
                <a:cubicBezTo>
                  <a:pt x="107156" y="230946"/>
                  <a:pt x="111954" y="235744"/>
                  <a:pt x="117872" y="235744"/>
                </a:cubicBezTo>
                <a:cubicBezTo>
                  <a:pt x="123790" y="235744"/>
                  <a:pt x="128588" y="230946"/>
                  <a:pt x="128588" y="225028"/>
                </a:cubicBezTo>
                <a:lnTo>
                  <a:pt x="128588" y="53578"/>
                </a:lnTo>
                <a:cubicBezTo>
                  <a:pt x="128588" y="47660"/>
                  <a:pt x="123790" y="42862"/>
                  <a:pt x="117872" y="42862"/>
                </a:cubicBezTo>
                <a:close/>
                <a:moveTo>
                  <a:pt x="171450" y="85725"/>
                </a:moveTo>
                <a:cubicBezTo>
                  <a:pt x="165532" y="85725"/>
                  <a:pt x="160734" y="90523"/>
                  <a:pt x="160734" y="96441"/>
                </a:cubicBezTo>
                <a:lnTo>
                  <a:pt x="160734" y="182166"/>
                </a:lnTo>
                <a:cubicBezTo>
                  <a:pt x="160734" y="188084"/>
                  <a:pt x="165532" y="192881"/>
                  <a:pt x="171450" y="192881"/>
                </a:cubicBezTo>
                <a:cubicBezTo>
                  <a:pt x="177368" y="192881"/>
                  <a:pt x="182166" y="188084"/>
                  <a:pt x="182166" y="182166"/>
                </a:cubicBezTo>
                <a:lnTo>
                  <a:pt x="182166" y="96441"/>
                </a:lnTo>
                <a:cubicBezTo>
                  <a:pt x="182166" y="90523"/>
                  <a:pt x="177368" y="85725"/>
                  <a:pt x="171450" y="85725"/>
                </a:cubicBezTo>
                <a:close/>
                <a:moveTo>
                  <a:pt x="225028" y="64294"/>
                </a:moveTo>
                <a:cubicBezTo>
                  <a:pt x="219110" y="64294"/>
                  <a:pt x="214312" y="69091"/>
                  <a:pt x="214312" y="75009"/>
                </a:cubicBezTo>
                <a:lnTo>
                  <a:pt x="214312" y="203597"/>
                </a:lnTo>
                <a:cubicBezTo>
                  <a:pt x="214312" y="209515"/>
                  <a:pt x="219110" y="214312"/>
                  <a:pt x="225028" y="214312"/>
                </a:cubicBezTo>
                <a:cubicBezTo>
                  <a:pt x="230946" y="214312"/>
                  <a:pt x="235744" y="209515"/>
                  <a:pt x="235744" y="203597"/>
                </a:cubicBezTo>
                <a:lnTo>
                  <a:pt x="235744" y="75009"/>
                </a:lnTo>
                <a:cubicBezTo>
                  <a:pt x="235744" y="69091"/>
                  <a:pt x="230946" y="64294"/>
                  <a:pt x="225028" y="64294"/>
                </a:cubicBezTo>
                <a:close/>
              </a:path>
            </a:pathLst>
          </a:custGeom>
          <a:solidFill xmlns:a="http://schemas.openxmlformats.org/drawingml/2006/main">
            <a:srgbClr val="2AB7A9"/>
          </a:solidFill>
          <a:ln xmlns:a="http://schemas.openxmlformats.org/drawingml/2006/main">
            <a:noFill/>
          </a:ln>
        </p:spPr>
      </p:sp>
      <p:sp>
        <p:nvSpPr>
          <p:cNvPr id="60" name="TextBox 60">
            <a:extLst xmlns:a="http://schemas.openxmlformats.org/drawingml/2006/main">
              <a:ext uri="{FF2B5EF4-FFF2-40B4-BE49-F238E27FC236}">
                <a16:creationId xmlns:a16="http://schemas.microsoft.com/office/drawing/2014/main" id="{9E40A0CB-B69D-477F-9449-4C664EB1180B}"/>
              </a:ext>
            </a:extLst>
          </p:cNvPr>
          <p:cNvSpPr>
            <a:spLocks xmlns:a="http://schemas.openxmlformats.org/drawingml/2006/main" noGrp="1"/>
          </p:cNvSpPr>
          <p:nvPr/>
        </p:nvSpPr>
        <p:spPr>
          <a:xfrm xmlns:a="http://schemas.openxmlformats.org/drawingml/2006/main" rot="0">
            <a:off x="8707755" y="3245168"/>
            <a:ext cx="1017213"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AUDIO CLASSIFICATION</a:t>
            </a:r>
          </a:p>
        </p:txBody>
      </p:sp>
      <p:sp>
        <p:nvSpPr>
          <p:cNvPr id="61" name="TextBox 61">
            <a:extLst xmlns:a="http://schemas.openxmlformats.org/drawingml/2006/main">
              <a:ext uri="{FF2B5EF4-FFF2-40B4-BE49-F238E27FC236}">
                <a16:creationId xmlns:a16="http://schemas.microsoft.com/office/drawing/2014/main" id="{FB8E575C-93CA-4737-A0A7-CA4E734F5DF6}"/>
              </a:ext>
            </a:extLst>
          </p:cNvPr>
          <p:cNvSpPr>
            <a:spLocks xmlns:a="http://schemas.openxmlformats.org/drawingml/2006/main" noGrp="1"/>
          </p:cNvSpPr>
          <p:nvPr/>
        </p:nvSpPr>
        <p:spPr>
          <a:xfrm xmlns:a="http://schemas.openxmlformats.org/drawingml/2006/main" rot="0">
            <a:off x="8234362" y="3650456"/>
            <a:ext cx="1468755"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Pre-trained YAMNet via laptop</a:t>
            </a:r>
          </a:p>
        </p:txBody>
      </p:sp>
      <p:sp>
        <p:nvSpPr>
          <p:cNvPr id="62" name="TextBox 62">
            <a:extLst xmlns:a="http://schemas.openxmlformats.org/drawingml/2006/main">
              <a:ext uri="{FF2B5EF4-FFF2-40B4-BE49-F238E27FC236}">
                <a16:creationId xmlns:a16="http://schemas.microsoft.com/office/drawing/2014/main" id="{632CFC84-134C-4EED-9E3E-9A575C723352}"/>
              </a:ext>
            </a:extLst>
          </p:cNvPr>
          <p:cNvSpPr>
            <a:spLocks xmlns:a="http://schemas.openxmlformats.org/drawingml/2006/main" noGrp="1"/>
          </p:cNvSpPr>
          <p:nvPr/>
        </p:nvSpPr>
        <p:spPr>
          <a:xfrm xmlns:a="http://schemas.openxmlformats.org/drawingml/2006/main" rot="0">
            <a:off x="8236268" y="3885724"/>
            <a:ext cx="2514576"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Requires an external microphone</a:t>
            </a:r>
          </a:p>
        </p:txBody>
      </p:sp>
      <p:sp>
        <p:nvSpPr>
          <p:cNvPr id="64" name="Rectangle 64">
            <a:extLst xmlns:a="http://schemas.openxmlformats.org/drawingml/2006/main">
              <a:ext uri="{FF2B5EF4-FFF2-40B4-BE49-F238E27FC236}">
                <a16:creationId xmlns:a16="http://schemas.microsoft.com/office/drawing/2014/main" id="{2356A45C-620B-4A42-A709-FC392DAD5544}"/>
              </a:ext>
            </a:extLst>
          </p:cNvPr>
          <p:cNvSpPr>
            <a:spLocks xmlns:a="http://schemas.openxmlformats.org/drawingml/2006/main" noGrp="1"/>
          </p:cNvSpPr>
          <p:nvPr/>
        </p:nvSpPr>
        <p:spPr>
          <a:xfrm xmlns:a="http://schemas.openxmlformats.org/drawingml/2006/main" rot="0">
            <a:off x="4419600" y="4419600"/>
            <a:ext cx="7010400" cy="1314450"/>
          </a:xfrm>
          <a:prstGeom xmlns:a="http://schemas.openxmlformats.org/drawingml/2006/main" prst="roundRect">
            <a:avLst>
              <a:gd name="adj" fmla="val 8696"/>
            </a:avLst>
          </a:prstGeom>
          <a:solidFill xmlns:a="http://schemas.openxmlformats.org/drawingml/2006/main">
            <a:srgbClr val="EAF0F7"/>
          </a:solidFill>
          <a:ln xmlns:a="http://schemas.openxmlformats.org/drawingml/2006/main">
            <a:noFill/>
          </a:ln>
        </p:spPr>
      </p:sp>
      <p:sp>
        <p:nvSpPr>
          <p:cNvPr id="65" name="Freeform 65">
            <a:extLst xmlns:a="http://schemas.openxmlformats.org/drawingml/2006/main">
              <a:ext uri="{FF2B5EF4-FFF2-40B4-BE49-F238E27FC236}">
                <a16:creationId xmlns:a16="http://schemas.microsoft.com/office/drawing/2014/main" id="{7B42D0C2-A7DA-4905-91EB-DA78C190E8F2}"/>
              </a:ext>
            </a:extLst>
          </p:cNvPr>
          <p:cNvSpPr>
            <a:spLocks xmlns:a="http://schemas.openxmlformats.org/drawingml/2006/main" noGrp="1"/>
          </p:cNvSpPr>
          <p:nvPr/>
        </p:nvSpPr>
        <p:spPr>
          <a:xfrm xmlns:a="http://schemas.openxmlformats.org/drawingml/2006/main" rot="0">
            <a:off x="4772025" y="4795838"/>
            <a:ext cx="95250" cy="95250"/>
          </a:xfrm>
          <a:custGeom xmlns:a="http://schemas.openxmlformats.org/drawingml/2006/main">
            <a:rect l="l" t="t" r="r" b="b"/>
            <a:pathLst>
              <a:path w="95250" h="95250">
                <a:moveTo>
                  <a:pt x="95250" y="47625"/>
                </a:moveTo>
                <a:cubicBezTo>
                  <a:pt x="95250" y="73928"/>
                  <a:pt x="73928" y="95250"/>
                  <a:pt x="47625" y="95250"/>
                </a:cubicBezTo>
                <a:cubicBezTo>
                  <a:pt x="21322" y="95250"/>
                  <a:pt x="0" y="73928"/>
                  <a:pt x="0" y="47625"/>
                </a:cubicBezTo>
                <a:cubicBezTo>
                  <a:pt x="0" y="21322"/>
                  <a:pt x="21322" y="0"/>
                  <a:pt x="47625" y="0"/>
                </a:cubicBezTo>
                <a:cubicBezTo>
                  <a:pt x="73928" y="0"/>
                  <a:pt x="95250" y="21322"/>
                  <a:pt x="95250" y="47625"/>
                </a:cubicBezTo>
                <a:close/>
              </a:path>
            </a:pathLst>
          </a:custGeom>
          <a:solidFill xmlns:a="http://schemas.openxmlformats.org/drawingml/2006/main">
            <a:srgbClr val="2F80ED">
              <a:alpha val="20000"/>
            </a:srgbClr>
          </a:solidFill>
          <a:ln xmlns:a="http://schemas.openxmlformats.org/drawingml/2006/main">
            <a:noFill/>
          </a:ln>
        </p:spPr>
      </p:sp>
      <p:sp>
        <p:nvSpPr>
          <p:cNvPr id="66" name="Freeform 66">
            <a:extLst xmlns:a="http://schemas.openxmlformats.org/drawingml/2006/main">
              <a:ext uri="{FF2B5EF4-FFF2-40B4-BE49-F238E27FC236}">
                <a16:creationId xmlns:a16="http://schemas.microsoft.com/office/drawing/2014/main" id="{301F7598-B9F8-4A7A-9D15-D87B6E197761}"/>
              </a:ext>
            </a:extLst>
          </p:cNvPr>
          <p:cNvSpPr>
            <a:spLocks xmlns:a="http://schemas.openxmlformats.org/drawingml/2006/main" noGrp="1"/>
          </p:cNvSpPr>
          <p:nvPr/>
        </p:nvSpPr>
        <p:spPr>
          <a:xfrm xmlns:a="http://schemas.openxmlformats.org/drawingml/2006/main" rot="0">
            <a:off x="4676775" y="4724400"/>
            <a:ext cx="285750" cy="285750"/>
          </a:xfrm>
          <a:custGeom xmlns:a="http://schemas.openxmlformats.org/drawingml/2006/main">
            <a:rect l="l" t="t" r="r" b="b"/>
            <a:pathLst>
              <a:path w="285750" h="285750">
                <a:moveTo>
                  <a:pt x="285750" y="23812"/>
                </a:moveTo>
                <a:lnTo>
                  <a:pt x="285750" y="65484"/>
                </a:lnTo>
                <a:cubicBezTo>
                  <a:pt x="285750" y="72060"/>
                  <a:pt x="280419" y="77391"/>
                  <a:pt x="273844" y="77391"/>
                </a:cubicBezTo>
                <a:cubicBezTo>
                  <a:pt x="267268" y="77391"/>
                  <a:pt x="261938" y="72060"/>
                  <a:pt x="261938" y="65484"/>
                </a:cubicBezTo>
                <a:lnTo>
                  <a:pt x="261938" y="23812"/>
                </a:lnTo>
                <a:lnTo>
                  <a:pt x="220266" y="23812"/>
                </a:lnTo>
                <a:cubicBezTo>
                  <a:pt x="213690" y="23812"/>
                  <a:pt x="208359" y="18482"/>
                  <a:pt x="208359" y="11906"/>
                </a:cubicBezTo>
                <a:cubicBezTo>
                  <a:pt x="208359" y="5331"/>
                  <a:pt x="213690" y="0"/>
                  <a:pt x="220266" y="0"/>
                </a:cubicBezTo>
                <a:lnTo>
                  <a:pt x="261938" y="0"/>
                </a:lnTo>
                <a:cubicBezTo>
                  <a:pt x="275089" y="0"/>
                  <a:pt x="285750" y="10661"/>
                  <a:pt x="285750" y="23812"/>
                </a:cubicBezTo>
                <a:close/>
                <a:moveTo>
                  <a:pt x="273844" y="208359"/>
                </a:moveTo>
                <a:cubicBezTo>
                  <a:pt x="267268" y="208359"/>
                  <a:pt x="261938" y="213690"/>
                  <a:pt x="261938" y="220266"/>
                </a:cubicBezTo>
                <a:lnTo>
                  <a:pt x="261938" y="261938"/>
                </a:lnTo>
                <a:lnTo>
                  <a:pt x="220266" y="261938"/>
                </a:lnTo>
                <a:cubicBezTo>
                  <a:pt x="213690" y="261938"/>
                  <a:pt x="208359" y="267268"/>
                  <a:pt x="208359" y="273844"/>
                </a:cubicBezTo>
                <a:cubicBezTo>
                  <a:pt x="208359" y="280419"/>
                  <a:pt x="213690" y="285750"/>
                  <a:pt x="220266" y="285750"/>
                </a:cubicBezTo>
                <a:lnTo>
                  <a:pt x="261938" y="285750"/>
                </a:lnTo>
                <a:cubicBezTo>
                  <a:pt x="275089" y="285750"/>
                  <a:pt x="285750" y="275089"/>
                  <a:pt x="285750" y="261938"/>
                </a:cubicBezTo>
                <a:lnTo>
                  <a:pt x="285750" y="220266"/>
                </a:lnTo>
                <a:cubicBezTo>
                  <a:pt x="285750" y="213690"/>
                  <a:pt x="280419" y="208359"/>
                  <a:pt x="273844" y="208359"/>
                </a:cubicBezTo>
                <a:close/>
                <a:moveTo>
                  <a:pt x="65484" y="261938"/>
                </a:moveTo>
                <a:lnTo>
                  <a:pt x="23812" y="261938"/>
                </a:lnTo>
                <a:lnTo>
                  <a:pt x="23812" y="220266"/>
                </a:lnTo>
                <a:cubicBezTo>
                  <a:pt x="23812" y="213690"/>
                  <a:pt x="18482" y="208359"/>
                  <a:pt x="11906" y="208359"/>
                </a:cubicBezTo>
                <a:cubicBezTo>
                  <a:pt x="5331" y="208359"/>
                  <a:pt x="0" y="213690"/>
                  <a:pt x="0" y="220266"/>
                </a:cubicBezTo>
                <a:lnTo>
                  <a:pt x="0" y="261938"/>
                </a:lnTo>
                <a:cubicBezTo>
                  <a:pt x="0" y="275089"/>
                  <a:pt x="10661" y="285750"/>
                  <a:pt x="23812" y="285750"/>
                </a:cubicBezTo>
                <a:lnTo>
                  <a:pt x="65484" y="285750"/>
                </a:lnTo>
                <a:cubicBezTo>
                  <a:pt x="72060" y="285750"/>
                  <a:pt x="77391" y="280419"/>
                  <a:pt x="77391" y="273844"/>
                </a:cubicBezTo>
                <a:cubicBezTo>
                  <a:pt x="77391" y="267268"/>
                  <a:pt x="72060" y="261938"/>
                  <a:pt x="65484" y="261938"/>
                </a:cubicBezTo>
                <a:close/>
                <a:moveTo>
                  <a:pt x="11906" y="77391"/>
                </a:moveTo>
                <a:cubicBezTo>
                  <a:pt x="18482" y="77391"/>
                  <a:pt x="23812" y="72060"/>
                  <a:pt x="23812" y="65484"/>
                </a:cubicBezTo>
                <a:lnTo>
                  <a:pt x="23812" y="23812"/>
                </a:lnTo>
                <a:lnTo>
                  <a:pt x="65484" y="23812"/>
                </a:lnTo>
                <a:cubicBezTo>
                  <a:pt x="72060" y="23812"/>
                  <a:pt x="77391" y="18482"/>
                  <a:pt x="77391" y="11906"/>
                </a:cubicBezTo>
                <a:cubicBezTo>
                  <a:pt x="77391" y="5331"/>
                  <a:pt x="72060" y="0"/>
                  <a:pt x="65484" y="0"/>
                </a:cubicBezTo>
                <a:lnTo>
                  <a:pt x="23812" y="0"/>
                </a:lnTo>
                <a:cubicBezTo>
                  <a:pt x="10661" y="0"/>
                  <a:pt x="0" y="10661"/>
                  <a:pt x="0" y="23812"/>
                </a:cubicBezTo>
                <a:lnTo>
                  <a:pt x="0" y="65484"/>
                </a:lnTo>
                <a:cubicBezTo>
                  <a:pt x="0" y="72060"/>
                  <a:pt x="5331" y="77391"/>
                  <a:pt x="11906" y="77391"/>
                </a:cubicBezTo>
                <a:close/>
                <a:moveTo>
                  <a:pt x="214312" y="214312"/>
                </a:moveTo>
                <a:cubicBezTo>
                  <a:pt x="210562" y="214321"/>
                  <a:pt x="207027" y="212562"/>
                  <a:pt x="204773" y="209565"/>
                </a:cubicBezTo>
                <a:cubicBezTo>
                  <a:pt x="190157" y="190077"/>
                  <a:pt x="167219" y="178609"/>
                  <a:pt x="142860" y="178609"/>
                </a:cubicBezTo>
                <a:cubicBezTo>
                  <a:pt x="118501" y="178609"/>
                  <a:pt x="95563" y="190077"/>
                  <a:pt x="80948" y="209565"/>
                </a:cubicBezTo>
                <a:cubicBezTo>
                  <a:pt x="78390" y="212968"/>
                  <a:pt x="74211" y="214748"/>
                  <a:pt x="69986" y="214234"/>
                </a:cubicBezTo>
                <a:cubicBezTo>
                  <a:pt x="65760" y="213721"/>
                  <a:pt x="62129" y="210992"/>
                  <a:pt x="60461" y="207076"/>
                </a:cubicBezTo>
                <a:cubicBezTo>
                  <a:pt x="58792" y="203159"/>
                  <a:pt x="59340" y="198651"/>
                  <a:pt x="61898" y="195248"/>
                </a:cubicBezTo>
                <a:cubicBezTo>
                  <a:pt x="72449" y="181119"/>
                  <a:pt x="86513" y="169996"/>
                  <a:pt x="102691" y="162982"/>
                </a:cubicBezTo>
                <a:cubicBezTo>
                  <a:pt x="84545" y="146414"/>
                  <a:pt x="78442" y="120401"/>
                  <a:pt x="87327" y="97492"/>
                </a:cubicBezTo>
                <a:cubicBezTo>
                  <a:pt x="96212" y="74583"/>
                  <a:pt x="118259" y="59486"/>
                  <a:pt x="142830" y="59486"/>
                </a:cubicBezTo>
                <a:cubicBezTo>
                  <a:pt x="167402" y="59486"/>
                  <a:pt x="189449" y="74583"/>
                  <a:pt x="198334" y="97492"/>
                </a:cubicBezTo>
                <a:cubicBezTo>
                  <a:pt x="207218" y="120401"/>
                  <a:pt x="201115" y="146414"/>
                  <a:pt x="182969" y="162982"/>
                </a:cubicBezTo>
                <a:cubicBezTo>
                  <a:pt x="199159" y="169991"/>
                  <a:pt x="213233" y="181115"/>
                  <a:pt x="223793" y="195248"/>
                </a:cubicBezTo>
                <a:cubicBezTo>
                  <a:pt x="226503" y="198849"/>
                  <a:pt x="226947" y="203672"/>
                  <a:pt x="224940" y="207708"/>
                </a:cubicBezTo>
                <a:cubicBezTo>
                  <a:pt x="222933" y="211743"/>
                  <a:pt x="218820" y="214300"/>
                  <a:pt x="214312" y="214312"/>
                </a:cubicBezTo>
                <a:close/>
                <a:moveTo>
                  <a:pt x="142875" y="154781"/>
                </a:moveTo>
                <a:cubicBezTo>
                  <a:pt x="162602" y="154781"/>
                  <a:pt x="178594" y="138789"/>
                  <a:pt x="178594" y="119062"/>
                </a:cubicBezTo>
                <a:cubicBezTo>
                  <a:pt x="178594" y="99336"/>
                  <a:pt x="162602" y="83344"/>
                  <a:pt x="142875" y="83344"/>
                </a:cubicBezTo>
                <a:cubicBezTo>
                  <a:pt x="123148" y="83344"/>
                  <a:pt x="107156" y="99336"/>
                  <a:pt x="107156" y="119062"/>
                </a:cubicBezTo>
                <a:cubicBezTo>
                  <a:pt x="107156" y="138789"/>
                  <a:pt x="123148" y="154781"/>
                  <a:pt x="142875" y="154781"/>
                </a:cubicBezTo>
                <a:close/>
              </a:path>
            </a:pathLst>
          </a:custGeom>
          <a:solidFill xmlns:a="http://schemas.openxmlformats.org/drawingml/2006/main">
            <a:srgbClr val="2F80ED"/>
          </a:solidFill>
          <a:ln xmlns:a="http://schemas.openxmlformats.org/drawingml/2006/main">
            <a:noFill/>
          </a:ln>
        </p:spPr>
      </p:sp>
      <p:sp>
        <p:nvSpPr>
          <p:cNvPr id="68" name="TextBox 68">
            <a:extLst xmlns:a="http://schemas.openxmlformats.org/drawingml/2006/main">
              <a:ext uri="{FF2B5EF4-FFF2-40B4-BE49-F238E27FC236}">
                <a16:creationId xmlns:a16="http://schemas.microsoft.com/office/drawing/2014/main" id="{70E97B17-AE22-4C2F-93FB-FBDF8677A73A}"/>
              </a:ext>
            </a:extLst>
          </p:cNvPr>
          <p:cNvSpPr>
            <a:spLocks xmlns:a="http://schemas.openxmlformats.org/drawingml/2006/main" noGrp="1"/>
          </p:cNvSpPr>
          <p:nvPr/>
        </p:nvSpPr>
        <p:spPr>
          <a:xfrm xmlns:a="http://schemas.openxmlformats.org/drawingml/2006/main" rot="0">
            <a:off x="5164455" y="4769168"/>
            <a:ext cx="2104099"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350" b="1">
                <a:solidFill>
                  <a:srgbClr val="162432"/>
                </a:solidFill>
                <a:latin typeface="Arial"/>
                <a:ea typeface="Arial"/>
                <a:cs typeface="Arial"/>
              </a:rPr>
              <a:t>PERSONALIZED CALIBRATION</a:t>
            </a:r>
          </a:p>
        </p:txBody>
      </p:sp>
      <p:sp>
        <p:nvSpPr>
          <p:cNvPr id="69" name="TextBox 69">
            <a:extLst xmlns:a="http://schemas.openxmlformats.org/drawingml/2006/main">
              <a:ext uri="{FF2B5EF4-FFF2-40B4-BE49-F238E27FC236}">
                <a16:creationId xmlns:a16="http://schemas.microsoft.com/office/drawing/2014/main" id="{717317AB-9062-4644-BC56-D0F5A472E21F}"/>
              </a:ext>
            </a:extLst>
          </p:cNvPr>
          <p:cNvSpPr>
            <a:spLocks xmlns:a="http://schemas.openxmlformats.org/drawingml/2006/main" noGrp="1"/>
          </p:cNvSpPr>
          <p:nvPr/>
        </p:nvSpPr>
        <p:spPr>
          <a:xfrm xmlns:a="http://schemas.openxmlformats.org/drawingml/2006/main" rot="0">
            <a:off x="4614862" y="5164931"/>
            <a:ext cx="4731663"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1125">
                <a:solidFill>
                  <a:srgbClr val="5B6B7A"/>
                </a:solidFill>
                <a:latin typeface="Arial"/>
                <a:ea typeface="Arial"/>
                <a:cs typeface="Arial"/>
              </a:rPr>
              <a:t>User-specific distance, posture and usage baselines</a:t>
            </a:r>
          </a:p>
        </p:txBody>
      </p:sp>
      <p:sp>
        <p:nvSpPr>
          <p:cNvPr id="70" name="TextBox 70">
            <a:extLst xmlns:a="http://schemas.openxmlformats.org/drawingml/2006/main">
              <a:ext uri="{FF2B5EF4-FFF2-40B4-BE49-F238E27FC236}">
                <a16:creationId xmlns:a16="http://schemas.microsoft.com/office/drawing/2014/main" id="{9F33FD86-E0E5-47B7-B862-92C28857E7F1}"/>
              </a:ext>
            </a:extLst>
          </p:cNvPr>
          <p:cNvSpPr>
            <a:spLocks xmlns:a="http://schemas.openxmlformats.org/drawingml/2006/main" noGrp="1"/>
          </p:cNvSpPr>
          <p:nvPr/>
        </p:nvSpPr>
        <p:spPr>
          <a:xfrm xmlns:a="http://schemas.openxmlformats.org/drawingml/2006/main" rot="0">
            <a:off x="4616768" y="5409724"/>
            <a:ext cx="5582960" cy="1981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l">
              <a:buNone/>
            </a:pPr>
            <a:r>
              <a:rPr sz="975">
                <a:solidFill>
                  <a:srgbClr val="5B6B7A"/>
                </a:solidFill>
                <a:latin typeface="Arial"/>
                <a:ea typeface="Arial"/>
                <a:cs typeface="Arial"/>
              </a:rPr>
              <a:t>Goal: reduce variation between users without making personalization a core dependency</a:t>
            </a:r>
          </a:p>
        </p:txBody>
      </p:sp>
      <p:sp>
        <p:nvSpPr>
          <p:cNvPr id="72" name="TextBox 72">
            <a:extLst xmlns:a="http://schemas.openxmlformats.org/drawingml/2006/main">
              <a:ext uri="{FF2B5EF4-FFF2-40B4-BE49-F238E27FC236}">
                <a16:creationId xmlns:a16="http://schemas.microsoft.com/office/drawing/2014/main" id="{AB7ABF65-77A8-4954-A41B-C7D5BCE3CC9E}"/>
              </a:ext>
            </a:extLst>
          </p:cNvPr>
          <p:cNvSpPr>
            <a:spLocks xmlns:a="http://schemas.openxmlformats.org/drawingml/2006/main" noGrp="1"/>
          </p:cNvSpPr>
          <p:nvPr/>
        </p:nvSpPr>
        <p:spPr>
          <a:xfrm xmlns:a="http://schemas.openxmlformats.org/drawingml/2006/main">
            <a:off x="11603307" y="6502241"/>
            <a:ext cx="141970" cy="1676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none" lIns="0" tIns="0" rIns="0" bIns="0" anchor="t">
            <a:spAutoFit/>
          </a:bodyPr>
          <a:lstStyle xmlns:a="http://schemas.openxmlformats.org/drawingml/2006/main"/>
          <a:p xmlns:a="http://schemas.openxmlformats.org/drawingml/2006/main">
            <a:pPr algn="r">
              <a:buNone/>
            </a:pPr>
            <a:r>
              <a:rPr sz="825">
                <a:solidFill>
                  <a:srgbClr val="8A98A6"/>
                </a:solidFill>
                <a:latin typeface="Arial"/>
                <a:ea typeface="Arial"/>
                <a:cs typeface="Arial"/>
              </a:rPr>
              <a:t>10</a:t>
            </a:r>
          </a:p>
        </p:txBody>
      </p:sp>
    </p:spTree>
    <p:extLst>
      <p:ext uri="{BB962C8B-B14F-4D97-AF65-F5344CB8AC3E}">
        <p14:creationId xmlns:p14="http://schemas.microsoft.com/office/powerpoint/2010/main" val="6592159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2026-07-18T13:18:32.5940000Z</dcterms:created>
  <dcterms:modified xsi:type="dcterms:W3CDTF">2026-07-18T13:18:32.5940000Z</dcterms:modified>
</coreProperties>
</file>